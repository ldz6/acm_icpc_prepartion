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14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147.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s/slide150.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19.xml" ContentType="application/vnd.openxmlformats-officedocument.presentationml.slide+xml"/>
  <Override PartName="/ppt/slides/slide148.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55.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44.xml" ContentType="application/vnd.openxmlformats-officedocument.presentationml.slide+xml"/>
  <Override PartName="/ppt/slides/slide153.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s/slide139.xml" ContentType="application/vnd.openxmlformats-officedocument.presentationml.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58"/>
  </p:notesMasterIdLst>
  <p:sldIdLst>
    <p:sldId id="256" r:id="rId2"/>
    <p:sldId id="329" r:id="rId3"/>
    <p:sldId id="260" r:id="rId4"/>
    <p:sldId id="273" r:id="rId5"/>
    <p:sldId id="258" r:id="rId6"/>
    <p:sldId id="259" r:id="rId7"/>
    <p:sldId id="261" r:id="rId8"/>
    <p:sldId id="262" r:id="rId9"/>
    <p:sldId id="275" r:id="rId10"/>
    <p:sldId id="266" r:id="rId11"/>
    <p:sldId id="267" r:id="rId12"/>
    <p:sldId id="269" r:id="rId13"/>
    <p:sldId id="263" r:id="rId14"/>
    <p:sldId id="264" r:id="rId15"/>
    <p:sldId id="265" r:id="rId16"/>
    <p:sldId id="268" r:id="rId17"/>
    <p:sldId id="270" r:id="rId18"/>
    <p:sldId id="272" r:id="rId19"/>
    <p:sldId id="274" r:id="rId20"/>
    <p:sldId id="276" r:id="rId21"/>
    <p:sldId id="278" r:id="rId22"/>
    <p:sldId id="280" r:id="rId23"/>
    <p:sldId id="277" r:id="rId24"/>
    <p:sldId id="282" r:id="rId25"/>
    <p:sldId id="279" r:id="rId26"/>
    <p:sldId id="285" r:id="rId27"/>
    <p:sldId id="281" r:id="rId28"/>
    <p:sldId id="283" r:id="rId29"/>
    <p:sldId id="284"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23"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4" r:id="rId69"/>
    <p:sldId id="325" r:id="rId70"/>
    <p:sldId id="326" r:id="rId71"/>
    <p:sldId id="328" r:id="rId72"/>
    <p:sldId id="330" r:id="rId73"/>
    <p:sldId id="331" r:id="rId74"/>
    <p:sldId id="332" r:id="rId75"/>
    <p:sldId id="333" r:id="rId76"/>
    <p:sldId id="334" r:id="rId77"/>
    <p:sldId id="335" r:id="rId78"/>
    <p:sldId id="337" r:id="rId79"/>
    <p:sldId id="336" r:id="rId80"/>
    <p:sldId id="338" r:id="rId81"/>
    <p:sldId id="339" r:id="rId82"/>
    <p:sldId id="340" r:id="rId83"/>
    <p:sldId id="341" r:id="rId84"/>
    <p:sldId id="342" r:id="rId85"/>
    <p:sldId id="343" r:id="rId86"/>
    <p:sldId id="344" r:id="rId87"/>
    <p:sldId id="345" r:id="rId88"/>
    <p:sldId id="346" r:id="rId89"/>
    <p:sldId id="347" r:id="rId90"/>
    <p:sldId id="348" r:id="rId91"/>
    <p:sldId id="349" r:id="rId92"/>
    <p:sldId id="350" r:id="rId93"/>
    <p:sldId id="351" r:id="rId94"/>
    <p:sldId id="352" r:id="rId95"/>
    <p:sldId id="353" r:id="rId96"/>
    <p:sldId id="354" r:id="rId97"/>
    <p:sldId id="355" r:id="rId98"/>
    <p:sldId id="356" r:id="rId99"/>
    <p:sldId id="357" r:id="rId100"/>
    <p:sldId id="358" r:id="rId101"/>
    <p:sldId id="359" r:id="rId102"/>
    <p:sldId id="360" r:id="rId103"/>
    <p:sldId id="361" r:id="rId104"/>
    <p:sldId id="362" r:id="rId105"/>
    <p:sldId id="363" r:id="rId106"/>
    <p:sldId id="364" r:id="rId107"/>
    <p:sldId id="365" r:id="rId108"/>
    <p:sldId id="366" r:id="rId109"/>
    <p:sldId id="368" r:id="rId110"/>
    <p:sldId id="376" r:id="rId111"/>
    <p:sldId id="367" r:id="rId112"/>
    <p:sldId id="369" r:id="rId113"/>
    <p:sldId id="370" r:id="rId114"/>
    <p:sldId id="371" r:id="rId115"/>
    <p:sldId id="372" r:id="rId116"/>
    <p:sldId id="373" r:id="rId117"/>
    <p:sldId id="374" r:id="rId118"/>
    <p:sldId id="375" r:id="rId119"/>
    <p:sldId id="377" r:id="rId120"/>
    <p:sldId id="378" r:id="rId121"/>
    <p:sldId id="379" r:id="rId122"/>
    <p:sldId id="380" r:id="rId123"/>
    <p:sldId id="381" r:id="rId124"/>
    <p:sldId id="382" r:id="rId125"/>
    <p:sldId id="384" r:id="rId126"/>
    <p:sldId id="383" r:id="rId127"/>
    <p:sldId id="385" r:id="rId128"/>
    <p:sldId id="386" r:id="rId129"/>
    <p:sldId id="389" r:id="rId130"/>
    <p:sldId id="390" r:id="rId131"/>
    <p:sldId id="391" r:id="rId132"/>
    <p:sldId id="388" r:id="rId133"/>
    <p:sldId id="392" r:id="rId134"/>
    <p:sldId id="393" r:id="rId135"/>
    <p:sldId id="394" r:id="rId136"/>
    <p:sldId id="395" r:id="rId137"/>
    <p:sldId id="396" r:id="rId138"/>
    <p:sldId id="397" r:id="rId139"/>
    <p:sldId id="399" r:id="rId140"/>
    <p:sldId id="387" r:id="rId141"/>
    <p:sldId id="400" r:id="rId142"/>
    <p:sldId id="398" r:id="rId143"/>
    <p:sldId id="401" r:id="rId144"/>
    <p:sldId id="402" r:id="rId145"/>
    <p:sldId id="403" r:id="rId146"/>
    <p:sldId id="404" r:id="rId147"/>
    <p:sldId id="405" r:id="rId148"/>
    <p:sldId id="406" r:id="rId149"/>
    <p:sldId id="409" r:id="rId150"/>
    <p:sldId id="407" r:id="rId151"/>
    <p:sldId id="408" r:id="rId152"/>
    <p:sldId id="410" r:id="rId153"/>
    <p:sldId id="411" r:id="rId154"/>
    <p:sldId id="412" r:id="rId155"/>
    <p:sldId id="413" r:id="rId156"/>
    <p:sldId id="414" r:id="rId15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00" d="100"/>
          <a:sy n="100" d="100"/>
        </p:scale>
        <p:origin x="-288" y="-9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slide" Target="slides/slide152.xml"/><Relationship Id="rId16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56F814F-CB53-43D8-9EF8-32B74ABBA2E4}" type="datetimeFigureOut">
              <a:rPr lang="zh-CN" altLang="en-US" smtClean="0"/>
              <a:pPr/>
              <a:t>2014/7/23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07A8BBD-884D-4FB3-923C-E4110D3495DE}" type="slidenum">
              <a:rPr lang="zh-CN" altLang="en-US" smtClean="0"/>
              <a:pPr/>
              <a:t>‹#›</a:t>
            </a:fld>
            <a:endParaRPr lang="zh-CN" altLang="en-US"/>
          </a:p>
        </p:txBody>
      </p:sp>
    </p:spTree>
    <p:extLst>
      <p:ext uri="{BB962C8B-B14F-4D97-AF65-F5344CB8AC3E}">
        <p14:creationId xmlns:p14="http://schemas.microsoft.com/office/powerpoint/2010/main" xmlns="" val="4965728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7A8BBD-884D-4FB3-923C-E4110D3495DE}" type="slidenum">
              <a:rPr lang="zh-CN" altLang="en-US" smtClean="0"/>
              <a:pPr/>
              <a:t>25</a:t>
            </a:fld>
            <a:endParaRPr lang="zh-CN" altLang="en-US"/>
          </a:p>
        </p:txBody>
      </p:sp>
    </p:spTree>
    <p:extLst>
      <p:ext uri="{BB962C8B-B14F-4D97-AF65-F5344CB8AC3E}">
        <p14:creationId xmlns:p14="http://schemas.microsoft.com/office/powerpoint/2010/main" xmlns="" val="1920747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8" name="日期占位符 27"/>
          <p:cNvSpPr>
            <a:spLocks noGrp="1"/>
          </p:cNvSpPr>
          <p:nvPr>
            <p:ph type="dt" sz="half" idx="10"/>
          </p:nvPr>
        </p:nvSpPr>
        <p:spPr/>
        <p:txBody>
          <a:bodyPr/>
          <a:lstStyle>
            <a:extLst/>
          </a:lstStyle>
          <a:p>
            <a:fld id="{F06117B4-5FD1-41B4-BA3F-002CBF7759F1}" type="datetimeFigureOut">
              <a:rPr lang="zh-CN" altLang="en-US" smtClean="0"/>
              <a:pPr/>
              <a:t>2014/7/23</a:t>
            </a:fld>
            <a:endParaRPr lang="zh-CN" altLang="en-US"/>
          </a:p>
        </p:txBody>
      </p:sp>
      <p:sp>
        <p:nvSpPr>
          <p:cNvPr id="17" name="页脚占位符 16"/>
          <p:cNvSpPr>
            <a:spLocks noGrp="1"/>
          </p:cNvSpPr>
          <p:nvPr>
            <p:ph type="ftr" sz="quarter" idx="11"/>
          </p:nvPr>
        </p:nvSpPr>
        <p:spPr/>
        <p:txBody>
          <a:bodyPr/>
          <a:lstStyle>
            <a:extLst/>
          </a:lstStyle>
          <a:p>
            <a:endParaRPr lang="zh-CN" altLang="en-US"/>
          </a:p>
        </p:txBody>
      </p:sp>
      <p:sp>
        <p:nvSpPr>
          <p:cNvPr id="29" name="灯片编号占位符 28"/>
          <p:cNvSpPr>
            <a:spLocks noGrp="1"/>
          </p:cNvSpPr>
          <p:nvPr>
            <p:ph type="sldNum" sz="quarter" idx="12"/>
          </p:nvPr>
        </p:nvSpPr>
        <p:spPr/>
        <p:txBody>
          <a:bodyPr/>
          <a:lstStyle>
            <a:extLst/>
          </a:lstStyle>
          <a:p>
            <a:fld id="{2E1863EF-702F-4BAA-B7F1-89FBF29AEE60}" type="slidenum">
              <a:rPr lang="zh-CN" altLang="en-US" smtClean="0"/>
              <a:pPr/>
              <a:t>‹#›</a:t>
            </a:fld>
            <a:endParaRPr lang="zh-CN" altLang="en-US"/>
          </a:p>
        </p:txBody>
      </p:sp>
      <p:sp>
        <p:nvSpPr>
          <p:cNvPr id="32" name="矩形 31"/>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9" name="矩形 38"/>
          <p:cNvSpPr/>
          <p:nvPr/>
        </p:nvSpPr>
        <p:spPr>
          <a:xfrm>
            <a:off x="309558" y="680477"/>
            <a:ext cx="4572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0" name="矩形 39"/>
          <p:cNvSpPr/>
          <p:nvPr/>
        </p:nvSpPr>
        <p:spPr>
          <a:xfrm>
            <a:off x="269073"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1" name="矩形 40"/>
          <p:cNvSpPr/>
          <p:nvPr/>
        </p:nvSpPr>
        <p:spPr>
          <a:xfrm>
            <a:off x="25002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42" name="矩形 41"/>
          <p:cNvSpPr/>
          <p:nvPr/>
        </p:nvSpPr>
        <p:spPr>
          <a:xfrm>
            <a:off x="221768"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8" name="标题 7"/>
          <p:cNvSpPr>
            <a:spLocks noGrp="1"/>
          </p:cNvSpPr>
          <p:nvPr>
            <p:ph type="ctrTitle"/>
          </p:nvPr>
        </p:nvSpPr>
        <p:spPr>
          <a:xfrm>
            <a:off x="914400" y="4343400"/>
            <a:ext cx="7772400" cy="1975104"/>
          </a:xfrm>
        </p:spPr>
        <p:txBody>
          <a:bodyPr/>
          <a:lstStyle>
            <a:lvl1pPr marR="9144" algn="l">
              <a:defRPr sz="4000" b="1" cap="all" spc="0" baseline="0">
                <a:effectLst>
                  <a:reflection blurRad="12700" stA="34000" endA="740" endPos="53000" dir="5400000" sy="-100000" algn="bl" rotWithShape="0"/>
                </a:effectLst>
              </a:defRPr>
            </a:lvl1pPr>
            <a:extLst/>
          </a:lstStyle>
          <a:p>
            <a:r>
              <a:rPr kumimoji="0" lang="zh-CN" altLang="en-US" smtClean="0"/>
              <a:t>单击此处编辑母版标题样式</a:t>
            </a:r>
            <a:endParaRPr kumimoji="0" lang="en-US"/>
          </a:p>
        </p:txBody>
      </p:sp>
      <p:sp>
        <p:nvSpPr>
          <p:cNvPr id="9" name="副标题 8"/>
          <p:cNvSpPr>
            <a:spLocks noGrp="1"/>
          </p:cNvSpPr>
          <p:nvPr>
            <p:ph type="subTitle" idx="1"/>
          </p:nvPr>
        </p:nvSpPr>
        <p:spPr>
          <a:xfrm>
            <a:off x="914400" y="2834640"/>
            <a:ext cx="7772400" cy="1508760"/>
          </a:xfrm>
        </p:spPr>
        <p:txBody>
          <a:bodyPr lIns="100584" tIns="45720" anchor="b"/>
          <a:lstStyle>
            <a:lvl1pPr marL="0" indent="0" algn="l">
              <a:spcBef>
                <a:spcPts val="0"/>
              </a:spcBef>
              <a:buNone/>
              <a:defRPr sz="2000">
                <a:solidFill>
                  <a:schemeClr val="tx1"/>
                </a:solidFill>
                <a:latin typeface="Adobe 宋体 Std L" pitchFamily="18" charset="-122"/>
                <a:ea typeface="Adobe 宋体 Std L" pitchFamily="18"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CN" altLang="en-US" smtClean="0"/>
              <a:t>单击此处编辑母版副标题样式</a:t>
            </a:r>
            <a:endParaRPr kumimoji="0" lang="en-US"/>
          </a:p>
        </p:txBody>
      </p:sp>
      <p:sp>
        <p:nvSpPr>
          <p:cNvPr id="56" name="矩形 55"/>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5" name="矩形 64"/>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6" name="矩形 65"/>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7" name="矩形 66"/>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rotWithShape="1">
          <a:gsLst>
            <a:gs pos="0">
              <a:schemeClr val="bg1">
                <a:shade val="100000"/>
                <a:satMod val="150000"/>
              </a:schemeClr>
            </a:gs>
            <a:gs pos="65000">
              <a:schemeClr val="bg1">
                <a:shade val="90000"/>
                <a:satMod val="375000"/>
              </a:schemeClr>
            </a:gs>
            <a:gs pos="100000">
              <a:schemeClr val="bg2">
                <a:tint val="88000"/>
                <a:satMod val="400000"/>
              </a:schemeClr>
            </a:gs>
          </a:gsLst>
          <a:lin ang="5400000" scaled="0"/>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Adobe 楷体 Std R" pitchFamily="18" charset="-122"/>
                <a:ea typeface="Adobe 楷体 Std R" pitchFamily="18" charset="-122"/>
              </a:defRPr>
            </a:lvl1pPr>
            <a:extLst/>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lvl1pPr>
              <a:lnSpc>
                <a:spcPct val="120000"/>
              </a:lnSpc>
              <a:defRPr>
                <a:latin typeface="Adobe 宋体 Std L" pitchFamily="18" charset="-122"/>
                <a:ea typeface="Adobe 宋体 Std L" pitchFamily="18" charset="-122"/>
              </a:defRPr>
            </a:lvl1pPr>
            <a:lvl2pPr>
              <a:lnSpc>
                <a:spcPct val="120000"/>
              </a:lnSpc>
              <a:defRPr>
                <a:latin typeface="Adobe 宋体 Std L" pitchFamily="18" charset="-122"/>
                <a:ea typeface="Adobe 宋体 Std L" pitchFamily="18" charset="-122"/>
              </a:defRPr>
            </a:lvl2pPr>
            <a:lvl3pPr>
              <a:lnSpc>
                <a:spcPct val="120000"/>
              </a:lnSpc>
              <a:defRPr>
                <a:latin typeface="Adobe 宋体 Std L" pitchFamily="18" charset="-122"/>
                <a:ea typeface="Adobe 宋体 Std L" pitchFamily="18" charset="-122"/>
              </a:defRPr>
            </a:lvl3pPr>
            <a:lvl4pPr>
              <a:lnSpc>
                <a:spcPct val="120000"/>
              </a:lnSpc>
              <a:defRPr>
                <a:latin typeface="Adobe 宋体 Std L" pitchFamily="18" charset="-122"/>
                <a:ea typeface="Adobe 宋体 Std L" pitchFamily="18" charset="-122"/>
              </a:defRPr>
            </a:lvl4pPr>
            <a:lvl5pPr>
              <a:lnSpc>
                <a:spcPct val="120000"/>
              </a:lnSpc>
              <a:defRPr>
                <a:latin typeface="Adobe 宋体 Std L" pitchFamily="18" charset="-122"/>
                <a:ea typeface="Adobe 宋体 Std L" pitchFamily="18" charset="-122"/>
              </a:defRPr>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extLst/>
          </a:lstStyle>
          <a:p>
            <a:fld id="{F06117B4-5FD1-41B4-BA3F-002CBF7759F1}" type="datetimeFigureOut">
              <a:rPr lang="zh-CN" altLang="en-US" smtClean="0"/>
              <a:pPr/>
              <a:t>2014/7/23</a:t>
            </a:fld>
            <a:endParaRPr lang="zh-CN" altLang="en-US"/>
          </a:p>
        </p:txBody>
      </p:sp>
      <p:sp>
        <p:nvSpPr>
          <p:cNvPr id="5" name="页脚占位符 4"/>
          <p:cNvSpPr>
            <a:spLocks noGrp="1"/>
          </p:cNvSpPr>
          <p:nvPr>
            <p:ph type="ftr" sz="quarter" idx="11"/>
          </p:nvPr>
        </p:nvSpPr>
        <p:spPr/>
        <p:txBody>
          <a:bodyPr/>
          <a:lstStyle>
            <a:extLst/>
          </a:lstStyle>
          <a:p>
            <a:endParaRPr lang="zh-CN" altLang="en-US"/>
          </a:p>
        </p:txBody>
      </p:sp>
      <p:sp>
        <p:nvSpPr>
          <p:cNvPr id="6" name="灯片编号占位符 5"/>
          <p:cNvSpPr>
            <a:spLocks noGrp="1"/>
          </p:cNvSpPr>
          <p:nvPr>
            <p:ph type="sldNum" sz="quarter" idx="12"/>
          </p:nvPr>
        </p:nvSpPr>
        <p:spPr/>
        <p:txBody>
          <a:bodyPr/>
          <a:lstStyle>
            <a:extLst/>
          </a:lstStyle>
          <a:p>
            <a:fld id="{2E1863EF-702F-4BAA-B7F1-89FBF29AEE60}"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4" name="任意多边形 13"/>
          <p:cNvSpPr>
            <a:spLocks/>
          </p:cNvSpPr>
          <p:nvPr/>
        </p:nvSpPr>
        <p:spPr bwMode="auto">
          <a:xfrm>
            <a:off x="4828952" y="1073888"/>
            <a:ext cx="4322136"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5" name="任意多边形 14"/>
          <p:cNvSpPr>
            <a:spLocks/>
          </p:cNvSpPr>
          <p:nvPr/>
        </p:nvSpPr>
        <p:spPr bwMode="auto">
          <a:xfrm>
            <a:off x="373966" y="0"/>
            <a:ext cx="5514536"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3" name="任意多边形 12"/>
          <p:cNvSpPr>
            <a:spLocks/>
          </p:cNvSpPr>
          <p:nvPr/>
        </p:nvSpPr>
        <p:spPr bwMode="auto">
          <a:xfrm rot="5236414">
            <a:off x="4462128" y="1483600"/>
            <a:ext cx="4114800" cy="118872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6" name="任意多边形 15"/>
          <p:cNvSpPr>
            <a:spLocks/>
          </p:cNvSpPr>
          <p:nvPr/>
        </p:nvSpPr>
        <p:spPr bwMode="auto">
          <a:xfrm>
            <a:off x="5943600" y="0"/>
            <a:ext cx="27432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7" name="任意多边形 16"/>
          <p:cNvSpPr>
            <a:spLocks/>
          </p:cNvSpPr>
          <p:nvPr/>
        </p:nvSpPr>
        <p:spPr bwMode="auto">
          <a:xfrm>
            <a:off x="5943600" y="4267200"/>
            <a:ext cx="32004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8" name="任意多边形 17"/>
          <p:cNvSpPr>
            <a:spLocks/>
          </p:cNvSpPr>
          <p:nvPr/>
        </p:nvSpPr>
        <p:spPr bwMode="auto">
          <a:xfrm>
            <a:off x="5943600" y="0"/>
            <a:ext cx="13716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9" name="任意多边形 18"/>
          <p:cNvSpPr>
            <a:spLocks/>
          </p:cNvSpPr>
          <p:nvPr/>
        </p:nvSpPr>
        <p:spPr bwMode="auto">
          <a:xfrm>
            <a:off x="5948363" y="4246563"/>
            <a:ext cx="2090737"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0" name="任意多边形 19"/>
          <p:cNvSpPr>
            <a:spLocks/>
          </p:cNvSpPr>
          <p:nvPr/>
        </p:nvSpPr>
        <p:spPr bwMode="auto">
          <a:xfrm>
            <a:off x="5943600" y="4267200"/>
            <a:ext cx="16002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1" name="任意多边形 20"/>
          <p:cNvSpPr>
            <a:spLocks/>
          </p:cNvSpPr>
          <p:nvPr/>
        </p:nvSpPr>
        <p:spPr bwMode="auto">
          <a:xfrm>
            <a:off x="5943600" y="1371600"/>
            <a:ext cx="32004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2" name="任意多边形 21"/>
          <p:cNvSpPr>
            <a:spLocks/>
          </p:cNvSpPr>
          <p:nvPr/>
        </p:nvSpPr>
        <p:spPr bwMode="auto">
          <a:xfrm>
            <a:off x="5943600" y="1752600"/>
            <a:ext cx="32004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3" name="任意多边形 22"/>
          <p:cNvSpPr>
            <a:spLocks/>
          </p:cNvSpPr>
          <p:nvPr/>
        </p:nvSpPr>
        <p:spPr bwMode="auto">
          <a:xfrm>
            <a:off x="990600" y="4267200"/>
            <a:ext cx="4953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4" name="任意多边形 23"/>
          <p:cNvSpPr>
            <a:spLocks/>
          </p:cNvSpPr>
          <p:nvPr/>
        </p:nvSpPr>
        <p:spPr bwMode="auto">
          <a:xfrm>
            <a:off x="533400" y="4267200"/>
            <a:ext cx="533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5" name="任意多边形 24"/>
          <p:cNvSpPr>
            <a:spLocks/>
          </p:cNvSpPr>
          <p:nvPr/>
        </p:nvSpPr>
        <p:spPr bwMode="auto">
          <a:xfrm>
            <a:off x="366824" y="2438400"/>
            <a:ext cx="56388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6" name="任意多边形 25"/>
          <p:cNvSpPr>
            <a:spLocks/>
          </p:cNvSpPr>
          <p:nvPr/>
        </p:nvSpPr>
        <p:spPr bwMode="auto">
          <a:xfrm>
            <a:off x="366824" y="2133600"/>
            <a:ext cx="56388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7" name="任意多边形 26"/>
          <p:cNvSpPr>
            <a:spLocks/>
          </p:cNvSpPr>
          <p:nvPr/>
        </p:nvSpPr>
        <p:spPr bwMode="auto">
          <a:xfrm>
            <a:off x="4572000" y="4267200"/>
            <a:ext cx="13716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3" name="文本占位符 2"/>
          <p:cNvSpPr>
            <a:spLocks noGrp="1"/>
          </p:cNvSpPr>
          <p:nvPr>
            <p:ph type="body" idx="1"/>
          </p:nvPr>
        </p:nvSpPr>
        <p:spPr>
          <a:xfrm>
            <a:off x="706902" y="1351672"/>
            <a:ext cx="5718048" cy="977486"/>
          </a:xfrm>
        </p:spPr>
        <p:txBody>
          <a:bodyPr lIns="82296" tIns="45720" bIns="0" anchor="t"/>
          <a:lstStyle>
            <a:lvl1pPr marL="54864" indent="0">
              <a:buNone/>
              <a:defRPr sz="2000">
                <a:solidFill>
                  <a:schemeClr val="tx1">
                    <a:tint val="75000"/>
                  </a:schemeClr>
                </a:solidFill>
                <a:latin typeface="Adobe 宋体 Std L" pitchFamily="18" charset="-122"/>
                <a:ea typeface="Adobe 宋体 Std L" pitchFamily="18" charset="-122"/>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CN" altLang="en-US" dirty="0" smtClean="0"/>
              <a:t>单击此处编辑母版文本样式</a:t>
            </a:r>
          </a:p>
        </p:txBody>
      </p:sp>
      <p:sp>
        <p:nvSpPr>
          <p:cNvPr id="4" name="日期占位符 3"/>
          <p:cNvSpPr>
            <a:spLocks noGrp="1"/>
          </p:cNvSpPr>
          <p:nvPr>
            <p:ph type="dt" sz="half" idx="10"/>
          </p:nvPr>
        </p:nvSpPr>
        <p:spPr/>
        <p:txBody>
          <a:bodyPr/>
          <a:lstStyle>
            <a:extLst/>
          </a:lstStyle>
          <a:p>
            <a:fld id="{F06117B4-5FD1-41B4-BA3F-002CBF7759F1}" type="datetimeFigureOut">
              <a:rPr lang="zh-CN" altLang="en-US" smtClean="0"/>
              <a:pPr/>
              <a:t>2014/7/23</a:t>
            </a:fld>
            <a:endParaRPr lang="zh-CN" altLang="en-US"/>
          </a:p>
        </p:txBody>
      </p:sp>
      <p:sp>
        <p:nvSpPr>
          <p:cNvPr id="5" name="页脚占位符 4"/>
          <p:cNvSpPr>
            <a:spLocks noGrp="1"/>
          </p:cNvSpPr>
          <p:nvPr>
            <p:ph type="ftr" sz="quarter" idx="11"/>
          </p:nvPr>
        </p:nvSpPr>
        <p:spPr/>
        <p:txBody>
          <a:bodyPr/>
          <a:lstStyle>
            <a:extLst/>
          </a:lstStyle>
          <a:p>
            <a:endParaRPr lang="zh-CN" altLang="en-US"/>
          </a:p>
        </p:txBody>
      </p:sp>
      <p:sp>
        <p:nvSpPr>
          <p:cNvPr id="6" name="灯片编号占位符 5"/>
          <p:cNvSpPr>
            <a:spLocks noGrp="1"/>
          </p:cNvSpPr>
          <p:nvPr>
            <p:ph type="sldNum" sz="quarter" idx="12"/>
          </p:nvPr>
        </p:nvSpPr>
        <p:spPr/>
        <p:txBody>
          <a:bodyPr/>
          <a:lstStyle>
            <a:extLst/>
          </a:lstStyle>
          <a:p>
            <a:fld id="{2E1863EF-702F-4BAA-B7F1-89FBF29AEE60}" type="slidenum">
              <a:rPr lang="zh-CN" altLang="en-US" smtClean="0"/>
              <a:pPr/>
              <a:t>‹#›</a:t>
            </a:fld>
            <a:endParaRPr lang="zh-CN" altLang="en-US"/>
          </a:p>
        </p:txBody>
      </p:sp>
      <p:sp>
        <p:nvSpPr>
          <p:cNvPr id="7" name="矩形 6"/>
          <p:cNvSpPr/>
          <p:nvPr/>
        </p:nvSpPr>
        <p:spPr>
          <a:xfrm>
            <a:off x="363160" y="402264"/>
            <a:ext cx="850392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标题 1"/>
          <p:cNvSpPr>
            <a:spLocks noGrp="1"/>
          </p:cNvSpPr>
          <p:nvPr>
            <p:ph type="title"/>
          </p:nvPr>
        </p:nvSpPr>
        <p:spPr>
          <a:xfrm>
            <a:off x="706902" y="512064"/>
            <a:ext cx="8156448" cy="777240"/>
          </a:xfrm>
        </p:spPr>
        <p:txBody>
          <a:bodyPr tIns="64008"/>
          <a:lstStyle>
            <a:lvl1pPr algn="l">
              <a:buNone/>
              <a:defRPr sz="3800" b="0" cap="none" spc="-150" baseline="0">
                <a:latin typeface="Adobe 楷体 Std R" pitchFamily="18" charset="-122"/>
                <a:ea typeface="Adobe 楷体 Std R" pitchFamily="18" charset="-122"/>
              </a:defRPr>
            </a:lvl1pPr>
            <a:extLst/>
          </a:lstStyle>
          <a:p>
            <a:r>
              <a:rPr kumimoji="0" lang="zh-CN" altLang="en-US" dirty="0" smtClean="0"/>
              <a:t>单击此处编辑母版标题样式</a:t>
            </a:r>
            <a:endParaRPr kumimoji="0" lang="en-US" dirty="0"/>
          </a:p>
        </p:txBody>
      </p:sp>
      <p:sp>
        <p:nvSpPr>
          <p:cNvPr id="8" name="矩形 7"/>
          <p:cNvSpPr/>
          <p:nvPr/>
        </p:nvSpPr>
        <p:spPr>
          <a:xfrm flipH="1">
            <a:off x="371538"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矩形 8"/>
          <p:cNvSpPr/>
          <p:nvPr/>
        </p:nvSpPr>
        <p:spPr>
          <a:xfrm flipH="1">
            <a:off x="411109"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0" name="矩形 9"/>
          <p:cNvSpPr/>
          <p:nvPr/>
        </p:nvSpPr>
        <p:spPr>
          <a:xfrm flipH="1">
            <a:off x="44845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矩形 10"/>
          <p:cNvSpPr/>
          <p:nvPr/>
        </p:nvSpPr>
        <p:spPr>
          <a:xfrm flipH="1">
            <a:off x="476702"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2" name="矩形 11"/>
          <p:cNvSpPr/>
          <p:nvPr/>
        </p:nvSpPr>
        <p:spPr>
          <a:xfrm>
            <a:off x="500478"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99592" y="512064"/>
            <a:ext cx="8013576" cy="914400"/>
          </a:xfrm>
        </p:spPr>
        <p:txBody>
          <a:bodyPr/>
          <a:lstStyle>
            <a:lvl1pPr>
              <a:defRPr>
                <a:latin typeface="Adobe 楷体 Std R" pitchFamily="18" charset="-122"/>
                <a:ea typeface="Adobe 楷体 Std R" pitchFamily="18" charset="-122"/>
              </a:defRPr>
            </a:lvl1pPr>
            <a:extLst/>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899592" y="1770501"/>
            <a:ext cx="3960440" cy="4525963"/>
          </a:xfrm>
        </p:spPr>
        <p:txBody>
          <a:bodyPr/>
          <a:lstStyle>
            <a:lvl1pPr>
              <a:lnSpc>
                <a:spcPct val="120000"/>
              </a:lnSpc>
              <a:defRPr sz="2800">
                <a:latin typeface="Adobe 宋体 Std L" pitchFamily="18" charset="-122"/>
                <a:ea typeface="Adobe 宋体 Std L" pitchFamily="18" charset="-122"/>
              </a:defRPr>
            </a:lvl1pPr>
            <a:lvl2pPr>
              <a:lnSpc>
                <a:spcPct val="120000"/>
              </a:lnSpc>
              <a:defRPr sz="2400">
                <a:latin typeface="Adobe 宋体 Std L" pitchFamily="18" charset="-122"/>
                <a:ea typeface="Adobe 宋体 Std L" pitchFamily="18" charset="-122"/>
              </a:defRPr>
            </a:lvl2pPr>
            <a:lvl3pPr>
              <a:lnSpc>
                <a:spcPct val="120000"/>
              </a:lnSpc>
              <a:defRPr sz="2000">
                <a:latin typeface="Adobe 宋体 Std L" pitchFamily="18" charset="-122"/>
                <a:ea typeface="Adobe 宋体 Std L" pitchFamily="18" charset="-122"/>
              </a:defRPr>
            </a:lvl3pPr>
            <a:lvl4pPr>
              <a:lnSpc>
                <a:spcPct val="120000"/>
              </a:lnSpc>
              <a:defRPr sz="1800">
                <a:latin typeface="Adobe 宋体 Std L" pitchFamily="18" charset="-122"/>
                <a:ea typeface="Adobe 宋体 Std L" pitchFamily="18" charset="-122"/>
              </a:defRPr>
            </a:lvl4pPr>
            <a:lvl5pPr>
              <a:lnSpc>
                <a:spcPct val="120000"/>
              </a:lnSpc>
              <a:defRPr sz="1800">
                <a:latin typeface="Adobe 宋体 Std L" pitchFamily="18" charset="-122"/>
                <a:ea typeface="Adobe 宋体 Std L" pitchFamily="18" charset="-122"/>
              </a:defRPr>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5004048" y="1770501"/>
            <a:ext cx="3888432" cy="4525963"/>
          </a:xfrm>
        </p:spPr>
        <p:txBody>
          <a:bodyPr/>
          <a:lstStyle>
            <a:lvl1pPr>
              <a:lnSpc>
                <a:spcPct val="120000"/>
              </a:lnSpc>
              <a:defRPr sz="2800">
                <a:latin typeface="Adobe 宋体 Std L" pitchFamily="18" charset="-122"/>
                <a:ea typeface="Adobe 宋体 Std L" pitchFamily="18" charset="-122"/>
              </a:defRPr>
            </a:lvl1pPr>
            <a:lvl2pPr>
              <a:lnSpc>
                <a:spcPct val="120000"/>
              </a:lnSpc>
              <a:defRPr sz="2400">
                <a:latin typeface="Adobe 宋体 Std L" pitchFamily="18" charset="-122"/>
                <a:ea typeface="Adobe 宋体 Std L" pitchFamily="18" charset="-122"/>
              </a:defRPr>
            </a:lvl2pPr>
            <a:lvl3pPr>
              <a:lnSpc>
                <a:spcPct val="120000"/>
              </a:lnSpc>
              <a:defRPr sz="2000">
                <a:latin typeface="Adobe 宋体 Std L" pitchFamily="18" charset="-122"/>
                <a:ea typeface="Adobe 宋体 Std L" pitchFamily="18" charset="-122"/>
              </a:defRPr>
            </a:lvl3pPr>
            <a:lvl4pPr>
              <a:lnSpc>
                <a:spcPct val="120000"/>
              </a:lnSpc>
              <a:defRPr sz="1800">
                <a:latin typeface="Adobe 宋体 Std L" pitchFamily="18" charset="-122"/>
                <a:ea typeface="Adobe 宋体 Std L" pitchFamily="18" charset="-122"/>
              </a:defRPr>
            </a:lvl4pPr>
            <a:lvl5pPr>
              <a:lnSpc>
                <a:spcPct val="120000"/>
              </a:lnSpc>
              <a:defRPr sz="1800">
                <a:latin typeface="Adobe 宋体 Std L" pitchFamily="18" charset="-122"/>
                <a:ea typeface="Adobe 宋体 Std L" pitchFamily="18" charset="-122"/>
              </a:defRPr>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extLst/>
          </a:lstStyle>
          <a:p>
            <a:fld id="{F06117B4-5FD1-41B4-BA3F-002CBF7759F1}" type="datetimeFigureOut">
              <a:rPr lang="zh-CN" altLang="en-US" smtClean="0"/>
              <a:pPr/>
              <a:t>2014/7/23</a:t>
            </a:fld>
            <a:endParaRPr lang="zh-CN" altLang="en-US"/>
          </a:p>
        </p:txBody>
      </p:sp>
      <p:sp>
        <p:nvSpPr>
          <p:cNvPr id="6" name="页脚占位符 5"/>
          <p:cNvSpPr>
            <a:spLocks noGrp="1"/>
          </p:cNvSpPr>
          <p:nvPr>
            <p:ph type="ftr" sz="quarter" idx="11"/>
          </p:nvPr>
        </p:nvSpPr>
        <p:spPr/>
        <p:txBody>
          <a:bodyPr/>
          <a:lstStyle>
            <a:extLst/>
          </a:lstStyle>
          <a:p>
            <a:endParaRPr lang="zh-CN" altLang="en-US"/>
          </a:p>
        </p:txBody>
      </p:sp>
      <p:sp>
        <p:nvSpPr>
          <p:cNvPr id="7" name="灯片编号占位符 6"/>
          <p:cNvSpPr>
            <a:spLocks noGrp="1"/>
          </p:cNvSpPr>
          <p:nvPr>
            <p:ph type="sldNum" sz="quarter" idx="12"/>
          </p:nvPr>
        </p:nvSpPr>
        <p:spPr/>
        <p:txBody>
          <a:bodyPr/>
          <a:lstStyle>
            <a:extLst/>
          </a:lstStyle>
          <a:p>
            <a:fld id="{2E1863EF-702F-4BAA-B7F1-89FBF29AEE60}" type="slidenum">
              <a:rPr lang="zh-CN" altLang="en-US" smtClean="0"/>
              <a:pPr/>
              <a:t>‹#›</a:t>
            </a:fld>
            <a:endParaRPr lang="zh-CN" altLang="en-US"/>
          </a:p>
        </p:txBody>
      </p:sp>
      <p:sp>
        <p:nvSpPr>
          <p:cNvPr id="15" name="矩形 14"/>
          <p:cNvSpPr/>
          <p:nvPr userDrawn="1"/>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6" name="矩形 15"/>
          <p:cNvSpPr/>
          <p:nvPr userDrawn="1"/>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7" name="矩形 16"/>
          <p:cNvSpPr/>
          <p:nvPr userDrawn="1"/>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8" name="矩形 17"/>
          <p:cNvSpPr/>
          <p:nvPr userDrawn="1"/>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9" name="矩形 18"/>
          <p:cNvSpPr/>
          <p:nvPr userDrawn="1"/>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0" name="矩形 19"/>
          <p:cNvSpPr/>
          <p:nvPr userDrawn="1"/>
        </p:nvSpPr>
        <p:spPr>
          <a:xfrm>
            <a:off x="309558" y="680477"/>
            <a:ext cx="4572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1" name="矩形 20"/>
          <p:cNvSpPr/>
          <p:nvPr userDrawn="1"/>
        </p:nvSpPr>
        <p:spPr>
          <a:xfrm>
            <a:off x="269073" y="680477"/>
            <a:ext cx="2743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2" name="矩形 21"/>
          <p:cNvSpPr/>
          <p:nvPr userDrawn="1"/>
        </p:nvSpPr>
        <p:spPr>
          <a:xfrm>
            <a:off x="250020"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3" name="矩形 22"/>
          <p:cNvSpPr/>
          <p:nvPr userDrawn="1"/>
        </p:nvSpPr>
        <p:spPr>
          <a:xfrm>
            <a:off x="221768"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5" name="矩形 24"/>
          <p:cNvSpPr/>
          <p:nvPr/>
        </p:nvSpPr>
        <p:spPr>
          <a:xfrm>
            <a:off x="0" y="402265"/>
            <a:ext cx="886708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标题 1"/>
          <p:cNvSpPr>
            <a:spLocks noGrp="1"/>
          </p:cNvSpPr>
          <p:nvPr>
            <p:ph type="title"/>
          </p:nvPr>
        </p:nvSpPr>
        <p:spPr>
          <a:xfrm>
            <a:off x="504824" y="512064"/>
            <a:ext cx="7772400" cy="914400"/>
          </a:xfrm>
        </p:spPr>
        <p:txBody>
          <a:bodyPr anchor="t"/>
          <a:lstStyle>
            <a:lvl1pPr>
              <a:defRPr sz="4000"/>
            </a:lvl1pPr>
            <a:extLst/>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809750"/>
            <a:ext cx="4040188" cy="639762"/>
          </a:xfrm>
        </p:spPr>
        <p:txBody>
          <a:bodyPr anchor="ctr"/>
          <a:lstStyle>
            <a:lvl1pPr marL="73152" indent="0" algn="l">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smtClean="0"/>
              <a:t>单击此处编辑母版文本样式</a:t>
            </a:r>
          </a:p>
        </p:txBody>
      </p:sp>
      <p:sp>
        <p:nvSpPr>
          <p:cNvPr id="4" name="文本占位符 3"/>
          <p:cNvSpPr>
            <a:spLocks noGrp="1"/>
          </p:cNvSpPr>
          <p:nvPr>
            <p:ph type="body" sz="half" idx="3"/>
          </p:nvPr>
        </p:nvSpPr>
        <p:spPr>
          <a:xfrm>
            <a:off x="4645025" y="1809750"/>
            <a:ext cx="4041775" cy="639762"/>
          </a:xfrm>
        </p:spPr>
        <p:txBody>
          <a:bodyPr anchor="ctr"/>
          <a:lstStyle>
            <a:lvl1pPr marL="73152" indent="0">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smtClean="0"/>
              <a:t>单击此处编辑母版文本样式</a:t>
            </a:r>
          </a:p>
        </p:txBody>
      </p:sp>
      <p:sp>
        <p:nvSpPr>
          <p:cNvPr id="5" name="内容占位符 4"/>
          <p:cNvSpPr>
            <a:spLocks noGrp="1"/>
          </p:cNvSpPr>
          <p:nvPr>
            <p:ph sz="quarter" idx="2"/>
          </p:nvPr>
        </p:nvSpPr>
        <p:spPr>
          <a:xfrm>
            <a:off x="457200" y="2459037"/>
            <a:ext cx="4040188"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645025" y="2459037"/>
            <a:ext cx="4041775"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extLst/>
          </a:lstStyle>
          <a:p>
            <a:fld id="{F06117B4-5FD1-41B4-BA3F-002CBF7759F1}" type="datetimeFigureOut">
              <a:rPr lang="zh-CN" altLang="en-US" smtClean="0"/>
              <a:pPr/>
              <a:t>2014/7/23</a:t>
            </a:fld>
            <a:endParaRPr lang="zh-CN" altLang="en-US"/>
          </a:p>
        </p:txBody>
      </p:sp>
      <p:sp>
        <p:nvSpPr>
          <p:cNvPr id="8" name="页脚占位符 7"/>
          <p:cNvSpPr>
            <a:spLocks noGrp="1"/>
          </p:cNvSpPr>
          <p:nvPr>
            <p:ph type="ftr" sz="quarter" idx="11"/>
          </p:nvPr>
        </p:nvSpPr>
        <p:spPr/>
        <p:txBody>
          <a:bodyPr/>
          <a:lstStyle>
            <a:extLst/>
          </a:lstStyle>
          <a:p>
            <a:endParaRPr lang="zh-CN" altLang="en-US"/>
          </a:p>
        </p:txBody>
      </p:sp>
      <p:sp>
        <p:nvSpPr>
          <p:cNvPr id="9" name="灯片编号占位符 8"/>
          <p:cNvSpPr>
            <a:spLocks noGrp="1"/>
          </p:cNvSpPr>
          <p:nvPr>
            <p:ph type="sldNum" sz="quarter" idx="12"/>
          </p:nvPr>
        </p:nvSpPr>
        <p:spPr/>
        <p:txBody>
          <a:bodyPr/>
          <a:lstStyle>
            <a:extLst/>
          </a:lstStyle>
          <a:p>
            <a:fld id="{2E1863EF-702F-4BAA-B7F1-89FBF29AEE60}" type="slidenum">
              <a:rPr lang="zh-CN" altLang="en-US" smtClean="0"/>
              <a:pPr/>
              <a:t>‹#›</a:t>
            </a:fld>
            <a:endParaRPr lang="zh-CN" altLang="en-US"/>
          </a:p>
        </p:txBody>
      </p:sp>
      <p:sp>
        <p:nvSpPr>
          <p:cNvPr id="16" name="矩形 15"/>
          <p:cNvSpPr/>
          <p:nvPr/>
        </p:nvSpPr>
        <p:spPr>
          <a:xfrm>
            <a:off x="87790" y="680477"/>
            <a:ext cx="4572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7" name="矩形 16"/>
          <p:cNvSpPr/>
          <p:nvPr/>
        </p:nvSpPr>
        <p:spPr>
          <a:xfrm>
            <a:off x="47305"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8" name="矩形 17"/>
          <p:cNvSpPr/>
          <p:nvPr/>
        </p:nvSpPr>
        <p:spPr>
          <a:xfrm>
            <a:off x="2825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9" name="矩形 18"/>
          <p:cNvSpPr/>
          <p:nvPr/>
        </p:nvSpPr>
        <p:spPr>
          <a:xfrm>
            <a:off x="0"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0" name="矩形 19"/>
          <p:cNvSpPr/>
          <p:nvPr/>
        </p:nvSpPr>
        <p:spPr>
          <a:xfrm flipH="1">
            <a:off x="149770"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1" name="矩形 20"/>
          <p:cNvSpPr/>
          <p:nvPr/>
        </p:nvSpPr>
        <p:spPr>
          <a:xfrm flipH="1">
            <a:off x="189341"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2" name="矩形 21"/>
          <p:cNvSpPr/>
          <p:nvPr/>
        </p:nvSpPr>
        <p:spPr>
          <a:xfrm flipH="1">
            <a:off x="22668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9" name="矩形 28"/>
          <p:cNvSpPr/>
          <p:nvPr/>
        </p:nvSpPr>
        <p:spPr>
          <a:xfrm flipH="1">
            <a:off x="254934"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30" name="矩形 29"/>
          <p:cNvSpPr/>
          <p:nvPr/>
        </p:nvSpPr>
        <p:spPr>
          <a:xfrm>
            <a:off x="278710"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914400" y="512064"/>
            <a:ext cx="7772400" cy="914400"/>
          </a:xfrm>
        </p:spPr>
        <p:txBody>
          <a:bodyPr/>
          <a:lstStyle>
            <a:lvl1pPr>
              <a:defRPr sz="4000" cap="none" baseline="0"/>
            </a:lvl1pPr>
            <a:extLst/>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extLst/>
          </a:lstStyle>
          <a:p>
            <a:fld id="{F06117B4-5FD1-41B4-BA3F-002CBF7759F1}" type="datetimeFigureOut">
              <a:rPr lang="zh-CN" altLang="en-US" smtClean="0"/>
              <a:pPr/>
              <a:t>2014/7/23</a:t>
            </a:fld>
            <a:endParaRPr lang="zh-CN" altLang="en-US"/>
          </a:p>
        </p:txBody>
      </p:sp>
      <p:sp>
        <p:nvSpPr>
          <p:cNvPr id="4" name="页脚占位符 3"/>
          <p:cNvSpPr>
            <a:spLocks noGrp="1"/>
          </p:cNvSpPr>
          <p:nvPr>
            <p:ph type="ftr" sz="quarter" idx="11"/>
          </p:nvPr>
        </p:nvSpPr>
        <p:spPr/>
        <p:txBody>
          <a:bodyPr/>
          <a:lstStyle>
            <a:extLst/>
          </a:lstStyle>
          <a:p>
            <a:endParaRPr lang="zh-CN" altLang="en-US"/>
          </a:p>
        </p:txBody>
      </p:sp>
      <p:sp>
        <p:nvSpPr>
          <p:cNvPr id="5" name="灯片编号占位符 4"/>
          <p:cNvSpPr>
            <a:spLocks noGrp="1"/>
          </p:cNvSpPr>
          <p:nvPr>
            <p:ph type="sldNum" sz="quarter" idx="12"/>
          </p:nvPr>
        </p:nvSpPr>
        <p:spPr/>
        <p:txBody>
          <a:bodyPr/>
          <a:lstStyle>
            <a:extLst/>
          </a:lstStyle>
          <a:p>
            <a:fld id="{2E1863EF-702F-4BAA-B7F1-89FBF29AEE60}"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extLst/>
          </a:lstStyle>
          <a:p>
            <a:fld id="{F06117B4-5FD1-41B4-BA3F-002CBF7759F1}" type="datetimeFigureOut">
              <a:rPr lang="zh-CN" altLang="en-US" smtClean="0"/>
              <a:pPr/>
              <a:t>2014/7/23</a:t>
            </a:fld>
            <a:endParaRPr lang="zh-CN" altLang="en-US"/>
          </a:p>
        </p:txBody>
      </p:sp>
      <p:sp>
        <p:nvSpPr>
          <p:cNvPr id="3" name="页脚占位符 2"/>
          <p:cNvSpPr>
            <a:spLocks noGrp="1"/>
          </p:cNvSpPr>
          <p:nvPr>
            <p:ph type="ftr" sz="quarter" idx="11"/>
          </p:nvPr>
        </p:nvSpPr>
        <p:spPr/>
        <p:txBody>
          <a:bodyPr/>
          <a:lstStyle>
            <a:extLst/>
          </a:lstStyle>
          <a:p>
            <a:endParaRPr lang="zh-CN" altLang="en-US"/>
          </a:p>
        </p:txBody>
      </p:sp>
      <p:sp>
        <p:nvSpPr>
          <p:cNvPr id="4" name="灯片编号占位符 3"/>
          <p:cNvSpPr>
            <a:spLocks noGrp="1"/>
          </p:cNvSpPr>
          <p:nvPr>
            <p:ph type="sldNum" sz="quarter" idx="12"/>
          </p:nvPr>
        </p:nvSpPr>
        <p:spPr/>
        <p:txBody>
          <a:bodyPr/>
          <a:lstStyle>
            <a:extLst/>
          </a:lstStyle>
          <a:p>
            <a:fld id="{2E1863EF-702F-4BAA-B7F1-89FBF29AEE60}"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273050"/>
            <a:ext cx="8229600" cy="1162050"/>
          </a:xfrm>
        </p:spPr>
        <p:txBody>
          <a:bodyPr anchor="ctr"/>
          <a:lstStyle>
            <a:lvl1pPr algn="l">
              <a:buNone/>
              <a:defRPr sz="3600" b="0"/>
            </a:lvl1pPr>
            <a:extLst/>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685800" y="1435100"/>
            <a:ext cx="2514600" cy="4572000"/>
          </a:xfrm>
        </p:spPr>
        <p:txBody>
          <a:bodyPr/>
          <a:lstStyle>
            <a:lvl1pPr marL="54864" indent="0">
              <a:buNone/>
              <a:defRPr sz="1800"/>
            </a:lvl1pPr>
            <a:lvl2pPr>
              <a:buNone/>
              <a:defRPr sz="1200"/>
            </a:lvl2pPr>
            <a:lvl3pPr>
              <a:buNone/>
              <a:defRPr sz="1000"/>
            </a:lvl3pPr>
            <a:lvl4pPr>
              <a:buNone/>
              <a:defRPr sz="900"/>
            </a:lvl4pPr>
            <a:lvl5pPr>
              <a:buNone/>
              <a:defRPr sz="900"/>
            </a:lvl5pPr>
            <a:extLst/>
          </a:lstStyle>
          <a:p>
            <a:pPr lvl="0" eaLnBrk="1" latinLnBrk="0" hangingPunct="1"/>
            <a:r>
              <a:rPr kumimoji="0" lang="zh-CN" altLang="en-US" smtClean="0"/>
              <a:t>单击此处编辑母版文本样式</a:t>
            </a:r>
          </a:p>
        </p:txBody>
      </p:sp>
      <p:sp>
        <p:nvSpPr>
          <p:cNvPr id="4" name="内容占位符 3"/>
          <p:cNvSpPr>
            <a:spLocks noGrp="1"/>
          </p:cNvSpPr>
          <p:nvPr>
            <p:ph sz="half" idx="1"/>
          </p:nvPr>
        </p:nvSpPr>
        <p:spPr>
          <a:xfrm>
            <a:off x="3429000" y="1435100"/>
            <a:ext cx="5486400"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extLst/>
          </a:lstStyle>
          <a:p>
            <a:fld id="{F06117B4-5FD1-41B4-BA3F-002CBF7759F1}" type="datetimeFigureOut">
              <a:rPr lang="zh-CN" altLang="en-US" smtClean="0"/>
              <a:pPr/>
              <a:t>2014/7/23</a:t>
            </a:fld>
            <a:endParaRPr lang="zh-CN" altLang="en-US"/>
          </a:p>
        </p:txBody>
      </p:sp>
      <p:sp>
        <p:nvSpPr>
          <p:cNvPr id="6" name="页脚占位符 5"/>
          <p:cNvSpPr>
            <a:spLocks noGrp="1"/>
          </p:cNvSpPr>
          <p:nvPr>
            <p:ph type="ftr" sz="quarter" idx="11"/>
          </p:nvPr>
        </p:nvSpPr>
        <p:spPr/>
        <p:txBody>
          <a:bodyPr/>
          <a:lstStyle>
            <a:extLst/>
          </a:lstStyle>
          <a:p>
            <a:endParaRPr lang="zh-CN" altLang="en-US"/>
          </a:p>
        </p:txBody>
      </p:sp>
      <p:sp>
        <p:nvSpPr>
          <p:cNvPr id="7" name="灯片编号占位符 6"/>
          <p:cNvSpPr>
            <a:spLocks noGrp="1"/>
          </p:cNvSpPr>
          <p:nvPr>
            <p:ph type="sldNum" sz="quarter" idx="12"/>
          </p:nvPr>
        </p:nvSpPr>
        <p:spPr/>
        <p:txBody>
          <a:bodyPr/>
          <a:lstStyle>
            <a:extLst/>
          </a:lstStyle>
          <a:p>
            <a:fld id="{2E1863EF-702F-4BAA-B7F1-89FBF29AEE60}"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nvSpPr>
        <p:spPr>
          <a:xfrm>
            <a:off x="368032" y="0"/>
            <a:ext cx="877824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cxnSp>
        <p:nvCxnSpPr>
          <p:cNvPr id="9" name="直接连接符 8"/>
          <p:cNvCxnSpPr/>
          <p:nvPr/>
        </p:nvCxnSpPr>
        <p:spPr>
          <a:xfrm flipV="1">
            <a:off x="363195" y="1885028"/>
            <a:ext cx="8782622"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组合 9"/>
          <p:cNvGrpSpPr/>
          <p:nvPr/>
        </p:nvGrpSpPr>
        <p:grpSpPr>
          <a:xfrm rot="5400000">
            <a:off x="8514581" y="1219200"/>
            <a:ext cx="132763" cy="128466"/>
            <a:chOff x="6668087" y="1297746"/>
            <a:chExt cx="161840" cy="156602"/>
          </a:xfrm>
        </p:grpSpPr>
        <p:cxnSp>
          <p:nvCxnSpPr>
            <p:cNvPr id="15" name="直接连接符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直接连接符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直接连接符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标题 1"/>
          <p:cNvSpPr>
            <a:spLocks noGrp="1"/>
          </p:cNvSpPr>
          <p:nvPr>
            <p:ph type="title"/>
          </p:nvPr>
        </p:nvSpPr>
        <p:spPr bwMode="grayWhite">
          <a:xfrm>
            <a:off x="914400" y="441251"/>
            <a:ext cx="6858000" cy="701749"/>
          </a:xfrm>
        </p:spPr>
        <p:txBody>
          <a:bodyPr anchor="b"/>
          <a:lstStyle>
            <a:lvl1pPr algn="l">
              <a:buNone/>
              <a:defRPr sz="2100" b="0"/>
            </a:lvl1pPr>
            <a:extLst/>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368032" y="1893781"/>
            <a:ext cx="8778240" cy="4960144"/>
          </a:xfrm>
          <a:solidFill>
            <a:schemeClr val="bg2"/>
          </a:solidFill>
        </p:spPr>
        <p:txBody>
          <a:bodyPr/>
          <a:lstStyle>
            <a:lvl1pPr marL="0" indent="0">
              <a:buNone/>
              <a:defRPr sz="3200"/>
            </a:lvl1pPr>
            <a:extLst/>
          </a:lstStyle>
          <a:p>
            <a:r>
              <a:rPr kumimoji="0" lang="zh-CN" altLang="en-US" smtClean="0"/>
              <a:t>单击图标添加图片</a:t>
            </a:r>
            <a:endParaRPr kumimoji="0" lang="en-US"/>
          </a:p>
        </p:txBody>
      </p:sp>
      <p:sp>
        <p:nvSpPr>
          <p:cNvPr id="4" name="文本占位符 3"/>
          <p:cNvSpPr>
            <a:spLocks noGrp="1"/>
          </p:cNvSpPr>
          <p:nvPr>
            <p:ph type="body" sz="half" idx="2"/>
          </p:nvPr>
        </p:nvSpPr>
        <p:spPr bwMode="grayWhite">
          <a:xfrm>
            <a:off x="914400" y="1150144"/>
            <a:ext cx="6858000" cy="685800"/>
          </a:xfrm>
        </p:spPr>
        <p:txBody>
          <a:bodyPr/>
          <a:lstStyle>
            <a:lvl1pPr marL="27432" indent="0">
              <a:spcBef>
                <a:spcPts val="0"/>
              </a:spcBef>
              <a:buNone/>
              <a:defRPr sz="1400">
                <a:solidFill>
                  <a:srgbClr val="FFFFFF"/>
                </a:solidFill>
              </a:defRPr>
            </a:lvl1pPr>
            <a:lvl2pPr>
              <a:defRPr sz="1200"/>
            </a:lvl2pPr>
            <a:lvl3pPr>
              <a:defRPr sz="1000"/>
            </a:lvl3pPr>
            <a:lvl4pPr>
              <a:defRPr sz="900"/>
            </a:lvl4pPr>
            <a:lvl5pPr>
              <a:defRPr sz="900"/>
            </a:lvl5pPr>
            <a:extLst/>
          </a:lstStyle>
          <a:p>
            <a:pPr lvl="0" eaLnBrk="1" latinLnBrk="0" hangingPunct="1"/>
            <a:r>
              <a:rPr kumimoji="0" lang="zh-CN" altLang="en-US" smtClean="0"/>
              <a:t>单击此处编辑母版文本样式</a:t>
            </a:r>
          </a:p>
        </p:txBody>
      </p:sp>
      <p:grpSp>
        <p:nvGrpSpPr>
          <p:cNvPr id="14" name="组合 13"/>
          <p:cNvGrpSpPr/>
          <p:nvPr/>
        </p:nvGrpSpPr>
        <p:grpSpPr>
          <a:xfrm rot="5400000">
            <a:off x="8666981" y="1371600"/>
            <a:ext cx="132763" cy="128466"/>
            <a:chOff x="6668087" y="1297746"/>
            <a:chExt cx="161840" cy="156602"/>
          </a:xfrm>
        </p:grpSpPr>
        <p:cxnSp>
          <p:nvCxnSpPr>
            <p:cNvPr id="11" name="直接连接符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直接连接符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直接连接符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组合 17"/>
          <p:cNvGrpSpPr/>
          <p:nvPr/>
        </p:nvGrpSpPr>
        <p:grpSpPr>
          <a:xfrm rot="5400000">
            <a:off x="8320088" y="1474763"/>
            <a:ext cx="132763" cy="128466"/>
            <a:chOff x="6668087" y="1297746"/>
            <a:chExt cx="161840" cy="156602"/>
          </a:xfrm>
        </p:grpSpPr>
        <p:cxnSp>
          <p:nvCxnSpPr>
            <p:cNvPr id="19" name="直接连接符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直接连接符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直接连接符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日期占位符 4"/>
          <p:cNvSpPr>
            <a:spLocks noGrp="1"/>
          </p:cNvSpPr>
          <p:nvPr>
            <p:ph type="dt" sz="half" idx="10"/>
          </p:nvPr>
        </p:nvSpPr>
        <p:spPr>
          <a:xfrm>
            <a:off x="6477000" y="55499"/>
            <a:ext cx="2133600" cy="365125"/>
          </a:xfrm>
        </p:spPr>
        <p:txBody>
          <a:bodyPr/>
          <a:lstStyle>
            <a:extLst/>
          </a:lstStyle>
          <a:p>
            <a:fld id="{F06117B4-5FD1-41B4-BA3F-002CBF7759F1}" type="datetimeFigureOut">
              <a:rPr lang="zh-CN" altLang="en-US" smtClean="0"/>
              <a:pPr/>
              <a:t>2014/7/23</a:t>
            </a:fld>
            <a:endParaRPr lang="zh-CN" altLang="en-US"/>
          </a:p>
        </p:txBody>
      </p:sp>
      <p:sp>
        <p:nvSpPr>
          <p:cNvPr id="6" name="页脚占位符 5"/>
          <p:cNvSpPr>
            <a:spLocks noGrp="1"/>
          </p:cNvSpPr>
          <p:nvPr>
            <p:ph type="ftr" sz="quarter" idx="11"/>
          </p:nvPr>
        </p:nvSpPr>
        <p:spPr>
          <a:xfrm>
            <a:off x="914400" y="55499"/>
            <a:ext cx="5562600" cy="365125"/>
          </a:xfrm>
        </p:spPr>
        <p:txBody>
          <a:bodyPr/>
          <a:lstStyle>
            <a:extLst/>
          </a:lstStyle>
          <a:p>
            <a:endParaRPr lang="zh-CN" altLang="en-US"/>
          </a:p>
        </p:txBody>
      </p:sp>
      <p:sp>
        <p:nvSpPr>
          <p:cNvPr id="7" name="灯片编号占位符 6"/>
          <p:cNvSpPr>
            <a:spLocks noGrp="1"/>
          </p:cNvSpPr>
          <p:nvPr>
            <p:ph type="sldNum" sz="quarter" idx="12"/>
          </p:nvPr>
        </p:nvSpPr>
        <p:spPr>
          <a:xfrm>
            <a:off x="8610600" y="55499"/>
            <a:ext cx="457200" cy="365125"/>
          </a:xfrm>
        </p:spPr>
        <p:txBody>
          <a:bodyPr/>
          <a:lstStyle>
            <a:extLst/>
          </a:lstStyle>
          <a:p>
            <a:fld id="{2E1863EF-702F-4BAA-B7F1-89FBF29AEE60}"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extLs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extLst/>
          </a:lstStyle>
          <a:p>
            <a:fld id="{F06117B4-5FD1-41B4-BA3F-002CBF7759F1}" type="datetimeFigureOut">
              <a:rPr lang="zh-CN" altLang="en-US" smtClean="0"/>
              <a:pPr/>
              <a:t>2014/7/23</a:t>
            </a:fld>
            <a:endParaRPr lang="zh-CN" altLang="en-US"/>
          </a:p>
        </p:txBody>
      </p:sp>
      <p:sp>
        <p:nvSpPr>
          <p:cNvPr id="5" name="页脚占位符 4"/>
          <p:cNvSpPr>
            <a:spLocks noGrp="1"/>
          </p:cNvSpPr>
          <p:nvPr>
            <p:ph type="ftr" sz="quarter" idx="11"/>
          </p:nvPr>
        </p:nvSpPr>
        <p:spPr/>
        <p:txBody>
          <a:bodyPr/>
          <a:lstStyle>
            <a:extLst/>
          </a:lstStyle>
          <a:p>
            <a:endParaRPr lang="zh-CN" altLang="en-US"/>
          </a:p>
        </p:txBody>
      </p:sp>
      <p:sp>
        <p:nvSpPr>
          <p:cNvPr id="6" name="灯片编号占位符 5"/>
          <p:cNvSpPr>
            <a:spLocks noGrp="1"/>
          </p:cNvSpPr>
          <p:nvPr>
            <p:ph type="sldNum" sz="quarter" idx="12"/>
          </p:nvPr>
        </p:nvSpPr>
        <p:spPr/>
        <p:txBody>
          <a:bodyPr/>
          <a:lstStyle>
            <a:extLst/>
          </a:lstStyle>
          <a:p>
            <a:fld id="{2E1863EF-702F-4BAA-B7F1-89FBF29AEE60}"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1981200" cy="5851525"/>
          </a:xfrm>
        </p:spPr>
        <p:txBody>
          <a:bodyPr vert="eaVert" anchor="ctr"/>
          <a:lstStyle>
            <a:extLs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609600" y="274639"/>
            <a:ext cx="5867400" cy="5851525"/>
          </a:xfrm>
        </p:spPr>
        <p:txBody>
          <a:bodyPr vert="eaVert"/>
          <a:lstStyle>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extLst/>
          </a:lstStyle>
          <a:p>
            <a:fld id="{F06117B4-5FD1-41B4-BA3F-002CBF7759F1}" type="datetimeFigureOut">
              <a:rPr lang="zh-CN" altLang="en-US" smtClean="0"/>
              <a:pPr/>
              <a:t>2014/7/23</a:t>
            </a:fld>
            <a:endParaRPr lang="zh-CN" altLang="en-US"/>
          </a:p>
        </p:txBody>
      </p:sp>
      <p:sp>
        <p:nvSpPr>
          <p:cNvPr id="5" name="页脚占位符 4"/>
          <p:cNvSpPr>
            <a:spLocks noGrp="1"/>
          </p:cNvSpPr>
          <p:nvPr>
            <p:ph type="ftr" sz="quarter" idx="11"/>
          </p:nvPr>
        </p:nvSpPr>
        <p:spPr/>
        <p:txBody>
          <a:bodyPr/>
          <a:lstStyle>
            <a:extLst/>
          </a:lstStyle>
          <a:p>
            <a:endParaRPr lang="zh-CN" altLang="en-US"/>
          </a:p>
        </p:txBody>
      </p:sp>
      <p:sp>
        <p:nvSpPr>
          <p:cNvPr id="6" name="灯片编号占位符 5"/>
          <p:cNvSpPr>
            <a:spLocks noGrp="1"/>
          </p:cNvSpPr>
          <p:nvPr>
            <p:ph type="sldNum" sz="quarter" idx="12"/>
          </p:nvPr>
        </p:nvSpPr>
        <p:spPr/>
        <p:txBody>
          <a:bodyPr/>
          <a:lstStyle>
            <a:extLst/>
          </a:lstStyle>
          <a:p>
            <a:fld id="{2E1863EF-702F-4BAA-B7F1-89FBF29AEE60}"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矩形 6"/>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矩形 7"/>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矩形 8"/>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矩形 9"/>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矩形 10"/>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2" name="矩形 11"/>
          <p:cNvSpPr/>
          <p:nvPr/>
        </p:nvSpPr>
        <p:spPr>
          <a:xfrm>
            <a:off x="309558" y="680477"/>
            <a:ext cx="4572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5" name="矩形 14"/>
          <p:cNvSpPr/>
          <p:nvPr/>
        </p:nvSpPr>
        <p:spPr>
          <a:xfrm>
            <a:off x="269073" y="680477"/>
            <a:ext cx="2743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6" name="矩形 15"/>
          <p:cNvSpPr/>
          <p:nvPr/>
        </p:nvSpPr>
        <p:spPr>
          <a:xfrm>
            <a:off x="250020"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7" name="矩形 16"/>
          <p:cNvSpPr/>
          <p:nvPr/>
        </p:nvSpPr>
        <p:spPr>
          <a:xfrm>
            <a:off x="221768"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2" name="标题占位符 21"/>
          <p:cNvSpPr>
            <a:spLocks noGrp="1"/>
          </p:cNvSpPr>
          <p:nvPr>
            <p:ph type="title"/>
          </p:nvPr>
        </p:nvSpPr>
        <p:spPr>
          <a:xfrm>
            <a:off x="914400" y="512064"/>
            <a:ext cx="7772400" cy="914400"/>
          </a:xfrm>
          <a:prstGeom prst="rect">
            <a:avLst/>
          </a:prstGeom>
        </p:spPr>
        <p:txBody>
          <a:bodyPr vert="horz" anchor="t">
            <a:noAutofit/>
          </a:bodyPr>
          <a:lstStyle>
            <a:extLst/>
          </a:lstStyle>
          <a:p>
            <a:r>
              <a:rPr kumimoji="0" lang="zh-CN" altLang="en-US" smtClean="0"/>
              <a:t>单击此处编辑母版标题样式</a:t>
            </a:r>
            <a:endParaRPr kumimoji="0" lang="en-US"/>
          </a:p>
        </p:txBody>
      </p:sp>
      <p:sp>
        <p:nvSpPr>
          <p:cNvPr id="13" name="文本占位符 12"/>
          <p:cNvSpPr>
            <a:spLocks noGrp="1"/>
          </p:cNvSpPr>
          <p:nvPr>
            <p:ph type="body" idx="1"/>
          </p:nvPr>
        </p:nvSpPr>
        <p:spPr>
          <a:xfrm>
            <a:off x="914400" y="1783560"/>
            <a:ext cx="7772400" cy="4572000"/>
          </a:xfrm>
          <a:prstGeom prst="rect">
            <a:avLst/>
          </a:prstGeom>
        </p:spPr>
        <p:txBody>
          <a:bodyPr vert="horz">
            <a:normAutofit/>
          </a:bodyPr>
          <a:lstStyle>
            <a:extLst/>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4" name="日期占位符 13"/>
          <p:cNvSpPr>
            <a:spLocks noGrp="1"/>
          </p:cNvSpPr>
          <p:nvPr>
            <p:ph type="dt" sz="half" idx="2"/>
          </p:nvPr>
        </p:nvSpPr>
        <p:spPr>
          <a:xfrm>
            <a:off x="6477000" y="6416675"/>
            <a:ext cx="2133600" cy="365125"/>
          </a:xfrm>
          <a:prstGeom prst="rect">
            <a:avLst/>
          </a:prstGeom>
        </p:spPr>
        <p:txBody>
          <a:bodyPr vert="horz" anchor="b"/>
          <a:lstStyle>
            <a:lvl1pPr algn="l" eaLnBrk="1" latinLnBrk="0" hangingPunct="1">
              <a:defRPr kumimoji="0" sz="1100">
                <a:solidFill>
                  <a:schemeClr val="tx2"/>
                </a:solidFill>
              </a:defRPr>
            </a:lvl1pPr>
            <a:extLst/>
          </a:lstStyle>
          <a:p>
            <a:fld id="{F06117B4-5FD1-41B4-BA3F-002CBF7759F1}" type="datetimeFigureOut">
              <a:rPr lang="zh-CN" altLang="en-US" smtClean="0"/>
              <a:pPr/>
              <a:t>2014/7/23</a:t>
            </a:fld>
            <a:endParaRPr lang="zh-CN" altLang="en-US"/>
          </a:p>
        </p:txBody>
      </p:sp>
      <p:sp>
        <p:nvSpPr>
          <p:cNvPr id="3" name="页脚占位符 2"/>
          <p:cNvSpPr>
            <a:spLocks noGrp="1"/>
          </p:cNvSpPr>
          <p:nvPr>
            <p:ph type="ftr" sz="quarter" idx="3"/>
          </p:nvPr>
        </p:nvSpPr>
        <p:spPr>
          <a:xfrm>
            <a:off x="914400" y="6416675"/>
            <a:ext cx="5562600" cy="365125"/>
          </a:xfrm>
          <a:prstGeom prst="rect">
            <a:avLst/>
          </a:prstGeom>
        </p:spPr>
        <p:txBody>
          <a:bodyPr vert="horz" anchor="b"/>
          <a:lstStyle>
            <a:lvl1pPr algn="r" eaLnBrk="1" latinLnBrk="0" hangingPunct="1">
              <a:defRPr kumimoji="0" sz="1100">
                <a:solidFill>
                  <a:schemeClr val="tx2"/>
                </a:solidFill>
              </a:defRPr>
            </a:lvl1pPr>
            <a:extLst/>
          </a:lstStyle>
          <a:p>
            <a:endParaRPr lang="zh-CN" altLang="en-US"/>
          </a:p>
        </p:txBody>
      </p:sp>
      <p:sp>
        <p:nvSpPr>
          <p:cNvPr id="23" name="灯片编号占位符 22"/>
          <p:cNvSpPr>
            <a:spLocks noGrp="1"/>
          </p:cNvSpPr>
          <p:nvPr>
            <p:ph type="sldNum" sz="quarter" idx="4"/>
          </p:nvPr>
        </p:nvSpPr>
        <p:spPr>
          <a:xfrm>
            <a:off x="8610600" y="6416675"/>
            <a:ext cx="457200" cy="365125"/>
          </a:xfrm>
          <a:prstGeom prst="rect">
            <a:avLst/>
          </a:prstGeom>
        </p:spPr>
        <p:txBody>
          <a:bodyPr vert="horz" anchor="b"/>
          <a:lstStyle>
            <a:lvl1pPr algn="l" eaLnBrk="1" latinLnBrk="0" hangingPunct="1">
              <a:defRPr kumimoji="0" sz="1200">
                <a:solidFill>
                  <a:schemeClr val="tx2"/>
                </a:solidFill>
              </a:defRPr>
            </a:lvl1pPr>
            <a:extLst/>
          </a:lstStyle>
          <a:p>
            <a:fld id="{2E1863EF-702F-4BAA-B7F1-89FBF29AEE60}" type="slidenum">
              <a:rPr lang="zh-CN" altLang="en-US" smtClean="0"/>
              <a:pPr/>
              <a:t>‹#›</a:t>
            </a:fld>
            <a:endParaRPr lang="zh-CN" altLang="en-US"/>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a:extLst/>
    </p:titleStyle>
    <p:bodyStyle>
      <a:lvl1pPr marL="411480" indent="-342900" algn="l" rtl="0" eaLnBrk="1" latinLnBrk="0" hangingPunct="1">
        <a:lnSpc>
          <a:spcPct val="150000"/>
        </a:lnSpc>
        <a:spcBef>
          <a:spcPts val="700"/>
        </a:spcBef>
        <a:buClr>
          <a:schemeClr val="tx2"/>
        </a:buClr>
        <a:buSzPct val="95000"/>
        <a:buFont typeface="Wingdings"/>
        <a:buChar char=""/>
        <a:defRPr kumimoji="0" sz="3000" kern="1200">
          <a:solidFill>
            <a:schemeClr val="tx1"/>
          </a:solidFill>
          <a:latin typeface="+mn-lt"/>
          <a:ea typeface="+mn-ea"/>
          <a:cs typeface="+mn-cs"/>
        </a:defRPr>
      </a:lvl1pPr>
      <a:lvl2pPr marL="740664" indent="-285750" algn="l" rtl="0" eaLnBrk="1" latinLnBrk="0" hangingPunct="1">
        <a:lnSpc>
          <a:spcPct val="150000"/>
        </a:lnSpc>
        <a:spcBef>
          <a:spcPct val="20000"/>
        </a:spcBef>
        <a:buClr>
          <a:schemeClr val="accent2"/>
        </a:buClr>
        <a:buSzPct val="90000"/>
        <a:buFont typeface="Wingdings"/>
        <a:buChar char=""/>
        <a:defRPr kumimoji="0" sz="2600" kern="1200">
          <a:solidFill>
            <a:schemeClr val="tx1"/>
          </a:solidFill>
          <a:latin typeface="+mn-lt"/>
          <a:ea typeface="+mn-ea"/>
          <a:cs typeface="+mn-cs"/>
        </a:defRPr>
      </a:lvl2pPr>
      <a:lvl3pPr marL="996696" indent="-228600" algn="l" rtl="0" eaLnBrk="1" latinLnBrk="0" hangingPunct="1">
        <a:lnSpc>
          <a:spcPct val="15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261872" indent="-228600" algn="l" rtl="0" eaLnBrk="1" latinLnBrk="0" hangingPunct="1">
        <a:lnSpc>
          <a:spcPct val="150000"/>
        </a:lnSpc>
        <a:spcBef>
          <a:spcPct val="20000"/>
        </a:spcBef>
        <a:buClr>
          <a:schemeClr val="accent3"/>
        </a:buClr>
        <a:buFont typeface="Wingdings 3"/>
        <a:buChar char=""/>
        <a:defRPr kumimoji="0" sz="2200" kern="1200">
          <a:solidFill>
            <a:schemeClr val="tx1"/>
          </a:solidFill>
          <a:latin typeface="+mn-lt"/>
          <a:ea typeface="+mn-ea"/>
          <a:cs typeface="+mn-cs"/>
        </a:defRPr>
      </a:lvl4pPr>
      <a:lvl5pPr marL="1481328" indent="-210312" algn="l" rtl="0" eaLnBrk="1" latinLnBrk="0" hangingPunct="1">
        <a:lnSpc>
          <a:spcPct val="150000"/>
        </a:lnSpc>
        <a:spcBef>
          <a:spcPct val="20000"/>
        </a:spcBef>
        <a:buClr>
          <a:schemeClr val="accent3"/>
        </a:buClr>
        <a:buFont typeface="Wingdings 2"/>
        <a:buChar char=""/>
        <a:defRPr kumimoji="0"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4.xml"/></Relationships>
</file>

<file path=ppt/slides/_rels/slide13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9.png"/><Relationship Id="rId1" Type="http://schemas.openxmlformats.org/officeDocument/2006/relationships/slideLayout" Target="../slideLayouts/slideLayout4.xml"/></Relationships>
</file>

<file path=ppt/slides/_rels/slide136.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4.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image" Target="../media/image110.png"/><Relationship Id="rId1" Type="http://schemas.openxmlformats.org/officeDocument/2006/relationships/slideLayout" Target="../slideLayouts/slideLayout4.xml"/><Relationship Id="rId4" Type="http://schemas.openxmlformats.org/officeDocument/2006/relationships/image" Target="../media/image112.jpeg"/></Relationships>
</file>

<file path=ppt/slides/_rels/slide145.xml.rels><?xml version="1.0" encoding="UTF-8" standalone="yes"?>
<Relationships xmlns="http://schemas.openxmlformats.org/package/2006/relationships"><Relationship Id="rId2" Type="http://schemas.openxmlformats.org/officeDocument/2006/relationships/image" Target="../media/image113.jpe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114.jpe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115.jpe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smtClean="0"/>
              <a:t>计算几何教程</a:t>
            </a:r>
            <a:endParaRPr lang="zh-CN" altLang="en-US"/>
          </a:p>
        </p:txBody>
      </p:sp>
      <p:sp>
        <p:nvSpPr>
          <p:cNvPr id="3" name="副标题 2"/>
          <p:cNvSpPr>
            <a:spLocks noGrp="1"/>
          </p:cNvSpPr>
          <p:nvPr>
            <p:ph type="subTitle" idx="1"/>
          </p:nvPr>
        </p:nvSpPr>
        <p:spPr>
          <a:xfrm>
            <a:off x="976064" y="2834640"/>
            <a:ext cx="7772400" cy="1508760"/>
          </a:xfrm>
        </p:spPr>
        <p:txBody>
          <a:bodyPr/>
          <a:lstStyle/>
          <a:p>
            <a:r>
              <a:rPr lang="en-US" altLang="zh-CN" smtClean="0"/>
              <a:t>Computational Geometry</a:t>
            </a:r>
            <a:endParaRPr lang="zh-CN" altLang="en-US"/>
          </a:p>
        </p:txBody>
      </p:sp>
    </p:spTree>
    <p:extLst>
      <p:ext uri="{BB962C8B-B14F-4D97-AF65-F5344CB8AC3E}">
        <p14:creationId xmlns:p14="http://schemas.microsoft.com/office/powerpoint/2010/main" xmlns="" val="5964375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计算几何的恶心之处</a:t>
            </a:r>
            <a:endParaRPr lang="zh-CN" altLang="en-US" dirty="0"/>
          </a:p>
        </p:txBody>
      </p:sp>
      <p:sp>
        <p:nvSpPr>
          <p:cNvPr id="3" name="内容占位符 2"/>
          <p:cNvSpPr>
            <a:spLocks noGrp="1"/>
          </p:cNvSpPr>
          <p:nvPr>
            <p:ph idx="1"/>
          </p:nvPr>
        </p:nvSpPr>
        <p:spPr/>
        <p:txBody>
          <a:bodyPr/>
          <a:lstStyle/>
          <a:p>
            <a:r>
              <a:rPr lang="zh-CN" altLang="en-US" dirty="0" smtClean="0"/>
              <a:t>代码长，难写。</a:t>
            </a:r>
            <a:endParaRPr lang="en-US" altLang="zh-CN" dirty="0" smtClean="0"/>
          </a:p>
          <a:p>
            <a:r>
              <a:rPr lang="zh-CN" altLang="en-US" dirty="0" smtClean="0"/>
              <a:t>需要讨论各种边界情况。后面所介绍的算法，有些对于边界情况的处理很完美，不需要再做讨论；有些则不然，需要自行处理边界情况。</a:t>
            </a:r>
            <a:endParaRPr lang="en-US" altLang="zh-CN" dirty="0" smtClean="0"/>
          </a:p>
        </p:txBody>
      </p:sp>
    </p:spTree>
    <p:extLst>
      <p:ext uri="{BB962C8B-B14F-4D97-AF65-F5344CB8AC3E}">
        <p14:creationId xmlns:p14="http://schemas.microsoft.com/office/powerpoint/2010/main" xmlns="" val="7644931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精度误差</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normAutofit fontScale="92500"/>
              </a:bodyPr>
              <a:lstStyle/>
              <a:p>
                <a:r>
                  <a:rPr lang="zh-CN" altLang="en-US" smtClean="0"/>
                  <a:t>计算几何问题中，很多时候需要繁杂的浮点运算和三角函数运算，这样会产生人神共愤的精度问题。</a:t>
                </a:r>
                <a:endParaRPr lang="en-US" altLang="zh-CN" smtClean="0"/>
              </a:p>
              <a:p>
                <a:r>
                  <a:rPr lang="zh-CN" altLang="en-US" smtClean="0"/>
                  <a:t>因此，我们采取以下措施尽量避免精度误差（其中</a:t>
                </a:r>
                <a:r>
                  <a:rPr lang="en-US" altLang="zh-CN" smtClean="0"/>
                  <a:t>ε</a:t>
                </a:r>
                <a:r>
                  <a:rPr lang="zh-CN" altLang="en-US" smtClean="0"/>
                  <a:t>是个小量，多取 </a:t>
                </a:r>
                <a:r>
                  <a:rPr lang="en-US" altLang="zh-CN" smtClean="0"/>
                  <a:t>10</a:t>
                </a:r>
                <a:r>
                  <a:rPr lang="en-US" altLang="zh-CN" baseline="30000" smtClean="0"/>
                  <a:t>–8</a:t>
                </a:r>
                <a:r>
                  <a:rPr lang="zh-CN" altLang="en-US" smtClean="0"/>
                  <a:t>）：</a:t>
                </a:r>
                <a:endParaRPr lang="en-US" altLang="zh-CN" smtClean="0"/>
              </a:p>
              <a:p>
                <a14:m>
                  <m:oMath xmlns:m="http://schemas.openxmlformats.org/officeDocument/2006/math">
                    <m:r>
                      <a:rPr lang="en-US" altLang="zh-CN" b="0" i="1" smtClean="0">
                        <a:latin typeface="Cambria Math"/>
                      </a:rPr>
                      <m:t>𝑎</m:t>
                    </m:r>
                    <m:r>
                      <a:rPr lang="en-US" altLang="zh-CN" b="0" i="1" smtClean="0">
                        <a:latin typeface="Cambria Math"/>
                      </a:rPr>
                      <m:t>=</m:t>
                    </m:r>
                    <m:r>
                      <a:rPr lang="en-US" altLang="zh-CN" b="0" i="1" smtClean="0">
                        <a:latin typeface="Cambria Math"/>
                      </a:rPr>
                      <m:t>𝑏</m:t>
                    </m:r>
                    <m:r>
                      <a:rPr lang="en-US" altLang="zh-CN" b="0" i="1" smtClean="0">
                        <a:latin typeface="Cambria Math"/>
                        <a:ea typeface="Cambria Math"/>
                      </a:rPr>
                      <m:t>⇔</m:t>
                    </m:r>
                    <m:d>
                      <m:dPr>
                        <m:begChr m:val="|"/>
                        <m:endChr m:val="|"/>
                        <m:ctrlPr>
                          <a:rPr lang="en-US" altLang="zh-CN" b="0" i="1" smtClean="0">
                            <a:latin typeface="Cambria Math"/>
                            <a:ea typeface="Cambria Math"/>
                          </a:rPr>
                        </m:ctrlPr>
                      </m:dPr>
                      <m:e>
                        <m:r>
                          <a:rPr lang="en-US" altLang="zh-CN" b="0" i="1" smtClean="0">
                            <a:latin typeface="Cambria Math"/>
                            <a:ea typeface="Cambria Math"/>
                          </a:rPr>
                          <m:t>𝑎</m:t>
                        </m:r>
                        <m:r>
                          <a:rPr lang="en-US" altLang="zh-CN" b="0" i="1" smtClean="0">
                            <a:latin typeface="Cambria Math"/>
                            <a:ea typeface="Cambria Math"/>
                          </a:rPr>
                          <m:t>−</m:t>
                        </m:r>
                        <m:r>
                          <a:rPr lang="en-US" altLang="zh-CN" b="0" i="1" smtClean="0">
                            <a:latin typeface="Cambria Math"/>
                            <a:ea typeface="Cambria Math"/>
                          </a:rPr>
                          <m:t>𝑏</m:t>
                        </m:r>
                      </m:e>
                    </m:d>
                    <m:r>
                      <a:rPr lang="en-US" altLang="zh-CN" b="0" i="1" smtClean="0">
                        <a:latin typeface="Cambria Math"/>
                        <a:ea typeface="Cambria Math"/>
                      </a:rPr>
                      <m:t>&lt;</m:t>
                    </m:r>
                    <m:r>
                      <a:rPr lang="en-US" altLang="zh-CN" b="0" i="1" smtClean="0">
                        <a:latin typeface="Cambria Math"/>
                        <a:ea typeface="Cambria Math"/>
                      </a:rPr>
                      <m:t>𝜖</m:t>
                    </m:r>
                  </m:oMath>
                </a14:m>
                <a:endParaRPr lang="en-US" altLang="zh-CN" smtClean="0"/>
              </a:p>
              <a:p>
                <a14:m>
                  <m:oMath xmlns:m="http://schemas.openxmlformats.org/officeDocument/2006/math">
                    <m:r>
                      <a:rPr lang="en-US" altLang="zh-CN" b="0" i="1" smtClean="0">
                        <a:latin typeface="Cambria Math"/>
                      </a:rPr>
                      <m:t>𝑎</m:t>
                    </m:r>
                    <m:r>
                      <a:rPr lang="en-US" altLang="zh-CN" b="0" i="1" smtClean="0">
                        <a:latin typeface="Cambria Math"/>
                      </a:rPr>
                      <m:t>&lt;</m:t>
                    </m:r>
                    <m:r>
                      <a:rPr lang="en-US" altLang="zh-CN" b="0" i="1" smtClean="0">
                        <a:latin typeface="Cambria Math"/>
                      </a:rPr>
                      <m:t>𝑏</m:t>
                    </m:r>
                    <m:r>
                      <a:rPr lang="en-US" altLang="zh-CN" b="0" i="1" smtClean="0">
                        <a:latin typeface="Cambria Math"/>
                      </a:rPr>
                      <m:t>⇔</m:t>
                    </m:r>
                    <m:r>
                      <a:rPr lang="en-US" altLang="zh-CN" b="0" i="1" smtClean="0">
                        <a:latin typeface="Cambria Math"/>
                      </a:rPr>
                      <m:t>𝑎</m:t>
                    </m:r>
                    <m:r>
                      <a:rPr lang="en-US" altLang="zh-CN" b="0" i="1" smtClean="0">
                        <a:latin typeface="Cambria Math"/>
                      </a:rPr>
                      <m:t>−</m:t>
                    </m:r>
                    <m:r>
                      <a:rPr lang="en-US" altLang="zh-CN" b="0" i="1" smtClean="0">
                        <a:latin typeface="Cambria Math"/>
                      </a:rPr>
                      <m:t>𝑏</m:t>
                    </m:r>
                    <m:r>
                      <a:rPr lang="en-US" altLang="zh-CN" b="0" i="1" smtClean="0">
                        <a:latin typeface="Cambria Math"/>
                      </a:rPr>
                      <m:t>&lt;−</m:t>
                    </m:r>
                    <m:r>
                      <a:rPr lang="en-US" altLang="zh-CN" b="0" i="1" smtClean="0">
                        <a:latin typeface="Cambria Math"/>
                      </a:rPr>
                      <m:t>𝜖</m:t>
                    </m:r>
                  </m:oMath>
                </a14:m>
                <a:endParaRPr lang="en-US" altLang="zh-CN" b="0" smtClean="0"/>
              </a:p>
              <a:p>
                <a14:m>
                  <m:oMath xmlns:m="http://schemas.openxmlformats.org/officeDocument/2006/math">
                    <m:r>
                      <a:rPr lang="en-US" altLang="zh-CN" b="0" i="1" smtClean="0">
                        <a:latin typeface="Cambria Math"/>
                      </a:rPr>
                      <m:t>𝑎</m:t>
                    </m:r>
                    <m:r>
                      <a:rPr lang="en-US" altLang="zh-CN" b="0" i="1" smtClean="0">
                        <a:latin typeface="Cambria Math"/>
                      </a:rPr>
                      <m:t>≤</m:t>
                    </m:r>
                    <m:r>
                      <a:rPr lang="en-US" altLang="zh-CN" b="0" i="1" smtClean="0">
                        <a:latin typeface="Cambria Math"/>
                      </a:rPr>
                      <m:t>𝑏</m:t>
                    </m:r>
                    <m:r>
                      <a:rPr lang="en-US" altLang="zh-CN" b="0" i="1" smtClean="0">
                        <a:latin typeface="Cambria Math"/>
                      </a:rPr>
                      <m:t>⇔</m:t>
                    </m:r>
                    <m:r>
                      <a:rPr lang="en-US" altLang="zh-CN" b="0" i="1" smtClean="0">
                        <a:latin typeface="Cambria Math"/>
                      </a:rPr>
                      <m:t>𝑎</m:t>
                    </m:r>
                    <m:r>
                      <a:rPr lang="en-US" altLang="zh-CN" b="0" i="1" smtClean="0">
                        <a:latin typeface="Cambria Math"/>
                      </a:rPr>
                      <m:t>−</m:t>
                    </m:r>
                    <m:r>
                      <a:rPr lang="en-US" altLang="zh-CN" b="0" i="1" smtClean="0">
                        <a:latin typeface="Cambria Math"/>
                      </a:rPr>
                      <m:t>𝑏</m:t>
                    </m:r>
                    <m:r>
                      <a:rPr lang="en-US" altLang="zh-CN" b="0" i="1" smtClean="0">
                        <a:latin typeface="Cambria Math"/>
                      </a:rPr>
                      <m:t>&lt;</m:t>
                    </m:r>
                    <m:r>
                      <a:rPr lang="en-US" altLang="zh-CN" b="0" i="1" smtClean="0">
                        <a:latin typeface="Cambria Math"/>
                      </a:rPr>
                      <m:t>𝜖</m:t>
                    </m:r>
                  </m:oMath>
                </a14:m>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314" t="-133" r="-392"/>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25956092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en-US" altLang="ja-JP" dirty="0" smtClean="0"/>
              <a:t>2</a:t>
            </a:r>
            <a:r>
              <a:rPr lang="en-US" altLang="zh-CN" dirty="0" smtClean="0"/>
              <a:t>-Dimension Vector</a:t>
            </a:r>
            <a:endParaRPr lang="zh-CN" altLang="en-US" dirty="0"/>
          </a:p>
        </p:txBody>
      </p:sp>
      <p:sp>
        <p:nvSpPr>
          <p:cNvPr id="3" name="标题 2"/>
          <p:cNvSpPr>
            <a:spLocks noGrp="1"/>
          </p:cNvSpPr>
          <p:nvPr>
            <p:ph type="title"/>
          </p:nvPr>
        </p:nvSpPr>
        <p:spPr/>
        <p:txBody>
          <a:bodyPr/>
          <a:lstStyle/>
          <a:p>
            <a:r>
              <a:rPr lang="zh-CN" altLang="en-US" smtClean="0"/>
              <a:t>二维矢量</a:t>
            </a:r>
            <a:endParaRPr lang="zh-CN" altLang="en-US"/>
          </a:p>
        </p:txBody>
      </p:sp>
    </p:spTree>
    <p:extLst>
      <p:ext uri="{BB962C8B-B14F-4D97-AF65-F5344CB8AC3E}">
        <p14:creationId xmlns:p14="http://schemas.microsoft.com/office/powerpoint/2010/main" xmlns="" val="22003264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矢量</a:t>
            </a:r>
          </a:p>
        </p:txBody>
      </p:sp>
      <p:sp>
        <p:nvSpPr>
          <p:cNvPr id="3" name="内容占位符 2"/>
          <p:cNvSpPr>
            <a:spLocks noGrp="1"/>
          </p:cNvSpPr>
          <p:nvPr>
            <p:ph idx="1"/>
          </p:nvPr>
        </p:nvSpPr>
        <p:spPr/>
        <p:txBody>
          <a:bodyPr/>
          <a:lstStyle/>
          <a:p>
            <a:r>
              <a:rPr lang="zh-CN" altLang="en-US" smtClean="0"/>
              <a:t>既有大小又有方向的量。</a:t>
            </a:r>
            <a:endParaRPr lang="en-US" altLang="zh-CN" smtClean="0"/>
          </a:p>
          <a:p>
            <a:r>
              <a:rPr lang="zh-CN" altLang="en-US"/>
              <a:t>又</a:t>
            </a:r>
            <a:r>
              <a:rPr lang="zh-CN" altLang="en-US" smtClean="0"/>
              <a:t>称为</a:t>
            </a:r>
            <a:r>
              <a:rPr lang="zh-CN" altLang="en-US" b="1" smtClean="0">
                <a:solidFill>
                  <a:schemeClr val="accent4">
                    <a:lumMod val="60000"/>
                    <a:lumOff val="40000"/>
                  </a:schemeClr>
                </a:solidFill>
              </a:rPr>
              <a:t>向量</a:t>
            </a:r>
            <a:r>
              <a:rPr lang="zh-CN" altLang="en-US" smtClean="0"/>
              <a:t>。</a:t>
            </a:r>
            <a:endParaRPr lang="en-US" altLang="zh-CN" smtClean="0"/>
          </a:p>
          <a:p>
            <a:r>
              <a:rPr lang="zh-CN" altLang="en-US" smtClean="0"/>
              <a:t>大家初中都毕业了我就不多说了。</a:t>
            </a:r>
            <a:endParaRPr lang="zh-CN" altLang="en-US"/>
          </a:p>
        </p:txBody>
      </p:sp>
    </p:spTree>
    <p:extLst>
      <p:ext uri="{BB962C8B-B14F-4D97-AF65-F5344CB8AC3E}">
        <p14:creationId xmlns:p14="http://schemas.microsoft.com/office/powerpoint/2010/main" xmlns="" val="6911414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矢量的表示</a:t>
            </a:r>
            <a:endParaRPr lang="zh-CN" altLang="en-US" dirty="0"/>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dirty="0" smtClean="0"/>
                  <a:t>在 </a:t>
                </a:r>
                <a:r>
                  <a:rPr lang="en-US" altLang="zh-CN" dirty="0" smtClean="0"/>
                  <a:t>n </a:t>
                </a:r>
                <a:r>
                  <a:rPr lang="zh-CN" altLang="en-US" dirty="0" smtClean="0"/>
                  <a:t>维空间下，矢量经常被表达为 </a:t>
                </a:r>
                <a:r>
                  <a:rPr lang="en-US" altLang="zh-CN" dirty="0" smtClean="0"/>
                  <a:t>n </a:t>
                </a:r>
                <a:r>
                  <a:rPr lang="zh-CN" altLang="en-US" dirty="0" smtClean="0"/>
                  <a:t>个数的元组 </a:t>
                </a:r>
                <a14:m>
                  <m:oMath xmlns:m="http://schemas.openxmlformats.org/officeDocument/2006/math">
                    <m:r>
                      <a:rPr lang="en-US" altLang="zh-CN" b="1" i="1" smtClean="0">
                        <a:latin typeface="Cambria Math"/>
                      </a:rPr>
                      <m:t>𝒂</m:t>
                    </m:r>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𝑎</m:t>
                        </m:r>
                      </m:e>
                      <m:sub>
                        <m:r>
                          <a:rPr lang="en-US" altLang="zh-CN" b="0" i="1" smtClean="0">
                            <a:latin typeface="Cambria Math"/>
                          </a:rPr>
                          <m:t>1</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𝑎</m:t>
                        </m:r>
                      </m:e>
                      <m:sub>
                        <m:r>
                          <a:rPr lang="en-US" altLang="zh-CN" b="0" i="1" smtClean="0">
                            <a:latin typeface="Cambria Math"/>
                          </a:rPr>
                          <m:t>2</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𝑎</m:t>
                        </m:r>
                      </m:e>
                      <m:sub>
                        <m:r>
                          <a:rPr lang="en-US" altLang="zh-CN" b="0" i="1" smtClean="0">
                            <a:latin typeface="Cambria Math"/>
                          </a:rPr>
                          <m:t>𝑛</m:t>
                        </m:r>
                      </m:sub>
                    </m:sSub>
                    <m:r>
                      <a:rPr lang="en-US" altLang="zh-CN" b="0" i="1" smtClean="0">
                        <a:latin typeface="Cambria Math"/>
                      </a:rPr>
                      <m:t>)</m:t>
                    </m:r>
                  </m:oMath>
                </a14:m>
                <a:r>
                  <a:rPr lang="zh-CN" altLang="en-US" dirty="0" smtClean="0"/>
                  <a:t>。</a:t>
                </a:r>
                <a:endParaRPr lang="en-US" altLang="zh-CN" dirty="0" smtClean="0"/>
              </a:p>
              <a:p>
                <a:r>
                  <a:rPr lang="zh-CN" altLang="en-US" dirty="0" smtClean="0"/>
                  <a:t>在二维空间下则以 </a:t>
                </a:r>
                <a14:m>
                  <m:oMath xmlns:m="http://schemas.openxmlformats.org/officeDocument/2006/math">
                    <m:r>
                      <a:rPr lang="en-US" altLang="zh-CN">
                        <a:latin typeface="Cambria Math"/>
                      </a:rPr>
                      <m:t>(</m:t>
                    </m:r>
                    <m:r>
                      <a:rPr lang="en-US" altLang="zh-CN" b="0" i="1" smtClean="0">
                        <a:latin typeface="Cambria Math"/>
                      </a:rPr>
                      <m:t>𝑥</m:t>
                    </m:r>
                    <m:r>
                      <a:rPr lang="en-US" altLang="zh-CN" b="0" i="1" smtClean="0">
                        <a:latin typeface="Cambria Math"/>
                      </a:rPr>
                      <m:t>,</m:t>
                    </m:r>
                    <m:r>
                      <a:rPr lang="en-US" altLang="zh-CN" b="0" i="1" smtClean="0">
                        <a:latin typeface="Cambria Math"/>
                      </a:rPr>
                      <m:t>𝑦</m:t>
                    </m:r>
                    <m:r>
                      <a:rPr lang="en-US" altLang="zh-CN" b="0" i="1" smtClean="0">
                        <a:latin typeface="Cambria Math"/>
                      </a:rPr>
                      <m:t>)</m:t>
                    </m:r>
                  </m:oMath>
                </a14:m>
                <a:r>
                  <a:rPr lang="zh-CN" altLang="en-US" dirty="0" smtClean="0"/>
                  <a:t> 一对整数表示。</a:t>
                </a:r>
                <a:endParaRPr lang="en-US" altLang="zh-CN" dirty="0" smtClean="0"/>
              </a:p>
              <a:p>
                <a:r>
                  <a:rPr lang="zh-CN" altLang="en-US" dirty="0" smtClean="0"/>
                  <a:t>在高等代数中，</a:t>
                </a:r>
                <a:r>
                  <a:rPr lang="en-US" altLang="zh-CN" dirty="0" smtClean="0"/>
                  <a:t>n </a:t>
                </a:r>
                <a:r>
                  <a:rPr lang="zh-CN" altLang="en-US" dirty="0" smtClean="0"/>
                  <a:t>维矢量一般表示为列矢量的形式 </a:t>
                </a:r>
                <a14:m>
                  <m:oMath xmlns:m="http://schemas.openxmlformats.org/officeDocument/2006/math">
                    <m:sSup>
                      <m:sSupPr>
                        <m:ctrlPr>
                          <a:rPr lang="en-US" altLang="zh-CN" b="0" i="1" smtClean="0">
                            <a:latin typeface="Cambria Math"/>
                          </a:rPr>
                        </m:ctrlPr>
                      </m:sSupPr>
                      <m:e>
                        <m:d>
                          <m:dPr>
                            <m:ctrlPr>
                              <a:rPr lang="en-US" altLang="zh-CN" b="0" i="1" smtClean="0">
                                <a:latin typeface="Cambria Math"/>
                              </a:rPr>
                            </m:ctrlPr>
                          </m:dPr>
                          <m:e>
                            <m:sSub>
                              <m:sSubPr>
                                <m:ctrlPr>
                                  <a:rPr lang="en-US" altLang="zh-CN" b="0" i="1" smtClean="0">
                                    <a:latin typeface="Cambria Math"/>
                                  </a:rPr>
                                </m:ctrlPr>
                              </m:sSubPr>
                              <m:e>
                                <m:r>
                                  <a:rPr lang="en-US" altLang="zh-CN" b="0" i="1" smtClean="0">
                                    <a:latin typeface="Cambria Math"/>
                                  </a:rPr>
                                  <m:t>𝑎</m:t>
                                </m:r>
                              </m:e>
                              <m:sub>
                                <m:r>
                                  <a:rPr lang="en-US" altLang="zh-CN" b="0" i="1" smtClean="0">
                                    <a:latin typeface="Cambria Math"/>
                                  </a:rPr>
                                  <m:t>1</m:t>
                                </m:r>
                              </m:sub>
                            </m:sSub>
                            <m:r>
                              <a:rPr lang="en-US" altLang="zh-CN" b="0" i="1" smtClean="0">
                                <a:latin typeface="Cambria Math"/>
                              </a:rPr>
                              <m:t>  </m:t>
                            </m:r>
                            <m:sSub>
                              <m:sSubPr>
                                <m:ctrlPr>
                                  <a:rPr lang="en-US" altLang="zh-CN" b="0" i="1" smtClean="0">
                                    <a:latin typeface="Cambria Math"/>
                                  </a:rPr>
                                </m:ctrlPr>
                              </m:sSubPr>
                              <m:e>
                                <m:r>
                                  <a:rPr lang="en-US" altLang="zh-CN" b="0" i="1" smtClean="0">
                                    <a:latin typeface="Cambria Math"/>
                                  </a:rPr>
                                  <m:t>𝑎</m:t>
                                </m:r>
                              </m:e>
                              <m:sub>
                                <m:r>
                                  <a:rPr lang="en-US" altLang="zh-CN" b="0" i="1" smtClean="0">
                                    <a:latin typeface="Cambria Math"/>
                                  </a:rPr>
                                  <m:t>2</m:t>
                                </m:r>
                              </m:sub>
                            </m:sSub>
                            <m:r>
                              <a:rPr lang="en-US" altLang="zh-CN" b="0" i="1" smtClean="0">
                                <a:latin typeface="Cambria Math"/>
                              </a:rPr>
                              <m:t>  …  </m:t>
                            </m:r>
                            <m:sSub>
                              <m:sSubPr>
                                <m:ctrlPr>
                                  <a:rPr lang="en-US" altLang="zh-CN" b="0" i="1" smtClean="0">
                                    <a:latin typeface="Cambria Math"/>
                                  </a:rPr>
                                </m:ctrlPr>
                              </m:sSubPr>
                              <m:e>
                                <m:r>
                                  <a:rPr lang="en-US" altLang="zh-CN" b="0" i="1" smtClean="0">
                                    <a:latin typeface="Cambria Math"/>
                                  </a:rPr>
                                  <m:t>𝑎</m:t>
                                </m:r>
                              </m:e>
                              <m:sub>
                                <m:r>
                                  <a:rPr lang="en-US" altLang="zh-CN" b="0" i="1" smtClean="0">
                                    <a:latin typeface="Cambria Math"/>
                                  </a:rPr>
                                  <m:t>𝑛</m:t>
                                </m:r>
                              </m:sub>
                            </m:sSub>
                          </m:e>
                        </m:d>
                      </m:e>
                      <m:sup>
                        <m:r>
                          <a:rPr lang="en-US" altLang="zh-CN" b="0" i="1" smtClean="0">
                            <a:latin typeface="Cambria Math"/>
                          </a:rPr>
                          <m:t>𝑇</m:t>
                        </m:r>
                      </m:sup>
                    </m:sSup>
                  </m:oMath>
                </a14:m>
                <a:r>
                  <a:rPr lang="zh-CN" altLang="en-US" dirty="0" smtClean="0"/>
                  <a:t>，即 </a:t>
                </a:r>
                <a:r>
                  <a:rPr lang="en-US" altLang="zh-CN" dirty="0" smtClean="0"/>
                  <a:t>n×1 </a:t>
                </a:r>
                <a:r>
                  <a:rPr lang="zh-CN" altLang="en-US" dirty="0" smtClean="0"/>
                  <a:t>的矩阵。</a:t>
                </a: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400" r="-1569"/>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18142127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点积</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smtClean="0"/>
                  <a:t>两个 </a:t>
                </a:r>
                <a:r>
                  <a:rPr lang="en-US" altLang="zh-CN" smtClean="0"/>
                  <a:t>n </a:t>
                </a:r>
                <a:r>
                  <a:rPr lang="zh-CN" altLang="en-US" smtClean="0"/>
                  <a:t>维矢量的点积是一个标量，有 </a:t>
                </a:r>
                <a14:m>
                  <m:oMath xmlns:m="http://schemas.openxmlformats.org/officeDocument/2006/math">
                    <m:d>
                      <m:dPr>
                        <m:ctrlPr>
                          <a:rPr lang="en-US" altLang="zh-CN" b="0" i="1" smtClean="0">
                            <a:latin typeface="Cambria Math"/>
                          </a:rPr>
                        </m:ctrlPr>
                      </m:dPr>
                      <m:e>
                        <m:sSub>
                          <m:sSubPr>
                            <m:ctrlPr>
                              <a:rPr lang="en-US" altLang="zh-CN" b="0" i="1" smtClean="0">
                                <a:latin typeface="Cambria Math"/>
                              </a:rPr>
                            </m:ctrlPr>
                          </m:sSubPr>
                          <m:e>
                            <m:r>
                              <a:rPr lang="en-US" altLang="zh-CN" b="0" i="1" smtClean="0">
                                <a:latin typeface="Cambria Math"/>
                              </a:rPr>
                              <m:t>𝑎</m:t>
                            </m:r>
                          </m:e>
                          <m:sub>
                            <m:r>
                              <a:rPr lang="en-US" altLang="zh-CN" b="0" i="1" smtClean="0">
                                <a:latin typeface="Cambria Math"/>
                              </a:rPr>
                              <m:t>1</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𝑎</m:t>
                            </m:r>
                          </m:e>
                          <m:sub>
                            <m:r>
                              <a:rPr lang="en-US" altLang="zh-CN" b="0" i="1" smtClean="0">
                                <a:latin typeface="Cambria Math"/>
                              </a:rPr>
                              <m:t>2</m:t>
                            </m:r>
                          </m:sub>
                        </m:sSub>
                        <m:r>
                          <a:rPr lang="en-US" altLang="zh-CN" b="0" i="1" smtClean="0">
                            <a:latin typeface="Cambria Math"/>
                          </a:rPr>
                          <m:t>, …, </m:t>
                        </m:r>
                        <m:sSub>
                          <m:sSubPr>
                            <m:ctrlPr>
                              <a:rPr lang="en-US" altLang="zh-CN" b="0" i="1" smtClean="0">
                                <a:latin typeface="Cambria Math"/>
                              </a:rPr>
                            </m:ctrlPr>
                          </m:sSubPr>
                          <m:e>
                            <m:r>
                              <a:rPr lang="en-US" altLang="zh-CN" b="0" i="1" smtClean="0">
                                <a:latin typeface="Cambria Math"/>
                              </a:rPr>
                              <m:t>𝑎</m:t>
                            </m:r>
                          </m:e>
                          <m:sub>
                            <m:r>
                              <a:rPr lang="en-US" altLang="zh-CN" b="0" i="1" smtClean="0">
                                <a:latin typeface="Cambria Math"/>
                              </a:rPr>
                              <m:t>𝑛</m:t>
                            </m:r>
                          </m:sub>
                        </m:sSub>
                      </m:e>
                    </m:d>
                    <m:r>
                      <a:rPr lang="en-US" altLang="zh-CN" i="1">
                        <a:latin typeface="Cambria Math"/>
                        <a:ea typeface="Cambria Math"/>
                      </a:rPr>
                      <m:t>⋅</m:t>
                    </m:r>
                    <m:d>
                      <m:dPr>
                        <m:ctrlPr>
                          <a:rPr lang="en-US" altLang="zh-CN" b="0" i="1" smtClean="0">
                            <a:latin typeface="Cambria Math"/>
                            <a:ea typeface="Cambria Math"/>
                          </a:rPr>
                        </m:ctrlPr>
                      </m:dPr>
                      <m:e>
                        <m:sSub>
                          <m:sSubPr>
                            <m:ctrlPr>
                              <a:rPr lang="en-US" altLang="zh-CN" b="0" i="1" smtClean="0">
                                <a:latin typeface="Cambria Math"/>
                                <a:ea typeface="Cambria Math"/>
                              </a:rPr>
                            </m:ctrlPr>
                          </m:sSubPr>
                          <m:e>
                            <m:r>
                              <a:rPr lang="en-US" altLang="zh-CN" b="0" i="1" smtClean="0">
                                <a:latin typeface="Cambria Math"/>
                                <a:ea typeface="Cambria Math"/>
                              </a:rPr>
                              <m:t>𝑏</m:t>
                            </m:r>
                          </m:e>
                          <m:sub>
                            <m:r>
                              <a:rPr lang="en-US" altLang="zh-CN" b="0" i="1" smtClean="0">
                                <a:latin typeface="Cambria Math"/>
                                <a:ea typeface="Cambria Math"/>
                              </a:rPr>
                              <m:t>1</m:t>
                            </m:r>
                          </m:sub>
                        </m:sSub>
                        <m:r>
                          <a:rPr lang="en-US" altLang="zh-CN" b="0" i="1" smtClean="0">
                            <a:latin typeface="Cambria Math"/>
                            <a:ea typeface="Cambria Math"/>
                          </a:rPr>
                          <m:t>,</m:t>
                        </m:r>
                        <m:sSub>
                          <m:sSubPr>
                            <m:ctrlPr>
                              <a:rPr lang="en-US" altLang="zh-CN" b="0" i="1" smtClean="0">
                                <a:latin typeface="Cambria Math"/>
                                <a:ea typeface="Cambria Math"/>
                              </a:rPr>
                            </m:ctrlPr>
                          </m:sSubPr>
                          <m:e>
                            <m:r>
                              <a:rPr lang="en-US" altLang="zh-CN" b="0" i="1" smtClean="0">
                                <a:latin typeface="Cambria Math"/>
                                <a:ea typeface="Cambria Math"/>
                              </a:rPr>
                              <m:t>𝑏</m:t>
                            </m:r>
                          </m:e>
                          <m:sub>
                            <m:r>
                              <a:rPr lang="en-US" altLang="zh-CN" b="0" i="1" smtClean="0">
                                <a:latin typeface="Cambria Math"/>
                                <a:ea typeface="Cambria Math"/>
                              </a:rPr>
                              <m:t>2</m:t>
                            </m:r>
                          </m:sub>
                        </m:sSub>
                        <m:r>
                          <a:rPr lang="en-US" altLang="zh-CN" b="0" i="1" smtClean="0">
                            <a:latin typeface="Cambria Math"/>
                            <a:ea typeface="Cambria Math"/>
                          </a:rPr>
                          <m:t>,…,</m:t>
                        </m:r>
                        <m:sSub>
                          <m:sSubPr>
                            <m:ctrlPr>
                              <a:rPr lang="en-US" altLang="zh-CN" b="0" i="1" smtClean="0">
                                <a:latin typeface="Cambria Math"/>
                                <a:ea typeface="Cambria Math"/>
                              </a:rPr>
                            </m:ctrlPr>
                          </m:sSubPr>
                          <m:e>
                            <m:r>
                              <a:rPr lang="en-US" altLang="zh-CN" b="0" i="1" smtClean="0">
                                <a:latin typeface="Cambria Math"/>
                                <a:ea typeface="Cambria Math"/>
                              </a:rPr>
                              <m:t>𝑏</m:t>
                            </m:r>
                          </m:e>
                          <m:sub>
                            <m:r>
                              <a:rPr lang="en-US" altLang="zh-CN" b="0" i="1" smtClean="0">
                                <a:latin typeface="Cambria Math"/>
                                <a:ea typeface="Cambria Math"/>
                              </a:rPr>
                              <m:t>𝑛</m:t>
                            </m:r>
                          </m:sub>
                        </m:sSub>
                      </m:e>
                    </m:d>
                    <m:r>
                      <a:rPr lang="en-US" altLang="zh-CN" b="0" i="1" smtClean="0">
                        <a:latin typeface="Cambria Math"/>
                        <a:ea typeface="Cambria Math"/>
                      </a:rPr>
                      <m:t>≝</m:t>
                    </m:r>
                    <m:sSub>
                      <m:sSubPr>
                        <m:ctrlPr>
                          <a:rPr lang="en-US" altLang="zh-CN" b="0" i="1" smtClean="0">
                            <a:latin typeface="Cambria Math"/>
                            <a:ea typeface="Cambria Math"/>
                          </a:rPr>
                        </m:ctrlPr>
                      </m:sSubPr>
                      <m:e>
                        <m:r>
                          <a:rPr lang="en-US" altLang="zh-CN" b="0" i="1" smtClean="0">
                            <a:latin typeface="Cambria Math"/>
                            <a:ea typeface="Cambria Math"/>
                          </a:rPr>
                          <m:t>𝑎</m:t>
                        </m:r>
                      </m:e>
                      <m:sub>
                        <m:r>
                          <a:rPr lang="en-US" altLang="zh-CN" b="0" i="1" smtClean="0">
                            <a:latin typeface="Cambria Math"/>
                            <a:ea typeface="Cambria Math"/>
                          </a:rPr>
                          <m:t>1</m:t>
                        </m:r>
                      </m:sub>
                    </m:sSub>
                    <m:sSub>
                      <m:sSubPr>
                        <m:ctrlPr>
                          <a:rPr lang="en-US" altLang="zh-CN" b="0" i="1" smtClean="0">
                            <a:latin typeface="Cambria Math"/>
                            <a:ea typeface="Cambria Math"/>
                          </a:rPr>
                        </m:ctrlPr>
                      </m:sSubPr>
                      <m:e>
                        <m:r>
                          <a:rPr lang="en-US" altLang="zh-CN" b="0" i="1" smtClean="0">
                            <a:latin typeface="Cambria Math"/>
                            <a:ea typeface="Cambria Math"/>
                          </a:rPr>
                          <m:t>𝑏</m:t>
                        </m:r>
                      </m:e>
                      <m:sub>
                        <m:r>
                          <a:rPr lang="en-US" altLang="zh-CN" b="0" i="1" smtClean="0">
                            <a:latin typeface="Cambria Math"/>
                            <a:ea typeface="Cambria Math"/>
                          </a:rPr>
                          <m:t>1</m:t>
                        </m:r>
                      </m:sub>
                    </m:sSub>
                    <m:r>
                      <a:rPr lang="en-US" altLang="zh-CN" b="0" i="1" smtClean="0">
                        <a:latin typeface="Cambria Math"/>
                        <a:ea typeface="Cambria Math"/>
                      </a:rPr>
                      <m:t>+</m:t>
                    </m:r>
                    <m:sSub>
                      <m:sSubPr>
                        <m:ctrlPr>
                          <a:rPr lang="en-US" altLang="zh-CN" b="0" i="1" smtClean="0">
                            <a:latin typeface="Cambria Math"/>
                            <a:ea typeface="Cambria Math"/>
                          </a:rPr>
                        </m:ctrlPr>
                      </m:sSubPr>
                      <m:e>
                        <m:r>
                          <a:rPr lang="en-US" altLang="zh-CN" b="0" i="1" smtClean="0">
                            <a:latin typeface="Cambria Math"/>
                            <a:ea typeface="Cambria Math"/>
                          </a:rPr>
                          <m:t>𝑎</m:t>
                        </m:r>
                      </m:e>
                      <m:sub>
                        <m:r>
                          <a:rPr lang="en-US" altLang="zh-CN" b="0" i="1" smtClean="0">
                            <a:latin typeface="Cambria Math"/>
                            <a:ea typeface="Cambria Math"/>
                          </a:rPr>
                          <m:t>2</m:t>
                        </m:r>
                      </m:sub>
                    </m:sSub>
                    <m:sSub>
                      <m:sSubPr>
                        <m:ctrlPr>
                          <a:rPr lang="en-US" altLang="zh-CN" b="0" i="1" smtClean="0">
                            <a:latin typeface="Cambria Math"/>
                            <a:ea typeface="Cambria Math"/>
                          </a:rPr>
                        </m:ctrlPr>
                      </m:sSubPr>
                      <m:e>
                        <m:r>
                          <a:rPr lang="en-US" altLang="zh-CN" b="0" i="1" smtClean="0">
                            <a:latin typeface="Cambria Math"/>
                            <a:ea typeface="Cambria Math"/>
                          </a:rPr>
                          <m:t>𝑏</m:t>
                        </m:r>
                      </m:e>
                      <m:sub>
                        <m:r>
                          <a:rPr lang="en-US" altLang="zh-CN" b="0" i="1" smtClean="0">
                            <a:latin typeface="Cambria Math"/>
                            <a:ea typeface="Cambria Math"/>
                          </a:rPr>
                          <m:t>2</m:t>
                        </m:r>
                      </m:sub>
                    </m:sSub>
                    <m:r>
                      <a:rPr lang="en-US" altLang="zh-CN" b="0" i="1" smtClean="0">
                        <a:latin typeface="Cambria Math"/>
                        <a:ea typeface="Cambria Math"/>
                      </a:rPr>
                      <m:t>+…+</m:t>
                    </m:r>
                    <m:sSub>
                      <m:sSubPr>
                        <m:ctrlPr>
                          <a:rPr lang="en-US" altLang="zh-CN" b="0" i="1" smtClean="0">
                            <a:latin typeface="Cambria Math"/>
                            <a:ea typeface="Cambria Math"/>
                          </a:rPr>
                        </m:ctrlPr>
                      </m:sSubPr>
                      <m:e>
                        <m:r>
                          <a:rPr lang="en-US" altLang="zh-CN" b="0" i="1" smtClean="0">
                            <a:latin typeface="Cambria Math"/>
                            <a:ea typeface="Cambria Math"/>
                          </a:rPr>
                          <m:t>𝑎</m:t>
                        </m:r>
                      </m:e>
                      <m:sub>
                        <m:r>
                          <a:rPr lang="en-US" altLang="zh-CN" b="0" i="1" smtClean="0">
                            <a:latin typeface="Cambria Math"/>
                            <a:ea typeface="Cambria Math"/>
                          </a:rPr>
                          <m:t>𝑛</m:t>
                        </m:r>
                      </m:sub>
                    </m:sSub>
                    <m:sSub>
                      <m:sSubPr>
                        <m:ctrlPr>
                          <a:rPr lang="en-US" altLang="zh-CN" b="0" i="1" smtClean="0">
                            <a:latin typeface="Cambria Math"/>
                            <a:ea typeface="Cambria Math"/>
                          </a:rPr>
                        </m:ctrlPr>
                      </m:sSubPr>
                      <m:e>
                        <m:r>
                          <a:rPr lang="en-US" altLang="zh-CN" b="0" i="1" smtClean="0">
                            <a:latin typeface="Cambria Math"/>
                            <a:ea typeface="Cambria Math"/>
                          </a:rPr>
                          <m:t>𝑏</m:t>
                        </m:r>
                      </m:e>
                      <m:sub>
                        <m:r>
                          <a:rPr lang="en-US" altLang="zh-CN" b="0" i="1" smtClean="0">
                            <a:latin typeface="Cambria Math"/>
                            <a:ea typeface="Cambria Math"/>
                          </a:rPr>
                          <m:t>𝑛</m:t>
                        </m:r>
                      </m:sub>
                    </m:sSub>
                  </m:oMath>
                </a14:m>
                <a:r>
                  <a:rPr lang="zh-CN" altLang="en-US" smtClean="0"/>
                  <a:t>。</a:t>
                </a:r>
                <a:endParaRPr lang="en-US" altLang="zh-CN" smtClean="0"/>
              </a:p>
              <a:p>
                <a:r>
                  <a:rPr lang="zh-CN" altLang="en-US" smtClean="0"/>
                  <a:t>由此，矢量的</a:t>
                </a:r>
                <a:r>
                  <a:rPr lang="zh-CN" altLang="en-US" b="1" smtClean="0">
                    <a:solidFill>
                      <a:schemeClr val="accent4">
                        <a:lumMod val="60000"/>
                        <a:lumOff val="40000"/>
                      </a:schemeClr>
                    </a:solidFill>
                  </a:rPr>
                  <a:t>模</a:t>
                </a:r>
                <a:r>
                  <a:rPr lang="zh-CN" altLang="en-US" smtClean="0"/>
                  <a:t>（即</a:t>
                </a:r>
                <a:r>
                  <a:rPr lang="zh-CN" altLang="en-US" b="1" smtClean="0">
                    <a:solidFill>
                      <a:schemeClr val="accent4">
                        <a:lumMod val="60000"/>
                        <a:lumOff val="40000"/>
                      </a:schemeClr>
                    </a:solidFill>
                  </a:rPr>
                  <a:t>长度</a:t>
                </a:r>
                <a:r>
                  <a:rPr lang="zh-CN" altLang="en-US" smtClean="0"/>
                  <a:t>）定义为 </a:t>
                </a:r>
                <a14:m>
                  <m:oMath xmlns:m="http://schemas.openxmlformats.org/officeDocument/2006/math">
                    <m:d>
                      <m:dPr>
                        <m:begChr m:val="|"/>
                        <m:endChr m:val="|"/>
                        <m:ctrlPr>
                          <a:rPr lang="en-US" altLang="zh-CN" i="1" smtClean="0">
                            <a:latin typeface="Cambria Math"/>
                          </a:rPr>
                        </m:ctrlPr>
                      </m:dPr>
                      <m:e>
                        <m:r>
                          <a:rPr lang="en-US" altLang="zh-CN" b="1" i="1" smtClean="0">
                            <a:latin typeface="Cambria Math"/>
                          </a:rPr>
                          <m:t>𝒂</m:t>
                        </m:r>
                      </m:e>
                    </m:d>
                    <m:r>
                      <a:rPr lang="en-US" altLang="zh-CN" i="1" smtClean="0">
                        <a:latin typeface="Cambria Math"/>
                      </a:rPr>
                      <m:t>≝</m:t>
                    </m:r>
                    <m:rad>
                      <m:radPr>
                        <m:degHide m:val="on"/>
                        <m:ctrlPr>
                          <a:rPr lang="en-US" altLang="zh-CN" b="0" i="1" smtClean="0">
                            <a:latin typeface="Cambria Math"/>
                          </a:rPr>
                        </m:ctrlPr>
                      </m:radPr>
                      <m:deg/>
                      <m:e>
                        <m:r>
                          <a:rPr lang="en-US" altLang="zh-CN" b="1" i="1" smtClean="0">
                            <a:latin typeface="Cambria Math"/>
                          </a:rPr>
                          <m:t>𝒂</m:t>
                        </m:r>
                        <m:r>
                          <a:rPr lang="en-US" altLang="zh-CN" b="0" i="1" smtClean="0">
                            <a:latin typeface="Cambria Math"/>
                          </a:rPr>
                          <m:t>⋅</m:t>
                        </m:r>
                        <m:r>
                          <a:rPr lang="en-US" altLang="zh-CN" b="1" i="1" smtClean="0">
                            <a:latin typeface="Cambria Math"/>
                          </a:rPr>
                          <m:t>𝒂</m:t>
                        </m:r>
                        <m:r>
                          <a:rPr lang="en-US" altLang="zh-CN" b="0" i="1" smtClean="0">
                            <a:latin typeface="Cambria Math"/>
                          </a:rPr>
                          <m:t> </m:t>
                        </m:r>
                      </m:e>
                    </m:rad>
                    <m:r>
                      <a:rPr lang="en-US" altLang="zh-CN" b="0" i="1" smtClean="0">
                        <a:latin typeface="Cambria Math"/>
                      </a:rPr>
                      <m:t>=</m:t>
                    </m:r>
                    <m:rad>
                      <m:radPr>
                        <m:degHide m:val="on"/>
                        <m:ctrlPr>
                          <a:rPr lang="en-US" altLang="zh-CN" b="0" i="1" smtClean="0">
                            <a:latin typeface="Cambria Math"/>
                          </a:rPr>
                        </m:ctrlPr>
                      </m:radPr>
                      <m:deg/>
                      <m:e>
                        <m:sSup>
                          <m:sSupPr>
                            <m:ctrlPr>
                              <a:rPr lang="en-US" altLang="zh-CN" b="0" i="1" smtClean="0">
                                <a:latin typeface="Cambria Math"/>
                              </a:rPr>
                            </m:ctrlPr>
                          </m:sSupPr>
                          <m:e>
                            <m:r>
                              <a:rPr lang="en-US" altLang="zh-CN" b="1" i="1" smtClean="0">
                                <a:latin typeface="Cambria Math"/>
                              </a:rPr>
                              <m:t>𝒂</m:t>
                            </m:r>
                          </m:e>
                          <m:sup>
                            <m:r>
                              <a:rPr lang="en-US" altLang="zh-CN" b="0" i="1" smtClean="0">
                                <a:latin typeface="Cambria Math"/>
                              </a:rPr>
                              <m:t>2</m:t>
                            </m:r>
                          </m:sup>
                        </m:sSup>
                      </m:e>
                    </m:rad>
                  </m:oMath>
                </a14:m>
                <a:r>
                  <a:rPr lang="zh-CN" altLang="en-US" smtClean="0"/>
                  <a:t>。</a:t>
                </a:r>
                <a:endParaRPr lang="en-US" altLang="zh-CN" smtClean="0"/>
              </a:p>
              <a:p>
                <a:r>
                  <a:rPr lang="zh-CN" altLang="en-US"/>
                  <a:t>点</a:t>
                </a:r>
                <a:r>
                  <a:rPr lang="zh-CN" altLang="en-US" smtClean="0"/>
                  <a:t>积满足交换律。</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4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24257047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夹角</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smtClean="0"/>
                  <a:t>点积之另一定义为 </a:t>
                </a:r>
                <a14:m>
                  <m:oMath xmlns:m="http://schemas.openxmlformats.org/officeDocument/2006/math">
                    <m:r>
                      <a:rPr lang="en-US" altLang="zh-CN" b="1" i="1" smtClean="0">
                        <a:latin typeface="Cambria Math"/>
                      </a:rPr>
                      <m:t>𝒂</m:t>
                    </m:r>
                    <m:r>
                      <a:rPr lang="en-US" altLang="zh-CN" b="0" i="1" smtClean="0">
                        <a:latin typeface="Cambria Math"/>
                      </a:rPr>
                      <m:t>⋅</m:t>
                    </m:r>
                    <m:r>
                      <a:rPr lang="en-US" altLang="zh-CN" b="1" i="1" smtClean="0">
                        <a:latin typeface="Cambria Math"/>
                      </a:rPr>
                      <m:t>𝒃</m:t>
                    </m:r>
                    <m:r>
                      <a:rPr lang="en-US" altLang="zh-CN" b="0" i="1" smtClean="0">
                        <a:latin typeface="Cambria Math"/>
                      </a:rPr>
                      <m:t>=</m:t>
                    </m:r>
                    <m:d>
                      <m:dPr>
                        <m:begChr m:val="|"/>
                        <m:endChr m:val="|"/>
                        <m:ctrlPr>
                          <a:rPr lang="en-US" altLang="zh-CN" b="0" i="1" smtClean="0">
                            <a:latin typeface="Cambria Math"/>
                          </a:rPr>
                        </m:ctrlPr>
                      </m:dPr>
                      <m:e>
                        <m:r>
                          <a:rPr lang="en-US" altLang="zh-CN" b="1" i="1" smtClean="0">
                            <a:latin typeface="Cambria Math"/>
                          </a:rPr>
                          <m:t>𝒂</m:t>
                        </m:r>
                      </m:e>
                    </m:d>
                    <m:d>
                      <m:dPr>
                        <m:begChr m:val="|"/>
                        <m:endChr m:val="|"/>
                        <m:ctrlPr>
                          <a:rPr lang="en-US" altLang="zh-CN" b="0" i="1" smtClean="0">
                            <a:latin typeface="Cambria Math"/>
                          </a:rPr>
                        </m:ctrlPr>
                      </m:dPr>
                      <m:e>
                        <m:r>
                          <a:rPr lang="en-US" altLang="zh-CN" b="1" i="1" smtClean="0">
                            <a:latin typeface="Cambria Math"/>
                          </a:rPr>
                          <m:t>𝒃</m:t>
                        </m:r>
                      </m:e>
                    </m:d>
                    <m:r>
                      <m:rPr>
                        <m:sty m:val="p"/>
                      </m:rPr>
                      <a:rPr lang="en-US" altLang="zh-CN" b="0" i="0" smtClean="0">
                        <a:latin typeface="Cambria Math"/>
                      </a:rPr>
                      <m:t>cos</m:t>
                    </m:r>
                    <m:r>
                      <a:rPr lang="en-US" altLang="zh-CN" b="0" i="1" smtClean="0">
                        <a:latin typeface="Cambria Math"/>
                      </a:rPr>
                      <m:t>𝜃</m:t>
                    </m:r>
                  </m:oMath>
                </a14:m>
                <a:r>
                  <a:rPr lang="zh-CN" altLang="en-US" smtClean="0"/>
                  <a:t>，其中 </a:t>
                </a:r>
                <a:r>
                  <a:rPr lang="el-GR" altLang="zh-CN" i="1" smtClean="0">
                    <a:latin typeface="Times New Roman" pitchFamily="18" charset="0"/>
                    <a:cs typeface="Times New Roman" pitchFamily="18" charset="0"/>
                  </a:rPr>
                  <a:t>θ</a:t>
                </a:r>
                <a:r>
                  <a:rPr lang="en-US" altLang="zh-CN" i="1" smtClean="0">
                    <a:latin typeface="Times New Roman" pitchFamily="18" charset="0"/>
                    <a:cs typeface="Times New Roman" pitchFamily="18" charset="0"/>
                  </a:rPr>
                  <a:t/>
                </a:r>
                <a:r>
                  <a:rPr lang="zh-CN" altLang="en-US" smtClean="0"/>
                  <a:t>为 </a:t>
                </a:r>
                <a:r>
                  <a:rPr lang="en-US" altLang="zh-CN" b="1" i="1" smtClean="0">
                    <a:latin typeface="Times New Roman" pitchFamily="18" charset="0"/>
                    <a:cs typeface="Times New Roman" pitchFamily="18" charset="0"/>
                  </a:rPr>
                  <a:t>a</a:t>
                </a:r>
                <a:r>
                  <a:rPr lang="en-US" altLang="zh-CN" smtClean="0"/>
                  <a:t/>
                </a:r>
                <a:r>
                  <a:rPr lang="zh-CN" altLang="en-US" smtClean="0"/>
                  <a:t>和 </a:t>
                </a:r>
                <a:r>
                  <a:rPr lang="en-US" altLang="zh-CN" b="1" i="1" smtClean="0">
                    <a:latin typeface="Times New Roman" pitchFamily="18" charset="0"/>
                    <a:cs typeface="Times New Roman" pitchFamily="18" charset="0"/>
                  </a:rPr>
                  <a:t>b</a:t>
                </a:r>
                <a:r>
                  <a:rPr lang="en-US" altLang="zh-CN" smtClean="0"/>
                  <a:t/>
                </a:r>
                <a:r>
                  <a:rPr lang="zh-CN" altLang="en-US" smtClean="0"/>
                  <a:t>之</a:t>
                </a:r>
                <a:r>
                  <a:rPr lang="zh-CN" altLang="en-US" b="1" smtClean="0">
                    <a:solidFill>
                      <a:schemeClr val="accent4">
                        <a:lumMod val="60000"/>
                        <a:lumOff val="40000"/>
                      </a:schemeClr>
                    </a:solidFill>
                  </a:rPr>
                  <a:t>夹角</a:t>
                </a:r>
                <a:r>
                  <a:rPr lang="zh-CN" altLang="en-US" smtClean="0"/>
                  <a:t>。</a:t>
                </a:r>
                <a:endParaRPr lang="en-US" altLang="zh-CN" smtClean="0"/>
              </a:p>
              <a:p>
                <a:r>
                  <a:rPr lang="zh-CN" altLang="en-US" smtClean="0"/>
                  <a:t>如下图，</a:t>
                </a:r>
                <a:r>
                  <a:rPr lang="en-US" altLang="zh-CN" b="1" i="1" smtClean="0">
                    <a:latin typeface="Times New Roman" pitchFamily="18" charset="0"/>
                    <a:cs typeface="Times New Roman" pitchFamily="18" charset="0"/>
                  </a:rPr>
                  <a:t>a</a:t>
                </a:r>
                <a:r>
                  <a:rPr lang="en-US" altLang="zh-CN" smtClean="0"/>
                  <a:t/>
                </a:r>
                <a:r>
                  <a:rPr lang="zh-CN" altLang="en-US" smtClean="0"/>
                  <a:t>与 </a:t>
                </a:r>
                <a:r>
                  <a:rPr lang="en-US" altLang="zh-CN" b="1" i="1" smtClean="0">
                    <a:latin typeface="Times New Roman" pitchFamily="18" charset="0"/>
                    <a:cs typeface="Times New Roman" pitchFamily="18" charset="0"/>
                  </a:rPr>
                  <a:t>b</a:t>
                </a:r>
                <a:r>
                  <a:rPr lang="en-US" altLang="zh-CN" smtClean="0"/>
                  <a:t/>
                </a:r>
                <a:r>
                  <a:rPr lang="zh-CN" altLang="en-US" smtClean="0"/>
                  <a:t>的点积的值实际上就是 </a:t>
                </a:r>
                <a:r>
                  <a:rPr lang="en-US" altLang="zh-CN" b="1" i="1" smtClean="0">
                    <a:latin typeface="Times New Roman" pitchFamily="18" charset="0"/>
                    <a:cs typeface="Times New Roman" pitchFamily="18" charset="0"/>
                  </a:rPr>
                  <a:t>a</a:t>
                </a:r>
                <a:r>
                  <a:rPr lang="en-US" altLang="zh-CN" smtClean="0"/>
                  <a:t/>
                </a:r>
                <a:r>
                  <a:rPr lang="zh-CN" altLang="en-US" smtClean="0"/>
                  <a:t>的模乘 </a:t>
                </a:r>
                <a:r>
                  <a:rPr lang="en-US" altLang="zh-CN" b="1" i="1" smtClean="0">
                    <a:latin typeface="Times New Roman" pitchFamily="18" charset="0"/>
                    <a:cs typeface="Times New Roman" pitchFamily="18" charset="0"/>
                  </a:rPr>
                  <a:t>b</a:t>
                </a:r>
                <a:r>
                  <a:rPr lang="en-US" altLang="zh-CN" smtClean="0"/>
                  <a:t/>
                </a:r>
                <a:r>
                  <a:rPr lang="zh-CN" altLang="en-US" smtClean="0"/>
                  <a:t>在 </a:t>
                </a:r>
                <a:r>
                  <a:rPr lang="en-US" altLang="zh-CN" b="1" i="1" smtClean="0">
                    <a:latin typeface="Times New Roman" pitchFamily="18" charset="0"/>
                    <a:cs typeface="Times New Roman" pitchFamily="18" charset="0"/>
                  </a:rPr>
                  <a:t>a</a:t>
                </a:r>
                <a:r>
                  <a:rPr lang="en-US" altLang="zh-CN" smtClean="0"/>
                  <a:t/>
                </a:r>
                <a:r>
                  <a:rPr lang="zh-CN" altLang="en-US" smtClean="0"/>
                  <a:t>上的投影的“模”，但是若其投影与 </a:t>
                </a:r>
                <a:r>
                  <a:rPr lang="en-US" altLang="zh-CN" b="1" i="1" smtClean="0">
                    <a:latin typeface="Times New Roman" pitchFamily="18" charset="0"/>
                    <a:cs typeface="Times New Roman" pitchFamily="18" charset="0"/>
                  </a:rPr>
                  <a:t>a</a:t>
                </a:r>
                <a:r>
                  <a:rPr lang="en-US" altLang="zh-CN" smtClean="0"/>
                  <a:t/>
                </a:r>
                <a:r>
                  <a:rPr lang="zh-CN" altLang="en-US" smtClean="0"/>
                  <a:t>方向相反则为负。</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400" r="-1804"/>
                </a:stretch>
              </a:blipFill>
            </p:spPr>
            <p:txBody>
              <a:bodyPr/>
              <a:lstStyle/>
              <a:p>
                <a:r>
                  <a:rPr lang="zh-CN" altLang="en-US">
                    <a:noFill/>
                  </a:rPr>
                  <a:t> </a:t>
                </a:r>
              </a:p>
            </p:txBody>
          </p:sp>
        </mc:Fallback>
      </mc:AlternateContent>
      <p:pic>
        <p:nvPicPr>
          <p:cNvPr id="4" name="图片 3"/>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4630146" y="4024209"/>
            <a:ext cx="4406350" cy="3149207"/>
          </a:xfrm>
          <a:prstGeom prst="rect">
            <a:avLst/>
          </a:prstGeom>
        </p:spPr>
      </p:pic>
    </p:spTree>
    <p:extLst>
      <p:ext uri="{BB962C8B-B14F-4D97-AF65-F5344CB8AC3E}">
        <p14:creationId xmlns:p14="http://schemas.microsoft.com/office/powerpoint/2010/main" xmlns="" val="23338374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矢量的垂直</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smtClean="0"/>
                  <a:t>垂直的</a:t>
                </a:r>
                <a:r>
                  <a:rPr lang="zh-CN" altLang="en-US"/>
                  <a:t>矢量</a:t>
                </a:r>
                <a:r>
                  <a:rPr lang="zh-CN" altLang="en-US" smtClean="0"/>
                  <a:t>有 </a:t>
                </a:r>
                <a14:m>
                  <m:oMath xmlns:m="http://schemas.openxmlformats.org/officeDocument/2006/math">
                    <m:r>
                      <a:rPr lang="en-US" altLang="zh-CN" i="1" smtClean="0">
                        <a:latin typeface="Cambria Math"/>
                      </a:rPr>
                      <m:t>𝜃</m:t>
                    </m:r>
                    <m:r>
                      <a:rPr lang="en-US" altLang="zh-CN" b="0" i="1" smtClean="0">
                        <a:latin typeface="Cambria Math"/>
                      </a:rPr>
                      <m:t>=</m:t>
                    </m:r>
                    <m:f>
                      <m:fPr>
                        <m:type m:val="lin"/>
                        <m:ctrlPr>
                          <a:rPr lang="en-US" altLang="zh-CN" b="0" i="1" smtClean="0">
                            <a:latin typeface="Cambria Math"/>
                          </a:rPr>
                        </m:ctrlPr>
                      </m:fPr>
                      <m:num>
                        <m:r>
                          <a:rPr lang="en-US" altLang="zh-CN" b="0" i="1" smtClean="0">
                            <a:latin typeface="Cambria Math"/>
                          </a:rPr>
                          <m:t>𝜋</m:t>
                        </m:r>
                      </m:num>
                      <m:den>
                        <m:r>
                          <a:rPr lang="en-US" altLang="zh-CN" b="0" i="1" smtClean="0">
                            <a:latin typeface="Cambria Math"/>
                          </a:rPr>
                          <m:t>2</m:t>
                        </m:r>
                      </m:den>
                    </m:f>
                  </m:oMath>
                </a14:m>
                <a:r>
                  <a:rPr lang="zh-CN" altLang="en-US" smtClean="0"/>
                  <a:t>，即 </a:t>
                </a:r>
                <a14:m>
                  <m:oMath xmlns:m="http://schemas.openxmlformats.org/officeDocument/2006/math">
                    <m:r>
                      <m:rPr>
                        <m:sty m:val="p"/>
                      </m:rPr>
                      <a:rPr lang="en-US" altLang="zh-CN" b="0" i="0" smtClean="0">
                        <a:latin typeface="Cambria Math"/>
                      </a:rPr>
                      <m:t>cos</m:t>
                    </m:r>
                    <m:r>
                      <a:rPr lang="en-US" altLang="zh-CN" b="0" i="1" smtClean="0">
                        <a:latin typeface="Cambria Math"/>
                      </a:rPr>
                      <m:t>𝜃</m:t>
                    </m:r>
                    <m:r>
                      <a:rPr lang="en-US" altLang="zh-CN" b="0" i="1" smtClean="0">
                        <a:latin typeface="Cambria Math"/>
                      </a:rPr>
                      <m:t>=0</m:t>
                    </m:r>
                  </m:oMath>
                </a14:m>
                <a:r>
                  <a:rPr lang="en-US" altLang="zh-CN" smtClean="0"/>
                  <a:t>.</a:t>
                </a:r>
              </a:p>
              <a:p>
                <a:r>
                  <a:rPr lang="zh-CN" altLang="en-US" smtClean="0"/>
                  <a:t>所以 </a:t>
                </a:r>
                <a:r>
                  <a:rPr lang="en-US" altLang="zh-CN" b="1" i="1" smtClean="0">
                    <a:latin typeface="Times New Roman" pitchFamily="18" charset="0"/>
                    <a:cs typeface="Times New Roman" pitchFamily="18" charset="0"/>
                  </a:rPr>
                  <a:t>a</a:t>
                </a:r>
                <a:r>
                  <a:rPr lang="en-US" altLang="zh-CN" smtClean="0"/>
                  <a:t/>
                </a:r>
                <a:r>
                  <a:rPr lang="zh-CN" altLang="en-US" smtClean="0"/>
                  <a:t>和 </a:t>
                </a:r>
                <a:r>
                  <a:rPr lang="en-US" altLang="zh-CN" b="1" i="1" smtClean="0">
                    <a:latin typeface="Times New Roman" pitchFamily="18" charset="0"/>
                    <a:cs typeface="Times New Roman" pitchFamily="18" charset="0"/>
                  </a:rPr>
                  <a:t>b</a:t>
                </a:r>
                <a:r>
                  <a:rPr lang="en-US" altLang="zh-CN" smtClean="0"/>
                  <a:t/>
                </a:r>
                <a:r>
                  <a:rPr lang="zh-CN" altLang="en-US" smtClean="0"/>
                  <a:t>垂直定义为 </a:t>
                </a:r>
                <a14:m>
                  <m:oMath xmlns:m="http://schemas.openxmlformats.org/officeDocument/2006/math">
                    <m:r>
                      <a:rPr lang="en-US" altLang="zh-CN" b="1" i="1" smtClean="0">
                        <a:latin typeface="Cambria Math"/>
                      </a:rPr>
                      <m:t>𝒂</m:t>
                    </m:r>
                    <m:r>
                      <a:rPr lang="en-US" altLang="zh-CN" b="0" i="1" smtClean="0">
                        <a:latin typeface="Cambria Math"/>
                      </a:rPr>
                      <m:t>⋅</m:t>
                    </m:r>
                    <m:r>
                      <a:rPr lang="en-US" altLang="zh-CN" b="1" i="1" smtClean="0">
                        <a:latin typeface="Cambria Math"/>
                      </a:rPr>
                      <m:t>𝒃</m:t>
                    </m:r>
                    <m:r>
                      <a:rPr lang="en-US" altLang="zh-CN" b="0" i="1" smtClean="0">
                        <a:latin typeface="Cambria Math"/>
                      </a:rPr>
                      <m:t>=0</m:t>
                    </m:r>
                  </m:oMath>
                </a14:m>
                <a:r>
                  <a:rPr lang="zh-CN" altLang="en-US" smtClean="0"/>
                  <a:t>。</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4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22675902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矢量的缩放</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smtClean="0"/>
                  <a:t>矢量 </a:t>
                </a:r>
                <a14:m>
                  <m:oMath xmlns:m="http://schemas.openxmlformats.org/officeDocument/2006/math">
                    <m:f>
                      <m:fPr>
                        <m:ctrlPr>
                          <a:rPr lang="en-US" altLang="zh-CN" i="1" smtClean="0">
                            <a:latin typeface="Cambria Math"/>
                          </a:rPr>
                        </m:ctrlPr>
                      </m:fPr>
                      <m:num>
                        <m:r>
                          <a:rPr lang="en-US" altLang="zh-CN" b="1" i="1" smtClean="0">
                            <a:latin typeface="Cambria Math"/>
                          </a:rPr>
                          <m:t>𝒂</m:t>
                        </m:r>
                      </m:num>
                      <m:den>
                        <m:d>
                          <m:dPr>
                            <m:begChr m:val="|"/>
                            <m:endChr m:val="|"/>
                            <m:ctrlPr>
                              <a:rPr lang="en-US" altLang="zh-CN" i="1" smtClean="0">
                                <a:latin typeface="Cambria Math"/>
                              </a:rPr>
                            </m:ctrlPr>
                          </m:dPr>
                          <m:e>
                            <m:r>
                              <a:rPr lang="en-US" altLang="zh-CN" b="1" i="1" smtClean="0">
                                <a:latin typeface="Cambria Math"/>
                              </a:rPr>
                              <m:t>𝒂</m:t>
                            </m:r>
                          </m:e>
                        </m:d>
                      </m:den>
                    </m:f>
                  </m:oMath>
                </a14:m>
                <a:r>
                  <a:rPr lang="zh-CN" altLang="en-US" smtClean="0"/>
                  <a:t> 是与 </a:t>
                </a:r>
                <a:r>
                  <a:rPr lang="en-US" altLang="zh-CN" b="1" i="1" smtClean="0">
                    <a:latin typeface="Times New Roman" pitchFamily="18" charset="0"/>
                    <a:cs typeface="Times New Roman" pitchFamily="18" charset="0"/>
                  </a:rPr>
                  <a:t>a</a:t>
                </a:r>
                <a:r>
                  <a:rPr lang="en-US" altLang="zh-CN" smtClean="0"/>
                  <a:t/>
                </a:r>
                <a:r>
                  <a:rPr lang="zh-CN" altLang="en-US" smtClean="0"/>
                  <a:t>同向的</a:t>
                </a:r>
                <a:r>
                  <a:rPr lang="zh-CN" altLang="en-US" b="1" smtClean="0">
                    <a:solidFill>
                      <a:schemeClr val="accent4">
                        <a:lumMod val="60000"/>
                        <a:lumOff val="40000"/>
                      </a:schemeClr>
                    </a:solidFill>
                  </a:rPr>
                  <a:t>单位矢量</a:t>
                </a:r>
                <a:r>
                  <a:rPr lang="zh-CN" altLang="en-US" smtClean="0"/>
                  <a:t>，即模长是 </a:t>
                </a:r>
                <a:r>
                  <a:rPr lang="en-US" altLang="zh-CN" smtClean="0"/>
                  <a:t>1 </a:t>
                </a:r>
                <a:r>
                  <a:rPr lang="zh-CN" altLang="en-US" smtClean="0"/>
                  <a:t>的矢量。</a:t>
                </a:r>
                <a:endParaRPr lang="en-US" altLang="zh-CN" smtClean="0"/>
              </a:p>
              <a:p>
                <a:r>
                  <a:rPr lang="zh-CN" altLang="en-US" smtClean="0"/>
                  <a:t>所以与 </a:t>
                </a:r>
                <a:r>
                  <a:rPr lang="en-US" altLang="zh-CN" b="1" i="1" smtClean="0">
                    <a:latin typeface="Times New Roman" pitchFamily="18" charset="0"/>
                    <a:cs typeface="Times New Roman" pitchFamily="18" charset="0"/>
                  </a:rPr>
                  <a:t>a</a:t>
                </a:r>
                <a:r>
                  <a:rPr lang="en-US" altLang="zh-CN" smtClean="0"/>
                  <a:t/>
                </a:r>
                <a:r>
                  <a:rPr lang="zh-CN" altLang="en-US"/>
                  <a:t>同</a:t>
                </a:r>
                <a:r>
                  <a:rPr lang="zh-CN" altLang="en-US" smtClean="0"/>
                  <a:t>向，但长度是 </a:t>
                </a:r>
                <a:r>
                  <a:rPr lang="en-US" altLang="zh-CN" b="1" i="1" smtClean="0">
                    <a:latin typeface="Times New Roman" pitchFamily="18" charset="0"/>
                    <a:cs typeface="Times New Roman" pitchFamily="18" charset="0"/>
                  </a:rPr>
                  <a:t>l</a:t>
                </a:r>
                <a:r>
                  <a:rPr lang="en-US" altLang="zh-CN" smtClean="0"/>
                  <a:t/>
                </a:r>
                <a:r>
                  <a:rPr lang="zh-CN" altLang="en-US" smtClean="0"/>
                  <a:t>的矢量，为</a:t>
                </a:r>
                <a14:m>
                  <m:oMath xmlns:m="http://schemas.openxmlformats.org/officeDocument/2006/math">
                    <m:r>
                      <a:rPr lang="en-US" altLang="zh-CN" b="0" i="1" smtClean="0">
                        <a:latin typeface="Cambria Math"/>
                      </a:rPr>
                      <m:t>𝑙</m:t>
                    </m:r>
                    <m:f>
                      <m:fPr>
                        <m:ctrlPr>
                          <a:rPr lang="en-US" altLang="zh-CN" b="0" i="1" smtClean="0">
                            <a:latin typeface="Cambria Math"/>
                          </a:rPr>
                        </m:ctrlPr>
                      </m:fPr>
                      <m:num>
                        <m:r>
                          <a:rPr lang="en-US" altLang="zh-CN" b="1" i="1" smtClean="0">
                            <a:latin typeface="Cambria Math"/>
                          </a:rPr>
                          <m:t>𝒂</m:t>
                        </m:r>
                      </m:num>
                      <m:den>
                        <m:d>
                          <m:dPr>
                            <m:begChr m:val="|"/>
                            <m:endChr m:val="|"/>
                            <m:ctrlPr>
                              <a:rPr lang="en-US" altLang="zh-CN" b="0" i="1" smtClean="0">
                                <a:latin typeface="Cambria Math"/>
                              </a:rPr>
                            </m:ctrlPr>
                          </m:dPr>
                          <m:e>
                            <m:r>
                              <a:rPr lang="en-US" altLang="zh-CN" b="1" i="1" smtClean="0">
                                <a:latin typeface="Cambria Math"/>
                              </a:rPr>
                              <m:t>𝒂</m:t>
                            </m:r>
                          </m:e>
                        </m:d>
                      </m:den>
                    </m:f>
                  </m:oMath>
                </a14:m>
                <a:r>
                  <a:rPr lang="zh-CN" altLang="en-US" smtClean="0"/>
                  <a:t>。</a:t>
                </a:r>
                <a:endParaRPr lang="en-US" altLang="zh-CN" smtClean="0"/>
              </a:p>
              <a:p>
                <a:r>
                  <a:rPr lang="zh-CN" altLang="en-US" smtClean="0"/>
                  <a:t>而与 </a:t>
                </a:r>
                <a:r>
                  <a:rPr lang="en-US" altLang="zh-CN" b="1" i="1" smtClean="0">
                    <a:latin typeface="Times New Roman" pitchFamily="18" charset="0"/>
                    <a:cs typeface="Times New Roman" pitchFamily="18" charset="0"/>
                  </a:rPr>
                  <a:t>a</a:t>
                </a:r>
                <a:r>
                  <a:rPr lang="en-US" altLang="zh-CN" smtClean="0"/>
                  <a:t/>
                </a:r>
                <a:r>
                  <a:rPr lang="zh-CN" altLang="en-US" smtClean="0"/>
                  <a:t>共线但方向相反，长度是 </a:t>
                </a:r>
                <a:r>
                  <a:rPr lang="en-US" altLang="zh-CN" b="1" i="1" smtClean="0">
                    <a:latin typeface="Times New Roman" pitchFamily="18" charset="0"/>
                    <a:cs typeface="Times New Roman" pitchFamily="18" charset="0"/>
                  </a:rPr>
                  <a:t>l</a:t>
                </a:r>
                <a:r>
                  <a:rPr lang="en-US" altLang="zh-CN" smtClean="0"/>
                  <a:t/>
                </a:r>
                <a:r>
                  <a:rPr lang="zh-CN" altLang="en-US" smtClean="0"/>
                  <a:t>的矢量为 </a:t>
                </a:r>
                <a14:m>
                  <m:oMath xmlns:m="http://schemas.openxmlformats.org/officeDocument/2006/math">
                    <m:r>
                      <a:rPr lang="en-US" altLang="zh-CN" b="0" i="1" smtClean="0">
                        <a:latin typeface="Cambria Math"/>
                        <a:ea typeface="Cambria Math"/>
                      </a:rPr>
                      <m:t>−</m:t>
                    </m:r>
                    <m:r>
                      <a:rPr lang="en-US" altLang="zh-CN" b="0" i="1" smtClean="0">
                        <a:latin typeface="Cambria Math"/>
                      </a:rPr>
                      <m:t>𝑙</m:t>
                    </m:r>
                    <m:f>
                      <m:fPr>
                        <m:ctrlPr>
                          <a:rPr lang="en-US" altLang="zh-CN" b="0" i="1" smtClean="0">
                            <a:latin typeface="Cambria Math"/>
                          </a:rPr>
                        </m:ctrlPr>
                      </m:fPr>
                      <m:num>
                        <m:r>
                          <a:rPr lang="en-US" altLang="zh-CN" b="1" i="1" smtClean="0">
                            <a:latin typeface="Cambria Math"/>
                          </a:rPr>
                          <m:t>𝒂</m:t>
                        </m:r>
                      </m:num>
                      <m:den>
                        <m:d>
                          <m:dPr>
                            <m:begChr m:val="|"/>
                            <m:endChr m:val="|"/>
                            <m:ctrlPr>
                              <a:rPr lang="en-US" altLang="zh-CN" b="0" i="1" smtClean="0">
                                <a:latin typeface="Cambria Math"/>
                              </a:rPr>
                            </m:ctrlPr>
                          </m:dPr>
                          <m:e>
                            <m:r>
                              <a:rPr lang="en-US" altLang="zh-CN" b="1" i="1" smtClean="0">
                                <a:latin typeface="Cambria Math"/>
                              </a:rPr>
                              <m:t>𝒂</m:t>
                            </m:r>
                          </m:e>
                        </m:d>
                      </m:den>
                    </m:f>
                  </m:oMath>
                </a14:m>
                <a:r>
                  <a:rPr lang="zh-CN" altLang="en-US" i="1" smtClean="0"/>
                  <a:t>。</a:t>
                </a:r>
                <a:endParaRPr lang="zh-CN" altLang="en-US" i="1"/>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r="-67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5614989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矢量的投影</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en-US" altLang="zh-CN" b="1" i="1" smtClean="0">
                    <a:latin typeface="Times New Roman" pitchFamily="18" charset="0"/>
                    <a:cs typeface="Times New Roman" pitchFamily="18" charset="0"/>
                  </a:rPr>
                  <a:t>b</a:t>
                </a:r>
                <a:r>
                  <a:rPr lang="en-US" altLang="zh-CN" smtClean="0"/>
                  <a:t/>
                </a:r>
                <a:r>
                  <a:rPr lang="zh-CN" altLang="en-US" smtClean="0"/>
                  <a:t>在 </a:t>
                </a:r>
                <a:r>
                  <a:rPr lang="en-US" altLang="zh-CN" b="1" i="1" smtClean="0">
                    <a:latin typeface="Times New Roman" pitchFamily="18" charset="0"/>
                    <a:cs typeface="Times New Roman" pitchFamily="18" charset="0"/>
                  </a:rPr>
                  <a:t>a</a:t>
                </a:r>
                <a:r>
                  <a:rPr lang="en-US" altLang="zh-CN" smtClean="0"/>
                  <a:t/>
                </a:r>
                <a:r>
                  <a:rPr lang="zh-CN" altLang="en-US" smtClean="0"/>
                  <a:t>上的投影的“模”是 </a:t>
                </a:r>
                <a14:m>
                  <m:oMath xmlns:m="http://schemas.openxmlformats.org/officeDocument/2006/math">
                    <m:f>
                      <m:fPr>
                        <m:ctrlPr>
                          <a:rPr lang="en-US" altLang="zh-CN" i="1" smtClean="0">
                            <a:latin typeface="Cambria Math"/>
                          </a:rPr>
                        </m:ctrlPr>
                      </m:fPr>
                      <m:num>
                        <m:r>
                          <a:rPr lang="en-US" altLang="zh-CN" b="1" i="1" smtClean="0">
                            <a:latin typeface="Cambria Math"/>
                          </a:rPr>
                          <m:t>𝒂</m:t>
                        </m:r>
                        <m:r>
                          <a:rPr lang="en-US" altLang="zh-CN" b="0" i="1" smtClean="0">
                            <a:latin typeface="Cambria Math"/>
                          </a:rPr>
                          <m:t>⋅</m:t>
                        </m:r>
                        <m:r>
                          <a:rPr lang="en-US" altLang="zh-CN" b="1" i="1" smtClean="0">
                            <a:latin typeface="Cambria Math"/>
                          </a:rPr>
                          <m:t>𝒃</m:t>
                        </m:r>
                      </m:num>
                      <m:den>
                        <m:d>
                          <m:dPr>
                            <m:begChr m:val="|"/>
                            <m:endChr m:val="|"/>
                            <m:ctrlPr>
                              <a:rPr lang="en-US" altLang="zh-CN" i="1" smtClean="0">
                                <a:latin typeface="Cambria Math"/>
                              </a:rPr>
                            </m:ctrlPr>
                          </m:dPr>
                          <m:e>
                            <m:r>
                              <a:rPr lang="en-US" altLang="zh-CN" b="1" i="1" smtClean="0">
                                <a:latin typeface="Cambria Math"/>
                              </a:rPr>
                              <m:t>𝒂</m:t>
                            </m:r>
                          </m:e>
                        </m:d>
                      </m:den>
                    </m:f>
                  </m:oMath>
                </a14:m>
                <a:r>
                  <a:rPr lang="zh-CN" altLang="en-US" smtClean="0"/>
                  <a:t>。</a:t>
                </a:r>
                <a:endParaRPr lang="en-US" altLang="zh-CN" smtClean="0"/>
              </a:p>
              <a:p>
                <a:r>
                  <a:rPr lang="zh-CN" altLang="en-US" smtClean="0"/>
                  <a:t>所以 </a:t>
                </a:r>
                <a:r>
                  <a:rPr lang="en-US" altLang="zh-CN" b="1" i="1" smtClean="0">
                    <a:latin typeface="Times New Roman" pitchFamily="18" charset="0"/>
                    <a:cs typeface="Times New Roman" pitchFamily="18" charset="0"/>
                  </a:rPr>
                  <a:t>b</a:t>
                </a:r>
                <a:r>
                  <a:rPr lang="en-US" altLang="zh-CN" smtClean="0"/>
                  <a:t/>
                </a:r>
                <a:r>
                  <a:rPr lang="zh-CN" altLang="en-US" smtClean="0"/>
                  <a:t>在 </a:t>
                </a:r>
                <a:r>
                  <a:rPr lang="en-US" altLang="zh-CN" b="1" i="1" smtClean="0">
                    <a:latin typeface="Times New Roman" pitchFamily="18" charset="0"/>
                    <a:cs typeface="Times New Roman" pitchFamily="18" charset="0"/>
                  </a:rPr>
                  <a:t>a</a:t>
                </a:r>
                <a:r>
                  <a:rPr lang="en-US" altLang="zh-CN" smtClean="0"/>
                  <a:t/>
                </a:r>
                <a:r>
                  <a:rPr lang="zh-CN" altLang="en-US" smtClean="0"/>
                  <a:t>上的投影即为 </a:t>
                </a:r>
                <a14:m>
                  <m:oMath xmlns:m="http://schemas.openxmlformats.org/officeDocument/2006/math">
                    <m:f>
                      <m:fPr>
                        <m:ctrlPr>
                          <a:rPr lang="en-US" altLang="zh-CN" i="1" smtClean="0">
                            <a:latin typeface="Cambria Math"/>
                          </a:rPr>
                        </m:ctrlPr>
                      </m:fPr>
                      <m:num>
                        <m:r>
                          <a:rPr lang="en-US" altLang="zh-CN" b="1" i="1" smtClean="0">
                            <a:latin typeface="Cambria Math"/>
                          </a:rPr>
                          <m:t>𝒂</m:t>
                        </m:r>
                        <m:r>
                          <a:rPr lang="en-US" altLang="zh-CN" b="0" i="1" smtClean="0">
                            <a:latin typeface="Cambria Math"/>
                          </a:rPr>
                          <m:t>⋅</m:t>
                        </m:r>
                        <m:r>
                          <a:rPr lang="en-US" altLang="zh-CN" b="1" i="1" smtClean="0">
                            <a:latin typeface="Cambria Math"/>
                          </a:rPr>
                          <m:t>𝒃</m:t>
                        </m:r>
                      </m:num>
                      <m:den>
                        <m:d>
                          <m:dPr>
                            <m:begChr m:val="|"/>
                            <m:endChr m:val="|"/>
                            <m:ctrlPr>
                              <a:rPr lang="en-US" altLang="zh-CN" i="1" smtClean="0">
                                <a:latin typeface="Cambria Math"/>
                              </a:rPr>
                            </m:ctrlPr>
                          </m:dPr>
                          <m:e>
                            <m:r>
                              <a:rPr lang="en-US" altLang="zh-CN" b="1" i="1" smtClean="0">
                                <a:latin typeface="Cambria Math"/>
                              </a:rPr>
                              <m:t>𝒂</m:t>
                            </m:r>
                          </m:e>
                        </m:d>
                      </m:den>
                    </m:f>
                    <m:f>
                      <m:fPr>
                        <m:ctrlPr>
                          <a:rPr lang="en-US" altLang="zh-CN" i="1" smtClean="0">
                            <a:latin typeface="Cambria Math"/>
                          </a:rPr>
                        </m:ctrlPr>
                      </m:fPr>
                      <m:num>
                        <m:r>
                          <a:rPr lang="en-US" altLang="zh-CN" b="1" i="1" smtClean="0">
                            <a:latin typeface="Cambria Math"/>
                          </a:rPr>
                          <m:t>𝒂</m:t>
                        </m:r>
                      </m:num>
                      <m:den>
                        <m:d>
                          <m:dPr>
                            <m:begChr m:val="|"/>
                            <m:endChr m:val="|"/>
                            <m:ctrlPr>
                              <a:rPr lang="en-US" altLang="zh-CN" i="1" smtClean="0">
                                <a:latin typeface="Cambria Math"/>
                              </a:rPr>
                            </m:ctrlPr>
                          </m:dPr>
                          <m:e>
                            <m:r>
                              <a:rPr lang="en-US" altLang="zh-CN" b="1" i="1" smtClean="0">
                                <a:latin typeface="Cambria Math"/>
                              </a:rPr>
                              <m:t>𝒂</m:t>
                            </m:r>
                          </m:e>
                        </m:d>
                      </m:den>
                    </m:f>
                    <m:r>
                      <a:rPr lang="en-US" altLang="zh-CN" b="0" i="1" smtClean="0">
                        <a:latin typeface="Cambria Math"/>
                      </a:rPr>
                      <m:t>=</m:t>
                    </m:r>
                    <m:r>
                      <a:rPr lang="en-US" altLang="zh-CN" b="1" i="1" smtClean="0">
                        <a:latin typeface="Cambria Math"/>
                      </a:rPr>
                      <m:t>𝒂</m:t>
                    </m:r>
                    <m:f>
                      <m:fPr>
                        <m:ctrlPr>
                          <a:rPr lang="en-US" altLang="zh-CN" b="0" i="1" smtClean="0">
                            <a:latin typeface="Cambria Math"/>
                          </a:rPr>
                        </m:ctrlPr>
                      </m:fPr>
                      <m:num>
                        <m:r>
                          <a:rPr lang="en-US" altLang="zh-CN" b="1" i="1" smtClean="0">
                            <a:latin typeface="Cambria Math"/>
                          </a:rPr>
                          <m:t>𝒂</m:t>
                        </m:r>
                        <m:r>
                          <a:rPr lang="en-US" altLang="zh-CN" b="0" i="1" smtClean="0">
                            <a:latin typeface="Cambria Math"/>
                          </a:rPr>
                          <m:t>⋅</m:t>
                        </m:r>
                        <m:r>
                          <a:rPr lang="en-US" altLang="zh-CN" b="1" i="1" smtClean="0">
                            <a:latin typeface="Cambria Math"/>
                          </a:rPr>
                          <m:t>𝒃</m:t>
                        </m:r>
                      </m:num>
                      <m:den>
                        <m:sSup>
                          <m:sSupPr>
                            <m:ctrlPr>
                              <a:rPr lang="en-US" altLang="zh-CN" b="0" i="1" smtClean="0">
                                <a:latin typeface="Cambria Math"/>
                              </a:rPr>
                            </m:ctrlPr>
                          </m:sSupPr>
                          <m:e>
                            <m:r>
                              <a:rPr lang="en-US" altLang="zh-CN" b="1" i="1" smtClean="0">
                                <a:latin typeface="Cambria Math"/>
                              </a:rPr>
                              <m:t>𝒂</m:t>
                            </m:r>
                          </m:e>
                          <m:sup>
                            <m:r>
                              <a:rPr lang="en-US" altLang="zh-CN" b="0" i="1" smtClean="0">
                                <a:latin typeface="Cambria Math"/>
                              </a:rPr>
                              <m:t>2</m:t>
                            </m:r>
                          </m:sup>
                        </m:sSup>
                      </m:den>
                    </m:f>
                  </m:oMath>
                </a14:m>
                <a:r>
                  <a:rPr lang="zh-CN" altLang="en-US" smtClean="0"/>
                  <a:t>。</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14293216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矢量的对称</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smtClean="0"/>
                  <a:t>记 </a:t>
                </a:r>
                <a:r>
                  <a:rPr lang="en-US" altLang="zh-CN" b="1" i="1" smtClean="0">
                    <a:latin typeface="Times New Roman" pitchFamily="18" charset="0"/>
                    <a:cs typeface="Times New Roman" pitchFamily="18" charset="0"/>
                  </a:rPr>
                  <a:t>b</a:t>
                </a:r>
                <a:r>
                  <a:rPr lang="en-US" altLang="zh-CN" smtClean="0"/>
                  <a:t/>
                </a:r>
                <a:r>
                  <a:rPr lang="zh-CN" altLang="en-US" smtClean="0"/>
                  <a:t>在 </a:t>
                </a:r>
                <a:r>
                  <a:rPr lang="en-US" altLang="zh-CN" b="1" i="1" smtClean="0">
                    <a:latin typeface="Times New Roman" pitchFamily="18" charset="0"/>
                    <a:cs typeface="Times New Roman" pitchFamily="18" charset="0"/>
                  </a:rPr>
                  <a:t>a</a:t>
                </a:r>
                <a:r>
                  <a:rPr lang="en-US" altLang="zh-CN" smtClean="0"/>
                  <a:t/>
                </a:r>
                <a:r>
                  <a:rPr lang="zh-CN" altLang="en-US" smtClean="0"/>
                  <a:t>上的投影为 </a:t>
                </a:r>
                <a14:m>
                  <m:oMath xmlns:m="http://schemas.openxmlformats.org/officeDocument/2006/math">
                    <m:r>
                      <a:rPr lang="en-US" altLang="zh-CN" b="1" i="1" smtClean="0">
                        <a:latin typeface="Cambria Math"/>
                      </a:rPr>
                      <m:t>𝒔</m:t>
                    </m:r>
                    <m:r>
                      <a:rPr lang="en-US" altLang="zh-CN" b="0" i="1" smtClean="0">
                        <a:latin typeface="Cambria Math"/>
                      </a:rPr>
                      <m:t>=</m:t>
                    </m:r>
                    <m:r>
                      <a:rPr lang="en-US" altLang="zh-CN" b="1" i="1" smtClean="0">
                        <a:latin typeface="Cambria Math"/>
                      </a:rPr>
                      <m:t>𝒂</m:t>
                    </m:r>
                    <m:f>
                      <m:fPr>
                        <m:ctrlPr>
                          <a:rPr lang="en-US" altLang="zh-CN" b="0" i="1" smtClean="0">
                            <a:latin typeface="Cambria Math"/>
                          </a:rPr>
                        </m:ctrlPr>
                      </m:fPr>
                      <m:num>
                        <m:r>
                          <a:rPr lang="en-US" altLang="zh-CN" b="1" i="1" smtClean="0">
                            <a:latin typeface="Cambria Math"/>
                          </a:rPr>
                          <m:t>𝒂</m:t>
                        </m:r>
                        <m:r>
                          <a:rPr lang="en-US" altLang="zh-CN" b="0" i="1" smtClean="0">
                            <a:latin typeface="Cambria Math"/>
                          </a:rPr>
                          <m:t>⋅</m:t>
                        </m:r>
                        <m:r>
                          <a:rPr lang="en-US" altLang="zh-CN" b="1" i="1" smtClean="0">
                            <a:latin typeface="Cambria Math"/>
                          </a:rPr>
                          <m:t>𝒃</m:t>
                        </m:r>
                      </m:num>
                      <m:den>
                        <m:sSup>
                          <m:sSupPr>
                            <m:ctrlPr>
                              <a:rPr lang="en-US" altLang="zh-CN" b="0" i="1" smtClean="0">
                                <a:latin typeface="Cambria Math"/>
                              </a:rPr>
                            </m:ctrlPr>
                          </m:sSupPr>
                          <m:e>
                            <m:r>
                              <a:rPr lang="en-US" altLang="zh-CN" b="1" i="1" smtClean="0">
                                <a:latin typeface="Cambria Math"/>
                              </a:rPr>
                              <m:t>𝒂</m:t>
                            </m:r>
                          </m:e>
                          <m:sup>
                            <m:r>
                              <a:rPr lang="en-US" altLang="zh-CN" b="0" i="1" smtClean="0">
                                <a:latin typeface="Cambria Math"/>
                              </a:rPr>
                              <m:t>2</m:t>
                            </m:r>
                          </m:sup>
                        </m:sSup>
                      </m:den>
                    </m:f>
                  </m:oMath>
                </a14:m>
                <a:r>
                  <a:rPr lang="zh-CN" altLang="en-US" smtClean="0"/>
                  <a:t>。</a:t>
                </a:r>
                <a:endParaRPr lang="en-US" altLang="zh-CN" smtClean="0"/>
              </a:p>
              <a:p>
                <a:r>
                  <a:rPr lang="zh-CN" altLang="en-US" smtClean="0"/>
                  <a:t>则 </a:t>
                </a:r>
                <a:r>
                  <a:rPr lang="en-US" altLang="zh-CN" b="1" i="1" smtClean="0">
                    <a:latin typeface="Times New Roman" pitchFamily="18" charset="0"/>
                    <a:cs typeface="Times New Roman" pitchFamily="18" charset="0"/>
                  </a:rPr>
                  <a:t>b</a:t>
                </a:r>
                <a:r>
                  <a:rPr lang="en-US" altLang="zh-CN" smtClean="0"/>
                  <a:t/>
                </a:r>
                <a:r>
                  <a:rPr lang="zh-CN" altLang="en-US" smtClean="0"/>
                  <a:t>关于 </a:t>
                </a:r>
                <a:r>
                  <a:rPr lang="en-US" altLang="zh-CN" b="1" i="1" smtClean="0">
                    <a:latin typeface="Times New Roman" pitchFamily="18" charset="0"/>
                    <a:cs typeface="Times New Roman" pitchFamily="18" charset="0"/>
                  </a:rPr>
                  <a:t>a</a:t>
                </a:r>
                <a:r>
                  <a:rPr lang="en-US" altLang="zh-CN" smtClean="0"/>
                  <a:t/>
                </a:r>
                <a:r>
                  <a:rPr lang="zh-CN" altLang="en-US" smtClean="0"/>
                  <a:t>的对称为 </a:t>
                </a:r>
                <a14:m>
                  <m:oMath xmlns:m="http://schemas.openxmlformats.org/officeDocument/2006/math">
                    <m:r>
                      <a:rPr lang="en-US" altLang="zh-CN" b="1" i="1" smtClean="0">
                        <a:latin typeface="Cambria Math"/>
                      </a:rPr>
                      <m:t>𝒃</m:t>
                    </m:r>
                    <m:r>
                      <a:rPr lang="en-US" altLang="zh-CN" b="1" i="1" smtClean="0">
                        <a:latin typeface="Cambria Math"/>
                      </a:rPr>
                      <m:t>−</m:t>
                    </m:r>
                    <m:r>
                      <a:rPr lang="en-US" altLang="zh-CN" b="0" i="1" smtClean="0">
                        <a:latin typeface="Cambria Math"/>
                      </a:rPr>
                      <m:t>2</m:t>
                    </m:r>
                    <m:d>
                      <m:dPr>
                        <m:ctrlPr>
                          <a:rPr lang="en-US" altLang="zh-CN" b="1" i="1" smtClean="0">
                            <a:latin typeface="Cambria Math"/>
                          </a:rPr>
                        </m:ctrlPr>
                      </m:dPr>
                      <m:e>
                        <m:r>
                          <a:rPr lang="en-US" altLang="zh-CN" b="1" i="1" smtClean="0">
                            <a:latin typeface="Cambria Math"/>
                          </a:rPr>
                          <m:t>𝒃</m:t>
                        </m:r>
                        <m:r>
                          <a:rPr lang="en-US" altLang="zh-CN" b="1" i="1" smtClean="0">
                            <a:latin typeface="Cambria Math"/>
                          </a:rPr>
                          <m:t>−</m:t>
                        </m:r>
                        <m:r>
                          <a:rPr lang="en-US" altLang="zh-CN" b="1" i="1" smtClean="0">
                            <a:latin typeface="Cambria Math"/>
                          </a:rPr>
                          <m:t>𝒔</m:t>
                        </m:r>
                      </m:e>
                    </m:d>
                    <m:r>
                      <a:rPr lang="en-US" altLang="zh-CN" b="1" i="1" smtClean="0">
                        <a:latin typeface="Cambria Math"/>
                      </a:rPr>
                      <m:t>=</m:t>
                    </m:r>
                    <m:r>
                      <a:rPr lang="en-US" altLang="zh-CN" b="0" i="1" smtClean="0">
                        <a:latin typeface="Cambria Math"/>
                      </a:rPr>
                      <m:t>2</m:t>
                    </m:r>
                    <m:r>
                      <a:rPr lang="en-US" altLang="zh-CN" b="1" i="1" smtClean="0">
                        <a:latin typeface="Cambria Math"/>
                      </a:rPr>
                      <m:t>𝒔</m:t>
                    </m:r>
                    <m:r>
                      <a:rPr lang="en-US" altLang="zh-CN" b="1" i="1" smtClean="0">
                        <a:latin typeface="Cambria Math"/>
                      </a:rPr>
                      <m:t>−</m:t>
                    </m:r>
                    <m:r>
                      <a:rPr lang="en-US" altLang="zh-CN" b="1" i="1" smtClean="0">
                        <a:latin typeface="Cambria Math"/>
                      </a:rPr>
                      <m:t>𝒃</m:t>
                    </m:r>
                    <m:r>
                      <a:rPr lang="en-US" altLang="zh-CN" b="1" i="1" smtClean="0">
                        <a:latin typeface="Cambria Math"/>
                      </a:rPr>
                      <m:t>=</m:t>
                    </m:r>
                    <m:r>
                      <a:rPr lang="en-US" altLang="zh-CN" b="0" i="1" smtClean="0">
                        <a:latin typeface="Cambria Math"/>
                      </a:rPr>
                      <m:t>2</m:t>
                    </m:r>
                    <m:r>
                      <a:rPr lang="en-US" altLang="zh-CN" b="1" i="1" smtClean="0">
                        <a:latin typeface="Cambria Math"/>
                      </a:rPr>
                      <m:t>𝒂</m:t>
                    </m:r>
                    <m:f>
                      <m:fPr>
                        <m:ctrlPr>
                          <a:rPr lang="en-US" altLang="zh-CN" b="1" i="1" smtClean="0">
                            <a:latin typeface="Cambria Math"/>
                          </a:rPr>
                        </m:ctrlPr>
                      </m:fPr>
                      <m:num>
                        <m:r>
                          <a:rPr lang="en-US" altLang="zh-CN" b="1" i="1" smtClean="0">
                            <a:latin typeface="Cambria Math"/>
                          </a:rPr>
                          <m:t>𝒂</m:t>
                        </m:r>
                        <m:r>
                          <a:rPr lang="en-US" altLang="zh-CN" b="1" i="1" smtClean="0">
                            <a:latin typeface="Cambria Math"/>
                          </a:rPr>
                          <m:t>⋅</m:t>
                        </m:r>
                        <m:r>
                          <a:rPr lang="en-US" altLang="zh-CN" b="1" i="1" smtClean="0">
                            <a:latin typeface="Cambria Math"/>
                          </a:rPr>
                          <m:t>𝒃</m:t>
                        </m:r>
                      </m:num>
                      <m:den>
                        <m:sSup>
                          <m:sSupPr>
                            <m:ctrlPr>
                              <a:rPr lang="en-US" altLang="zh-CN" b="1" i="1" smtClean="0">
                                <a:latin typeface="Cambria Math"/>
                              </a:rPr>
                            </m:ctrlPr>
                          </m:sSupPr>
                          <m:e>
                            <m:r>
                              <a:rPr lang="en-US" altLang="zh-CN" b="1" i="1" smtClean="0">
                                <a:latin typeface="Cambria Math"/>
                              </a:rPr>
                              <m:t>𝒂</m:t>
                            </m:r>
                          </m:e>
                          <m:sup>
                            <m:r>
                              <a:rPr lang="en-US" altLang="zh-CN" b="0" i="1" smtClean="0">
                                <a:latin typeface="Cambria Math"/>
                              </a:rPr>
                              <m:t>2</m:t>
                            </m:r>
                          </m:sup>
                        </m:sSup>
                      </m:den>
                    </m:f>
                    <m:r>
                      <a:rPr lang="en-US" altLang="zh-CN" b="1" i="1" smtClean="0">
                        <a:latin typeface="Cambria Math"/>
                      </a:rPr>
                      <m:t>−</m:t>
                    </m:r>
                    <m:r>
                      <a:rPr lang="en-US" altLang="zh-CN" b="1" i="1" smtClean="0">
                        <a:latin typeface="Cambria Math"/>
                      </a:rPr>
                      <m:t>𝒃</m:t>
                    </m:r>
                  </m:oMath>
                </a14:m>
                <a:r>
                  <a:rPr lang="zh-CN" altLang="en-US" smtClean="0"/>
                  <a:t>。</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a:stretch>
              </a:blipFill>
            </p:spPr>
            <p:txBody>
              <a:bodyPr/>
              <a:lstStyle/>
              <a:p>
                <a:r>
                  <a:rPr lang="zh-CN" altLang="en-US">
                    <a:noFill/>
                  </a:rPr>
                  <a:t> </a:t>
                </a:r>
              </a:p>
            </p:txBody>
          </p:sp>
        </mc:Fallback>
      </mc:AlternateContent>
      <p:pic>
        <p:nvPicPr>
          <p:cNvPr id="4" name="图片 3"/>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3923928" y="3140968"/>
            <a:ext cx="4241270" cy="3403175"/>
          </a:xfrm>
          <a:prstGeom prst="rect">
            <a:avLst/>
          </a:prstGeom>
        </p:spPr>
      </p:pic>
    </p:spTree>
    <p:extLst>
      <p:ext uri="{BB962C8B-B14F-4D97-AF65-F5344CB8AC3E}">
        <p14:creationId xmlns:p14="http://schemas.microsoft.com/office/powerpoint/2010/main" xmlns="" val="41517104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二维叉积</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smtClean="0"/>
                  <a:t>两个二维矢量的二维叉积是一个标量，定义为 </a:t>
                </a:r>
                <a14:m>
                  <m:oMath xmlns:m="http://schemas.openxmlformats.org/officeDocument/2006/math">
                    <m:d>
                      <m:dPr>
                        <m:ctrlPr>
                          <a:rPr lang="en-US" altLang="zh-CN" b="0" i="1" smtClean="0">
                            <a:latin typeface="Cambria Math"/>
                          </a:rPr>
                        </m:ctrlPr>
                      </m:dPr>
                      <m:e>
                        <m:sSub>
                          <m:sSubPr>
                            <m:ctrlPr>
                              <a:rPr lang="en-US" altLang="zh-CN" b="0" i="1" smtClean="0">
                                <a:latin typeface="Cambria Math"/>
                              </a:rPr>
                            </m:ctrlPr>
                          </m:sSubPr>
                          <m:e>
                            <m:r>
                              <a:rPr lang="en-US" altLang="zh-CN" b="0" i="1" smtClean="0">
                                <a:latin typeface="Cambria Math"/>
                              </a:rPr>
                              <m:t>𝑥</m:t>
                            </m:r>
                          </m:e>
                          <m:sub>
                            <m:r>
                              <a:rPr lang="en-US" altLang="zh-CN" b="0" i="1" smtClean="0">
                                <a:latin typeface="Cambria Math"/>
                              </a:rPr>
                              <m:t>1</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𝑦</m:t>
                            </m:r>
                          </m:e>
                          <m:sub>
                            <m:r>
                              <a:rPr lang="en-US" altLang="zh-CN" b="0" i="1" smtClean="0">
                                <a:latin typeface="Cambria Math"/>
                              </a:rPr>
                              <m:t>1</m:t>
                            </m:r>
                          </m:sub>
                        </m:sSub>
                      </m:e>
                    </m:d>
                    <m:r>
                      <a:rPr lang="en-US" altLang="zh-CN" b="0" i="1" smtClean="0">
                        <a:latin typeface="Cambria Math"/>
                      </a:rPr>
                      <m:t>×</m:t>
                    </m:r>
                    <m:d>
                      <m:dPr>
                        <m:ctrlPr>
                          <a:rPr lang="en-US" altLang="zh-CN" b="0" i="1" smtClean="0">
                            <a:latin typeface="Cambria Math"/>
                          </a:rPr>
                        </m:ctrlPr>
                      </m:dPr>
                      <m:e>
                        <m:sSub>
                          <m:sSubPr>
                            <m:ctrlPr>
                              <a:rPr lang="en-US" altLang="zh-CN" b="0" i="1" smtClean="0">
                                <a:latin typeface="Cambria Math"/>
                              </a:rPr>
                            </m:ctrlPr>
                          </m:sSubPr>
                          <m:e>
                            <m:r>
                              <a:rPr lang="en-US" altLang="zh-CN" b="0" i="1" smtClean="0">
                                <a:latin typeface="Cambria Math"/>
                              </a:rPr>
                              <m:t>𝑥</m:t>
                            </m:r>
                          </m:e>
                          <m:sub>
                            <m:r>
                              <a:rPr lang="en-US" altLang="zh-CN" b="0" i="1" smtClean="0">
                                <a:latin typeface="Cambria Math"/>
                              </a:rPr>
                              <m:t>2</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𝑦</m:t>
                            </m:r>
                          </m:e>
                          <m:sub>
                            <m:r>
                              <a:rPr lang="en-US" altLang="zh-CN" b="0" i="1" smtClean="0">
                                <a:latin typeface="Cambria Math"/>
                              </a:rPr>
                              <m:t>2</m:t>
                            </m:r>
                          </m:sub>
                        </m:sSub>
                      </m:e>
                    </m:d>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𝑥</m:t>
                        </m:r>
                      </m:e>
                      <m:sub>
                        <m:r>
                          <a:rPr lang="en-US" altLang="zh-CN" b="0" i="1" smtClean="0">
                            <a:latin typeface="Cambria Math"/>
                          </a:rPr>
                          <m:t>1</m:t>
                        </m:r>
                      </m:sub>
                    </m:sSub>
                    <m:sSub>
                      <m:sSubPr>
                        <m:ctrlPr>
                          <a:rPr lang="en-US" altLang="zh-CN" b="0" i="1" smtClean="0">
                            <a:latin typeface="Cambria Math"/>
                          </a:rPr>
                        </m:ctrlPr>
                      </m:sSubPr>
                      <m:e>
                        <m:r>
                          <a:rPr lang="en-US" altLang="zh-CN" b="0" i="1" smtClean="0">
                            <a:latin typeface="Cambria Math"/>
                          </a:rPr>
                          <m:t>𝑦</m:t>
                        </m:r>
                      </m:e>
                      <m:sub>
                        <m:r>
                          <a:rPr lang="en-US" altLang="zh-CN" b="0" i="1" smtClean="0">
                            <a:latin typeface="Cambria Math"/>
                          </a:rPr>
                          <m:t>2</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𝑥</m:t>
                        </m:r>
                      </m:e>
                      <m:sub>
                        <m:r>
                          <a:rPr lang="en-US" altLang="zh-CN" b="0" i="1" smtClean="0">
                            <a:latin typeface="Cambria Math"/>
                          </a:rPr>
                          <m:t>2</m:t>
                        </m:r>
                      </m:sub>
                    </m:sSub>
                    <m:sSub>
                      <m:sSubPr>
                        <m:ctrlPr>
                          <a:rPr lang="en-US" altLang="zh-CN" b="0" i="1" smtClean="0">
                            <a:latin typeface="Cambria Math"/>
                          </a:rPr>
                        </m:ctrlPr>
                      </m:sSubPr>
                      <m:e>
                        <m:r>
                          <a:rPr lang="en-US" altLang="zh-CN" b="0" i="1" smtClean="0">
                            <a:latin typeface="Cambria Math"/>
                          </a:rPr>
                          <m:t>𝑦</m:t>
                        </m:r>
                      </m:e>
                      <m:sub>
                        <m:r>
                          <a:rPr lang="en-US" altLang="zh-CN" b="0" i="1" smtClean="0">
                            <a:latin typeface="Cambria Math"/>
                          </a:rPr>
                          <m:t>1</m:t>
                        </m:r>
                      </m:sub>
                    </m:sSub>
                  </m:oMath>
                </a14:m>
                <a:r>
                  <a:rPr lang="zh-CN" altLang="en-US" smtClean="0"/>
                  <a:t>。</a:t>
                </a:r>
                <a:endParaRPr lang="en-US" altLang="zh-CN" smtClean="0"/>
              </a:p>
              <a:p>
                <a:r>
                  <a:rPr lang="zh-CN" altLang="en-US"/>
                  <a:t>二维叉</a:t>
                </a:r>
                <a:r>
                  <a:rPr lang="zh-CN" altLang="en-US" smtClean="0"/>
                  <a:t>积满足</a:t>
                </a:r>
                <a:r>
                  <a:rPr lang="zh-CN" altLang="en-US" b="1" smtClean="0">
                    <a:solidFill>
                      <a:schemeClr val="accent4">
                        <a:lumMod val="60000"/>
                        <a:lumOff val="40000"/>
                      </a:schemeClr>
                    </a:solidFill>
                  </a:rPr>
                  <a:t>逆交换律</a:t>
                </a:r>
                <a:r>
                  <a:rPr lang="zh-CN" altLang="en-US" smtClean="0"/>
                  <a:t>：</a:t>
                </a:r>
                <a14:m>
                  <m:oMath xmlns:m="http://schemas.openxmlformats.org/officeDocument/2006/math">
                    <m:r>
                      <a:rPr lang="en-US" altLang="zh-CN" b="1" i="1" smtClean="0">
                        <a:latin typeface="Cambria Math"/>
                      </a:rPr>
                      <m:t>𝒂</m:t>
                    </m:r>
                    <m:r>
                      <a:rPr lang="en-US" altLang="zh-CN" b="0" i="1" smtClean="0">
                        <a:latin typeface="Cambria Math"/>
                      </a:rPr>
                      <m:t>×</m:t>
                    </m:r>
                    <m:r>
                      <a:rPr lang="en-US" altLang="zh-CN" b="1" i="1" smtClean="0">
                        <a:latin typeface="Cambria Math"/>
                      </a:rPr>
                      <m:t>𝒃</m:t>
                    </m:r>
                    <m:r>
                      <a:rPr lang="en-US" altLang="zh-CN" b="0" i="1" smtClean="0">
                        <a:latin typeface="Cambria Math"/>
                      </a:rPr>
                      <m:t>=−</m:t>
                    </m:r>
                    <m:r>
                      <a:rPr lang="en-US" altLang="zh-CN" b="1" i="1" smtClean="0">
                        <a:latin typeface="Cambria Math"/>
                      </a:rPr>
                      <m:t>𝒃</m:t>
                    </m:r>
                    <m:r>
                      <a:rPr lang="en-US" altLang="zh-CN" b="0" i="1" smtClean="0">
                        <a:latin typeface="Cambria Math"/>
                      </a:rPr>
                      <m:t>×</m:t>
                    </m:r>
                    <m:r>
                      <a:rPr lang="en-US" altLang="zh-CN" b="1" i="1" smtClean="0">
                        <a:latin typeface="Cambria Math"/>
                      </a:rPr>
                      <m:t>𝒂</m:t>
                    </m:r>
                  </m:oMath>
                </a14:m>
                <a:r>
                  <a:rPr lang="zh-CN" altLang="en-US" smtClean="0"/>
                  <a:t>。</a:t>
                </a:r>
                <a:endParaRPr lang="en-US" altLang="zh-CN" smtClean="0"/>
              </a:p>
              <a:p>
                <a:r>
                  <a:rPr lang="zh-CN" altLang="en-US" smtClean="0"/>
                  <a:t>二维叉积是计算几何中最常用的概念。</a:t>
                </a:r>
                <a:endParaRPr lang="en-US" altLang="zh-CN" smtClean="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400" r="-67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1931405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有向面积</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smtClean="0"/>
                  <a:t>经过计算可以知道，</a:t>
                </a:r>
                <a:r>
                  <a:rPr lang="en-US" altLang="zh-CN" b="1" i="1" smtClean="0">
                    <a:latin typeface="Times New Roman" pitchFamily="18" charset="0"/>
                    <a:cs typeface="Times New Roman" pitchFamily="18" charset="0"/>
                  </a:rPr>
                  <a:t>a</a:t>
                </a:r>
                <a:r>
                  <a:rPr lang="en-US" altLang="zh-CN" smtClean="0"/>
                  <a:t/>
                </a:r>
                <a:r>
                  <a:rPr lang="zh-CN" altLang="en-US" smtClean="0"/>
                  <a:t>和 </a:t>
                </a:r>
                <a:r>
                  <a:rPr lang="en-US" altLang="zh-CN" b="1" i="1" smtClean="0">
                    <a:latin typeface="Times New Roman" pitchFamily="18" charset="0"/>
                    <a:cs typeface="Times New Roman" pitchFamily="18" charset="0"/>
                  </a:rPr>
                  <a:t>b</a:t>
                </a:r>
                <a:r>
                  <a:rPr lang="en-US" altLang="zh-CN" smtClean="0"/>
                  <a:t/>
                </a:r>
                <a:r>
                  <a:rPr lang="zh-CN" altLang="en-US" smtClean="0"/>
                  <a:t>所成的平行四边形的面积即为 </a:t>
                </a:r>
                <a14:m>
                  <m:oMath xmlns:m="http://schemas.openxmlformats.org/officeDocument/2006/math">
                    <m:d>
                      <m:dPr>
                        <m:begChr m:val="|"/>
                        <m:endChr m:val="|"/>
                        <m:ctrlPr>
                          <a:rPr lang="en-US" altLang="zh-CN" i="1" smtClean="0">
                            <a:latin typeface="Cambria Math"/>
                          </a:rPr>
                        </m:ctrlPr>
                      </m:dPr>
                      <m:e>
                        <m:r>
                          <a:rPr lang="en-US" altLang="zh-CN" b="1" i="1" smtClean="0">
                            <a:latin typeface="Cambria Math"/>
                          </a:rPr>
                          <m:t>𝒂</m:t>
                        </m:r>
                        <m:r>
                          <a:rPr lang="en-US" altLang="zh-CN" b="0" i="1" smtClean="0">
                            <a:latin typeface="Cambria Math"/>
                          </a:rPr>
                          <m:t>×</m:t>
                        </m:r>
                        <m:r>
                          <a:rPr lang="en-US" altLang="zh-CN" b="1" i="1" smtClean="0">
                            <a:latin typeface="Cambria Math"/>
                          </a:rPr>
                          <m:t>𝒃</m:t>
                        </m:r>
                      </m:e>
                    </m:d>
                  </m:oMath>
                </a14:m>
                <a:r>
                  <a:rPr lang="zh-CN" altLang="en-US" smtClean="0"/>
                  <a:t> 的值。</a:t>
                </a:r>
                <a:endParaRPr lang="en-US" altLang="zh-CN" smtClean="0"/>
              </a:p>
              <a:p>
                <a:r>
                  <a:rPr lang="zh-CN" altLang="en-US" smtClean="0"/>
                  <a:t>去掉绝对值符号，二维叉积则定义为</a:t>
                </a:r>
                <a:r>
                  <a:rPr lang="zh-CN" altLang="en-US" b="1" smtClean="0">
                    <a:solidFill>
                      <a:schemeClr val="accent4">
                        <a:lumMod val="60000"/>
                        <a:lumOff val="40000"/>
                      </a:schemeClr>
                    </a:solidFill>
                  </a:rPr>
                  <a:t>有向面积</a:t>
                </a:r>
                <a:r>
                  <a:rPr lang="zh-CN" altLang="en-US" smtClean="0"/>
                  <a:t>。</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667" r="-1020"/>
                </a:stretch>
              </a:blipFill>
            </p:spPr>
            <p:txBody>
              <a:bodyPr/>
              <a:lstStyle/>
              <a:p>
                <a:r>
                  <a:rPr lang="zh-CN" altLang="en-US">
                    <a:noFill/>
                  </a:rPr>
                  <a:t> </a:t>
                </a:r>
              </a:p>
            </p:txBody>
          </p:sp>
        </mc:Fallback>
      </mc:AlternateContent>
      <p:pic>
        <p:nvPicPr>
          <p:cNvPr id="4" name="图片 3"/>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541246" y="3789040"/>
            <a:ext cx="5993651" cy="2755556"/>
          </a:xfrm>
          <a:prstGeom prst="rect">
            <a:avLst/>
          </a:prstGeom>
        </p:spPr>
      </p:pic>
    </p:spTree>
    <p:extLst>
      <p:ext uri="{BB962C8B-B14F-4D97-AF65-F5344CB8AC3E}">
        <p14:creationId xmlns:p14="http://schemas.microsoft.com/office/powerpoint/2010/main" xmlns="" val="6280367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有向面积的符号</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smtClean="0"/>
                  <a:t>伸出右手，将四指由 </a:t>
                </a:r>
                <a:r>
                  <a:rPr lang="en-US" altLang="zh-CN" b="1" i="1" smtClean="0">
                    <a:latin typeface="Times New Roman" pitchFamily="18" charset="0"/>
                    <a:cs typeface="Times New Roman" pitchFamily="18" charset="0"/>
                  </a:rPr>
                  <a:t>a</a:t>
                </a:r>
                <a:r>
                  <a:rPr lang="en-US" altLang="zh-CN" smtClean="0"/>
                  <a:t/>
                </a:r>
                <a:r>
                  <a:rPr lang="zh-CN" altLang="en-US" smtClean="0"/>
                  <a:t>沿小于平角转到 </a:t>
                </a:r>
                <a:r>
                  <a:rPr lang="en-US" altLang="zh-CN" b="1" i="1" smtClean="0">
                    <a:latin typeface="Times New Roman" pitchFamily="18" charset="0"/>
                    <a:cs typeface="Times New Roman" pitchFamily="18" charset="0"/>
                  </a:rPr>
                  <a:t>b</a:t>
                </a:r>
                <a:r>
                  <a:rPr lang="zh-CN" altLang="en-US" smtClean="0"/>
                  <a:t>。若拇指指向纸面上方，则 </a:t>
                </a:r>
                <a14:m>
                  <m:oMath xmlns:m="http://schemas.openxmlformats.org/officeDocument/2006/math">
                    <m:r>
                      <a:rPr lang="en-US" altLang="zh-CN" b="1" i="1" smtClean="0">
                        <a:latin typeface="Cambria Math"/>
                      </a:rPr>
                      <m:t>𝒂</m:t>
                    </m:r>
                    <m:r>
                      <a:rPr lang="en-US" altLang="zh-CN" b="0" i="1" smtClean="0">
                        <a:latin typeface="Cambria Math"/>
                      </a:rPr>
                      <m:t>×</m:t>
                    </m:r>
                    <m:r>
                      <a:rPr lang="en-US" altLang="zh-CN" b="1" i="1" smtClean="0">
                        <a:latin typeface="Cambria Math"/>
                      </a:rPr>
                      <m:t>𝒃</m:t>
                    </m:r>
                  </m:oMath>
                </a14:m>
                <a:r>
                  <a:rPr lang="zh-CN" altLang="en-US" b="1" smtClean="0"/>
                  <a:t/>
                </a:r>
                <a:r>
                  <a:rPr lang="zh-CN" altLang="en-US" smtClean="0"/>
                  <a:t>为正，否则为负。</a:t>
                </a:r>
                <a:endParaRPr lang="en-US" altLang="zh-CN" smtClean="0"/>
              </a:p>
              <a:p>
                <a:r>
                  <a:rPr lang="zh-CN" altLang="en-US" smtClean="0"/>
                  <a:t>若 </a:t>
                </a:r>
                <a:r>
                  <a:rPr lang="en-US" altLang="zh-CN" b="1" i="1" smtClean="0">
                    <a:latin typeface="Times New Roman" pitchFamily="18" charset="0"/>
                    <a:cs typeface="Times New Roman" pitchFamily="18" charset="0"/>
                  </a:rPr>
                  <a:t>a</a:t>
                </a:r>
                <a:r>
                  <a:rPr lang="en-US" altLang="zh-CN" smtClean="0"/>
                  <a:t/>
                </a:r>
                <a:r>
                  <a:rPr lang="zh-CN" altLang="en-US" smtClean="0"/>
                  <a:t>与 </a:t>
                </a:r>
                <a:r>
                  <a:rPr lang="en-US" altLang="zh-CN" b="1" i="1" smtClean="0">
                    <a:latin typeface="Times New Roman" pitchFamily="18" charset="0"/>
                    <a:cs typeface="Times New Roman" pitchFamily="18" charset="0"/>
                  </a:rPr>
                  <a:t>b</a:t>
                </a:r>
                <a:r>
                  <a:rPr lang="en-US" altLang="zh-CN" smtClean="0"/>
                  <a:t/>
                </a:r>
                <a:r>
                  <a:rPr lang="zh-CN" altLang="en-US" smtClean="0"/>
                  <a:t>共线，则 </a:t>
                </a:r>
                <a14:m>
                  <m:oMath xmlns:m="http://schemas.openxmlformats.org/officeDocument/2006/math">
                    <m:r>
                      <a:rPr lang="en-US" altLang="zh-CN" b="1" i="1">
                        <a:latin typeface="Cambria Math"/>
                      </a:rPr>
                      <m:t>𝒂</m:t>
                    </m:r>
                    <m:r>
                      <a:rPr lang="en-US" altLang="zh-CN" i="1">
                        <a:latin typeface="Cambria Math"/>
                      </a:rPr>
                      <m:t>×</m:t>
                    </m:r>
                    <m:r>
                      <a:rPr lang="en-US" altLang="zh-CN" b="1" i="1">
                        <a:latin typeface="Cambria Math"/>
                      </a:rPr>
                      <m:t>𝒃</m:t>
                    </m:r>
                    <m:r>
                      <a:rPr lang="en-US" altLang="zh-CN" b="1" i="1" smtClean="0">
                        <a:latin typeface="Cambria Math"/>
                      </a:rPr>
                      <m:t>=</m:t>
                    </m:r>
                    <m:r>
                      <a:rPr lang="en-US" altLang="zh-CN" b="0" i="0" smtClean="0">
                        <a:latin typeface="Cambria Math"/>
                      </a:rPr>
                      <m:t>0</m:t>
                    </m:r>
                  </m:oMath>
                </a14:m>
                <a:r>
                  <a:rPr lang="zh-CN" altLang="en-US" smtClean="0"/>
                  <a:t>。</a:t>
                </a:r>
                <a:endParaRPr lang="en-US" altLang="zh-CN" smtClean="0"/>
              </a:p>
              <a:p>
                <a:r>
                  <a:rPr lang="zh-CN" altLang="en-US" smtClean="0"/>
                  <a:t>利用有向面积可以非常简单自然地计算简单多边形的面积。后面我们会详述这一点。</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667" r="-25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21878942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点</a:t>
            </a:r>
            <a:r>
              <a:rPr lang="zh-CN" altLang="en-US" smtClean="0"/>
              <a:t>积和二维叉积的方向性</a:t>
            </a:r>
            <a:endParaRPr lang="zh-CN" altLang="en-US"/>
          </a:p>
        </p:txBody>
      </p:sp>
      <p:sp>
        <p:nvSpPr>
          <p:cNvPr id="3" name="内容占位符 2"/>
          <p:cNvSpPr>
            <a:spLocks noGrp="1"/>
          </p:cNvSpPr>
          <p:nvPr>
            <p:ph idx="1"/>
          </p:nvPr>
        </p:nvSpPr>
        <p:spPr/>
        <p:txBody>
          <a:bodyPr/>
          <a:lstStyle/>
          <a:p>
            <a:r>
              <a:rPr lang="zh-CN" altLang="en-US" smtClean="0"/>
              <a:t>利用点积可以判断矢量的</a:t>
            </a:r>
            <a:r>
              <a:rPr lang="zh-CN" altLang="en-US" b="1" smtClean="0">
                <a:solidFill>
                  <a:schemeClr val="accent4">
                    <a:lumMod val="60000"/>
                    <a:lumOff val="40000"/>
                  </a:schemeClr>
                </a:solidFill>
              </a:rPr>
              <a:t>前后</a:t>
            </a:r>
            <a:r>
              <a:rPr lang="zh-CN" altLang="en-US" smtClean="0"/>
              <a:t>。</a:t>
            </a:r>
            <a:endParaRPr lang="en-US" altLang="zh-CN" smtClean="0"/>
          </a:p>
          <a:p>
            <a:r>
              <a:rPr lang="zh-CN" altLang="en-US" smtClean="0"/>
              <a:t>利用二维叉积可以判断矢量的</a:t>
            </a:r>
            <a:r>
              <a:rPr lang="zh-CN" altLang="en-US" b="1" smtClean="0">
                <a:solidFill>
                  <a:schemeClr val="accent4">
                    <a:lumMod val="60000"/>
                    <a:lumOff val="40000"/>
                  </a:schemeClr>
                </a:solidFill>
              </a:rPr>
              <a:t>左右</a:t>
            </a:r>
            <a:r>
              <a:rPr lang="zh-CN" altLang="en-US" smtClean="0"/>
              <a:t>。</a:t>
            </a:r>
            <a:endParaRPr lang="zh-CN" altLang="en-US"/>
          </a:p>
        </p:txBody>
      </p:sp>
    </p:spTree>
    <p:extLst>
      <p:ext uri="{BB962C8B-B14F-4D97-AF65-F5344CB8AC3E}">
        <p14:creationId xmlns:p14="http://schemas.microsoft.com/office/powerpoint/2010/main" xmlns="" val="17059135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二维</a:t>
            </a:r>
            <a:r>
              <a:rPr lang="zh-CN" altLang="en-US" smtClean="0"/>
              <a:t>矢量的旋转</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smtClean="0"/>
                  <a:t>将矢量看做列矢量，即 </a:t>
                </a:r>
                <a:r>
                  <a:rPr lang="en-US" altLang="zh-CN" smtClean="0"/>
                  <a:t>2×1 </a:t>
                </a:r>
                <a:r>
                  <a:rPr lang="zh-CN" altLang="en-US" smtClean="0"/>
                  <a:t>的矩阵。</a:t>
                </a:r>
                <a:endParaRPr lang="en-US" altLang="zh-CN" smtClean="0"/>
              </a:p>
              <a:p>
                <a:r>
                  <a:rPr lang="zh-CN" altLang="en-US" smtClean="0"/>
                  <a:t>则将矢量 </a:t>
                </a:r>
                <a:r>
                  <a:rPr lang="en-US" altLang="zh-CN" b="1" i="1" smtClean="0">
                    <a:latin typeface="Times New Roman" pitchFamily="18" charset="0"/>
                    <a:cs typeface="Times New Roman" pitchFamily="18" charset="0"/>
                  </a:rPr>
                  <a:t>a</a:t>
                </a:r>
                <a:r>
                  <a:rPr lang="en-US" altLang="zh-CN" smtClean="0"/>
                  <a:t/>
                </a:r>
                <a:r>
                  <a:rPr lang="zh-CN" altLang="en-US" smtClean="0"/>
                  <a:t>逆时针旋转 </a:t>
                </a:r>
                <a:r>
                  <a:rPr lang="el-GR" altLang="zh-CN" i="1" smtClean="0">
                    <a:latin typeface="Times New Roman" pitchFamily="18" charset="0"/>
                    <a:cs typeface="Times New Roman" pitchFamily="18" charset="0"/>
                  </a:rPr>
                  <a:t>θ</a:t>
                </a:r>
                <a:r>
                  <a:rPr lang="en-US" altLang="zh-CN" b="1" i="1" smtClean="0">
                    <a:latin typeface="Times New Roman" pitchFamily="18" charset="0"/>
                    <a:cs typeface="Times New Roman" pitchFamily="18" charset="0"/>
                  </a:rPr>
                  <a:t/>
                </a:r>
                <a:r>
                  <a:rPr lang="zh-CN" altLang="en-US" smtClean="0"/>
                  <a:t>之后的矢量为 </a:t>
                </a:r>
                <a14:m>
                  <m:oMath xmlns:m="http://schemas.openxmlformats.org/officeDocument/2006/math">
                    <m:d>
                      <m:dPr>
                        <m:ctrlPr>
                          <a:rPr lang="en-US" altLang="zh-CN" i="1" smtClean="0">
                            <a:latin typeface="Cambria Math"/>
                          </a:rPr>
                        </m:ctrlPr>
                      </m:dPr>
                      <m:e>
                        <m:m>
                          <m:mPr>
                            <m:mcs>
                              <m:mc>
                                <m:mcPr>
                                  <m:count m:val="2"/>
                                  <m:mcJc m:val="center"/>
                                </m:mcPr>
                              </m:mc>
                            </m:mcs>
                            <m:ctrlPr>
                              <a:rPr lang="en-US" altLang="zh-CN" i="1" smtClean="0">
                                <a:latin typeface="Cambria Math"/>
                              </a:rPr>
                            </m:ctrlPr>
                          </m:mPr>
                          <m:mr>
                            <m:e>
                              <m:r>
                                <m:rPr>
                                  <m:sty m:val="p"/>
                                  <m:brk m:alnAt="7"/>
                                </m:rPr>
                                <a:rPr lang="en-US" altLang="zh-CN" b="0" i="0" smtClean="0">
                                  <a:latin typeface="Cambria Math"/>
                                </a:rPr>
                                <m:t>c</m:t>
                              </m:r>
                              <m:r>
                                <m:rPr>
                                  <m:sty m:val="p"/>
                                </m:rPr>
                                <a:rPr lang="en-US" altLang="zh-CN" b="0" i="0" smtClean="0">
                                  <a:latin typeface="Cambria Math"/>
                                </a:rPr>
                                <m:t>os</m:t>
                              </m:r>
                              <m:r>
                                <a:rPr lang="en-US" altLang="zh-CN" b="0" i="1" smtClean="0">
                                  <a:latin typeface="Cambria Math"/>
                                </a:rPr>
                                <m:t>𝜃</m:t>
                              </m:r>
                            </m:e>
                            <m:e>
                              <m:r>
                                <a:rPr lang="en-US" altLang="zh-CN" b="0" i="1" smtClean="0">
                                  <a:latin typeface="Cambria Math"/>
                                </a:rPr>
                                <m:t>−</m:t>
                              </m:r>
                              <m:r>
                                <m:rPr>
                                  <m:sty m:val="p"/>
                                </m:rPr>
                                <a:rPr lang="en-US" altLang="zh-CN" b="0" i="0" smtClean="0">
                                  <a:latin typeface="Cambria Math"/>
                                </a:rPr>
                                <m:t>sin</m:t>
                              </m:r>
                              <m:r>
                                <a:rPr lang="en-US" altLang="zh-CN" b="0" i="1" smtClean="0">
                                  <a:latin typeface="Cambria Math"/>
                                </a:rPr>
                                <m:t>𝜃</m:t>
                              </m:r>
                            </m:e>
                          </m:mr>
                          <m:mr>
                            <m:e>
                              <m:r>
                                <m:rPr>
                                  <m:sty m:val="p"/>
                                </m:rPr>
                                <a:rPr lang="en-US" altLang="zh-CN" b="0" i="0" smtClean="0">
                                  <a:latin typeface="Cambria Math"/>
                                </a:rPr>
                                <m:t>sin</m:t>
                              </m:r>
                              <m:r>
                                <a:rPr lang="en-US" altLang="zh-CN" b="0" i="1" smtClean="0">
                                  <a:latin typeface="Cambria Math"/>
                                </a:rPr>
                                <m:t>𝜃</m:t>
                              </m:r>
                            </m:e>
                            <m:e>
                              <m:r>
                                <m:rPr>
                                  <m:sty m:val="p"/>
                                </m:rPr>
                                <a:rPr lang="en-US" altLang="zh-CN" b="0" i="0" smtClean="0">
                                  <a:latin typeface="Cambria Math"/>
                                </a:rPr>
                                <m:t>cos</m:t>
                              </m:r>
                              <m:r>
                                <a:rPr lang="en-US" altLang="zh-CN" b="0" i="1" smtClean="0">
                                  <a:latin typeface="Cambria Math"/>
                                </a:rPr>
                                <m:t>𝜃</m:t>
                              </m:r>
                            </m:e>
                          </m:mr>
                        </m:m>
                      </m:e>
                    </m:d>
                    <m:r>
                      <a:rPr lang="en-US" altLang="zh-CN" b="1" i="1" smtClean="0">
                        <a:latin typeface="Cambria Math"/>
                      </a:rPr>
                      <m:t>𝒂</m:t>
                    </m:r>
                  </m:oMath>
                </a14:m>
                <a:r>
                  <a:rPr lang="en-US" altLang="zh-CN" smtClean="0"/>
                  <a:t>.</a:t>
                </a:r>
              </a:p>
              <a:p>
                <a:r>
                  <a:rPr lang="zh-CN" altLang="en-US" smtClean="0"/>
                  <a:t>记矩阵 </a:t>
                </a:r>
                <a14:m>
                  <m:oMath xmlns:m="http://schemas.openxmlformats.org/officeDocument/2006/math">
                    <m:r>
                      <m:rPr>
                        <m:sty m:val="p"/>
                      </m:rPr>
                      <a:rPr lang="en-US" altLang="zh-CN" b="0" i="0" smtClean="0">
                        <a:latin typeface="Cambria Math"/>
                      </a:rPr>
                      <m:t>T</m:t>
                    </m:r>
                    <m:d>
                      <m:dPr>
                        <m:ctrlPr>
                          <a:rPr lang="en-US" altLang="zh-CN" b="0" i="1" smtClean="0">
                            <a:latin typeface="Cambria Math"/>
                          </a:rPr>
                        </m:ctrlPr>
                      </m:dPr>
                      <m:e>
                        <m:r>
                          <a:rPr lang="en-US" altLang="zh-CN" b="0" i="1" smtClean="0">
                            <a:latin typeface="Cambria Math"/>
                          </a:rPr>
                          <m:t>𝜃</m:t>
                        </m:r>
                      </m:e>
                    </m:d>
                    <m:r>
                      <a:rPr lang="en-US" altLang="zh-CN" b="0" i="1" smtClean="0">
                        <a:latin typeface="Cambria Math"/>
                      </a:rPr>
                      <m:t>=</m:t>
                    </m:r>
                    <m:d>
                      <m:dPr>
                        <m:ctrlPr>
                          <a:rPr lang="en-US" altLang="zh-CN" i="1">
                            <a:latin typeface="Cambria Math"/>
                          </a:rPr>
                        </m:ctrlPr>
                      </m:dPr>
                      <m:e>
                        <m:m>
                          <m:mPr>
                            <m:mcs>
                              <m:mc>
                                <m:mcPr>
                                  <m:count m:val="2"/>
                                  <m:mcJc m:val="center"/>
                                </m:mcPr>
                              </m:mc>
                            </m:mcs>
                            <m:ctrlPr>
                              <a:rPr lang="en-US" altLang="zh-CN" i="1">
                                <a:latin typeface="Cambria Math"/>
                              </a:rPr>
                            </m:ctrlPr>
                          </m:mPr>
                          <m:mr>
                            <m:e>
                              <m:r>
                                <m:rPr>
                                  <m:sty m:val="p"/>
                                  <m:brk m:alnAt="7"/>
                                </m:rPr>
                                <a:rPr lang="en-US" altLang="zh-CN">
                                  <a:latin typeface="Cambria Math"/>
                                </a:rPr>
                                <m:t>c</m:t>
                              </m:r>
                              <m:r>
                                <m:rPr>
                                  <m:sty m:val="p"/>
                                </m:rPr>
                                <a:rPr lang="en-US" altLang="zh-CN">
                                  <a:latin typeface="Cambria Math"/>
                                </a:rPr>
                                <m:t>os</m:t>
                              </m:r>
                              <m:r>
                                <a:rPr lang="en-US" altLang="zh-CN" i="1">
                                  <a:latin typeface="Cambria Math"/>
                                </a:rPr>
                                <m:t>𝜃</m:t>
                              </m:r>
                            </m:e>
                            <m:e>
                              <m:r>
                                <a:rPr lang="en-US" altLang="zh-CN" b="0" i="1" smtClean="0">
                                  <a:latin typeface="Cambria Math"/>
                                </a:rPr>
                                <m:t>−</m:t>
                              </m:r>
                              <m:r>
                                <m:rPr>
                                  <m:sty m:val="p"/>
                                </m:rPr>
                                <a:rPr lang="en-US" altLang="zh-CN">
                                  <a:latin typeface="Cambria Math"/>
                                </a:rPr>
                                <m:t>sin</m:t>
                              </m:r>
                              <m:r>
                                <a:rPr lang="en-US" altLang="zh-CN" i="1">
                                  <a:latin typeface="Cambria Math"/>
                                </a:rPr>
                                <m:t>𝜃</m:t>
                              </m:r>
                            </m:e>
                          </m:mr>
                          <m:mr>
                            <m:e>
                              <m:r>
                                <m:rPr>
                                  <m:sty m:val="p"/>
                                </m:rPr>
                                <a:rPr lang="en-US" altLang="zh-CN">
                                  <a:latin typeface="Cambria Math"/>
                                </a:rPr>
                                <m:t>sin</m:t>
                              </m:r>
                              <m:r>
                                <a:rPr lang="en-US" altLang="zh-CN" i="1">
                                  <a:latin typeface="Cambria Math"/>
                                </a:rPr>
                                <m:t>𝜃</m:t>
                              </m:r>
                            </m:e>
                            <m:e>
                              <m:r>
                                <m:rPr>
                                  <m:sty m:val="p"/>
                                </m:rPr>
                                <a:rPr lang="en-US" altLang="zh-CN">
                                  <a:latin typeface="Cambria Math"/>
                                </a:rPr>
                                <m:t>cos</m:t>
                              </m:r>
                              <m:r>
                                <a:rPr lang="en-US" altLang="zh-CN" i="1">
                                  <a:latin typeface="Cambria Math"/>
                                </a:rPr>
                                <m:t>𝜃</m:t>
                              </m:r>
                            </m:e>
                          </m:mr>
                        </m:m>
                      </m:e>
                    </m:d>
                  </m:oMath>
                </a14:m>
                <a:r>
                  <a:rPr lang="en-US" altLang="zh-CN" smtClean="0"/>
                  <a:t>.</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400"/>
                </a:stretch>
              </a:blipFill>
            </p:spPr>
            <p:txBody>
              <a:bodyPr/>
              <a:lstStyle/>
              <a:p>
                <a:r>
                  <a:rPr lang="zh-CN" altLang="en-US">
                    <a:noFill/>
                  </a:rPr>
                  <a:t> </a:t>
                </a:r>
              </a:p>
            </p:txBody>
          </p:sp>
        </mc:Fallback>
      </mc:AlternateContent>
      <p:pic>
        <p:nvPicPr>
          <p:cNvPr id="4" name="图片 3"/>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5148064" y="3583878"/>
            <a:ext cx="4139683" cy="3365080"/>
          </a:xfrm>
          <a:prstGeom prst="rect">
            <a:avLst/>
          </a:prstGeom>
        </p:spPr>
      </p:pic>
    </p:spTree>
    <p:extLst>
      <p:ext uri="{BB962C8B-B14F-4D97-AF65-F5344CB8AC3E}">
        <p14:creationId xmlns:p14="http://schemas.microsoft.com/office/powerpoint/2010/main" xmlns="" val="27124211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二维矢量的极角</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smtClean="0"/>
                  <a:t>极角指示矢量的方向，以 </a:t>
                </a:r>
                <a:r>
                  <a:rPr lang="en-US" altLang="zh-CN" i="1" smtClean="0">
                    <a:latin typeface="Times New Roman" pitchFamily="18" charset="0"/>
                    <a:cs typeface="Times New Roman" pitchFamily="18" charset="0"/>
                  </a:rPr>
                  <a:t>x</a:t>
                </a:r>
                <a:r>
                  <a:rPr lang="en-US" altLang="zh-CN" smtClean="0"/>
                  <a:t/>
                </a:r>
                <a:r>
                  <a:rPr lang="zh-CN" altLang="en-US" smtClean="0"/>
                  <a:t>轴正半轴逆时针转过的角度来指示。</a:t>
                </a:r>
                <a:endParaRPr lang="en-US" altLang="zh-CN" smtClean="0"/>
              </a:p>
              <a:p>
                <a:r>
                  <a:rPr lang="zh-CN" altLang="en-US" smtClean="0"/>
                  <a:t>即矢量 </a:t>
                </a:r>
                <a14:m>
                  <m:oMath xmlns:m="http://schemas.openxmlformats.org/officeDocument/2006/math">
                    <m:d>
                      <m:dPr>
                        <m:ctrlPr>
                          <a:rPr lang="en-US" altLang="zh-CN" b="0" i="1" smtClean="0">
                            <a:latin typeface="Cambria Math"/>
                          </a:rPr>
                        </m:ctrlPr>
                      </m:dPr>
                      <m:e>
                        <m:r>
                          <a:rPr lang="en-US" altLang="zh-CN" b="0" i="1" smtClean="0">
                            <a:latin typeface="Cambria Math"/>
                          </a:rPr>
                          <m:t>𝑥</m:t>
                        </m:r>
                        <m:r>
                          <a:rPr lang="en-US" altLang="zh-CN" b="0" i="1" smtClean="0">
                            <a:latin typeface="Cambria Math"/>
                          </a:rPr>
                          <m:t>, </m:t>
                        </m:r>
                        <m:r>
                          <a:rPr lang="en-US" altLang="zh-CN" b="0" i="1" smtClean="0">
                            <a:latin typeface="Cambria Math"/>
                          </a:rPr>
                          <m:t>𝑦</m:t>
                        </m:r>
                      </m:e>
                    </m:d>
                  </m:oMath>
                </a14:m>
                <a:r>
                  <a:rPr lang="zh-CN" altLang="en-US" smtClean="0"/>
                  <a:t> 的极角为 </a:t>
                </a:r>
                <a14:m>
                  <m:oMath xmlns:m="http://schemas.openxmlformats.org/officeDocument/2006/math">
                    <m:r>
                      <m:rPr>
                        <m:sty m:val="p"/>
                      </m:rPr>
                      <a:rPr lang="en-US" altLang="zh-CN" b="0" i="0" smtClean="0">
                        <a:latin typeface="Cambria Math"/>
                      </a:rPr>
                      <m:t>atan</m:t>
                    </m:r>
                    <m:r>
                      <a:rPr lang="en-US" altLang="zh-CN" b="0" i="0" smtClean="0">
                        <a:latin typeface="Cambria Math"/>
                      </a:rPr>
                      <m:t>2</m:t>
                    </m:r>
                    <m:r>
                      <a:rPr lang="en-US" altLang="zh-CN" b="0" i="1" smtClean="0">
                        <a:latin typeface="Cambria Math"/>
                      </a:rPr>
                      <m:t>(</m:t>
                    </m:r>
                    <m:r>
                      <a:rPr lang="en-US" altLang="zh-CN" b="0" i="1" smtClean="0">
                        <a:latin typeface="Cambria Math"/>
                      </a:rPr>
                      <m:t>𝑦</m:t>
                    </m:r>
                    <m:r>
                      <a:rPr lang="en-US" altLang="zh-CN" b="0" i="1" smtClean="0">
                        <a:latin typeface="Cambria Math"/>
                      </a:rPr>
                      <m:t>,</m:t>
                    </m:r>
                    <m:r>
                      <a:rPr lang="en-US" altLang="zh-CN" b="0" i="1" smtClean="0">
                        <a:latin typeface="Cambria Math"/>
                      </a:rPr>
                      <m:t>𝑥</m:t>
                    </m:r>
                    <m:r>
                      <a:rPr lang="en-US" altLang="zh-CN" b="0" i="1" smtClean="0">
                        <a:latin typeface="Cambria Math"/>
                      </a:rPr>
                      <m:t>)</m:t>
                    </m:r>
                  </m:oMath>
                </a14:m>
                <a:r>
                  <a:rPr lang="zh-CN" altLang="en-US" smtClean="0"/>
                  <a:t>。</a:t>
                </a:r>
                <a:endParaRPr lang="en-US" altLang="zh-CN" smtClean="0"/>
              </a:p>
              <a:p>
                <a:r>
                  <a:rPr lang="zh-CN" altLang="en-US"/>
                  <a:t>极</a:t>
                </a:r>
                <a:r>
                  <a:rPr lang="zh-CN" altLang="en-US" smtClean="0"/>
                  <a:t>角的取值范围是 </a:t>
                </a:r>
                <a14:m>
                  <m:oMath xmlns:m="http://schemas.openxmlformats.org/officeDocument/2006/math">
                    <m:d>
                      <m:dPr>
                        <m:begChr m:val="]"/>
                        <m:endChr m:val="]"/>
                        <m:ctrlPr>
                          <a:rPr lang="zh-CN" altLang="en-US" i="1" smtClean="0">
                            <a:latin typeface="Cambria Math"/>
                          </a:rPr>
                        </m:ctrlPr>
                      </m:dPr>
                      <m:e>
                        <m:r>
                          <a:rPr lang="en-US" altLang="zh-CN" b="0" i="1" smtClean="0">
                            <a:latin typeface="Cambria Math"/>
                          </a:rPr>
                          <m:t>−</m:t>
                        </m:r>
                        <m:r>
                          <a:rPr lang="en-US" altLang="zh-CN" b="0" i="1" smtClean="0">
                            <a:latin typeface="Cambria Math"/>
                          </a:rPr>
                          <m:t>𝜋</m:t>
                        </m:r>
                        <m:r>
                          <a:rPr lang="en-US" altLang="zh-CN" b="0" i="1" smtClean="0">
                            <a:latin typeface="Cambria Math"/>
                          </a:rPr>
                          <m:t>,</m:t>
                        </m:r>
                        <m:r>
                          <a:rPr lang="en-US" altLang="zh-CN" b="0" i="1" smtClean="0">
                            <a:latin typeface="Cambria Math"/>
                          </a:rPr>
                          <m:t>𝜋</m:t>
                        </m:r>
                      </m:e>
                    </m:d>
                  </m:oMath>
                </a14:m>
                <a:r>
                  <a:rPr lang="zh-CN" altLang="en-US" smtClean="0"/>
                  <a:t>。</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66651633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en-US" altLang="ja-JP" dirty="0" smtClean="0"/>
              <a:t>2-Dimension Computational Geometry</a:t>
            </a:r>
            <a:endParaRPr lang="zh-CN" altLang="en-US" dirty="0"/>
          </a:p>
        </p:txBody>
      </p:sp>
      <p:sp>
        <p:nvSpPr>
          <p:cNvPr id="3" name="标题 2"/>
          <p:cNvSpPr>
            <a:spLocks noGrp="1"/>
          </p:cNvSpPr>
          <p:nvPr>
            <p:ph type="title"/>
          </p:nvPr>
        </p:nvSpPr>
        <p:spPr/>
        <p:txBody>
          <a:bodyPr/>
          <a:lstStyle/>
          <a:p>
            <a:r>
              <a:rPr lang="zh-CN" altLang="en-US" smtClean="0"/>
              <a:t>二维计算几何</a:t>
            </a:r>
            <a:endParaRPr lang="zh-CN" altLang="en-US"/>
          </a:p>
        </p:txBody>
      </p:sp>
    </p:spTree>
    <p:extLst>
      <p:ext uri="{BB962C8B-B14F-4D97-AF65-F5344CB8AC3E}">
        <p14:creationId xmlns:p14="http://schemas.microsoft.com/office/powerpoint/2010/main" xmlns="" val="232899438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约定</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smtClean="0"/>
                  <a:t>虽然点与矢量有着本质的不同，但是为了方便起见，本教程中坐标为 </a:t>
                </a:r>
                <a14:m>
                  <m:oMath xmlns:m="http://schemas.openxmlformats.org/officeDocument/2006/math">
                    <m:r>
                      <a:rPr lang="en-US" altLang="zh-CN">
                        <a:latin typeface="Cambria Math"/>
                      </a:rPr>
                      <m:t>(</m:t>
                    </m:r>
                    <m:r>
                      <a:rPr lang="en-US" altLang="zh-CN" b="0" i="1" smtClean="0">
                        <a:latin typeface="Cambria Math"/>
                      </a:rPr>
                      <m:t>𝑥</m:t>
                    </m:r>
                    <m:r>
                      <a:rPr lang="en-US" altLang="zh-CN" b="0" i="1" smtClean="0">
                        <a:latin typeface="Cambria Math"/>
                      </a:rPr>
                      <m:t>,</m:t>
                    </m:r>
                    <m:r>
                      <a:rPr lang="en-US" altLang="zh-CN" b="0" i="1" smtClean="0">
                        <a:latin typeface="Cambria Math"/>
                      </a:rPr>
                      <m:t>𝑦</m:t>
                    </m:r>
                    <m:r>
                      <a:rPr lang="en-US" altLang="zh-CN" b="0" i="1" smtClean="0">
                        <a:latin typeface="Cambria Math"/>
                      </a:rPr>
                      <m:t>)</m:t>
                    </m:r>
                  </m:oMath>
                </a14:m>
                <a:r>
                  <a:rPr lang="zh-CN" altLang="en-US" smtClean="0"/>
                  <a:t> 的点也作为矢量 </a:t>
                </a:r>
                <a14:m>
                  <m:oMath xmlns:m="http://schemas.openxmlformats.org/officeDocument/2006/math">
                    <m:r>
                      <a:rPr lang="en-US" altLang="zh-CN">
                        <a:latin typeface="Cambria Math"/>
                      </a:rPr>
                      <m:t>(</m:t>
                    </m:r>
                    <m:r>
                      <a:rPr lang="en-US" altLang="zh-CN" i="1">
                        <a:latin typeface="Cambria Math"/>
                      </a:rPr>
                      <m:t>𝑥</m:t>
                    </m:r>
                    <m:r>
                      <a:rPr lang="en-US" altLang="zh-CN" i="1">
                        <a:latin typeface="Cambria Math"/>
                      </a:rPr>
                      <m:t>,</m:t>
                    </m:r>
                    <m:r>
                      <a:rPr lang="en-US" altLang="zh-CN" i="1">
                        <a:latin typeface="Cambria Math"/>
                      </a:rPr>
                      <m:t>𝑦</m:t>
                    </m:r>
                    <m:r>
                      <a:rPr lang="en-US" altLang="zh-CN" i="1">
                        <a:latin typeface="Cambria Math"/>
                      </a:rPr>
                      <m:t>)</m:t>
                    </m:r>
                  </m:oMath>
                </a14:m>
                <a:r>
                  <a:rPr lang="zh-CN" altLang="en-US"/>
                  <a:t/>
                </a:r>
                <a:r>
                  <a:rPr lang="zh-CN" altLang="en-US" smtClean="0"/>
                  <a:t>使用，反之亦然。</a:t>
                </a:r>
                <a:endParaRPr lang="en-US" altLang="zh-CN" smtClean="0"/>
              </a:p>
              <a:p>
                <a:r>
                  <a:rPr lang="zh-CN" altLang="en-US" smtClean="0"/>
                  <a:t>比如，</a:t>
                </a:r>
                <a:r>
                  <a:rPr lang="en-US" altLang="zh-CN" i="1" smtClean="0">
                    <a:latin typeface="Times New Roman" pitchFamily="18" charset="0"/>
                    <a:cs typeface="Times New Roman" pitchFamily="18" charset="0"/>
                  </a:rPr>
                  <a:t>A</a:t>
                </a:r>
                <a:r>
                  <a:rPr lang="en-US" altLang="zh-CN" smtClean="0"/>
                  <a:t/>
                </a:r>
                <a:r>
                  <a:rPr lang="zh-CN" altLang="en-US" smtClean="0"/>
                  <a:t>和 </a:t>
                </a:r>
                <a:r>
                  <a:rPr lang="en-US" altLang="zh-CN" i="1" smtClean="0">
                    <a:latin typeface="Times New Roman" pitchFamily="18" charset="0"/>
                    <a:cs typeface="Times New Roman" pitchFamily="18" charset="0"/>
                  </a:rPr>
                  <a:t>B</a:t>
                </a:r>
                <a:r>
                  <a:rPr lang="en-US" altLang="zh-CN" smtClean="0"/>
                  <a:t/>
                </a:r>
                <a:r>
                  <a:rPr lang="zh-CN" altLang="en-US" smtClean="0"/>
                  <a:t>的中点 </a:t>
                </a:r>
                <a14:m>
                  <m:oMath xmlns:m="http://schemas.openxmlformats.org/officeDocument/2006/math">
                    <m:r>
                      <a:rPr lang="en-US" altLang="zh-CN" b="0" i="1" smtClean="0">
                        <a:latin typeface="Cambria Math"/>
                      </a:rPr>
                      <m:t>𝑀</m:t>
                    </m:r>
                    <m:r>
                      <a:rPr lang="en-US" altLang="zh-CN" b="0" i="1" smtClean="0">
                        <a:latin typeface="Cambria Math"/>
                      </a:rPr>
                      <m:t>=</m:t>
                    </m:r>
                    <m:f>
                      <m:fPr>
                        <m:ctrlPr>
                          <a:rPr lang="en-US" altLang="zh-CN" b="0" i="1" smtClean="0">
                            <a:latin typeface="Cambria Math"/>
                          </a:rPr>
                        </m:ctrlPr>
                      </m:fPr>
                      <m:num>
                        <m:r>
                          <a:rPr lang="en-US" altLang="zh-CN" b="0" i="1" smtClean="0">
                            <a:latin typeface="Cambria Math"/>
                          </a:rPr>
                          <m:t>𝐴</m:t>
                        </m:r>
                        <m:r>
                          <a:rPr lang="en-US" altLang="zh-CN" b="0" i="1" smtClean="0">
                            <a:latin typeface="Cambria Math"/>
                          </a:rPr>
                          <m:t>+</m:t>
                        </m:r>
                        <m:r>
                          <a:rPr lang="en-US" altLang="zh-CN" b="0" i="1" smtClean="0">
                            <a:latin typeface="Cambria Math"/>
                          </a:rPr>
                          <m:t>𝐵</m:t>
                        </m:r>
                      </m:num>
                      <m:den>
                        <m:r>
                          <a:rPr lang="en-US" altLang="zh-CN" b="0" i="1" smtClean="0">
                            <a:latin typeface="Cambria Math"/>
                          </a:rPr>
                          <m:t>2</m:t>
                        </m:r>
                      </m:den>
                    </m:f>
                  </m:oMath>
                </a14:m>
                <a:r>
                  <a:rPr lang="en-US" altLang="zh-CN" smtClean="0"/>
                  <a:t>.</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400" r="-1569"/>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283933950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直线</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normAutofit lnSpcReduction="10000"/>
              </a:bodyPr>
              <a:lstStyle/>
              <a:p>
                <a:r>
                  <a:rPr lang="zh-CN" altLang="en-US" dirty="0" smtClean="0"/>
                  <a:t>在二维空间中，直线用两个相异点 </a:t>
                </a:r>
                <a:r>
                  <a:rPr lang="en-US" altLang="zh-CN" i="1" dirty="0" smtClean="0"/>
                  <a:t>A</a:t>
                </a:r>
                <a:r>
                  <a:rPr lang="en-US" altLang="zh-CN" dirty="0" smtClean="0"/>
                  <a:t/>
                </a:r>
                <a:r>
                  <a:rPr lang="zh-CN" altLang="en-US" dirty="0" smtClean="0"/>
                  <a:t>和 </a:t>
                </a:r>
                <a:r>
                  <a:rPr lang="en-US" altLang="zh-CN" i="1" dirty="0" smtClean="0"/>
                  <a:t>B</a:t>
                </a:r>
                <a:r>
                  <a:rPr lang="en-US" altLang="zh-CN" dirty="0" smtClean="0"/>
                  <a:t/>
                </a:r>
                <a:r>
                  <a:rPr lang="zh-CN" altLang="en-US" dirty="0" smtClean="0"/>
                  <a:t>表示。则 </a:t>
                </a:r>
                <a14:m>
                  <m:oMath xmlns:m="http://schemas.openxmlformats.org/officeDocument/2006/math">
                    <m:r>
                      <a:rPr lang="en-US" altLang="zh-CN" i="1" smtClean="0">
                        <a:latin typeface="Cambria Math"/>
                      </a:rPr>
                      <m:t>∀</m:t>
                    </m:r>
                    <m:r>
                      <a:rPr lang="en-US" altLang="zh-CN" b="0" i="1" smtClean="0">
                        <a:latin typeface="Cambria Math"/>
                      </a:rPr>
                      <m:t>𝜆</m:t>
                    </m:r>
                    <m:r>
                      <a:rPr lang="en-US" altLang="zh-CN" b="0" i="1" smtClean="0">
                        <a:latin typeface="Cambria Math"/>
                      </a:rPr>
                      <m:t>∈</m:t>
                    </m:r>
                    <m:r>
                      <a:rPr lang="en-US" altLang="zh-CN" b="0" i="1" smtClean="0">
                        <a:latin typeface="Cambria Math"/>
                      </a:rPr>
                      <m:t>ℝ</m:t>
                    </m:r>
                    <m:r>
                      <a:rPr lang="en-US" altLang="zh-CN" b="0" i="1" smtClean="0">
                        <a:latin typeface="Cambria Math"/>
                      </a:rPr>
                      <m:t>,</m:t>
                    </m:r>
                    <m:r>
                      <a:rPr lang="en-US" altLang="zh-CN" b="0" i="1" smtClean="0">
                        <a:latin typeface="Cambria Math"/>
                      </a:rPr>
                      <m:t>𝜆</m:t>
                    </m:r>
                    <m:r>
                      <a:rPr lang="en-US" altLang="zh-CN" b="0" i="1" smtClean="0">
                        <a:latin typeface="Cambria Math"/>
                      </a:rPr>
                      <m:t>𝐴</m:t>
                    </m:r>
                    <m:r>
                      <a:rPr lang="en-US" altLang="zh-CN" b="0" i="1" smtClean="0">
                        <a:latin typeface="Cambria Math"/>
                      </a:rPr>
                      <m:t>+</m:t>
                    </m:r>
                    <m:d>
                      <m:dPr>
                        <m:ctrlPr>
                          <a:rPr lang="en-US" altLang="zh-CN" b="0" i="1" smtClean="0">
                            <a:latin typeface="Cambria Math"/>
                          </a:rPr>
                        </m:ctrlPr>
                      </m:dPr>
                      <m:e>
                        <m:r>
                          <a:rPr lang="en-US" altLang="zh-CN" b="0" i="1" smtClean="0">
                            <a:latin typeface="Cambria Math"/>
                          </a:rPr>
                          <m:t>1−</m:t>
                        </m:r>
                        <m:r>
                          <a:rPr lang="en-US" altLang="zh-CN" b="0" i="1" smtClean="0">
                            <a:latin typeface="Cambria Math"/>
                          </a:rPr>
                          <m:t>𝜆</m:t>
                        </m:r>
                      </m:e>
                    </m:d>
                    <m:r>
                      <a:rPr lang="en-US" altLang="zh-CN" b="0" i="1" smtClean="0">
                        <a:latin typeface="Cambria Math"/>
                      </a:rPr>
                      <m:t>𝐵</m:t>
                    </m:r>
                  </m:oMath>
                </a14:m>
                <a:r>
                  <a:rPr lang="zh-CN" altLang="en-US" dirty="0" smtClean="0"/>
                  <a:t> 代表直线上一点。</a:t>
                </a:r>
                <a:endParaRPr lang="en-US" altLang="zh-CN" dirty="0" smtClean="0"/>
              </a:p>
              <a:p>
                <a:r>
                  <a:rPr lang="zh-CN" altLang="en-US" dirty="0" smtClean="0"/>
                  <a:t>若 </a:t>
                </a:r>
                <a:r>
                  <a:rPr lang="en-US" altLang="zh-CN" i="1" dirty="0" smtClean="0">
                    <a:latin typeface="Times New Roman" pitchFamily="18" charset="0"/>
                    <a:cs typeface="Times New Roman" pitchFamily="18" charset="0"/>
                  </a:rPr>
                  <a:t>λ </a:t>
                </a:r>
                <a:r>
                  <a:rPr lang="en-US" altLang="zh-CN" dirty="0" smtClean="0"/>
                  <a:t>&lt; 0</a:t>
                </a:r>
                <a:r>
                  <a:rPr lang="zh-CN" altLang="en-US" dirty="0" smtClean="0"/>
                  <a:t>，则此点在 </a:t>
                </a:r>
                <a:r>
                  <a:rPr lang="en-US" altLang="zh-CN" i="1" dirty="0" smtClean="0">
                    <a:latin typeface="Times New Roman" pitchFamily="18" charset="0"/>
                    <a:cs typeface="Times New Roman" pitchFamily="18" charset="0"/>
                  </a:rPr>
                  <a:t>B</a:t>
                </a:r>
                <a:r>
                  <a:rPr lang="en-US" altLang="zh-CN" dirty="0" smtClean="0"/>
                  <a:t/>
                </a:r>
                <a:r>
                  <a:rPr lang="zh-CN" altLang="en-US" dirty="0" smtClean="0"/>
                  <a:t>外侧；若 </a:t>
                </a:r>
                <a:r>
                  <a:rPr lang="en-US" altLang="zh-CN" i="1" dirty="0" smtClean="0">
                    <a:latin typeface="Times New Roman" pitchFamily="18" charset="0"/>
                    <a:cs typeface="Times New Roman" pitchFamily="18" charset="0"/>
                  </a:rPr>
                  <a:t>λ </a:t>
                </a:r>
                <a:r>
                  <a:rPr lang="en-US" altLang="zh-CN" dirty="0" smtClean="0"/>
                  <a:t>&gt; 1</a:t>
                </a:r>
                <a:r>
                  <a:rPr lang="zh-CN" altLang="en-US" dirty="0" smtClean="0"/>
                  <a:t>，则此点在 </a:t>
                </a:r>
                <a:r>
                  <a:rPr lang="en-US" altLang="zh-CN" i="1" dirty="0" smtClean="0">
                    <a:latin typeface="Times New Roman" pitchFamily="18" charset="0"/>
                    <a:cs typeface="Times New Roman" pitchFamily="18" charset="0"/>
                  </a:rPr>
                  <a:t>A</a:t>
                </a:r>
                <a:r>
                  <a:rPr lang="en-US" altLang="zh-CN" dirty="0" smtClean="0"/>
                  <a:t/>
                </a:r>
                <a:r>
                  <a:rPr lang="zh-CN" altLang="en-US" dirty="0" smtClean="0"/>
                  <a:t>外侧。</a:t>
                </a:r>
                <a:endParaRPr lang="en-US" altLang="zh-CN" dirty="0" smtClean="0"/>
              </a:p>
              <a:p>
                <a:r>
                  <a:rPr lang="zh-CN" altLang="en-US" dirty="0"/>
                  <a:t>视</a:t>
                </a:r>
                <a:r>
                  <a:rPr lang="zh-CN" altLang="en-US" dirty="0" smtClean="0"/>
                  <a:t>情况，有时也用一个点 </a:t>
                </a:r>
                <a:r>
                  <a:rPr lang="en-US" altLang="zh-CN" i="1" dirty="0">
                    <a:latin typeface="Times New Roman" pitchFamily="18" charset="0"/>
                    <a:cs typeface="Times New Roman" pitchFamily="18" charset="0"/>
                  </a:rPr>
                  <a:t>P</a:t>
                </a:r>
                <a:r>
                  <a:rPr lang="en-US" altLang="zh-CN" dirty="0" smtClean="0"/>
                  <a:t/>
                </a:r>
                <a:r>
                  <a:rPr lang="zh-CN" altLang="en-US" dirty="0" smtClean="0"/>
                  <a:t>和一个方向</a:t>
                </a:r>
                <a:r>
                  <a:rPr lang="zh-CN" altLang="en-US" dirty="0"/>
                  <a:t>矢量</a:t>
                </a:r>
                <a:r>
                  <a:rPr lang="zh-CN" altLang="en-US" dirty="0" smtClean="0"/>
                  <a:t/>
                </a:r>
                <a:r>
                  <a:rPr lang="en-US" altLang="zh-CN" b="1" i="1" dirty="0" smtClean="0">
                    <a:latin typeface="Times New Roman" pitchFamily="18" charset="0"/>
                    <a:cs typeface="Times New Roman" pitchFamily="18" charset="0"/>
                  </a:rPr>
                  <a:t>v</a:t>
                </a:r>
                <a:r>
                  <a:rPr lang="en-US" altLang="zh-CN" dirty="0" smtClean="0"/>
                  <a:t/>
                </a:r>
                <a:r>
                  <a:rPr lang="zh-CN" altLang="en-US" dirty="0" smtClean="0"/>
                  <a:t>来表示。则 </a:t>
                </a:r>
                <a14:m>
                  <m:oMath xmlns:m="http://schemas.openxmlformats.org/officeDocument/2006/math">
                    <m:r>
                      <a:rPr lang="en-US" altLang="zh-CN" i="1" smtClean="0">
                        <a:latin typeface="Cambria Math"/>
                      </a:rPr>
                      <m:t>∀</m:t>
                    </m:r>
                    <m:r>
                      <a:rPr lang="en-US" altLang="zh-CN" b="0" i="1" smtClean="0">
                        <a:latin typeface="Cambria Math"/>
                      </a:rPr>
                      <m:t>𝜆</m:t>
                    </m:r>
                    <m:r>
                      <a:rPr lang="en-US" altLang="zh-CN" b="0" i="1" smtClean="0">
                        <a:latin typeface="Cambria Math"/>
                      </a:rPr>
                      <m:t>∈</m:t>
                    </m:r>
                    <m:r>
                      <a:rPr lang="en-US" altLang="zh-CN" b="0" i="1" smtClean="0">
                        <a:latin typeface="Cambria Math"/>
                      </a:rPr>
                      <m:t>ℝ</m:t>
                    </m:r>
                    <m:r>
                      <a:rPr lang="en-US" altLang="zh-CN" b="0" i="1" smtClean="0">
                        <a:latin typeface="Cambria Math"/>
                      </a:rPr>
                      <m:t>,</m:t>
                    </m:r>
                    <m:r>
                      <a:rPr lang="en-US" altLang="zh-CN" b="0" i="1" smtClean="0">
                        <a:latin typeface="Cambria Math"/>
                      </a:rPr>
                      <m:t>𝑃</m:t>
                    </m:r>
                    <m:r>
                      <a:rPr lang="en-US" altLang="zh-CN" b="0" i="1" smtClean="0">
                        <a:latin typeface="Cambria Math"/>
                      </a:rPr>
                      <m:t>+</m:t>
                    </m:r>
                    <m:r>
                      <a:rPr lang="en-US" altLang="zh-CN" b="0" i="1" smtClean="0">
                        <a:latin typeface="Cambria Math"/>
                      </a:rPr>
                      <m:t>𝜆</m:t>
                    </m:r>
                    <m:r>
                      <a:rPr lang="en-US" altLang="zh-CN" b="1" i="1" smtClean="0">
                        <a:latin typeface="Cambria Math"/>
                      </a:rPr>
                      <m:t>𝒗</m:t>
                    </m:r>
                  </m:oMath>
                </a14:m>
                <a:r>
                  <a:rPr lang="zh-CN" altLang="en-US" b="1" dirty="0" smtClean="0"/>
                  <a:t/>
                </a:r>
                <a:r>
                  <a:rPr lang="zh-CN" altLang="en-US" dirty="0" smtClean="0"/>
                  <a:t>代表直线上一点。</a:t>
                </a: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2000" r="-9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221260400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点到直线的距离</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smtClean="0"/>
                  <a:t>若要计算点 </a:t>
                </a:r>
                <a:r>
                  <a:rPr lang="en-US" altLang="zh-CN" i="1" smtClean="0">
                    <a:latin typeface="Times New Roman" pitchFamily="18" charset="0"/>
                    <a:cs typeface="Times New Roman" pitchFamily="18" charset="0"/>
                  </a:rPr>
                  <a:t>P</a:t>
                </a:r>
                <a:r>
                  <a:rPr lang="en-US" altLang="zh-CN" smtClean="0"/>
                  <a:t/>
                </a:r>
                <a:r>
                  <a:rPr lang="zh-CN" altLang="en-US" smtClean="0"/>
                  <a:t>到直线 </a:t>
                </a:r>
                <a:r>
                  <a:rPr lang="en-US" altLang="zh-CN" i="1" smtClean="0">
                    <a:latin typeface="Times New Roman" pitchFamily="18" charset="0"/>
                    <a:cs typeface="Times New Roman" pitchFamily="18" charset="0"/>
                  </a:rPr>
                  <a:t>AB</a:t>
                </a:r>
                <a:r>
                  <a:rPr lang="en-US" altLang="zh-CN" smtClean="0"/>
                  <a:t/>
                </a:r>
                <a:r>
                  <a:rPr lang="zh-CN" altLang="en-US" smtClean="0"/>
                  <a:t>的距离，只需要计算 </a:t>
                </a:r>
                <a14:m>
                  <m:oMath xmlns:m="http://schemas.openxmlformats.org/officeDocument/2006/math">
                    <m:acc>
                      <m:accPr>
                        <m:chr m:val="⃑"/>
                        <m:ctrlPr>
                          <a:rPr lang="zh-CN" altLang="en-US" i="1" smtClean="0">
                            <a:solidFill>
                              <a:schemeClr val="accent4">
                                <a:lumMod val="60000"/>
                                <a:lumOff val="40000"/>
                              </a:schemeClr>
                            </a:solidFill>
                            <a:latin typeface="Cambria Math"/>
                          </a:rPr>
                        </m:ctrlPr>
                      </m:accPr>
                      <m:e>
                        <m:r>
                          <a:rPr lang="en-US" altLang="zh-CN" b="0" i="1" smtClean="0">
                            <a:solidFill>
                              <a:schemeClr val="accent4">
                                <a:lumMod val="60000"/>
                                <a:lumOff val="40000"/>
                              </a:schemeClr>
                            </a:solidFill>
                            <a:latin typeface="Cambria Math"/>
                          </a:rPr>
                          <m:t>𝐴𝑃</m:t>
                        </m:r>
                      </m:e>
                    </m:acc>
                  </m:oMath>
                </a14:m>
                <a:r>
                  <a:rPr lang="zh-CN" altLang="en-US" smtClean="0"/>
                  <a:t> 与</a:t>
                </a:r>
                <a:r>
                  <a:rPr lang="zh-CN" altLang="en-US" smtClean="0">
                    <a:solidFill>
                      <a:schemeClr val="accent4">
                        <a:lumMod val="60000"/>
                        <a:lumOff val="40000"/>
                      </a:schemeClr>
                    </a:solidFill>
                  </a:rPr>
                  <a:t>它到 </a:t>
                </a:r>
                <a14:m>
                  <m:oMath xmlns:m="http://schemas.openxmlformats.org/officeDocument/2006/math">
                    <m:acc>
                      <m:accPr>
                        <m:chr m:val="⃑"/>
                        <m:ctrlPr>
                          <a:rPr lang="zh-CN" altLang="en-US" i="1" smtClean="0">
                            <a:solidFill>
                              <a:schemeClr val="accent4">
                                <a:lumMod val="60000"/>
                                <a:lumOff val="40000"/>
                              </a:schemeClr>
                            </a:solidFill>
                            <a:latin typeface="Cambria Math"/>
                          </a:rPr>
                        </m:ctrlPr>
                      </m:accPr>
                      <m:e>
                        <m:r>
                          <a:rPr lang="en-US" altLang="zh-CN" i="1">
                            <a:solidFill>
                              <a:schemeClr val="accent4">
                                <a:lumMod val="60000"/>
                                <a:lumOff val="40000"/>
                              </a:schemeClr>
                            </a:solidFill>
                            <a:latin typeface="Cambria Math"/>
                          </a:rPr>
                          <m:t>𝐴𝐵</m:t>
                        </m:r>
                      </m:e>
                    </m:acc>
                  </m:oMath>
                </a14:m>
                <a:r>
                  <a:rPr lang="zh-CN" altLang="en-US" smtClean="0">
                    <a:solidFill>
                      <a:schemeClr val="accent4">
                        <a:lumMod val="60000"/>
                        <a:lumOff val="40000"/>
                      </a:schemeClr>
                    </a:solidFill>
                  </a:rPr>
                  <a:t> 的投影</a:t>
                </a:r>
                <a:r>
                  <a:rPr lang="zh-CN" altLang="en-US" smtClean="0"/>
                  <a:t>之差的模即可。</a:t>
                </a:r>
                <a:endParaRPr lang="en-US" altLang="zh-CN" smtClean="0"/>
              </a:p>
              <a:p>
                <a:r>
                  <a:rPr lang="zh-CN" altLang="en-US" smtClean="0"/>
                  <a:t>即 </a:t>
                </a:r>
                <a14:m>
                  <m:oMath xmlns:m="http://schemas.openxmlformats.org/officeDocument/2006/math">
                    <m:d>
                      <m:dPr>
                        <m:begChr m:val="|"/>
                        <m:endChr m:val="|"/>
                        <m:ctrlPr>
                          <a:rPr lang="en-US" altLang="zh-CN" i="1" smtClean="0">
                            <a:latin typeface="Cambria Math"/>
                          </a:rPr>
                        </m:ctrlPr>
                      </m:dPr>
                      <m:e>
                        <m:acc>
                          <m:accPr>
                            <m:chr m:val="⃑"/>
                            <m:ctrlPr>
                              <a:rPr lang="en-US" altLang="zh-CN" i="1" smtClean="0">
                                <a:latin typeface="Cambria Math"/>
                              </a:rPr>
                            </m:ctrlPr>
                          </m:accPr>
                          <m:e>
                            <m:r>
                              <a:rPr lang="en-US" altLang="zh-CN" i="1">
                                <a:latin typeface="Cambria Math"/>
                              </a:rPr>
                              <m:t>𝐴𝑃</m:t>
                            </m:r>
                          </m:e>
                        </m:acc>
                        <m:r>
                          <a:rPr lang="en-US" altLang="zh-CN" b="0" i="1" smtClean="0">
                            <a:latin typeface="Cambria Math"/>
                          </a:rPr>
                          <m:t>−</m:t>
                        </m:r>
                        <m:acc>
                          <m:accPr>
                            <m:chr m:val="⃑"/>
                            <m:ctrlPr>
                              <a:rPr lang="en-US" altLang="zh-CN" b="0" i="1" smtClean="0">
                                <a:latin typeface="Cambria Math"/>
                              </a:rPr>
                            </m:ctrlPr>
                          </m:accPr>
                          <m:e>
                            <m:r>
                              <a:rPr lang="en-US" altLang="zh-CN" b="0" i="1" smtClean="0">
                                <a:latin typeface="Cambria Math"/>
                              </a:rPr>
                              <m:t>𝐴𝐵</m:t>
                            </m:r>
                          </m:e>
                        </m:acc>
                        <m:f>
                          <m:fPr>
                            <m:ctrlPr>
                              <a:rPr lang="en-US" altLang="zh-CN" i="1" smtClean="0">
                                <a:latin typeface="Cambria Math"/>
                              </a:rPr>
                            </m:ctrlPr>
                          </m:fPr>
                          <m:num>
                            <m:acc>
                              <m:accPr>
                                <m:chr m:val="⃑"/>
                                <m:ctrlPr>
                                  <a:rPr lang="en-US" altLang="zh-CN" i="1" smtClean="0">
                                    <a:latin typeface="Cambria Math"/>
                                  </a:rPr>
                                </m:ctrlPr>
                              </m:accPr>
                              <m:e>
                                <m:r>
                                  <a:rPr lang="en-US" altLang="zh-CN" b="0" i="1" smtClean="0">
                                    <a:latin typeface="Cambria Math"/>
                                  </a:rPr>
                                  <m:t>𝐴𝐵</m:t>
                                </m:r>
                              </m:e>
                            </m:acc>
                            <m:r>
                              <a:rPr lang="en-US" altLang="zh-CN" b="0" i="1" smtClean="0">
                                <a:latin typeface="Cambria Math"/>
                              </a:rPr>
                              <m:t>⋅</m:t>
                            </m:r>
                            <m:acc>
                              <m:accPr>
                                <m:chr m:val="⃑"/>
                                <m:ctrlPr>
                                  <a:rPr lang="en-US" altLang="zh-CN" b="0" i="1" smtClean="0">
                                    <a:latin typeface="Cambria Math"/>
                                  </a:rPr>
                                </m:ctrlPr>
                              </m:accPr>
                              <m:e>
                                <m:r>
                                  <a:rPr lang="en-US" altLang="zh-CN" b="0" i="1" smtClean="0">
                                    <a:latin typeface="Cambria Math"/>
                                  </a:rPr>
                                  <m:t>𝐴𝑃</m:t>
                                </m:r>
                              </m:e>
                            </m:acc>
                          </m:num>
                          <m:den>
                            <m:sSup>
                              <m:sSupPr>
                                <m:ctrlPr>
                                  <a:rPr lang="en-US" altLang="zh-CN" b="0" i="1" smtClean="0">
                                    <a:latin typeface="Cambria Math"/>
                                  </a:rPr>
                                </m:ctrlPr>
                              </m:sSupPr>
                              <m:e>
                                <m:acc>
                                  <m:accPr>
                                    <m:chr m:val="⃑"/>
                                    <m:ctrlPr>
                                      <a:rPr lang="en-US" altLang="zh-CN" i="1" smtClean="0">
                                        <a:latin typeface="Cambria Math"/>
                                      </a:rPr>
                                    </m:ctrlPr>
                                  </m:accPr>
                                  <m:e>
                                    <m:r>
                                      <a:rPr lang="en-US" altLang="zh-CN" b="0" i="1" smtClean="0">
                                        <a:latin typeface="Cambria Math"/>
                                      </a:rPr>
                                      <m:t>𝐴𝐵</m:t>
                                    </m:r>
                                  </m:e>
                                </m:acc>
                              </m:e>
                              <m:sup>
                                <m:r>
                                  <a:rPr lang="en-US" altLang="zh-CN" b="0" i="1" smtClean="0">
                                    <a:latin typeface="Cambria Math"/>
                                  </a:rPr>
                                  <m:t>2</m:t>
                                </m:r>
                              </m:sup>
                            </m:sSup>
                          </m:den>
                        </m:f>
                      </m:e>
                    </m:d>
                  </m:oMath>
                </a14:m>
                <a:r>
                  <a:rPr lang="zh-CN" altLang="en-US" smtClean="0"/>
                  <a:t>。</a:t>
                </a:r>
                <a:endParaRPr lang="en-US" altLang="zh-CN" smtClean="0"/>
              </a:p>
              <a:p>
                <a14:m>
                  <m:oMath xmlns:m="http://schemas.openxmlformats.org/officeDocument/2006/math">
                    <m:acc>
                      <m:accPr>
                        <m:chr m:val="⃑"/>
                        <m:ctrlPr>
                          <a:rPr lang="en-US" altLang="zh-CN" i="1">
                            <a:latin typeface="Cambria Math"/>
                          </a:rPr>
                        </m:ctrlPr>
                      </m:accPr>
                      <m:e>
                        <m:r>
                          <a:rPr lang="en-US" altLang="zh-CN" i="1">
                            <a:latin typeface="Cambria Math"/>
                          </a:rPr>
                          <m:t>𝐴𝑃</m:t>
                        </m:r>
                      </m:e>
                    </m:acc>
                    <m:r>
                      <a:rPr lang="en-US" altLang="zh-CN" i="1">
                        <a:latin typeface="Cambria Math"/>
                      </a:rPr>
                      <m:t>−</m:t>
                    </m:r>
                    <m:acc>
                      <m:accPr>
                        <m:chr m:val="⃑"/>
                        <m:ctrlPr>
                          <a:rPr lang="en-US" altLang="zh-CN" i="1">
                            <a:latin typeface="Cambria Math"/>
                          </a:rPr>
                        </m:ctrlPr>
                      </m:accPr>
                      <m:e>
                        <m:r>
                          <a:rPr lang="en-US" altLang="zh-CN" i="1">
                            <a:latin typeface="Cambria Math"/>
                          </a:rPr>
                          <m:t>𝐴𝐵</m:t>
                        </m:r>
                      </m:e>
                    </m:acc>
                    <m:f>
                      <m:fPr>
                        <m:ctrlPr>
                          <a:rPr lang="en-US" altLang="zh-CN" i="1">
                            <a:latin typeface="Cambria Math"/>
                          </a:rPr>
                        </m:ctrlPr>
                      </m:fPr>
                      <m:num>
                        <m:acc>
                          <m:accPr>
                            <m:chr m:val="⃑"/>
                            <m:ctrlPr>
                              <a:rPr lang="en-US" altLang="zh-CN" i="1">
                                <a:latin typeface="Cambria Math"/>
                              </a:rPr>
                            </m:ctrlPr>
                          </m:accPr>
                          <m:e>
                            <m:r>
                              <a:rPr lang="en-US" altLang="zh-CN" i="1">
                                <a:latin typeface="Cambria Math"/>
                              </a:rPr>
                              <m:t>𝐴𝐵</m:t>
                            </m:r>
                          </m:e>
                        </m:acc>
                        <m:r>
                          <a:rPr lang="en-US" altLang="zh-CN" i="1">
                            <a:latin typeface="Cambria Math"/>
                          </a:rPr>
                          <m:t>⋅</m:t>
                        </m:r>
                        <m:acc>
                          <m:accPr>
                            <m:chr m:val="⃑"/>
                            <m:ctrlPr>
                              <a:rPr lang="en-US" altLang="zh-CN" i="1">
                                <a:latin typeface="Cambria Math"/>
                              </a:rPr>
                            </m:ctrlPr>
                          </m:accPr>
                          <m:e>
                            <m:r>
                              <a:rPr lang="en-US" altLang="zh-CN" i="1">
                                <a:latin typeface="Cambria Math"/>
                              </a:rPr>
                              <m:t>𝐴𝑃</m:t>
                            </m:r>
                          </m:e>
                        </m:acc>
                      </m:num>
                      <m:den>
                        <m:sSup>
                          <m:sSupPr>
                            <m:ctrlPr>
                              <a:rPr lang="en-US" altLang="zh-CN" i="1">
                                <a:latin typeface="Cambria Math"/>
                              </a:rPr>
                            </m:ctrlPr>
                          </m:sSupPr>
                          <m:e>
                            <m:acc>
                              <m:accPr>
                                <m:chr m:val="⃑"/>
                                <m:ctrlPr>
                                  <a:rPr lang="en-US" altLang="zh-CN" i="1">
                                    <a:latin typeface="Cambria Math"/>
                                  </a:rPr>
                                </m:ctrlPr>
                              </m:accPr>
                              <m:e>
                                <m:r>
                                  <a:rPr lang="en-US" altLang="zh-CN" i="1">
                                    <a:latin typeface="Cambria Math"/>
                                  </a:rPr>
                                  <m:t>𝐴𝐵</m:t>
                                </m:r>
                              </m:e>
                            </m:acc>
                          </m:e>
                          <m:sup>
                            <m:r>
                              <a:rPr lang="en-US" altLang="zh-CN" i="1">
                                <a:latin typeface="Cambria Math"/>
                              </a:rPr>
                              <m:t>2</m:t>
                            </m:r>
                          </m:sup>
                        </m:sSup>
                      </m:den>
                    </m:f>
                  </m:oMath>
                </a14:m>
                <a:r>
                  <a:rPr lang="zh-CN" altLang="en-US" smtClean="0"/>
                  <a:t> 后面称为 </a:t>
                </a:r>
                <a:r>
                  <a:rPr lang="en-US" altLang="zh-CN" i="1" smtClean="0">
                    <a:latin typeface="Times New Roman" pitchFamily="18" charset="0"/>
                    <a:cs typeface="Times New Roman" pitchFamily="18" charset="0"/>
                  </a:rPr>
                  <a:t>P</a:t>
                </a:r>
                <a:r>
                  <a:rPr lang="en-US" altLang="zh-CN" smtClean="0"/>
                  <a:t/>
                </a:r>
                <a:r>
                  <a:rPr lang="zh-CN" altLang="en-US" smtClean="0"/>
                  <a:t>到 </a:t>
                </a:r>
                <a:r>
                  <a:rPr lang="en-US" altLang="zh-CN" i="1" smtClean="0">
                    <a:latin typeface="Times New Roman" pitchFamily="18" charset="0"/>
                    <a:cs typeface="Times New Roman" pitchFamily="18" charset="0"/>
                  </a:rPr>
                  <a:t>AB</a:t>
                </a:r>
                <a:r>
                  <a:rPr lang="en-US" altLang="zh-CN" smtClean="0"/>
                  <a:t/>
                </a:r>
                <a:r>
                  <a:rPr lang="zh-CN" altLang="en-US" smtClean="0"/>
                  <a:t>的</a:t>
                </a:r>
                <a:r>
                  <a:rPr lang="zh-CN" altLang="en-US" b="1" smtClean="0">
                    <a:solidFill>
                      <a:schemeClr val="accent2">
                        <a:lumMod val="60000"/>
                        <a:lumOff val="40000"/>
                      </a:schemeClr>
                    </a:solidFill>
                  </a:rPr>
                  <a:t>垂直矢量</a:t>
                </a:r>
                <a:r>
                  <a:rPr lang="zh-CN" altLang="en-US" smtClean="0"/>
                  <a:t>。注意，这名字是我自己起的。</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667" r="-1255"/>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340090432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分点</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a:xfrm>
                <a:off x="914400" y="1628800"/>
                <a:ext cx="7772400" cy="4572000"/>
              </a:xfrm>
            </p:spPr>
            <p:txBody>
              <a:bodyPr/>
              <a:lstStyle/>
              <a:p>
                <a:r>
                  <a:rPr lang="zh-CN" altLang="en-US" smtClean="0"/>
                  <a:t>如下图，若 </a:t>
                </a:r>
                <a:r>
                  <a:rPr lang="en-US" altLang="zh-CN" i="1" smtClean="0"/>
                  <a:t>A</a:t>
                </a:r>
                <a:r>
                  <a:rPr lang="en-US" altLang="zh-CN" smtClean="0"/>
                  <a:t>, </a:t>
                </a:r>
                <a:r>
                  <a:rPr lang="en-US" altLang="zh-CN" i="1" smtClean="0"/>
                  <a:t>C</a:t>
                </a:r>
                <a:r>
                  <a:rPr lang="en-US" altLang="zh-CN" smtClean="0"/>
                  <a:t>, </a:t>
                </a:r>
                <a:r>
                  <a:rPr lang="en-US" altLang="zh-CN" i="1" smtClean="0"/>
                  <a:t>B</a:t>
                </a:r>
                <a:r>
                  <a:rPr lang="en-US" altLang="zh-CN" smtClean="0"/>
                  <a:t/>
                </a:r>
                <a:r>
                  <a:rPr lang="zh-CN" altLang="en-US" smtClean="0"/>
                  <a:t>共线，且 </a:t>
                </a:r>
                <a14:m>
                  <m:oMath xmlns:m="http://schemas.openxmlformats.org/officeDocument/2006/math">
                    <m:f>
                      <m:fPr>
                        <m:ctrlPr>
                          <a:rPr lang="en-US" altLang="zh-CN" i="1" smtClean="0">
                            <a:latin typeface="Cambria Math"/>
                          </a:rPr>
                        </m:ctrlPr>
                      </m:fPr>
                      <m:num>
                        <m:d>
                          <m:dPr>
                            <m:begChr m:val="|"/>
                            <m:endChr m:val="|"/>
                            <m:ctrlPr>
                              <a:rPr lang="en-US" altLang="zh-CN" i="1" smtClean="0">
                                <a:latin typeface="Cambria Math"/>
                              </a:rPr>
                            </m:ctrlPr>
                          </m:dPr>
                          <m:e>
                            <m:acc>
                              <m:accPr>
                                <m:chr m:val="̅"/>
                                <m:ctrlPr>
                                  <a:rPr lang="en-US" altLang="zh-CN" i="1" smtClean="0">
                                    <a:latin typeface="Cambria Math"/>
                                  </a:rPr>
                                </m:ctrlPr>
                              </m:accPr>
                              <m:e>
                                <m:r>
                                  <m:rPr>
                                    <m:sty m:val="p"/>
                                  </m:rPr>
                                  <a:rPr lang="en-US" altLang="zh-CN" i="1">
                                    <a:latin typeface="Cambria Math"/>
                                  </a:rPr>
                                  <m:t>AC</m:t>
                                </m:r>
                              </m:e>
                            </m:acc>
                          </m:e>
                        </m:d>
                      </m:num>
                      <m:den>
                        <m:d>
                          <m:dPr>
                            <m:begChr m:val="|"/>
                            <m:endChr m:val="|"/>
                            <m:ctrlPr>
                              <a:rPr lang="en-US" altLang="zh-CN" i="1" smtClean="0">
                                <a:latin typeface="Cambria Math"/>
                              </a:rPr>
                            </m:ctrlPr>
                          </m:dPr>
                          <m:e>
                            <m:acc>
                              <m:accPr>
                                <m:chr m:val="̅"/>
                                <m:ctrlPr>
                                  <a:rPr lang="en-US" altLang="zh-CN" i="1" smtClean="0">
                                    <a:latin typeface="Cambria Math"/>
                                  </a:rPr>
                                </m:ctrlPr>
                              </m:accPr>
                              <m:e>
                                <m:r>
                                  <a:rPr lang="en-US" altLang="zh-CN" b="0" i="1" smtClean="0">
                                    <a:latin typeface="Cambria Math"/>
                                  </a:rPr>
                                  <m:t>𝐶𝐵</m:t>
                                </m:r>
                              </m:e>
                            </m:acc>
                          </m:e>
                        </m:d>
                      </m:den>
                    </m:f>
                    <m:r>
                      <a:rPr lang="en-US" altLang="zh-CN" b="0" i="1" smtClean="0">
                        <a:latin typeface="Cambria Math"/>
                      </a:rPr>
                      <m:t>=</m:t>
                    </m:r>
                    <m:f>
                      <m:fPr>
                        <m:ctrlPr>
                          <a:rPr lang="en-US" altLang="zh-CN" b="0" i="1" smtClean="0">
                            <a:latin typeface="Cambria Math"/>
                          </a:rPr>
                        </m:ctrlPr>
                      </m:fPr>
                      <m:num>
                        <m:sSub>
                          <m:sSubPr>
                            <m:ctrlPr>
                              <a:rPr lang="en-US" altLang="zh-CN" b="0" i="1" smtClean="0">
                                <a:latin typeface="Cambria Math"/>
                              </a:rPr>
                            </m:ctrlPr>
                          </m:sSubPr>
                          <m:e>
                            <m:r>
                              <a:rPr lang="en-US" altLang="zh-CN" b="0" i="1" smtClean="0">
                                <a:latin typeface="Cambria Math"/>
                              </a:rPr>
                              <m:t>𝜆</m:t>
                            </m:r>
                          </m:e>
                          <m:sub>
                            <m:r>
                              <a:rPr lang="en-US" altLang="zh-CN" b="0" i="1" smtClean="0">
                                <a:latin typeface="Cambria Math"/>
                              </a:rPr>
                              <m:t>1</m:t>
                            </m:r>
                          </m:sub>
                        </m:sSub>
                      </m:num>
                      <m:den>
                        <m:sSub>
                          <m:sSubPr>
                            <m:ctrlPr>
                              <a:rPr lang="en-US" altLang="zh-CN" b="0" i="1" smtClean="0">
                                <a:latin typeface="Cambria Math"/>
                              </a:rPr>
                            </m:ctrlPr>
                          </m:sSubPr>
                          <m:e>
                            <m:r>
                              <a:rPr lang="en-US" altLang="zh-CN" b="0" i="1" smtClean="0">
                                <a:latin typeface="Cambria Math"/>
                              </a:rPr>
                              <m:t>𝜆</m:t>
                            </m:r>
                          </m:e>
                          <m:sub>
                            <m:r>
                              <a:rPr lang="en-US" altLang="zh-CN" b="0" i="1" smtClean="0">
                                <a:latin typeface="Cambria Math"/>
                              </a:rPr>
                              <m:t>2</m:t>
                            </m:r>
                          </m:sub>
                        </m:sSub>
                      </m:den>
                    </m:f>
                  </m:oMath>
                </a14:m>
                <a:r>
                  <a:rPr lang="zh-CN" altLang="en-US" smtClean="0"/>
                  <a:t>，则 </a:t>
                </a:r>
                <a14:m>
                  <m:oMath xmlns:m="http://schemas.openxmlformats.org/officeDocument/2006/math">
                    <m:r>
                      <a:rPr lang="en-US" altLang="zh-CN" b="0" i="1" smtClean="0">
                        <a:latin typeface="Cambria Math"/>
                      </a:rPr>
                      <m:t>𝐶</m:t>
                    </m:r>
                    <m:r>
                      <a:rPr lang="en-US" altLang="zh-CN" b="0" i="1" smtClean="0">
                        <a:latin typeface="Cambria Math"/>
                      </a:rPr>
                      <m:t>=</m:t>
                    </m:r>
                    <m:f>
                      <m:fPr>
                        <m:ctrlPr>
                          <a:rPr lang="en-US" altLang="zh-CN" b="0" i="1" smtClean="0">
                            <a:latin typeface="Cambria Math"/>
                          </a:rPr>
                        </m:ctrlPr>
                      </m:fPr>
                      <m:num>
                        <m:sSub>
                          <m:sSubPr>
                            <m:ctrlPr>
                              <a:rPr lang="en-US" altLang="zh-CN" b="0" i="1" smtClean="0">
                                <a:latin typeface="Cambria Math"/>
                              </a:rPr>
                            </m:ctrlPr>
                          </m:sSubPr>
                          <m:e>
                            <m:r>
                              <a:rPr lang="en-US" altLang="zh-CN" b="0" i="1" smtClean="0">
                                <a:latin typeface="Cambria Math"/>
                              </a:rPr>
                              <m:t>𝜆</m:t>
                            </m:r>
                          </m:e>
                          <m:sub>
                            <m:r>
                              <a:rPr lang="en-US" altLang="zh-CN" b="0" i="1" smtClean="0">
                                <a:latin typeface="Cambria Math"/>
                              </a:rPr>
                              <m:t>2</m:t>
                            </m:r>
                          </m:sub>
                        </m:sSub>
                        <m:r>
                          <a:rPr lang="en-US" altLang="zh-CN" b="0" i="1" smtClean="0">
                            <a:latin typeface="Cambria Math"/>
                          </a:rPr>
                          <m:t>𝐴</m:t>
                        </m:r>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𝜆</m:t>
                            </m:r>
                          </m:e>
                          <m:sub>
                            <m:r>
                              <a:rPr lang="en-US" altLang="zh-CN" b="0" i="1" smtClean="0">
                                <a:latin typeface="Cambria Math"/>
                              </a:rPr>
                              <m:t>1</m:t>
                            </m:r>
                          </m:sub>
                        </m:sSub>
                        <m:r>
                          <a:rPr lang="en-US" altLang="zh-CN" b="0" i="1" smtClean="0">
                            <a:latin typeface="Cambria Math"/>
                          </a:rPr>
                          <m:t>𝐵</m:t>
                        </m:r>
                      </m:num>
                      <m:den>
                        <m:sSub>
                          <m:sSubPr>
                            <m:ctrlPr>
                              <a:rPr lang="en-US" altLang="zh-CN" b="0" i="1" smtClean="0">
                                <a:latin typeface="Cambria Math"/>
                              </a:rPr>
                            </m:ctrlPr>
                          </m:sSubPr>
                          <m:e>
                            <m:r>
                              <a:rPr lang="en-US" altLang="zh-CN" b="0" i="1" smtClean="0">
                                <a:latin typeface="Cambria Math"/>
                              </a:rPr>
                              <m:t>𝜆</m:t>
                            </m:r>
                          </m:e>
                          <m:sub>
                            <m:r>
                              <a:rPr lang="en-US" altLang="zh-CN" b="0" i="1" smtClean="0">
                                <a:latin typeface="Cambria Math"/>
                              </a:rPr>
                              <m:t>1</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𝜆</m:t>
                            </m:r>
                          </m:e>
                          <m:sub>
                            <m:r>
                              <a:rPr lang="en-US" altLang="zh-CN" b="0" i="1" smtClean="0">
                                <a:latin typeface="Cambria Math"/>
                              </a:rPr>
                              <m:t>2</m:t>
                            </m:r>
                          </m:sub>
                        </m:sSub>
                      </m:den>
                    </m:f>
                  </m:oMath>
                </a14:m>
                <a:r>
                  <a:rPr lang="zh-CN" altLang="en-US" smtClean="0"/>
                  <a:t>。</a:t>
                </a:r>
                <a:endParaRPr lang="en-US" altLang="zh-CN" smtClean="0"/>
              </a:p>
              <a:p>
                <a:r>
                  <a:rPr lang="zh-CN" altLang="en-US"/>
                  <a:t>特别</a:t>
                </a:r>
                <a:r>
                  <a:rPr lang="zh-CN" altLang="en-US" smtClean="0"/>
                  <a:t>地，若 </a:t>
                </a:r>
                <a:r>
                  <a:rPr lang="en-US" altLang="zh-CN" smtClean="0"/>
                  <a:t>C </a:t>
                </a:r>
                <a:r>
                  <a:rPr lang="zh-CN" altLang="en-US" smtClean="0"/>
                  <a:t>在 </a:t>
                </a:r>
                <a:r>
                  <a:rPr lang="en-US" altLang="zh-CN" smtClean="0"/>
                  <a:t>A </a:t>
                </a:r>
                <a:r>
                  <a:rPr lang="zh-CN" altLang="en-US"/>
                  <a:t>外</a:t>
                </a:r>
                <a:r>
                  <a:rPr lang="zh-CN" altLang="en-US" smtClean="0"/>
                  <a:t>侧，则 </a:t>
                </a:r>
                <a14:m>
                  <m:oMath xmlns:m="http://schemas.openxmlformats.org/officeDocument/2006/math">
                    <m:sSub>
                      <m:sSubPr>
                        <m:ctrlPr>
                          <a:rPr lang="en-US" altLang="zh-CN" b="0" i="1" smtClean="0">
                            <a:latin typeface="Cambria Math"/>
                          </a:rPr>
                        </m:ctrlPr>
                      </m:sSubPr>
                      <m:e>
                        <m:r>
                          <a:rPr lang="en-US" altLang="zh-CN" i="1" smtClean="0">
                            <a:latin typeface="Cambria Math"/>
                          </a:rPr>
                          <m:t>𝜆</m:t>
                        </m:r>
                      </m:e>
                      <m:sub>
                        <m:r>
                          <a:rPr lang="en-US" altLang="zh-CN" b="0" i="1" smtClean="0">
                            <a:latin typeface="Cambria Math"/>
                          </a:rPr>
                          <m:t>1</m:t>
                        </m:r>
                      </m:sub>
                    </m:sSub>
                    <m:r>
                      <a:rPr lang="en-US" altLang="zh-CN" b="0" i="1" smtClean="0">
                        <a:latin typeface="Cambria Math"/>
                      </a:rPr>
                      <m:t>&lt;0</m:t>
                    </m:r>
                  </m:oMath>
                </a14:m>
                <a:r>
                  <a:rPr lang="zh-CN" altLang="en-US" smtClean="0"/>
                  <a:t>；若 </a:t>
                </a:r>
                <a:r>
                  <a:rPr lang="en-US" altLang="zh-CN" smtClean="0"/>
                  <a:t>C </a:t>
                </a:r>
                <a:r>
                  <a:rPr lang="zh-CN" altLang="en-US" smtClean="0"/>
                  <a:t>在 </a:t>
                </a:r>
                <a:r>
                  <a:rPr lang="en-US" altLang="zh-CN" smtClean="0"/>
                  <a:t>B </a:t>
                </a:r>
                <a:r>
                  <a:rPr lang="zh-CN" altLang="en-US"/>
                  <a:t>外</a:t>
                </a:r>
                <a:r>
                  <a:rPr lang="zh-CN" altLang="en-US" smtClean="0"/>
                  <a:t>侧，则 </a:t>
                </a:r>
                <a14:m>
                  <m:oMath xmlns:m="http://schemas.openxmlformats.org/officeDocument/2006/math">
                    <m:sSub>
                      <m:sSubPr>
                        <m:ctrlPr>
                          <a:rPr lang="en-US" altLang="zh-CN" b="0" i="1" smtClean="0">
                            <a:latin typeface="Cambria Math"/>
                          </a:rPr>
                        </m:ctrlPr>
                      </m:sSubPr>
                      <m:e>
                        <m:r>
                          <a:rPr lang="en-US" altLang="zh-CN" i="1" smtClean="0">
                            <a:latin typeface="Cambria Math"/>
                          </a:rPr>
                          <m:t>𝜆</m:t>
                        </m:r>
                      </m:e>
                      <m:sub>
                        <m:r>
                          <a:rPr lang="en-US" altLang="zh-CN" b="0" i="1" smtClean="0">
                            <a:latin typeface="Cambria Math"/>
                          </a:rPr>
                          <m:t>2</m:t>
                        </m:r>
                      </m:sub>
                    </m:sSub>
                    <m:r>
                      <a:rPr lang="en-US" altLang="zh-CN" b="0" i="1" smtClean="0">
                        <a:latin typeface="Cambria Math"/>
                      </a:rPr>
                      <m:t>&lt;0</m:t>
                    </m:r>
                  </m:oMath>
                </a14:m>
                <a:r>
                  <a:rPr lang="zh-CN" altLang="en-US" smtClean="0"/>
                  <a:t>。此时上式仍然成立。</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914400" y="1628800"/>
                <a:ext cx="7772400" cy="4572000"/>
              </a:xfrm>
              <a:blipFill rotWithShape="1">
                <a:blip r:embed="rId2"/>
                <a:stretch>
                  <a:fillRect l="-471" r="-6667"/>
                </a:stretch>
              </a:blipFill>
            </p:spPr>
            <p:txBody>
              <a:bodyPr/>
              <a:lstStyle/>
              <a:p>
                <a:r>
                  <a:rPr lang="zh-CN" altLang="en-US">
                    <a:noFill/>
                  </a:rPr>
                  <a:t> </a:t>
                </a:r>
              </a:p>
            </p:txBody>
          </p:sp>
        </mc:Fallback>
      </mc:AlternateContent>
      <p:pic>
        <p:nvPicPr>
          <p:cNvPr id="5" name="图片 4"/>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2681262" y="4941168"/>
            <a:ext cx="3809524" cy="1460318"/>
          </a:xfrm>
          <a:prstGeom prst="rect">
            <a:avLst/>
          </a:prstGeom>
        </p:spPr>
      </p:pic>
    </p:spTree>
    <p:extLst>
      <p:ext uri="{BB962C8B-B14F-4D97-AF65-F5344CB8AC3E}">
        <p14:creationId xmlns:p14="http://schemas.microsoft.com/office/powerpoint/2010/main" xmlns="" val="250495810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三角形的面积</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smtClean="0"/>
                  <a:t>利用二维叉积即得 </a:t>
                </a:r>
                <a14:m>
                  <m:oMath xmlns:m="http://schemas.openxmlformats.org/officeDocument/2006/math">
                    <m:r>
                      <m:rPr>
                        <m:sty m:val="p"/>
                      </m:rPr>
                      <a:rPr lang="en-US" altLang="zh-CN" b="0" i="0" smtClean="0">
                        <a:latin typeface="Cambria Math"/>
                      </a:rPr>
                      <m:t>S</m:t>
                    </m:r>
                    <m:d>
                      <m:dPr>
                        <m:ctrlPr>
                          <a:rPr lang="en-US" altLang="zh-CN" b="0" i="1" smtClean="0">
                            <a:latin typeface="Cambria Math"/>
                          </a:rPr>
                        </m:ctrlPr>
                      </m:dPr>
                      <m:e>
                        <m:r>
                          <m:rPr>
                            <m:sty m:val="p"/>
                          </m:rPr>
                          <a:rPr lang="en-US" altLang="zh-CN" b="0" i="0" smtClean="0">
                            <a:latin typeface="Cambria Math"/>
                          </a:rPr>
                          <m:t>Δ</m:t>
                        </m:r>
                        <m:r>
                          <a:rPr lang="en-US" altLang="zh-CN" b="0" i="1" smtClean="0">
                            <a:latin typeface="Cambria Math"/>
                          </a:rPr>
                          <m:t>𝐴𝐵𝐶</m:t>
                        </m:r>
                      </m:e>
                    </m:d>
                    <m:r>
                      <a:rPr lang="en-US" altLang="zh-CN" b="0" i="1" smtClean="0">
                        <a:latin typeface="Cambria Math"/>
                      </a:rPr>
                      <m:t>=</m:t>
                    </m:r>
                    <m:f>
                      <m:fPr>
                        <m:ctrlPr>
                          <a:rPr lang="en-US" altLang="zh-CN" b="0" i="1" smtClean="0">
                            <a:latin typeface="Cambria Math"/>
                          </a:rPr>
                        </m:ctrlPr>
                      </m:fPr>
                      <m:num>
                        <m:d>
                          <m:dPr>
                            <m:begChr m:val="|"/>
                            <m:endChr m:val="|"/>
                            <m:ctrlPr>
                              <a:rPr lang="en-US" altLang="zh-CN" i="1">
                                <a:latin typeface="Cambria Math"/>
                              </a:rPr>
                            </m:ctrlPr>
                          </m:dPr>
                          <m:e>
                            <m:acc>
                              <m:accPr>
                                <m:chr m:val="⃑"/>
                                <m:ctrlPr>
                                  <a:rPr lang="en-US" altLang="zh-CN" i="1">
                                    <a:latin typeface="Cambria Math"/>
                                  </a:rPr>
                                </m:ctrlPr>
                              </m:accPr>
                              <m:e>
                                <m:r>
                                  <a:rPr lang="en-US" altLang="zh-CN" i="1">
                                    <a:latin typeface="Cambria Math"/>
                                  </a:rPr>
                                  <m:t>𝐴𝐵</m:t>
                                </m:r>
                              </m:e>
                            </m:acc>
                            <m:r>
                              <a:rPr lang="en-US" altLang="zh-CN" i="1">
                                <a:latin typeface="Cambria Math"/>
                              </a:rPr>
                              <m:t>×</m:t>
                            </m:r>
                            <m:acc>
                              <m:accPr>
                                <m:chr m:val="⃑"/>
                                <m:ctrlPr>
                                  <a:rPr lang="en-US" altLang="zh-CN" i="1">
                                    <a:latin typeface="Cambria Math"/>
                                  </a:rPr>
                                </m:ctrlPr>
                              </m:accPr>
                              <m:e>
                                <m:r>
                                  <a:rPr lang="en-US" altLang="zh-CN" i="1">
                                    <a:latin typeface="Cambria Math"/>
                                  </a:rPr>
                                  <m:t>𝐴𝐶</m:t>
                                </m:r>
                              </m:e>
                            </m:acc>
                          </m:e>
                        </m:d>
                      </m:num>
                      <m:den>
                        <m:r>
                          <a:rPr lang="en-US" altLang="zh-CN" b="0" i="1" smtClean="0">
                            <a:latin typeface="Cambria Math"/>
                          </a:rPr>
                          <m:t>2</m:t>
                        </m:r>
                      </m:den>
                    </m:f>
                    <m:r>
                      <a:rPr lang="zh-CN" altLang="en-US" b="0" i="1" smtClean="0">
                        <a:latin typeface="Cambria Math"/>
                      </a:rPr>
                      <m:t>。</m:t>
                    </m:r>
                  </m:oMath>
                </a14:m>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60152314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两直线交点</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smtClean="0">
                    <a:latin typeface="Cambria Math"/>
                  </a:rPr>
                  <a:t>先排除平行或重合的情况。</a:t>
                </a:r>
                <a:endParaRPr lang="en-US" altLang="zh-CN" smtClean="0">
                  <a:latin typeface="Cambria Math"/>
                </a:endParaRPr>
              </a:p>
              <a:p>
                <a14:m>
                  <m:oMath xmlns:m="http://schemas.openxmlformats.org/officeDocument/2006/math">
                    <m:f>
                      <m:fPr>
                        <m:ctrlPr>
                          <a:rPr lang="en-US" altLang="zh-CN" i="1" smtClean="0">
                            <a:latin typeface="Cambria Math"/>
                          </a:rPr>
                        </m:ctrlPr>
                      </m:fPr>
                      <m:num>
                        <m:d>
                          <m:dPr>
                            <m:begChr m:val="|"/>
                            <m:endChr m:val="|"/>
                            <m:ctrlPr>
                              <a:rPr lang="en-US" altLang="zh-CN" i="1" smtClean="0">
                                <a:latin typeface="Cambria Math"/>
                              </a:rPr>
                            </m:ctrlPr>
                          </m:dPr>
                          <m:e>
                            <m:acc>
                              <m:accPr>
                                <m:chr m:val="̅"/>
                                <m:ctrlPr>
                                  <a:rPr lang="en-US" altLang="zh-CN" i="1" smtClean="0">
                                    <a:latin typeface="Cambria Math"/>
                                  </a:rPr>
                                </m:ctrlPr>
                              </m:accPr>
                              <m:e>
                                <m:r>
                                  <a:rPr lang="en-US" altLang="zh-CN" b="0" i="1" smtClean="0">
                                    <a:latin typeface="Cambria Math"/>
                                  </a:rPr>
                                  <m:t>𝐴𝑂</m:t>
                                </m:r>
                              </m:e>
                            </m:acc>
                          </m:e>
                        </m:d>
                      </m:num>
                      <m:den>
                        <m:d>
                          <m:dPr>
                            <m:begChr m:val="|"/>
                            <m:endChr m:val="|"/>
                            <m:ctrlPr>
                              <a:rPr lang="en-US" altLang="zh-CN" i="1" smtClean="0">
                                <a:latin typeface="Cambria Math"/>
                              </a:rPr>
                            </m:ctrlPr>
                          </m:dPr>
                          <m:e>
                            <m:acc>
                              <m:accPr>
                                <m:chr m:val="̅"/>
                                <m:ctrlPr>
                                  <a:rPr lang="en-US" altLang="zh-CN" i="1" smtClean="0">
                                    <a:latin typeface="Cambria Math"/>
                                  </a:rPr>
                                </m:ctrlPr>
                              </m:accPr>
                              <m:e>
                                <m:r>
                                  <a:rPr lang="en-US" altLang="zh-CN" b="0" i="1" smtClean="0">
                                    <a:latin typeface="Cambria Math"/>
                                  </a:rPr>
                                  <m:t>𝑂𝐵</m:t>
                                </m:r>
                              </m:e>
                            </m:acc>
                          </m:e>
                        </m:d>
                      </m:den>
                    </m:f>
                    <m:r>
                      <a:rPr lang="en-US" altLang="zh-CN" b="0" i="1" smtClean="0">
                        <a:latin typeface="Cambria Math"/>
                      </a:rPr>
                      <m:t>=</m:t>
                    </m:r>
                    <m:f>
                      <m:fPr>
                        <m:ctrlPr>
                          <a:rPr lang="en-US" altLang="zh-CN" b="0" i="1" smtClean="0">
                            <a:latin typeface="Cambria Math"/>
                          </a:rPr>
                        </m:ctrlPr>
                      </m:fPr>
                      <m:num>
                        <m:r>
                          <m:rPr>
                            <m:sty m:val="p"/>
                          </m:rPr>
                          <a:rPr lang="en-US" altLang="zh-CN" b="0" i="0" smtClean="0">
                            <a:latin typeface="Cambria Math"/>
                          </a:rPr>
                          <m:t>S</m:t>
                        </m:r>
                        <m:r>
                          <a:rPr lang="en-US" altLang="zh-CN" b="0" i="1" smtClean="0">
                            <a:latin typeface="Cambria Math"/>
                          </a:rPr>
                          <m:t>(</m:t>
                        </m:r>
                        <m:r>
                          <m:rPr>
                            <m:sty m:val="p"/>
                          </m:rPr>
                          <a:rPr lang="en-US" altLang="zh-CN" b="0" i="0" smtClean="0">
                            <a:latin typeface="Cambria Math"/>
                          </a:rPr>
                          <m:t>Δ</m:t>
                        </m:r>
                        <m:r>
                          <a:rPr lang="en-US" altLang="zh-CN" b="0" i="1" smtClean="0">
                            <a:latin typeface="Cambria Math"/>
                          </a:rPr>
                          <m:t>𝐴𝐷𝐶</m:t>
                        </m:r>
                        <m:r>
                          <a:rPr lang="en-US" altLang="zh-CN" b="0" i="1" smtClean="0">
                            <a:latin typeface="Cambria Math"/>
                          </a:rPr>
                          <m:t>)</m:t>
                        </m:r>
                      </m:num>
                      <m:den>
                        <m:r>
                          <m:rPr>
                            <m:sty m:val="p"/>
                          </m:rPr>
                          <a:rPr lang="en-US" altLang="zh-CN" b="0" i="0" smtClean="0">
                            <a:latin typeface="Cambria Math"/>
                          </a:rPr>
                          <m:t>S</m:t>
                        </m:r>
                        <m:r>
                          <a:rPr lang="en-US" altLang="zh-CN" b="0" i="1" smtClean="0">
                            <a:latin typeface="Cambria Math"/>
                          </a:rPr>
                          <m:t>(</m:t>
                        </m:r>
                        <m:r>
                          <m:rPr>
                            <m:sty m:val="p"/>
                          </m:rPr>
                          <a:rPr lang="en-US" altLang="zh-CN" b="0" i="0" smtClean="0">
                            <a:latin typeface="Cambria Math"/>
                          </a:rPr>
                          <m:t>Δ</m:t>
                        </m:r>
                        <m:r>
                          <a:rPr lang="en-US" altLang="zh-CN" b="0" i="1" smtClean="0">
                            <a:latin typeface="Cambria Math"/>
                          </a:rPr>
                          <m:t>𝐵𝐶𝐷</m:t>
                        </m:r>
                        <m:r>
                          <a:rPr lang="en-US" altLang="zh-CN" b="0" i="1" smtClean="0">
                            <a:latin typeface="Cambria Math"/>
                          </a:rPr>
                          <m:t>)</m:t>
                        </m:r>
                      </m:den>
                    </m:f>
                    <m:r>
                      <a:rPr lang="en-US" altLang="zh-CN" b="0" i="1" smtClean="0">
                        <a:latin typeface="Cambria Math"/>
                      </a:rPr>
                      <m:t>=</m:t>
                    </m:r>
                    <m:f>
                      <m:fPr>
                        <m:ctrlPr>
                          <a:rPr lang="en-US" altLang="zh-CN" b="0" i="1" smtClean="0">
                            <a:latin typeface="Cambria Math"/>
                          </a:rPr>
                        </m:ctrlPr>
                      </m:fPr>
                      <m:num>
                        <m:acc>
                          <m:accPr>
                            <m:chr m:val="⃑"/>
                            <m:ctrlPr>
                              <a:rPr lang="en-US" altLang="zh-CN" b="0" i="1" smtClean="0">
                                <a:latin typeface="Cambria Math"/>
                              </a:rPr>
                            </m:ctrlPr>
                          </m:accPr>
                          <m:e>
                            <m:r>
                              <a:rPr lang="en-US" altLang="zh-CN" b="0" i="1" smtClean="0">
                                <a:latin typeface="Cambria Math"/>
                              </a:rPr>
                              <m:t>𝐴𝐷</m:t>
                            </m:r>
                          </m:e>
                        </m:acc>
                        <m:r>
                          <a:rPr lang="en-US" altLang="zh-CN" b="0" i="1" smtClean="0">
                            <a:latin typeface="Cambria Math"/>
                          </a:rPr>
                          <m:t>×</m:t>
                        </m:r>
                        <m:acc>
                          <m:accPr>
                            <m:chr m:val="⃑"/>
                            <m:ctrlPr>
                              <a:rPr lang="en-US" altLang="zh-CN" b="0" i="1" smtClean="0">
                                <a:latin typeface="Cambria Math"/>
                              </a:rPr>
                            </m:ctrlPr>
                          </m:accPr>
                          <m:e>
                            <m:r>
                              <a:rPr lang="en-US" altLang="zh-CN" b="0" i="1" smtClean="0">
                                <a:latin typeface="Cambria Math"/>
                              </a:rPr>
                              <m:t>𝐴𝐶</m:t>
                            </m:r>
                          </m:e>
                        </m:acc>
                      </m:num>
                      <m:den>
                        <m:acc>
                          <m:accPr>
                            <m:chr m:val="⃑"/>
                            <m:ctrlPr>
                              <a:rPr lang="en-US" altLang="zh-CN" b="0" i="1" smtClean="0">
                                <a:latin typeface="Cambria Math"/>
                              </a:rPr>
                            </m:ctrlPr>
                          </m:accPr>
                          <m:e>
                            <m:r>
                              <a:rPr lang="en-US" altLang="zh-CN" b="0" i="1" smtClean="0">
                                <a:latin typeface="Cambria Math"/>
                              </a:rPr>
                              <m:t>𝐵𝐶</m:t>
                            </m:r>
                          </m:e>
                        </m:acc>
                        <m:r>
                          <a:rPr lang="en-US" altLang="zh-CN" b="0" i="1" smtClean="0">
                            <a:latin typeface="Cambria Math"/>
                          </a:rPr>
                          <m:t>×</m:t>
                        </m:r>
                        <m:acc>
                          <m:accPr>
                            <m:chr m:val="⃑"/>
                            <m:ctrlPr>
                              <a:rPr lang="en-US" altLang="zh-CN" b="0" i="1" smtClean="0">
                                <a:latin typeface="Cambria Math"/>
                              </a:rPr>
                            </m:ctrlPr>
                          </m:accPr>
                          <m:e>
                            <m:r>
                              <a:rPr lang="en-US" altLang="zh-CN" b="0" i="1" smtClean="0">
                                <a:latin typeface="Cambria Math"/>
                              </a:rPr>
                              <m:t>𝐵𝐷</m:t>
                            </m:r>
                          </m:e>
                        </m:acc>
                      </m:den>
                    </m:f>
                  </m:oMath>
                </a14:m>
                <a:r>
                  <a:rPr lang="en-US" altLang="zh-CN" smtClean="0"/>
                  <a:t>.</a:t>
                </a:r>
              </a:p>
              <a:p>
                <a:r>
                  <a:rPr lang="zh-CN" altLang="en-US" smtClean="0"/>
                  <a:t>计算分点即可得到点 </a:t>
                </a:r>
                <a:r>
                  <a:rPr lang="en-US" altLang="zh-CN" i="1" smtClean="0">
                    <a:latin typeface="Times New Roman" pitchFamily="18" charset="0"/>
                    <a:cs typeface="Times New Roman" pitchFamily="18" charset="0"/>
                  </a:rPr>
                  <a:t>O</a:t>
                </a:r>
                <a:r>
                  <a:rPr lang="en-US" altLang="zh-CN" smtClean="0"/>
                  <a:t>.</a:t>
                </a:r>
              </a:p>
              <a:p>
                <a:r>
                  <a:rPr lang="zh-CN" altLang="en-US" smtClean="0"/>
                  <a:t>注意上式中 </a:t>
                </a:r>
                <a:r>
                  <a:rPr lang="en-US" altLang="zh-CN" i="1" smtClean="0">
                    <a:latin typeface="Times New Roman" pitchFamily="18" charset="0"/>
                    <a:cs typeface="Times New Roman" pitchFamily="18" charset="0"/>
                  </a:rPr>
                  <a:t>A</a:t>
                </a:r>
                <a:r>
                  <a:rPr lang="en-US" altLang="zh-CN" smtClean="0"/>
                  <a:t/>
                </a:r>
                <a:r>
                  <a:rPr lang="zh-CN" altLang="en-US" smtClean="0"/>
                  <a:t>和 </a:t>
                </a:r>
                <a:r>
                  <a:rPr lang="en-US" altLang="zh-CN" i="1" smtClean="0">
                    <a:latin typeface="Times New Roman" pitchFamily="18" charset="0"/>
                    <a:cs typeface="Times New Roman" pitchFamily="18" charset="0"/>
                  </a:rPr>
                  <a:t>B</a:t>
                </a:r>
                <a:r>
                  <a:rPr lang="en-US" altLang="zh-CN" smtClean="0"/>
                  <a:t/>
                </a:r>
                <a:r>
                  <a:rPr lang="zh-CN" altLang="en-US" smtClean="0"/>
                  <a:t>叉积顺序相反。</a:t>
                </a:r>
                <a:endParaRPr lang="en-US" altLang="zh-CN" smtClean="0"/>
              </a:p>
              <a:p>
                <a:r>
                  <a:rPr lang="zh-CN" altLang="en-US" smtClean="0"/>
                  <a:t>按照有向面积，此方法在交点不在线段 </a:t>
                </a:r>
                <a:r>
                  <a:rPr lang="en-US" altLang="zh-CN" i="1" smtClean="0">
                    <a:latin typeface="Times New Roman" pitchFamily="18" charset="0"/>
                    <a:cs typeface="Times New Roman" pitchFamily="18" charset="0"/>
                  </a:rPr>
                  <a:t>AB</a:t>
                </a:r>
                <a:r>
                  <a:rPr lang="en-US" altLang="zh-CN" smtClean="0"/>
                  <a:t/>
                </a:r>
                <a:r>
                  <a:rPr lang="zh-CN" altLang="en-US" smtClean="0"/>
                  <a:t>上，甚至也不在线段 </a:t>
                </a:r>
                <a:r>
                  <a:rPr lang="en-US" altLang="zh-CN" i="1" smtClean="0">
                    <a:latin typeface="Times New Roman" pitchFamily="18" charset="0"/>
                    <a:cs typeface="Times New Roman" pitchFamily="18" charset="0"/>
                  </a:rPr>
                  <a:t>CD</a:t>
                </a:r>
                <a:r>
                  <a:rPr lang="en-US" altLang="zh-CN" smtClean="0"/>
                  <a:t/>
                </a:r>
                <a:r>
                  <a:rPr lang="zh-CN" altLang="en-US" smtClean="0"/>
                  <a:t>上时亦成立。</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3"/>
                <a:stretch>
                  <a:fillRect l="-471" t="-400"/>
                </a:stretch>
              </a:blipFill>
            </p:spPr>
            <p:txBody>
              <a:bodyPr/>
              <a:lstStyle/>
              <a:p>
                <a:r>
                  <a:rPr lang="zh-CN" altLang="en-US">
                    <a:noFill/>
                  </a:rPr>
                  <a:t> </a:t>
                </a:r>
              </a:p>
            </p:txBody>
          </p:sp>
        </mc:Fallback>
      </mc:AlternateContent>
      <p:pic>
        <p:nvPicPr>
          <p:cNvPr id="5" name="图片 4"/>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5696372" y="764704"/>
            <a:ext cx="3339683" cy="3241094"/>
          </a:xfrm>
          <a:prstGeom prst="rect">
            <a:avLst/>
          </a:prstGeom>
        </p:spPr>
      </p:pic>
    </p:spTree>
    <p:extLst>
      <p:ext uri="{BB962C8B-B14F-4D97-AF65-F5344CB8AC3E}">
        <p14:creationId xmlns:p14="http://schemas.microsoft.com/office/powerpoint/2010/main" xmlns="" val="222404878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两线段交点</a:t>
            </a:r>
            <a:endParaRPr lang="zh-CN" altLang="en-US"/>
          </a:p>
        </p:txBody>
      </p:sp>
      <p:sp>
        <p:nvSpPr>
          <p:cNvPr id="3" name="内容占位符 2"/>
          <p:cNvSpPr>
            <a:spLocks noGrp="1"/>
          </p:cNvSpPr>
          <p:nvPr>
            <p:ph idx="1"/>
          </p:nvPr>
        </p:nvSpPr>
        <p:spPr/>
        <p:txBody>
          <a:bodyPr/>
          <a:lstStyle/>
          <a:p>
            <a:r>
              <a:rPr lang="zh-CN" altLang="en-US" smtClean="0"/>
              <a:t>求出直线的交点，然后其判断是否在两条线段上即可。</a:t>
            </a:r>
            <a:endParaRPr lang="en-US" altLang="zh-CN" smtClean="0"/>
          </a:p>
          <a:p>
            <a:r>
              <a:rPr lang="zh-CN" altLang="en-US" smtClean="0"/>
              <a:t>若判断两线段是否相交，则要注意平行不一定不相交，两条线段可能有重合部分或重合点。</a:t>
            </a:r>
            <a:endParaRPr lang="en-US" altLang="zh-CN" smtClean="0"/>
          </a:p>
        </p:txBody>
      </p:sp>
    </p:spTree>
    <p:extLst>
      <p:ext uri="{BB962C8B-B14F-4D97-AF65-F5344CB8AC3E}">
        <p14:creationId xmlns:p14="http://schemas.microsoft.com/office/powerpoint/2010/main" xmlns="" val="264044515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三角形的重心</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smtClean="0"/>
                  <a:t>众所周知，三角形的重心 </a:t>
                </a:r>
                <a:r>
                  <a:rPr lang="en-US" altLang="zh-CN" i="1" smtClean="0">
                    <a:latin typeface="Times New Roman" pitchFamily="18" charset="0"/>
                    <a:cs typeface="Times New Roman" pitchFamily="18" charset="0"/>
                  </a:rPr>
                  <a:t>G</a:t>
                </a:r>
                <a:r>
                  <a:rPr lang="en-US" altLang="zh-CN" smtClean="0"/>
                  <a:t/>
                </a:r>
                <a:r>
                  <a:rPr lang="zh-CN" altLang="en-US" smtClean="0"/>
                  <a:t>是三条中线的交点，即 </a:t>
                </a:r>
                <a:r>
                  <a:rPr lang="en-US" altLang="zh-CN" i="1" smtClean="0">
                    <a:latin typeface="Times New Roman" pitchFamily="18" charset="0"/>
                    <a:cs typeface="Times New Roman" pitchFamily="18" charset="0"/>
                  </a:rPr>
                  <a:t>AM</a:t>
                </a:r>
                <a:r>
                  <a:rPr lang="en-US" altLang="zh-CN" smtClean="0"/>
                  <a:t/>
                </a:r>
                <a:r>
                  <a:rPr lang="zh-CN" altLang="en-US" smtClean="0"/>
                  <a:t>与 </a:t>
                </a:r>
                <a:r>
                  <a:rPr lang="en-US" altLang="zh-CN" i="1" smtClean="0">
                    <a:latin typeface="Times New Roman" pitchFamily="18" charset="0"/>
                    <a:cs typeface="Times New Roman" pitchFamily="18" charset="0"/>
                  </a:rPr>
                  <a:t>BN</a:t>
                </a:r>
                <a:r>
                  <a:rPr lang="en-US" altLang="zh-CN" smtClean="0"/>
                  <a:t/>
                </a:r>
                <a:r>
                  <a:rPr lang="zh-CN" altLang="en-US" smtClean="0"/>
                  <a:t>的交点。</a:t>
                </a:r>
                <a:endParaRPr lang="en-US" altLang="zh-CN" smtClean="0"/>
              </a:p>
              <a:p>
                <a:r>
                  <a:rPr lang="zh-CN" altLang="en-US" smtClean="0"/>
                  <a:t>而 </a:t>
                </a:r>
                <a14:m>
                  <m:oMath xmlns:m="http://schemas.openxmlformats.org/officeDocument/2006/math">
                    <m:r>
                      <a:rPr lang="en-US" altLang="zh-CN" b="0" i="1" smtClean="0">
                        <a:latin typeface="Cambria Math"/>
                      </a:rPr>
                      <m:t>𝑀</m:t>
                    </m:r>
                    <m:r>
                      <a:rPr lang="en-US" altLang="zh-CN" b="0" i="1" smtClean="0">
                        <a:latin typeface="Cambria Math"/>
                      </a:rPr>
                      <m:t>=</m:t>
                    </m:r>
                    <m:f>
                      <m:fPr>
                        <m:ctrlPr>
                          <a:rPr lang="en-US" altLang="zh-CN" b="0" i="1" smtClean="0">
                            <a:latin typeface="Cambria Math"/>
                          </a:rPr>
                        </m:ctrlPr>
                      </m:fPr>
                      <m:num>
                        <m:r>
                          <a:rPr lang="en-US" altLang="zh-CN" b="0" i="1" smtClean="0">
                            <a:latin typeface="Cambria Math"/>
                          </a:rPr>
                          <m:t>𝐵</m:t>
                        </m:r>
                        <m:r>
                          <a:rPr lang="en-US" altLang="zh-CN" b="0" i="1" smtClean="0">
                            <a:latin typeface="Cambria Math"/>
                          </a:rPr>
                          <m:t>+</m:t>
                        </m:r>
                        <m:r>
                          <a:rPr lang="en-US" altLang="zh-CN" b="0" i="1" smtClean="0">
                            <a:latin typeface="Cambria Math"/>
                          </a:rPr>
                          <m:t>𝐶</m:t>
                        </m:r>
                      </m:num>
                      <m:den>
                        <m:r>
                          <a:rPr lang="en-US" altLang="zh-CN" b="0" i="1" smtClean="0">
                            <a:latin typeface="Cambria Math"/>
                          </a:rPr>
                          <m:t>2</m:t>
                        </m:r>
                      </m:den>
                    </m:f>
                  </m:oMath>
                </a14:m>
                <a:r>
                  <a:rPr lang="zh-CN" altLang="en-US" smtClean="0"/>
                  <a:t>，</a:t>
                </a:r>
                <a14:m>
                  <m:oMath xmlns:m="http://schemas.openxmlformats.org/officeDocument/2006/math">
                    <m:f>
                      <m:fPr>
                        <m:ctrlPr>
                          <a:rPr lang="en-US" altLang="zh-CN" i="1" smtClean="0">
                            <a:latin typeface="Cambria Math"/>
                          </a:rPr>
                        </m:ctrlPr>
                      </m:fPr>
                      <m:num>
                        <m:d>
                          <m:dPr>
                            <m:begChr m:val="|"/>
                            <m:endChr m:val="|"/>
                            <m:ctrlPr>
                              <a:rPr lang="en-US" altLang="zh-CN" i="1" smtClean="0">
                                <a:latin typeface="Cambria Math"/>
                              </a:rPr>
                            </m:ctrlPr>
                          </m:dPr>
                          <m:e>
                            <m:acc>
                              <m:accPr>
                                <m:chr m:val="̅"/>
                                <m:ctrlPr>
                                  <a:rPr lang="en-US" altLang="zh-CN" i="1" smtClean="0">
                                    <a:latin typeface="Cambria Math"/>
                                  </a:rPr>
                                </m:ctrlPr>
                              </m:accPr>
                              <m:e>
                                <m:r>
                                  <a:rPr lang="en-US" altLang="zh-CN" b="0" i="1" smtClean="0">
                                    <a:latin typeface="Cambria Math"/>
                                  </a:rPr>
                                  <m:t>𝐴𝐺</m:t>
                                </m:r>
                              </m:e>
                            </m:acc>
                          </m:e>
                        </m:d>
                      </m:num>
                      <m:den>
                        <m:d>
                          <m:dPr>
                            <m:begChr m:val="|"/>
                            <m:endChr m:val="|"/>
                            <m:ctrlPr>
                              <a:rPr lang="en-US" altLang="zh-CN" i="1" smtClean="0">
                                <a:latin typeface="Cambria Math"/>
                              </a:rPr>
                            </m:ctrlPr>
                          </m:dPr>
                          <m:e>
                            <m:acc>
                              <m:accPr>
                                <m:chr m:val="̅"/>
                                <m:ctrlPr>
                                  <a:rPr lang="en-US" altLang="zh-CN" i="1" smtClean="0">
                                    <a:latin typeface="Cambria Math"/>
                                  </a:rPr>
                                </m:ctrlPr>
                              </m:accPr>
                              <m:e>
                                <m:r>
                                  <a:rPr lang="en-US" altLang="zh-CN" b="0" i="1" smtClean="0">
                                    <a:latin typeface="Cambria Math"/>
                                  </a:rPr>
                                  <m:t>𝐺𝑀</m:t>
                                </m:r>
                              </m:e>
                            </m:acc>
                          </m:e>
                        </m:d>
                      </m:den>
                    </m:f>
                    <m:r>
                      <a:rPr lang="en-US" altLang="zh-CN" b="0" i="1" smtClean="0">
                        <a:latin typeface="Cambria Math"/>
                      </a:rPr>
                      <m:t>=2</m:t>
                    </m:r>
                  </m:oMath>
                </a14:m>
                <a:r>
                  <a:rPr lang="zh-CN" altLang="en-US" smtClean="0"/>
                  <a:t>。</a:t>
                </a:r>
                <a:endParaRPr lang="en-US" altLang="zh-CN" smtClean="0"/>
              </a:p>
              <a:p>
                <a:r>
                  <a:rPr lang="zh-CN" altLang="en-US" smtClean="0"/>
                  <a:t>故 </a:t>
                </a:r>
                <a14:m>
                  <m:oMath xmlns:m="http://schemas.openxmlformats.org/officeDocument/2006/math">
                    <m:r>
                      <a:rPr lang="en-US" altLang="zh-CN" b="0" i="1" smtClean="0">
                        <a:latin typeface="Cambria Math"/>
                      </a:rPr>
                      <m:t>𝐺</m:t>
                    </m:r>
                    <m:r>
                      <a:rPr lang="en-US" altLang="zh-CN" b="0" i="1" smtClean="0">
                        <a:latin typeface="Cambria Math"/>
                      </a:rPr>
                      <m:t>=</m:t>
                    </m:r>
                    <m:f>
                      <m:fPr>
                        <m:ctrlPr>
                          <a:rPr lang="en-US" altLang="zh-CN" b="0" i="1" smtClean="0">
                            <a:latin typeface="Cambria Math"/>
                          </a:rPr>
                        </m:ctrlPr>
                      </m:fPr>
                      <m:num>
                        <m:r>
                          <a:rPr lang="en-US" altLang="zh-CN" b="0" i="1" smtClean="0">
                            <a:latin typeface="Cambria Math"/>
                          </a:rPr>
                          <m:t>2</m:t>
                        </m:r>
                        <m:r>
                          <a:rPr lang="en-US" altLang="zh-CN" b="0" i="1" smtClean="0">
                            <a:latin typeface="Cambria Math"/>
                          </a:rPr>
                          <m:t>𝑀</m:t>
                        </m:r>
                        <m:r>
                          <a:rPr lang="en-US" altLang="zh-CN" b="0" i="1" smtClean="0">
                            <a:latin typeface="Cambria Math"/>
                          </a:rPr>
                          <m:t>+</m:t>
                        </m:r>
                        <m:r>
                          <a:rPr lang="en-US" altLang="zh-CN" b="0" i="1" smtClean="0">
                            <a:latin typeface="Cambria Math"/>
                          </a:rPr>
                          <m:t>𝐴</m:t>
                        </m:r>
                      </m:num>
                      <m:den>
                        <m:r>
                          <a:rPr lang="en-US" altLang="zh-CN" b="0" i="1" smtClean="0">
                            <a:latin typeface="Cambria Math"/>
                          </a:rPr>
                          <m:t>3</m:t>
                        </m:r>
                      </m:den>
                    </m:f>
                    <m:r>
                      <a:rPr lang="en-US" altLang="zh-CN" b="0" i="1" smtClean="0">
                        <a:latin typeface="Cambria Math"/>
                      </a:rPr>
                      <m:t>=</m:t>
                    </m:r>
                    <m:f>
                      <m:fPr>
                        <m:ctrlPr>
                          <a:rPr lang="en-US" altLang="zh-CN" b="0" i="1" smtClean="0">
                            <a:latin typeface="Cambria Math"/>
                          </a:rPr>
                        </m:ctrlPr>
                      </m:fPr>
                      <m:num>
                        <m:r>
                          <a:rPr lang="en-US" altLang="zh-CN" b="0" i="1" smtClean="0">
                            <a:latin typeface="Cambria Math"/>
                          </a:rPr>
                          <m:t>𝐴</m:t>
                        </m:r>
                        <m:r>
                          <a:rPr lang="en-US" altLang="zh-CN" b="0" i="1" smtClean="0">
                            <a:latin typeface="Cambria Math"/>
                          </a:rPr>
                          <m:t>+</m:t>
                        </m:r>
                        <m:r>
                          <a:rPr lang="en-US" altLang="zh-CN" b="0" i="1" smtClean="0">
                            <a:latin typeface="Cambria Math"/>
                          </a:rPr>
                          <m:t>𝐵</m:t>
                        </m:r>
                        <m:r>
                          <a:rPr lang="en-US" altLang="zh-CN" b="0" i="1" smtClean="0">
                            <a:latin typeface="Cambria Math"/>
                          </a:rPr>
                          <m:t>+</m:t>
                        </m:r>
                        <m:r>
                          <a:rPr lang="en-US" altLang="zh-CN" b="0" i="1" smtClean="0">
                            <a:latin typeface="Cambria Math"/>
                          </a:rPr>
                          <m:t>𝐶</m:t>
                        </m:r>
                      </m:num>
                      <m:den>
                        <m:r>
                          <a:rPr lang="en-US" altLang="zh-CN" b="0" i="1" smtClean="0">
                            <a:latin typeface="Cambria Math"/>
                          </a:rPr>
                          <m:t>3</m:t>
                        </m:r>
                      </m:den>
                    </m:f>
                  </m:oMath>
                </a14:m>
                <a:r>
                  <a:rPr lang="zh-CN" altLang="en-US" smtClean="0"/>
                  <a:t>。</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667"/>
                </a:stretch>
              </a:blipFill>
            </p:spPr>
            <p:txBody>
              <a:bodyPr/>
              <a:lstStyle/>
              <a:p>
                <a:r>
                  <a:rPr lang="zh-CN" altLang="en-US">
                    <a:noFill/>
                  </a:rPr>
                  <a:t> </a:t>
                </a:r>
              </a:p>
            </p:txBody>
          </p:sp>
        </mc:Fallback>
      </mc:AlternateContent>
      <p:pic>
        <p:nvPicPr>
          <p:cNvPr id="4" name="图片 3"/>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4716016" y="3284984"/>
            <a:ext cx="4165080" cy="3403175"/>
          </a:xfrm>
          <a:prstGeom prst="rect">
            <a:avLst/>
          </a:prstGeom>
        </p:spPr>
      </p:pic>
    </p:spTree>
    <p:extLst>
      <p:ext uri="{BB962C8B-B14F-4D97-AF65-F5344CB8AC3E}">
        <p14:creationId xmlns:p14="http://schemas.microsoft.com/office/powerpoint/2010/main" xmlns="" val="3099127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多边形</a:t>
            </a:r>
            <a:endParaRPr lang="zh-CN" altLang="en-US"/>
          </a:p>
        </p:txBody>
      </p:sp>
      <p:sp>
        <p:nvSpPr>
          <p:cNvPr id="3" name="内容占位符 2"/>
          <p:cNvSpPr>
            <a:spLocks noGrp="1"/>
          </p:cNvSpPr>
          <p:nvPr>
            <p:ph idx="1"/>
          </p:nvPr>
        </p:nvSpPr>
        <p:spPr/>
        <p:txBody>
          <a:bodyPr/>
          <a:lstStyle/>
          <a:p>
            <a:r>
              <a:rPr lang="zh-CN" altLang="en-US"/>
              <a:t>多边形</a:t>
            </a:r>
            <a:r>
              <a:rPr lang="zh-CN" altLang="en-US" smtClean="0"/>
              <a:t>是平面上由</a:t>
            </a:r>
            <a:r>
              <a:rPr lang="zh-CN" altLang="en-US"/>
              <a:t>有限线段（</a:t>
            </a:r>
            <a:r>
              <a:rPr lang="zh-CN" altLang="en-US" smtClean="0"/>
              <a:t>大于 </a:t>
            </a:r>
            <a:r>
              <a:rPr lang="en-US" altLang="zh-CN" smtClean="0"/>
              <a:t>2</a:t>
            </a:r>
            <a:r>
              <a:rPr lang="zh-CN" altLang="en-US"/>
              <a:t>）组成，且首尾连接起来划出</a:t>
            </a:r>
            <a:r>
              <a:rPr lang="zh-CN" altLang="en-US" smtClean="0"/>
              <a:t>的封闭图形。</a:t>
            </a:r>
            <a:endParaRPr lang="en-US" altLang="zh-CN" smtClean="0"/>
          </a:p>
          <a:p>
            <a:r>
              <a:rPr lang="zh-CN" altLang="en-US" smtClean="0"/>
              <a:t>教程后面的多边形一般指</a:t>
            </a:r>
            <a:r>
              <a:rPr lang="zh-CN" altLang="en-US" b="1" smtClean="0">
                <a:solidFill>
                  <a:schemeClr val="accent4">
                    <a:lumMod val="60000"/>
                    <a:lumOff val="40000"/>
                  </a:schemeClr>
                </a:solidFill>
              </a:rPr>
              <a:t>简单多边形</a:t>
            </a:r>
            <a:r>
              <a:rPr lang="zh-CN" altLang="en-US" smtClean="0"/>
              <a:t>，即边不相交的多边形。</a:t>
            </a:r>
            <a:endParaRPr lang="en-US" altLang="zh-CN" smtClean="0"/>
          </a:p>
          <a:p>
            <a:r>
              <a:rPr lang="zh-CN" altLang="en-US" smtClean="0"/>
              <a:t>多边形的记录一般以</a:t>
            </a:r>
            <a:r>
              <a:rPr lang="zh-CN" altLang="en-US" b="1" smtClean="0">
                <a:solidFill>
                  <a:schemeClr val="accent4">
                    <a:lumMod val="60000"/>
                    <a:lumOff val="40000"/>
                  </a:schemeClr>
                </a:solidFill>
              </a:rPr>
              <a:t>顺次</a:t>
            </a:r>
            <a:r>
              <a:rPr lang="zh-CN" altLang="en-US" smtClean="0"/>
              <a:t>记录其顶点的方式完成，即顺次记录组成多边形的线段。方向一般为逆时针。</a:t>
            </a:r>
            <a:endParaRPr lang="zh-CN" altLang="en-US"/>
          </a:p>
        </p:txBody>
      </p:sp>
    </p:spTree>
    <p:extLst>
      <p:ext uri="{BB962C8B-B14F-4D97-AF65-F5344CB8AC3E}">
        <p14:creationId xmlns:p14="http://schemas.microsoft.com/office/powerpoint/2010/main" xmlns="" val="15634338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判断点在多边形内外</a:t>
            </a:r>
            <a:endParaRPr lang="zh-CN" altLang="en-US"/>
          </a:p>
        </p:txBody>
      </p:sp>
      <p:sp>
        <p:nvSpPr>
          <p:cNvPr id="3" name="内容占位符 2"/>
          <p:cNvSpPr>
            <a:spLocks noGrp="1"/>
          </p:cNvSpPr>
          <p:nvPr>
            <p:ph idx="1"/>
          </p:nvPr>
        </p:nvSpPr>
        <p:spPr>
          <a:xfrm>
            <a:off x="899592" y="1484784"/>
            <a:ext cx="7772400" cy="4572000"/>
          </a:xfrm>
        </p:spPr>
        <p:txBody>
          <a:bodyPr/>
          <a:lstStyle/>
          <a:p>
            <a:r>
              <a:rPr lang="zh-CN" altLang="en-US" smtClean="0"/>
              <a:t>以要判断的点为起点任作一射线，计算该射线与多边形的交点数目。</a:t>
            </a:r>
            <a:endParaRPr lang="en-US" altLang="zh-CN" smtClean="0"/>
          </a:p>
          <a:p>
            <a:r>
              <a:rPr lang="zh-CN" altLang="en-US"/>
              <a:t>若</a:t>
            </a:r>
            <a:r>
              <a:rPr lang="zh-CN" altLang="en-US" smtClean="0"/>
              <a:t>有偶数个交点则在形外，否则在形内。</a:t>
            </a:r>
            <a:endParaRPr lang="en-US" altLang="zh-CN" smtClean="0"/>
          </a:p>
          <a:p>
            <a:r>
              <a:rPr lang="zh-CN" altLang="en-US" smtClean="0"/>
              <a:t>若与线段在端点处相交或重合，则要进行复杂的判断。此时可另取一射线。</a:t>
            </a:r>
            <a:endParaRPr lang="zh-CN" altLang="en-US"/>
          </a:p>
        </p:txBody>
      </p:sp>
      <p:pic>
        <p:nvPicPr>
          <p:cNvPr id="4" name="图片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5304549" y="4293096"/>
            <a:ext cx="3619803" cy="2506714"/>
          </a:xfrm>
          <a:prstGeom prst="rect">
            <a:avLst/>
          </a:prstGeom>
        </p:spPr>
      </p:pic>
    </p:spTree>
    <p:extLst>
      <p:ext uri="{BB962C8B-B14F-4D97-AF65-F5344CB8AC3E}">
        <p14:creationId xmlns:p14="http://schemas.microsoft.com/office/powerpoint/2010/main" xmlns="" val="193825227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求多边形的面积</a:t>
            </a:r>
            <a:endParaRPr lang="zh-CN" altLang="en-US"/>
          </a:p>
        </p:txBody>
      </p:sp>
      <p:sp>
        <p:nvSpPr>
          <p:cNvPr id="3" name="内容占位符 2"/>
          <p:cNvSpPr>
            <a:spLocks noGrp="1"/>
          </p:cNvSpPr>
          <p:nvPr>
            <p:ph idx="1"/>
          </p:nvPr>
        </p:nvSpPr>
        <p:spPr/>
        <p:txBody>
          <a:bodyPr/>
          <a:lstStyle/>
          <a:p>
            <a:r>
              <a:rPr lang="zh-CN" altLang="en-US" smtClean="0"/>
              <a:t>基本的思路是进行</a:t>
            </a:r>
            <a:r>
              <a:rPr lang="zh-CN" altLang="en-US" b="1" smtClean="0">
                <a:solidFill>
                  <a:schemeClr val="accent4">
                    <a:lumMod val="60000"/>
                    <a:lumOff val="40000"/>
                  </a:schemeClr>
                </a:solidFill>
              </a:rPr>
              <a:t>三角剖分</a:t>
            </a:r>
            <a:r>
              <a:rPr lang="zh-CN" altLang="en-US" smtClean="0"/>
              <a:t>。</a:t>
            </a:r>
            <a:endParaRPr lang="zh-CN" altLang="en-US"/>
          </a:p>
        </p:txBody>
      </p:sp>
      <p:pic>
        <p:nvPicPr>
          <p:cNvPr id="4" name="图片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483768" y="2484469"/>
            <a:ext cx="4469842" cy="4012699"/>
          </a:xfrm>
          <a:prstGeom prst="rect">
            <a:avLst/>
          </a:prstGeom>
        </p:spPr>
      </p:pic>
    </p:spTree>
    <p:extLst>
      <p:ext uri="{BB962C8B-B14F-4D97-AF65-F5344CB8AC3E}">
        <p14:creationId xmlns:p14="http://schemas.microsoft.com/office/powerpoint/2010/main" xmlns="" val="183267806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求多边形的面积</a:t>
            </a:r>
            <a:endParaRPr lang="zh-CN" altLang="en-US"/>
          </a:p>
        </p:txBody>
      </p:sp>
      <p:sp>
        <p:nvSpPr>
          <p:cNvPr id="3" name="内容占位符 2"/>
          <p:cNvSpPr>
            <a:spLocks noGrp="1"/>
          </p:cNvSpPr>
          <p:nvPr>
            <p:ph idx="1"/>
          </p:nvPr>
        </p:nvSpPr>
        <p:spPr/>
        <p:txBody>
          <a:bodyPr/>
          <a:lstStyle/>
          <a:p>
            <a:r>
              <a:rPr lang="zh-CN" altLang="en-US" smtClean="0"/>
              <a:t>如果用普通面积的累加来计算的话，三角剖分就变得十分复杂。</a:t>
            </a:r>
            <a:endParaRPr lang="en-US" altLang="zh-CN" smtClean="0"/>
          </a:p>
          <a:p>
            <a:r>
              <a:rPr lang="zh-CN" altLang="en-US" smtClean="0"/>
              <a:t>但是使用有向面积的话，这个过程就变得简单自然通用。</a:t>
            </a:r>
            <a:endParaRPr lang="zh-CN" altLang="en-US"/>
          </a:p>
        </p:txBody>
      </p:sp>
    </p:spTree>
    <p:extLst>
      <p:ext uri="{BB962C8B-B14F-4D97-AF65-F5344CB8AC3E}">
        <p14:creationId xmlns:p14="http://schemas.microsoft.com/office/powerpoint/2010/main" xmlns="" val="157727883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dirty="0" smtClean="0"/>
                  <a:t>按逆时针方向顺次为各边指定方向。</a:t>
                </a:r>
                <a:endParaRPr lang="en-US" altLang="zh-CN" dirty="0" smtClean="0"/>
              </a:p>
              <a:p>
                <a:r>
                  <a:rPr lang="zh-CN" altLang="en-US" dirty="0" smtClean="0"/>
                  <a:t>对于每条边 </a:t>
                </a:r>
                <a14:m>
                  <m:oMath xmlns:m="http://schemas.openxmlformats.org/officeDocument/2006/math">
                    <m:acc>
                      <m:accPr>
                        <m:chr m:val="⃑"/>
                        <m:ctrlPr>
                          <a:rPr lang="zh-CN" altLang="en-US" i="1" smtClean="0">
                            <a:latin typeface="Cambria Math"/>
                          </a:rPr>
                        </m:ctrlPr>
                      </m:accPr>
                      <m:e>
                        <m:r>
                          <a:rPr lang="en-US" altLang="zh-CN" b="0" i="1" smtClean="0">
                            <a:latin typeface="Cambria Math"/>
                          </a:rPr>
                          <m:t>𝐴𝐵</m:t>
                        </m:r>
                      </m:e>
                    </m:acc>
                  </m:oMath>
                </a14:m>
                <a:r>
                  <a:rPr lang="zh-CN" altLang="en-US" dirty="0" smtClean="0"/>
                  <a:t>，累加 </a:t>
                </a:r>
                <a14:m>
                  <m:oMath xmlns:m="http://schemas.openxmlformats.org/officeDocument/2006/math">
                    <m:f>
                      <m:fPr>
                        <m:ctrlPr>
                          <a:rPr lang="en-US" altLang="zh-CN" i="1" smtClean="0">
                            <a:latin typeface="Cambria Math"/>
                          </a:rPr>
                        </m:ctrlPr>
                      </m:fPr>
                      <m:num>
                        <m:r>
                          <a:rPr lang="en-US" altLang="zh-CN" b="0" i="1" smtClean="0">
                            <a:latin typeface="Cambria Math"/>
                          </a:rPr>
                          <m:t>𝐴</m:t>
                        </m:r>
                        <m:r>
                          <a:rPr lang="en-US" altLang="zh-CN" b="0" i="1" smtClean="0">
                            <a:latin typeface="Cambria Math"/>
                          </a:rPr>
                          <m:t>×</m:t>
                        </m:r>
                        <m:r>
                          <a:rPr lang="en-US" altLang="zh-CN" b="0" i="1" smtClean="0">
                            <a:latin typeface="Cambria Math"/>
                          </a:rPr>
                          <m:t>𝐵</m:t>
                        </m:r>
                      </m:num>
                      <m:den>
                        <m:r>
                          <a:rPr lang="en-US" altLang="zh-CN" b="0" i="1" smtClean="0">
                            <a:latin typeface="Cambria Math"/>
                          </a:rPr>
                          <m:t>2</m:t>
                        </m:r>
                      </m:den>
                    </m:f>
                  </m:oMath>
                </a14:m>
                <a:r>
                  <a:rPr lang="zh-CN" altLang="en-US" dirty="0" smtClean="0"/>
                  <a:t> 的值。</a:t>
                </a:r>
                <a:endParaRPr lang="en-US" altLang="zh-CN" dirty="0" smtClean="0"/>
              </a:p>
              <a:p>
                <a:r>
                  <a:rPr lang="zh-CN" altLang="en-US" dirty="0" smtClean="0"/>
                  <a:t>最后得到的结果即为多边形的面积。</a:t>
                </a:r>
                <a:endParaRPr lang="en-US" altLang="zh-CN" dirty="0" smtClean="0"/>
              </a:p>
              <a:p>
                <a:r>
                  <a:rPr lang="zh-CN" altLang="en-US" dirty="0" smtClean="0"/>
                  <a:t>当然也可以累加 </a:t>
                </a:r>
                <a14:m>
                  <m:oMath xmlns:m="http://schemas.openxmlformats.org/officeDocument/2006/math">
                    <m:r>
                      <a:rPr lang="en-US" altLang="zh-CN" b="0" i="1" smtClean="0">
                        <a:latin typeface="Cambria Math"/>
                      </a:rPr>
                      <m:t>𝐴</m:t>
                    </m:r>
                    <m:r>
                      <a:rPr lang="en-US" altLang="zh-CN" b="0" i="1" smtClean="0">
                        <a:latin typeface="Cambria Math"/>
                      </a:rPr>
                      <m:t>×</m:t>
                    </m:r>
                    <m:r>
                      <a:rPr lang="en-US" altLang="zh-CN" b="0" i="1" smtClean="0">
                        <a:latin typeface="Cambria Math"/>
                      </a:rPr>
                      <m:t>𝐵</m:t>
                    </m:r>
                  </m:oMath>
                </a14:m>
                <a:r>
                  <a:rPr lang="zh-CN" altLang="en-US" dirty="0" smtClean="0"/>
                  <a:t> 的值，最后再除以 </a:t>
                </a:r>
                <a:r>
                  <a:rPr lang="en-US" altLang="zh-CN" dirty="0" smtClean="0"/>
                  <a:t>2</a:t>
                </a:r>
                <a:r>
                  <a:rPr lang="zh-CN" altLang="en-US" dirty="0" smtClean="0"/>
                  <a:t>。</a:t>
                </a: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1200" r="-3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58364294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345267" y="1784350"/>
            <a:ext cx="4910666" cy="4572000"/>
          </a:xfrm>
          <a:prstGeom prst="rect">
            <a:avLst/>
          </a:prstGeom>
          <a:ln>
            <a:noFill/>
          </a:ln>
          <a:effectLst>
            <a:reflection blurRad="12700" stA="30000" endPos="30000" dist="5000" dir="5400000" sy="-100000" algn="bl" rotWithShape="0"/>
          </a:effectLst>
          <a:scene3d>
            <a:camera prst="perspectiveContrastingLeftFacing">
              <a:rot lat="289753" lon="20703279" rev="77829"/>
            </a:camera>
            <a:lightRig rig="threePt" dir="t">
              <a:rot lat="0" lon="0" rev="2700000"/>
            </a:lightRig>
          </a:scene3d>
          <a:sp3d>
            <a:bevelT w="63500" h="50800"/>
          </a:sp3d>
        </p:spPr>
      </p:pic>
    </p:spTree>
    <p:extLst>
      <p:ext uri="{BB962C8B-B14F-4D97-AF65-F5344CB8AC3E}">
        <p14:creationId xmlns:p14="http://schemas.microsoft.com/office/powerpoint/2010/main" xmlns="" val="305980535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345267" y="1784350"/>
            <a:ext cx="4910666" cy="4571999"/>
          </a:xfrm>
          <a:prstGeom prst="rect">
            <a:avLst/>
          </a:prstGeom>
          <a:ln>
            <a:noFill/>
          </a:ln>
          <a:effectLst>
            <a:reflection blurRad="12700" stA="30000" endPos="30000" dist="5000" dir="5400000" sy="-100000" algn="bl" rotWithShape="0"/>
          </a:effectLst>
          <a:scene3d>
            <a:camera prst="perspectiveContrastingLeftFacing">
              <a:rot lat="289753" lon="20703279" rev="77829"/>
            </a:camera>
            <a:lightRig rig="threePt" dir="t">
              <a:rot lat="0" lon="0" rev="2700000"/>
            </a:lightRig>
          </a:scene3d>
          <a:sp3d>
            <a:bevelT w="63500" h="50800"/>
          </a:sp3d>
        </p:spPr>
      </p:pic>
    </p:spTree>
    <p:extLst>
      <p:ext uri="{BB962C8B-B14F-4D97-AF65-F5344CB8AC3E}">
        <p14:creationId xmlns:p14="http://schemas.microsoft.com/office/powerpoint/2010/main" xmlns="" val="189250612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345267" y="1784350"/>
            <a:ext cx="4910665" cy="4571999"/>
          </a:xfrm>
          <a:prstGeom prst="rect">
            <a:avLst/>
          </a:prstGeom>
          <a:ln>
            <a:noFill/>
          </a:ln>
          <a:effectLst>
            <a:reflection blurRad="12700" stA="30000" endPos="30000" dist="5000" dir="5400000" sy="-100000" algn="bl" rotWithShape="0"/>
          </a:effectLst>
          <a:scene3d>
            <a:camera prst="perspectiveContrastingLeftFacing">
              <a:rot lat="289753" lon="20703279" rev="77829"/>
            </a:camera>
            <a:lightRig rig="threePt" dir="t">
              <a:rot lat="0" lon="0" rev="2700000"/>
            </a:lightRig>
          </a:scene3d>
          <a:sp3d>
            <a:bevelT w="63500" h="50800"/>
          </a:sp3d>
        </p:spPr>
      </p:pic>
    </p:spTree>
    <p:extLst>
      <p:ext uri="{BB962C8B-B14F-4D97-AF65-F5344CB8AC3E}">
        <p14:creationId xmlns:p14="http://schemas.microsoft.com/office/powerpoint/2010/main" xmlns="" val="205685466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345267" y="1784350"/>
            <a:ext cx="4910665" cy="4571998"/>
          </a:xfrm>
          <a:prstGeom prst="rect">
            <a:avLst/>
          </a:prstGeom>
          <a:ln>
            <a:noFill/>
          </a:ln>
          <a:effectLst>
            <a:reflection blurRad="12700" stA="30000" endPos="30000" dist="5000" dir="5400000" sy="-100000" algn="bl" rotWithShape="0"/>
          </a:effectLst>
          <a:scene3d>
            <a:camera prst="perspectiveContrastingLeftFacing">
              <a:rot lat="289753" lon="20703279" rev="77829"/>
            </a:camera>
            <a:lightRig rig="threePt" dir="t">
              <a:rot lat="0" lon="0" rev="2700000"/>
            </a:lightRig>
          </a:scene3d>
          <a:sp3d>
            <a:bevelT w="63500" h="50800"/>
          </a:sp3d>
        </p:spPr>
      </p:pic>
    </p:spTree>
    <p:extLst>
      <p:ext uri="{BB962C8B-B14F-4D97-AF65-F5344CB8AC3E}">
        <p14:creationId xmlns:p14="http://schemas.microsoft.com/office/powerpoint/2010/main" xmlns="" val="176501734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345267" y="1784350"/>
            <a:ext cx="4910664" cy="4571998"/>
          </a:xfrm>
          <a:prstGeom prst="rect">
            <a:avLst/>
          </a:prstGeom>
          <a:ln>
            <a:noFill/>
          </a:ln>
          <a:effectLst>
            <a:reflection blurRad="12700" stA="30000" endPos="30000" dist="5000" dir="5400000" sy="-100000" algn="bl" rotWithShape="0"/>
          </a:effectLst>
          <a:scene3d>
            <a:camera prst="perspectiveContrastingLeftFacing">
              <a:rot lat="289753" lon="20703279" rev="77829"/>
            </a:camera>
            <a:lightRig rig="threePt" dir="t">
              <a:rot lat="0" lon="0" rev="2700000"/>
            </a:lightRig>
          </a:scene3d>
          <a:sp3d>
            <a:bevelT w="63500" h="50800"/>
          </a:sp3d>
        </p:spPr>
      </p:pic>
    </p:spTree>
    <p:extLst>
      <p:ext uri="{BB962C8B-B14F-4D97-AF65-F5344CB8AC3E}">
        <p14:creationId xmlns:p14="http://schemas.microsoft.com/office/powerpoint/2010/main" xmlns="" val="113302978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345267" y="1784350"/>
            <a:ext cx="4910664" cy="4571997"/>
          </a:xfrm>
          <a:prstGeom prst="rect">
            <a:avLst/>
          </a:prstGeom>
          <a:ln>
            <a:noFill/>
          </a:ln>
          <a:effectLst>
            <a:reflection blurRad="12700" stA="30000" endPos="30000" dist="5000" dir="5400000" sy="-100000" algn="bl" rotWithShape="0"/>
          </a:effectLst>
          <a:scene3d>
            <a:camera prst="perspectiveContrastingLeftFacing">
              <a:rot lat="289753" lon="20703279" rev="77829"/>
            </a:camera>
            <a:lightRig rig="threePt" dir="t">
              <a:rot lat="0" lon="0" rev="2700000"/>
            </a:lightRig>
          </a:scene3d>
          <a:sp3d>
            <a:bevelT w="63500" h="50800"/>
          </a:sp3d>
        </p:spPr>
      </p:pic>
    </p:spTree>
    <p:extLst>
      <p:ext uri="{BB962C8B-B14F-4D97-AF65-F5344CB8AC3E}">
        <p14:creationId xmlns:p14="http://schemas.microsoft.com/office/powerpoint/2010/main" xmlns="" val="307063546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345267" y="1784350"/>
            <a:ext cx="4910663" cy="4571997"/>
          </a:xfrm>
          <a:prstGeom prst="rect">
            <a:avLst/>
          </a:prstGeom>
          <a:ln>
            <a:noFill/>
          </a:ln>
          <a:effectLst>
            <a:reflection blurRad="12700" stA="30000" endPos="30000" dist="5000" dir="5400000" sy="-100000" algn="bl" rotWithShape="0"/>
          </a:effectLst>
          <a:scene3d>
            <a:camera prst="perspectiveContrastingLeftFacing">
              <a:rot lat="289753" lon="20703279" rev="77829"/>
            </a:camera>
            <a:lightRig rig="threePt" dir="t">
              <a:rot lat="0" lon="0" rev="2700000"/>
            </a:lightRig>
          </a:scene3d>
          <a:sp3d>
            <a:bevelT w="63500" h="50800"/>
          </a:sp3d>
        </p:spPr>
      </p:pic>
    </p:spTree>
    <p:extLst>
      <p:ext uri="{BB962C8B-B14F-4D97-AF65-F5344CB8AC3E}">
        <p14:creationId xmlns:p14="http://schemas.microsoft.com/office/powerpoint/2010/main" xmlns="" val="411655126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345267" y="1784350"/>
            <a:ext cx="4910663" cy="4571996"/>
          </a:xfrm>
          <a:prstGeom prst="rect">
            <a:avLst/>
          </a:prstGeom>
          <a:ln>
            <a:noFill/>
          </a:ln>
          <a:effectLst>
            <a:reflection blurRad="12700" stA="30000" endPos="30000" dist="5000" dir="5400000" sy="-100000" algn="bl" rotWithShape="0"/>
          </a:effectLst>
          <a:scene3d>
            <a:camera prst="perspectiveContrastingLeftFacing">
              <a:rot lat="289753" lon="20703279" rev="77829"/>
            </a:camera>
            <a:lightRig rig="threePt" dir="t">
              <a:rot lat="0" lon="0" rev="2700000"/>
            </a:lightRig>
          </a:scene3d>
          <a:sp3d>
            <a:bevelT w="63500" h="50800"/>
          </a:sp3d>
        </p:spPr>
      </p:pic>
    </p:spTree>
    <p:extLst>
      <p:ext uri="{BB962C8B-B14F-4D97-AF65-F5344CB8AC3E}">
        <p14:creationId xmlns:p14="http://schemas.microsoft.com/office/powerpoint/2010/main" xmlns="" val="372814118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345267" y="1784350"/>
            <a:ext cx="4910662" cy="4571996"/>
          </a:xfrm>
          <a:prstGeom prst="rect">
            <a:avLst/>
          </a:prstGeom>
          <a:ln>
            <a:noFill/>
          </a:ln>
          <a:effectLst>
            <a:reflection blurRad="12700" stA="30000" endPos="30000" dist="5000" dir="5400000" sy="-100000" algn="bl" rotWithShape="0"/>
          </a:effectLst>
          <a:scene3d>
            <a:camera prst="perspectiveContrastingLeftFacing">
              <a:rot lat="289753" lon="20703279" rev="77829"/>
            </a:camera>
            <a:lightRig rig="threePt" dir="t">
              <a:rot lat="0" lon="0" rev="2700000"/>
            </a:lightRig>
          </a:scene3d>
          <a:sp3d>
            <a:bevelT w="63500" h="50800"/>
          </a:sp3d>
        </p:spPr>
      </p:pic>
    </p:spTree>
    <p:extLst>
      <p:ext uri="{BB962C8B-B14F-4D97-AF65-F5344CB8AC3E}">
        <p14:creationId xmlns:p14="http://schemas.microsoft.com/office/powerpoint/2010/main" xmlns="" val="21215082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三角剖分</a:t>
            </a:r>
            <a:endParaRPr lang="zh-CN" altLang="en-US"/>
          </a:p>
        </p:txBody>
      </p:sp>
      <p:sp>
        <p:nvSpPr>
          <p:cNvPr id="3" name="内容占位符 2"/>
          <p:cNvSpPr>
            <a:spLocks noGrp="1"/>
          </p:cNvSpPr>
          <p:nvPr>
            <p:ph idx="1"/>
          </p:nvPr>
        </p:nvSpPr>
        <p:spPr/>
        <p:txBody>
          <a:bodyPr/>
          <a:lstStyle/>
          <a:p>
            <a:r>
              <a:rPr lang="zh-CN" altLang="en-US" smtClean="0"/>
              <a:t>三角剖分即将多边形分为若干三角形部分，其中既有“正部分”亦有“负部分”。</a:t>
            </a:r>
            <a:endParaRPr lang="en-US" altLang="zh-CN" smtClean="0"/>
          </a:p>
          <a:p>
            <a:r>
              <a:rPr lang="zh-CN" altLang="en-US" smtClean="0"/>
              <a:t>利用这种方法可以解决很多问题。</a:t>
            </a:r>
            <a:endParaRPr lang="zh-CN" altLang="en-US"/>
          </a:p>
        </p:txBody>
      </p:sp>
    </p:spTree>
    <p:extLst>
      <p:ext uri="{BB962C8B-B14F-4D97-AF65-F5344CB8AC3E}">
        <p14:creationId xmlns:p14="http://schemas.microsoft.com/office/powerpoint/2010/main" xmlns="" val="24022169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例题：求多边形的重心</a:t>
            </a:r>
            <a:endParaRPr lang="zh-CN" altLang="en-US"/>
          </a:p>
        </p:txBody>
      </p:sp>
      <p:sp>
        <p:nvSpPr>
          <p:cNvPr id="3" name="内容占位符 2"/>
          <p:cNvSpPr>
            <a:spLocks noGrp="1"/>
          </p:cNvSpPr>
          <p:nvPr>
            <p:ph idx="1"/>
          </p:nvPr>
        </p:nvSpPr>
        <p:spPr/>
        <p:txBody>
          <a:bodyPr/>
          <a:lstStyle/>
          <a:p>
            <a:r>
              <a:rPr lang="ja-JP" altLang="en-US" smtClean="0"/>
              <a:t>名前通り</a:t>
            </a:r>
            <a:r>
              <a:rPr lang="zh-CN" altLang="en-US" smtClean="0"/>
              <a:t>，给定一个简单多边形，求其重心之所在。</a:t>
            </a:r>
            <a:endParaRPr lang="zh-CN" altLang="en-US"/>
          </a:p>
        </p:txBody>
      </p:sp>
    </p:spTree>
    <p:extLst>
      <p:ext uri="{BB962C8B-B14F-4D97-AF65-F5344CB8AC3E}">
        <p14:creationId xmlns:p14="http://schemas.microsoft.com/office/powerpoint/2010/main" xmlns="" val="206401927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预备知识：求质点组的重心</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en-US" altLang="zh-CN" i="1" smtClean="0">
                    <a:latin typeface="Times New Roman" pitchFamily="18" charset="0"/>
                    <a:cs typeface="Times New Roman" pitchFamily="18" charset="0"/>
                  </a:rPr>
                  <a:t>n</a:t>
                </a:r>
                <a:r>
                  <a:rPr lang="en-US" altLang="zh-CN" smtClean="0"/>
                  <a:t/>
                </a:r>
                <a:r>
                  <a:rPr lang="zh-CN" altLang="en-US" smtClean="0"/>
                  <a:t>个位置分别为 </a:t>
                </a:r>
                <a14:m>
                  <m:oMath xmlns:m="http://schemas.openxmlformats.org/officeDocument/2006/math">
                    <m:sSub>
                      <m:sSubPr>
                        <m:ctrlPr>
                          <a:rPr lang="en-US" altLang="zh-CN" b="0" i="1" smtClean="0">
                            <a:latin typeface="Cambria Math"/>
                          </a:rPr>
                        </m:ctrlPr>
                      </m:sSubPr>
                      <m:e>
                        <m:r>
                          <a:rPr lang="en-US" altLang="zh-CN" b="0" i="1" smtClean="0">
                            <a:latin typeface="Cambria Math"/>
                          </a:rPr>
                          <m:t>𝐴</m:t>
                        </m:r>
                      </m:e>
                      <m:sub>
                        <m:r>
                          <a:rPr lang="en-US" altLang="zh-CN" b="0" i="1" smtClean="0">
                            <a:latin typeface="Cambria Math"/>
                          </a:rPr>
                          <m:t>1</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𝐴</m:t>
                        </m:r>
                      </m:e>
                      <m:sub>
                        <m:r>
                          <a:rPr lang="en-US" altLang="zh-CN" b="0" i="1" smtClean="0">
                            <a:latin typeface="Cambria Math"/>
                          </a:rPr>
                          <m:t>2</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𝐴</m:t>
                        </m:r>
                      </m:e>
                      <m:sub>
                        <m:r>
                          <a:rPr lang="en-US" altLang="zh-CN" b="0" i="1" smtClean="0">
                            <a:latin typeface="Cambria Math"/>
                          </a:rPr>
                          <m:t>𝑛</m:t>
                        </m:r>
                      </m:sub>
                    </m:sSub>
                  </m:oMath>
                </a14:m>
                <a:r>
                  <a:rPr lang="zh-CN" altLang="en-US" smtClean="0"/>
                  <a:t>，质量为 </a:t>
                </a:r>
                <a14:m>
                  <m:oMath xmlns:m="http://schemas.openxmlformats.org/officeDocument/2006/math">
                    <m:sSub>
                      <m:sSubPr>
                        <m:ctrlPr>
                          <a:rPr lang="en-US" altLang="zh-CN" b="0" i="1" smtClean="0">
                            <a:latin typeface="Cambria Math"/>
                          </a:rPr>
                        </m:ctrlPr>
                      </m:sSubPr>
                      <m:e>
                        <m:r>
                          <a:rPr lang="en-US" altLang="zh-CN" b="0" i="1" smtClean="0">
                            <a:latin typeface="Cambria Math"/>
                          </a:rPr>
                          <m:t>𝑚</m:t>
                        </m:r>
                      </m:e>
                      <m:sub>
                        <m:r>
                          <a:rPr lang="en-US" altLang="zh-CN" b="0" i="1" smtClean="0">
                            <a:latin typeface="Cambria Math"/>
                          </a:rPr>
                          <m:t>1</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𝑚</m:t>
                        </m:r>
                      </m:e>
                      <m:sub>
                        <m:r>
                          <a:rPr lang="en-US" altLang="zh-CN" b="0" i="1" smtClean="0">
                            <a:latin typeface="Cambria Math"/>
                          </a:rPr>
                          <m:t>2</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𝑚</m:t>
                        </m:r>
                      </m:e>
                      <m:sub>
                        <m:r>
                          <a:rPr lang="en-US" altLang="zh-CN" b="0" i="1" smtClean="0">
                            <a:latin typeface="Cambria Math"/>
                          </a:rPr>
                          <m:t>𝑛</m:t>
                        </m:r>
                      </m:sub>
                    </m:sSub>
                  </m:oMath>
                </a14:m>
                <a:r>
                  <a:rPr lang="zh-CN" altLang="en-US" smtClean="0"/>
                  <a:t> 的质点构成的质点组的重心为</a:t>
                </a:r>
                <a:endParaRPr lang="en-US" altLang="zh-CN"/>
              </a:p>
              <a:p>
                <a:pPr marL="68580" indent="0">
                  <a:buNone/>
                </a:pPr>
                <a14:m>
                  <m:oMathPara xmlns:m="http://schemas.openxmlformats.org/officeDocument/2006/math">
                    <m:oMathParaPr>
                      <m:jc m:val="centerGroup"/>
                    </m:oMathParaPr>
                    <m:oMath xmlns:m="http://schemas.openxmlformats.org/officeDocument/2006/math">
                      <m:f>
                        <m:fPr>
                          <m:ctrlPr>
                            <a:rPr lang="en-US" altLang="zh-CN" i="1" smtClean="0">
                              <a:latin typeface="Cambria Math"/>
                            </a:rPr>
                          </m:ctrlPr>
                        </m:fPr>
                        <m:num>
                          <m:nary>
                            <m:naryPr>
                              <m:chr m:val="∑"/>
                              <m:ctrlPr>
                                <a:rPr lang="en-US" altLang="zh-CN" i="1" smtClean="0">
                                  <a:latin typeface="Cambria Math"/>
                                </a:rPr>
                              </m:ctrlPr>
                            </m:naryPr>
                            <m:sub>
                              <m:r>
                                <m:rPr>
                                  <m:brk m:alnAt="23"/>
                                </m:rPr>
                                <a:rPr lang="en-US" altLang="zh-CN" b="0" i="1" smtClean="0">
                                  <a:latin typeface="Cambria Math"/>
                                </a:rPr>
                                <m:t>𝑘</m:t>
                              </m:r>
                              <m:r>
                                <a:rPr lang="en-US" altLang="zh-CN" b="0" i="1" smtClean="0">
                                  <a:latin typeface="Cambria Math"/>
                                </a:rPr>
                                <m:t>=1</m:t>
                              </m:r>
                            </m:sub>
                            <m:sup>
                              <m:r>
                                <a:rPr lang="en-US" altLang="zh-CN" b="0" i="1" smtClean="0">
                                  <a:latin typeface="Cambria Math"/>
                                </a:rPr>
                                <m:t>𝑛</m:t>
                              </m:r>
                            </m:sup>
                            <m:e>
                              <m:sSub>
                                <m:sSubPr>
                                  <m:ctrlPr>
                                    <a:rPr lang="en-US" altLang="zh-CN" b="0" i="1" smtClean="0">
                                      <a:latin typeface="Cambria Math"/>
                                    </a:rPr>
                                  </m:ctrlPr>
                                </m:sSubPr>
                                <m:e>
                                  <m:r>
                                    <a:rPr lang="en-US" altLang="zh-CN" b="0" i="1" smtClean="0">
                                      <a:latin typeface="Cambria Math"/>
                                    </a:rPr>
                                    <m:t>𝑚</m:t>
                                  </m:r>
                                </m:e>
                                <m:sub>
                                  <m:r>
                                    <a:rPr lang="en-US" altLang="zh-CN" b="0" i="1" smtClean="0">
                                      <a:latin typeface="Cambria Math"/>
                                    </a:rPr>
                                    <m:t>𝑘</m:t>
                                  </m:r>
                                </m:sub>
                              </m:sSub>
                              <m:sSub>
                                <m:sSubPr>
                                  <m:ctrlPr>
                                    <a:rPr lang="en-US" altLang="zh-CN" b="0" i="1" smtClean="0">
                                      <a:latin typeface="Cambria Math"/>
                                    </a:rPr>
                                  </m:ctrlPr>
                                </m:sSubPr>
                                <m:e>
                                  <m:r>
                                    <a:rPr lang="en-US" altLang="zh-CN" b="0" i="1" smtClean="0">
                                      <a:latin typeface="Cambria Math"/>
                                    </a:rPr>
                                    <m:t>𝐴</m:t>
                                  </m:r>
                                </m:e>
                                <m:sub>
                                  <m:r>
                                    <a:rPr lang="en-US" altLang="zh-CN" b="0" i="1" smtClean="0">
                                      <a:latin typeface="Cambria Math"/>
                                    </a:rPr>
                                    <m:t>𝑘</m:t>
                                  </m:r>
                                </m:sub>
                              </m:sSub>
                            </m:e>
                          </m:nary>
                        </m:num>
                        <m:den>
                          <m:nary>
                            <m:naryPr>
                              <m:chr m:val="∑"/>
                              <m:ctrlPr>
                                <a:rPr lang="en-US" altLang="zh-CN" i="1" smtClean="0">
                                  <a:latin typeface="Cambria Math"/>
                                </a:rPr>
                              </m:ctrlPr>
                            </m:naryPr>
                            <m:sub>
                              <m:r>
                                <m:rPr>
                                  <m:brk m:alnAt="23"/>
                                </m:rPr>
                                <a:rPr lang="en-US" altLang="zh-CN" b="0" i="1" smtClean="0">
                                  <a:latin typeface="Cambria Math"/>
                                </a:rPr>
                                <m:t>𝑘</m:t>
                              </m:r>
                              <m:r>
                                <a:rPr lang="en-US" altLang="zh-CN" b="0" i="1" smtClean="0">
                                  <a:latin typeface="Cambria Math"/>
                                </a:rPr>
                                <m:t>=1</m:t>
                              </m:r>
                            </m:sub>
                            <m:sup>
                              <m:r>
                                <a:rPr lang="en-US" altLang="zh-CN" b="0" i="1" smtClean="0">
                                  <a:latin typeface="Cambria Math"/>
                                </a:rPr>
                                <m:t>𝑛</m:t>
                              </m:r>
                            </m:sup>
                            <m:e>
                              <m:sSub>
                                <m:sSubPr>
                                  <m:ctrlPr>
                                    <a:rPr lang="en-US" altLang="zh-CN" b="0" i="1" smtClean="0">
                                      <a:latin typeface="Cambria Math"/>
                                    </a:rPr>
                                  </m:ctrlPr>
                                </m:sSubPr>
                                <m:e>
                                  <m:r>
                                    <a:rPr lang="en-US" altLang="zh-CN" b="0" i="1" smtClean="0">
                                      <a:latin typeface="Cambria Math"/>
                                    </a:rPr>
                                    <m:t>𝑚</m:t>
                                  </m:r>
                                </m:e>
                                <m:sub>
                                  <m:r>
                                    <a:rPr lang="en-US" altLang="zh-CN" b="0" i="1" smtClean="0">
                                      <a:latin typeface="Cambria Math"/>
                                    </a:rPr>
                                    <m:t>𝑘</m:t>
                                  </m:r>
                                </m:sub>
                              </m:sSub>
                            </m:e>
                          </m:nary>
                        </m:den>
                      </m:f>
                    </m:oMath>
                  </m:oMathPara>
                </a14:m>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323505867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解答</a:t>
            </a:r>
            <a:endParaRPr lang="zh-CN" altLang="en-US"/>
          </a:p>
        </p:txBody>
      </p:sp>
      <p:sp>
        <p:nvSpPr>
          <p:cNvPr id="3" name="内容占位符 2"/>
          <p:cNvSpPr>
            <a:spLocks noGrp="1"/>
          </p:cNvSpPr>
          <p:nvPr>
            <p:ph idx="1"/>
          </p:nvPr>
        </p:nvSpPr>
        <p:spPr/>
        <p:txBody>
          <a:bodyPr/>
          <a:lstStyle/>
          <a:p>
            <a:r>
              <a:rPr lang="zh-CN" altLang="en-US" smtClean="0"/>
              <a:t>利用三角剖分，计算各个三角形的面积和重心，将此三角形化为一个质量为其面积，坐标为其重心的质点。</a:t>
            </a:r>
            <a:endParaRPr lang="en-US" altLang="zh-CN" smtClean="0"/>
          </a:p>
          <a:p>
            <a:r>
              <a:rPr lang="zh-CN" altLang="en-US" smtClean="0"/>
              <a:t>若此三角形属于“负部分”，则其拥有“负质量”。</a:t>
            </a:r>
            <a:endParaRPr lang="en-US" altLang="zh-CN" smtClean="0"/>
          </a:p>
          <a:p>
            <a:r>
              <a:rPr lang="zh-CN" altLang="en-US" smtClean="0"/>
              <a:t>最后计算质点组的重心即可。</a:t>
            </a:r>
            <a:endParaRPr lang="zh-CN" altLang="en-US"/>
          </a:p>
        </p:txBody>
      </p:sp>
    </p:spTree>
    <p:extLst>
      <p:ext uri="{BB962C8B-B14F-4D97-AF65-F5344CB8AC3E}">
        <p14:creationId xmlns:p14="http://schemas.microsoft.com/office/powerpoint/2010/main" xmlns="" val="407076402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凸集</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normAutofit lnSpcReduction="10000"/>
              </a:bodyPr>
              <a:lstStyle/>
              <a:p>
                <a:r>
                  <a:rPr lang="zh-CN" altLang="en-US" smtClean="0"/>
                  <a:t>对于一个点集 </a:t>
                </a:r>
                <a:r>
                  <a:rPr lang="en-US" altLang="zh-CN" i="1" smtClean="0">
                    <a:latin typeface="Times New Roman" pitchFamily="18" charset="0"/>
                    <a:cs typeface="Times New Roman" pitchFamily="18" charset="0"/>
                  </a:rPr>
                  <a:t>S</a:t>
                </a:r>
                <a:r>
                  <a:rPr lang="zh-CN" altLang="en-US" smtClean="0"/>
                  <a:t>，若 </a:t>
                </a:r>
                <a14:m>
                  <m:oMath xmlns:m="http://schemas.openxmlformats.org/officeDocument/2006/math">
                    <m:r>
                      <a:rPr lang="en-US" altLang="zh-CN" i="1" smtClean="0">
                        <a:latin typeface="Cambria Math"/>
                      </a:rPr>
                      <m:t>∀</m:t>
                    </m:r>
                    <m:r>
                      <a:rPr lang="en-US" altLang="zh-CN" b="0" i="1" smtClean="0">
                        <a:latin typeface="Cambria Math"/>
                      </a:rPr>
                      <m:t>𝑎</m:t>
                    </m:r>
                    <m:r>
                      <a:rPr lang="en-US" altLang="zh-CN" b="0" i="1" smtClean="0">
                        <a:latin typeface="Cambria Math"/>
                      </a:rPr>
                      <m:t>,</m:t>
                    </m:r>
                    <m:r>
                      <a:rPr lang="en-US" altLang="zh-CN" b="0" i="1" smtClean="0">
                        <a:latin typeface="Cambria Math"/>
                      </a:rPr>
                      <m:t>𝑏</m:t>
                    </m:r>
                    <m:r>
                      <a:rPr lang="en-US" altLang="zh-CN" b="0" i="1" smtClean="0">
                        <a:latin typeface="Cambria Math"/>
                      </a:rPr>
                      <m:t>∈</m:t>
                    </m:r>
                    <m:r>
                      <a:rPr lang="en-US" altLang="zh-CN" b="0" i="1" smtClean="0">
                        <a:latin typeface="Cambria Math"/>
                      </a:rPr>
                      <m:t>𝑆</m:t>
                    </m:r>
                    <m:r>
                      <a:rPr lang="en-US" altLang="zh-CN" b="0" i="1" smtClean="0">
                        <a:latin typeface="Cambria Math"/>
                      </a:rPr>
                      <m:t>,</m:t>
                    </m:r>
                    <m:r>
                      <a:rPr lang="en-US" altLang="zh-CN" b="0" i="1" smtClean="0">
                        <a:latin typeface="Cambria Math"/>
                      </a:rPr>
                      <m:t>𝜆</m:t>
                    </m:r>
                    <m:r>
                      <a:rPr lang="en-US" altLang="zh-CN" b="0" i="1" smtClean="0">
                        <a:latin typeface="Cambria Math"/>
                      </a:rPr>
                      <m:t>∈[0,1]</m:t>
                    </m:r>
                  </m:oMath>
                </a14:m>
                <a:r>
                  <a:rPr lang="zh-CN" altLang="en-US" smtClean="0"/>
                  <a:t>，有 </a:t>
                </a:r>
                <a14:m>
                  <m:oMath xmlns:m="http://schemas.openxmlformats.org/officeDocument/2006/math">
                    <m:r>
                      <a:rPr lang="en-US" altLang="zh-CN" i="1" smtClean="0">
                        <a:latin typeface="Cambria Math"/>
                      </a:rPr>
                      <m:t>𝜆</m:t>
                    </m:r>
                    <m:r>
                      <a:rPr lang="en-US" altLang="zh-CN" b="0" i="1" smtClean="0">
                        <a:latin typeface="Cambria Math"/>
                      </a:rPr>
                      <m:t>𝑎</m:t>
                    </m:r>
                    <m:r>
                      <a:rPr lang="en-US" altLang="zh-CN" b="0" i="1" smtClean="0">
                        <a:latin typeface="Cambria Math"/>
                      </a:rPr>
                      <m:t>+</m:t>
                    </m:r>
                    <m:d>
                      <m:dPr>
                        <m:ctrlPr>
                          <a:rPr lang="en-US" altLang="zh-CN" b="0" i="1" smtClean="0">
                            <a:latin typeface="Cambria Math"/>
                          </a:rPr>
                        </m:ctrlPr>
                      </m:dPr>
                      <m:e>
                        <m:r>
                          <a:rPr lang="en-US" altLang="zh-CN" b="0" i="1" smtClean="0">
                            <a:latin typeface="Cambria Math"/>
                          </a:rPr>
                          <m:t>1−</m:t>
                        </m:r>
                        <m:r>
                          <a:rPr lang="en-US" altLang="zh-CN" b="0" i="1" smtClean="0">
                            <a:latin typeface="Cambria Math"/>
                          </a:rPr>
                          <m:t>𝜆</m:t>
                        </m:r>
                      </m:e>
                    </m:d>
                    <m:r>
                      <a:rPr lang="en-US" altLang="zh-CN" b="0" i="1" smtClean="0">
                        <a:latin typeface="Cambria Math"/>
                      </a:rPr>
                      <m:t>𝑏</m:t>
                    </m:r>
                    <m:r>
                      <a:rPr lang="en-US" altLang="zh-CN" b="0" i="1" smtClean="0">
                        <a:latin typeface="Cambria Math"/>
                      </a:rPr>
                      <m:t>∈</m:t>
                    </m:r>
                    <m:r>
                      <a:rPr lang="en-US" altLang="zh-CN" b="0" i="1" smtClean="0">
                        <a:latin typeface="Cambria Math"/>
                      </a:rPr>
                      <m:t>𝑆</m:t>
                    </m:r>
                  </m:oMath>
                </a14:m>
                <a:r>
                  <a:rPr lang="zh-CN" altLang="en-US" smtClean="0"/>
                  <a:t>，则称 </a:t>
                </a:r>
                <a:r>
                  <a:rPr lang="en-US" altLang="zh-CN" i="1" smtClean="0">
                    <a:latin typeface="Times New Roman" pitchFamily="18" charset="0"/>
                    <a:cs typeface="Times New Roman" pitchFamily="18" charset="0"/>
                  </a:rPr>
                  <a:t>S</a:t>
                </a:r>
                <a:r>
                  <a:rPr lang="en-US" altLang="zh-CN" smtClean="0"/>
                  <a:t/>
                </a:r>
                <a:r>
                  <a:rPr lang="zh-CN" altLang="en-US" smtClean="0"/>
                  <a:t>是</a:t>
                </a:r>
                <a:r>
                  <a:rPr lang="zh-CN" altLang="en-US" b="1" smtClean="0">
                    <a:solidFill>
                      <a:schemeClr val="accent4">
                        <a:lumMod val="60000"/>
                        <a:lumOff val="40000"/>
                      </a:schemeClr>
                    </a:solidFill>
                  </a:rPr>
                  <a:t>凸集</a:t>
                </a:r>
                <a:r>
                  <a:rPr lang="zh-CN" altLang="en-US" smtClean="0"/>
                  <a:t>。</a:t>
                </a:r>
                <a:endParaRPr lang="en-US" altLang="zh-CN" smtClean="0"/>
              </a:p>
              <a:p>
                <a:r>
                  <a:rPr lang="zh-CN" altLang="en-US" smtClean="0"/>
                  <a:t>说人话的话，就是对于点集中任意两点，以两点为端点的线段上的所有点也属于这个点集。</a:t>
                </a:r>
                <a:endParaRPr lang="en-US" altLang="zh-CN" smtClean="0"/>
              </a:p>
              <a:p>
                <a:r>
                  <a:rPr lang="zh-CN" altLang="en-US" smtClean="0"/>
                  <a:t>若多边形及其内点是凸集，则称这个多边形为</a:t>
                </a:r>
                <a:r>
                  <a:rPr lang="zh-CN" altLang="en-US" b="1" smtClean="0">
                    <a:solidFill>
                      <a:schemeClr val="accent4">
                        <a:lumMod val="60000"/>
                        <a:lumOff val="40000"/>
                      </a:schemeClr>
                    </a:solidFill>
                  </a:rPr>
                  <a:t>凸多边形</a:t>
                </a:r>
                <a:r>
                  <a:rPr lang="zh-CN" altLang="en-US" smtClean="0"/>
                  <a:t>。</a:t>
                </a:r>
                <a:endParaRPr lang="en-US" altLang="zh-CN" smtClean="0"/>
              </a:p>
              <a:p>
                <a:r>
                  <a:rPr lang="zh-CN" altLang="en-US"/>
                  <a:t>可以</a:t>
                </a:r>
                <a:r>
                  <a:rPr lang="zh-CN" altLang="en-US" smtClean="0"/>
                  <a:t>证明凸集的交也是凸集。</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14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137412226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凸集举例</a:t>
            </a:r>
            <a:endParaRPr lang="zh-CN" altLang="en-US"/>
          </a:p>
        </p:txBody>
      </p:sp>
      <p:sp>
        <p:nvSpPr>
          <p:cNvPr id="3" name="内容占位符 2"/>
          <p:cNvSpPr>
            <a:spLocks noGrp="1"/>
          </p:cNvSpPr>
          <p:nvPr>
            <p:ph idx="1"/>
          </p:nvPr>
        </p:nvSpPr>
        <p:spPr/>
        <p:txBody>
          <a:bodyPr/>
          <a:lstStyle/>
          <a:p>
            <a:r>
              <a:rPr lang="zh-CN" altLang="en-US" smtClean="0"/>
              <a:t>空集</a:t>
            </a:r>
            <a:endParaRPr lang="en-US" altLang="zh-CN" smtClean="0"/>
          </a:p>
          <a:p>
            <a:r>
              <a:rPr lang="zh-CN" altLang="en-US" smtClean="0"/>
              <a:t>直线、射线、线段</a:t>
            </a:r>
            <a:endParaRPr lang="en-US" altLang="zh-CN" smtClean="0"/>
          </a:p>
          <a:p>
            <a:r>
              <a:rPr lang="zh-CN" altLang="en-US" smtClean="0"/>
              <a:t>凸多边形</a:t>
            </a:r>
            <a:endParaRPr lang="en-US" altLang="zh-CN" smtClean="0"/>
          </a:p>
          <a:p>
            <a:r>
              <a:rPr lang="zh-CN" altLang="en-US" smtClean="0"/>
              <a:t>圆及内部、二次曲线及内部</a:t>
            </a:r>
            <a:endParaRPr lang="en-US" altLang="zh-CN" smtClean="0"/>
          </a:p>
          <a:p>
            <a:r>
              <a:rPr lang="zh-CN" altLang="en-US"/>
              <a:t>若干</a:t>
            </a:r>
            <a:r>
              <a:rPr lang="zh-CN" altLang="en-US" smtClean="0"/>
              <a:t>种原料，每种原料含 </a:t>
            </a:r>
            <a:r>
              <a:rPr lang="en-US" altLang="zh-CN" smtClean="0"/>
              <a:t>A </a:t>
            </a:r>
            <a:r>
              <a:rPr lang="zh-CN" altLang="en-US" smtClean="0"/>
              <a:t>成分和 </a:t>
            </a:r>
            <a:r>
              <a:rPr lang="en-US" altLang="zh-CN" smtClean="0"/>
              <a:t>B </a:t>
            </a:r>
            <a:r>
              <a:rPr lang="zh-CN" altLang="en-US" smtClean="0"/>
              <a:t>成分的比例不同；混合这些原料能得到的产品的 </a:t>
            </a:r>
            <a:r>
              <a:rPr lang="en-US" altLang="zh-CN" smtClean="0"/>
              <a:t>A, B </a:t>
            </a:r>
            <a:r>
              <a:rPr lang="zh-CN" altLang="en-US" smtClean="0"/>
              <a:t>两种成分的比例</a:t>
            </a:r>
            <a:endParaRPr lang="en-US" altLang="zh-CN" smtClean="0"/>
          </a:p>
          <a:p>
            <a:endParaRPr lang="zh-CN" altLang="en-US"/>
          </a:p>
        </p:txBody>
      </p:sp>
    </p:spTree>
    <p:extLst>
      <p:ext uri="{BB962C8B-B14F-4D97-AF65-F5344CB8AC3E}">
        <p14:creationId xmlns:p14="http://schemas.microsoft.com/office/powerpoint/2010/main" xmlns="" val="134844730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凸包</a:t>
            </a:r>
            <a:endParaRPr lang="zh-CN" altLang="en-US"/>
          </a:p>
        </p:txBody>
      </p:sp>
      <p:sp>
        <p:nvSpPr>
          <p:cNvPr id="3" name="内容占位符 2"/>
          <p:cNvSpPr>
            <a:spLocks noGrp="1"/>
          </p:cNvSpPr>
          <p:nvPr>
            <p:ph idx="1"/>
          </p:nvPr>
        </p:nvSpPr>
        <p:spPr/>
        <p:txBody>
          <a:bodyPr/>
          <a:lstStyle/>
          <a:p>
            <a:r>
              <a:rPr lang="zh-CN" altLang="en-US" smtClean="0"/>
              <a:t>对于点集 </a:t>
            </a:r>
            <a:r>
              <a:rPr lang="en-US" altLang="zh-CN" i="1" smtClean="0">
                <a:latin typeface="Times New Roman" pitchFamily="18" charset="0"/>
                <a:cs typeface="Times New Roman" pitchFamily="18" charset="0"/>
              </a:rPr>
              <a:t>S</a:t>
            </a:r>
            <a:r>
              <a:rPr lang="zh-CN" altLang="en-US" smtClean="0"/>
              <a:t>，包含 </a:t>
            </a:r>
            <a:r>
              <a:rPr lang="en-US" altLang="zh-CN" i="1" smtClean="0">
                <a:latin typeface="Times New Roman" pitchFamily="18" charset="0"/>
                <a:cs typeface="Times New Roman" pitchFamily="18" charset="0"/>
              </a:rPr>
              <a:t>S</a:t>
            </a:r>
            <a:r>
              <a:rPr lang="en-US" altLang="zh-CN" smtClean="0"/>
              <a:t> </a:t>
            </a:r>
            <a:r>
              <a:rPr lang="zh-CN" altLang="en-US" smtClean="0"/>
              <a:t>中所有点的最小的凸集称为 </a:t>
            </a:r>
            <a:r>
              <a:rPr lang="en-US" altLang="zh-CN" i="1" smtClean="0">
                <a:latin typeface="Times New Roman" pitchFamily="18" charset="0"/>
                <a:cs typeface="Times New Roman" pitchFamily="18" charset="0"/>
              </a:rPr>
              <a:t>S</a:t>
            </a:r>
            <a:r>
              <a:rPr lang="en-US" altLang="zh-CN" smtClean="0"/>
              <a:t> </a:t>
            </a:r>
            <a:r>
              <a:rPr lang="zh-CN" altLang="en-US" smtClean="0"/>
              <a:t>的凸包。</a:t>
            </a:r>
            <a:endParaRPr lang="en-US" altLang="zh-CN" smtClean="0"/>
          </a:p>
          <a:p>
            <a:r>
              <a:rPr lang="zh-CN" altLang="en-US" smtClean="0"/>
              <a:t>若 </a:t>
            </a:r>
            <a:r>
              <a:rPr lang="en-US" altLang="zh-CN" i="1" smtClean="0">
                <a:latin typeface="Times New Roman" pitchFamily="18" charset="0"/>
                <a:cs typeface="Times New Roman" pitchFamily="18" charset="0"/>
              </a:rPr>
              <a:t>S</a:t>
            </a:r>
            <a:r>
              <a:rPr lang="en-US" altLang="zh-CN" smtClean="0"/>
              <a:t> </a:t>
            </a:r>
            <a:r>
              <a:rPr lang="zh-CN" altLang="en-US"/>
              <a:t>是</a:t>
            </a:r>
            <a:r>
              <a:rPr lang="zh-CN" altLang="en-US" smtClean="0"/>
              <a:t>有限集，则其凸包是凸多边形。</a:t>
            </a:r>
            <a:endParaRPr lang="en-US" altLang="zh-CN" smtClean="0"/>
          </a:p>
          <a:p>
            <a:r>
              <a:rPr lang="zh-CN" altLang="en-US" smtClean="0"/>
              <a:t>直观来看，把 </a:t>
            </a:r>
            <a:r>
              <a:rPr lang="en-US" altLang="zh-CN" i="1" smtClean="0">
                <a:latin typeface="Times New Roman" pitchFamily="18" charset="0"/>
                <a:cs typeface="Times New Roman" pitchFamily="18" charset="0"/>
              </a:rPr>
              <a:t>S</a:t>
            </a:r>
            <a:r>
              <a:rPr lang="en-US" altLang="zh-CN" smtClean="0"/>
              <a:t> </a:t>
            </a:r>
            <a:r>
              <a:rPr lang="zh-CN" altLang="en-US" smtClean="0"/>
              <a:t>中所有点钉在一个木板上，用一个橡皮筋框起所有点来，一撒手，橡皮筋就表示出了 </a:t>
            </a:r>
            <a:r>
              <a:rPr lang="en-US" altLang="zh-CN" i="1" smtClean="0">
                <a:latin typeface="Times New Roman" pitchFamily="18" charset="0"/>
                <a:cs typeface="Times New Roman" pitchFamily="18" charset="0"/>
              </a:rPr>
              <a:t>S</a:t>
            </a:r>
            <a:r>
              <a:rPr lang="en-US" altLang="zh-CN" smtClean="0"/>
              <a:t> </a:t>
            </a:r>
            <a:r>
              <a:rPr lang="zh-CN" altLang="en-US" smtClean="0"/>
              <a:t>的凸包。</a:t>
            </a:r>
            <a:endParaRPr lang="zh-CN" altLang="en-US"/>
          </a:p>
        </p:txBody>
      </p:sp>
    </p:spTree>
    <p:extLst>
      <p:ext uri="{BB962C8B-B14F-4D97-AF65-F5344CB8AC3E}">
        <p14:creationId xmlns:p14="http://schemas.microsoft.com/office/powerpoint/2010/main" xmlns="" val="380483874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凸包</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781552" y="2171937"/>
            <a:ext cx="4038096" cy="3796826"/>
          </a:xfrm>
        </p:spPr>
      </p:pic>
    </p:spTree>
    <p:extLst>
      <p:ext uri="{BB962C8B-B14F-4D97-AF65-F5344CB8AC3E}">
        <p14:creationId xmlns:p14="http://schemas.microsoft.com/office/powerpoint/2010/main" xmlns="" val="220764944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水平序 </a:t>
            </a:r>
            <a:r>
              <a:rPr lang="en-US" altLang="zh-CN" smtClean="0"/>
              <a:t>Graham </a:t>
            </a:r>
            <a:r>
              <a:rPr lang="zh-CN" altLang="en-US" smtClean="0"/>
              <a:t>扫描算法</a:t>
            </a:r>
            <a:endParaRPr lang="zh-CN" altLang="en-US"/>
          </a:p>
        </p:txBody>
      </p:sp>
      <p:sp>
        <p:nvSpPr>
          <p:cNvPr id="3" name="内容占位符 2"/>
          <p:cNvSpPr>
            <a:spLocks noGrp="1"/>
          </p:cNvSpPr>
          <p:nvPr>
            <p:ph idx="1"/>
          </p:nvPr>
        </p:nvSpPr>
        <p:spPr/>
        <p:txBody>
          <a:bodyPr/>
          <a:lstStyle/>
          <a:p>
            <a:r>
              <a:rPr lang="en-US" altLang="zh-CN" smtClean="0"/>
              <a:t>Graham </a:t>
            </a:r>
            <a:r>
              <a:rPr lang="zh-CN" altLang="en-US" smtClean="0"/>
              <a:t>扫描算法有水平序和极角序两种。</a:t>
            </a:r>
            <a:endParaRPr lang="en-US" altLang="zh-CN" smtClean="0"/>
          </a:p>
          <a:p>
            <a:r>
              <a:rPr lang="zh-CN" altLang="en-US"/>
              <a:t>极角</a:t>
            </a:r>
            <a:r>
              <a:rPr lang="zh-CN" altLang="en-US" smtClean="0"/>
              <a:t>序算法能一次确定整个凸包，但是计算极角需要用到三角函数，速度较慢，精度较差，特殊情况较多。</a:t>
            </a:r>
            <a:endParaRPr lang="en-US" altLang="zh-CN" smtClean="0"/>
          </a:p>
          <a:p>
            <a:r>
              <a:rPr lang="zh-CN" altLang="en-US"/>
              <a:t>水平</a:t>
            </a:r>
            <a:r>
              <a:rPr lang="zh-CN" altLang="en-US" smtClean="0"/>
              <a:t>序算法需要扫描两次，但排序简单，讨论简单，不易出错。</a:t>
            </a:r>
            <a:endParaRPr lang="zh-CN" altLang="en-US"/>
          </a:p>
        </p:txBody>
      </p:sp>
    </p:spTree>
    <p:extLst>
      <p:ext uri="{BB962C8B-B14F-4D97-AF65-F5344CB8AC3E}">
        <p14:creationId xmlns:p14="http://schemas.microsoft.com/office/powerpoint/2010/main" xmlns="" val="318526086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算法流程</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normAutofit fontScale="85000" lnSpcReduction="20000"/>
              </a:bodyPr>
              <a:lstStyle/>
              <a:p>
                <a:r>
                  <a:rPr lang="zh-CN" altLang="en-US" smtClean="0"/>
                  <a:t>对顶点按 </a:t>
                </a:r>
                <a:r>
                  <a:rPr lang="en-US" altLang="zh-CN" i="1" smtClean="0">
                    <a:latin typeface="Times New Roman" pitchFamily="18" charset="0"/>
                    <a:cs typeface="Times New Roman" pitchFamily="18" charset="0"/>
                  </a:rPr>
                  <a:t>x</a:t>
                </a:r>
                <a:r>
                  <a:rPr lang="en-US" altLang="zh-CN" smtClean="0"/>
                  <a:t/>
                </a:r>
                <a:r>
                  <a:rPr lang="zh-CN" altLang="en-US" smtClean="0"/>
                  <a:t>为第一关键字，</a:t>
                </a:r>
                <a:r>
                  <a:rPr lang="en-US" altLang="zh-CN" i="1" smtClean="0">
                    <a:latin typeface="Times New Roman" pitchFamily="18" charset="0"/>
                    <a:cs typeface="Times New Roman" pitchFamily="18" charset="0"/>
                  </a:rPr>
                  <a:t>y</a:t>
                </a:r>
                <a:r>
                  <a:rPr lang="en-US" altLang="zh-CN" smtClean="0"/>
                  <a:t/>
                </a:r>
                <a:r>
                  <a:rPr lang="zh-CN" altLang="en-US" smtClean="0"/>
                  <a:t>为第二关键字进行排序。</a:t>
                </a:r>
                <a:endParaRPr lang="en-US" altLang="zh-CN" smtClean="0"/>
              </a:p>
              <a:p>
                <a:r>
                  <a:rPr lang="zh-CN" altLang="en-US" smtClean="0"/>
                  <a:t>准备一个空栈，并将前两个点压入栈。</a:t>
                </a:r>
                <a:endParaRPr lang="en-US" altLang="zh-CN" smtClean="0"/>
              </a:p>
              <a:p>
                <a:r>
                  <a:rPr lang="zh-CN" altLang="en-US" smtClean="0"/>
                  <a:t>对于每一个顶点 </a:t>
                </a:r>
                <a:r>
                  <a:rPr lang="en-US" altLang="zh-CN" i="1" smtClean="0">
                    <a:latin typeface="Times New Roman" pitchFamily="18" charset="0"/>
                    <a:cs typeface="Times New Roman" pitchFamily="18" charset="0"/>
                  </a:rPr>
                  <a:t>A</a:t>
                </a:r>
                <a:r>
                  <a:rPr lang="zh-CN" altLang="en-US" smtClean="0"/>
                  <a:t>，只要栈顶中还有至少两个顶点，记栈顶为 </a:t>
                </a:r>
                <a:r>
                  <a:rPr lang="en-US" altLang="zh-CN" i="1" smtClean="0">
                    <a:latin typeface="Times New Roman" pitchFamily="18" charset="0"/>
                    <a:cs typeface="Times New Roman" pitchFamily="18" charset="0"/>
                  </a:rPr>
                  <a:t>T</a:t>
                </a:r>
                <a:r>
                  <a:rPr lang="zh-CN" altLang="en-US" smtClean="0"/>
                  <a:t>，栈中第二个为 </a:t>
                </a:r>
                <a:r>
                  <a:rPr lang="en-US" altLang="zh-CN" i="1" smtClean="0">
                    <a:latin typeface="Times New Roman" pitchFamily="18" charset="0"/>
                    <a:cs typeface="Times New Roman" pitchFamily="18" charset="0"/>
                  </a:rPr>
                  <a:t>U</a:t>
                </a:r>
                <a:r>
                  <a:rPr lang="zh-CN" altLang="en-US" smtClean="0"/>
                  <a:t>。若 </a:t>
                </a:r>
                <a14:m>
                  <m:oMath xmlns:m="http://schemas.openxmlformats.org/officeDocument/2006/math">
                    <m:acc>
                      <m:accPr>
                        <m:chr m:val="⃑"/>
                        <m:ctrlPr>
                          <a:rPr lang="zh-CN" altLang="en-US" i="1" smtClean="0">
                            <a:latin typeface="Cambria Math"/>
                          </a:rPr>
                        </m:ctrlPr>
                      </m:accPr>
                      <m:e>
                        <m:r>
                          <a:rPr lang="en-US" altLang="zh-CN" b="0" i="1" smtClean="0">
                            <a:latin typeface="Cambria Math"/>
                          </a:rPr>
                          <m:t>𝑈𝑇</m:t>
                        </m:r>
                      </m:e>
                    </m:acc>
                    <m:r>
                      <a:rPr lang="en-US" altLang="zh-CN" b="0" i="1" smtClean="0">
                        <a:latin typeface="Cambria Math"/>
                      </a:rPr>
                      <m:t>×</m:t>
                    </m:r>
                    <m:acc>
                      <m:accPr>
                        <m:chr m:val="⃑"/>
                        <m:ctrlPr>
                          <a:rPr lang="en-US" altLang="zh-CN" b="0" i="1" smtClean="0">
                            <a:latin typeface="Cambria Math"/>
                          </a:rPr>
                        </m:ctrlPr>
                      </m:accPr>
                      <m:e>
                        <m:r>
                          <a:rPr lang="en-US" altLang="zh-CN" b="0" i="1" smtClean="0">
                            <a:latin typeface="Cambria Math"/>
                          </a:rPr>
                          <m:t>𝑇𝐴</m:t>
                        </m:r>
                      </m:e>
                    </m:acc>
                    <m:r>
                      <a:rPr lang="en-US" altLang="zh-CN" b="0" i="1" smtClean="0">
                        <a:latin typeface="Cambria Math"/>
                      </a:rPr>
                      <m:t>≤0</m:t>
                    </m:r>
                  </m:oMath>
                </a14:m>
                <a:r>
                  <a:rPr lang="zh-CN" altLang="en-US" smtClean="0"/>
                  <a:t>，则将 </a:t>
                </a:r>
                <a:r>
                  <a:rPr lang="en-US" altLang="zh-CN" i="1" smtClean="0"/>
                  <a:t>T  </a:t>
                </a:r>
                <a:r>
                  <a:rPr lang="zh-CN" altLang="en-US" smtClean="0"/>
                  <a:t>弹出。重复此过程。</a:t>
                </a:r>
                <a:endParaRPr lang="en-US" altLang="zh-CN" smtClean="0"/>
              </a:p>
              <a:p>
                <a:r>
                  <a:rPr lang="zh-CN" altLang="en-US" smtClean="0"/>
                  <a:t>直到上一步不再弹出顶点，将 </a:t>
                </a:r>
                <a:r>
                  <a:rPr lang="en-US" altLang="zh-CN" i="1" smtClean="0">
                    <a:latin typeface="Times New Roman" pitchFamily="18" charset="0"/>
                    <a:cs typeface="Times New Roman" pitchFamily="18" charset="0"/>
                  </a:rPr>
                  <a:t>A</a:t>
                </a:r>
                <a:r>
                  <a:rPr lang="en-US" altLang="zh-CN" smtClean="0"/>
                  <a:t/>
                </a:r>
                <a:r>
                  <a:rPr lang="zh-CN" altLang="en-US" smtClean="0"/>
                  <a:t>压入栈。扫描完一遍之后得到凸包的</a:t>
                </a:r>
                <a:r>
                  <a:rPr lang="zh-CN" altLang="en-US" b="1" smtClean="0">
                    <a:solidFill>
                      <a:schemeClr val="accent4">
                        <a:lumMod val="60000"/>
                        <a:lumOff val="40000"/>
                      </a:schemeClr>
                    </a:solidFill>
                  </a:rPr>
                  <a:t>下凸壳</a:t>
                </a:r>
                <a:r>
                  <a:rPr lang="zh-CN" altLang="en-US" smtClean="0"/>
                  <a:t>。</a:t>
                </a:r>
                <a:endParaRPr lang="en-US" altLang="zh-CN" smtClean="0"/>
              </a:p>
              <a:p>
                <a:r>
                  <a:rPr lang="zh-CN" altLang="en-US" smtClean="0"/>
                  <a:t>将点集倒过来再进行一次，得到凸包的</a:t>
                </a:r>
                <a:r>
                  <a:rPr lang="zh-CN" altLang="en-US" b="1" smtClean="0">
                    <a:solidFill>
                      <a:schemeClr val="accent4">
                        <a:lumMod val="60000"/>
                        <a:lumOff val="40000"/>
                      </a:schemeClr>
                    </a:solidFill>
                  </a:rPr>
                  <a:t>上凸壳</a:t>
                </a:r>
                <a:r>
                  <a:rPr lang="zh-CN" altLang="en-US" smtClean="0"/>
                  <a:t>，组合起来即可。</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157" t="-1333" r="-314" b="-8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71250867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771800" y="2420888"/>
            <a:ext cx="4038096" cy="3796826"/>
          </a:xfrm>
        </p:spPr>
      </p:pic>
      <p:sp>
        <p:nvSpPr>
          <p:cNvPr id="5" name="TextBox 4"/>
          <p:cNvSpPr txBox="1"/>
          <p:nvPr/>
        </p:nvSpPr>
        <p:spPr>
          <a:xfrm>
            <a:off x="1187624" y="1609636"/>
            <a:ext cx="7416824" cy="523220"/>
          </a:xfrm>
          <a:prstGeom prst="rect">
            <a:avLst/>
          </a:prstGeom>
          <a:noFill/>
        </p:spPr>
        <p:txBody>
          <a:bodyPr wrap="square" rtlCol="0">
            <a:spAutoFit/>
          </a:bodyPr>
          <a:lstStyle/>
          <a:p>
            <a:pPr algn="ctr"/>
            <a:r>
              <a:rPr lang="zh-CN" altLang="en-US" sz="2800" smtClean="0">
                <a:latin typeface="Adobe 宋体 Std L" pitchFamily="18" charset="-122"/>
                <a:ea typeface="Adobe 宋体 Std L" pitchFamily="18" charset="-122"/>
              </a:rPr>
              <a:t>首先将所有点排序。</a:t>
            </a:r>
            <a:endParaRPr lang="zh-CN" altLang="en-US" sz="2800">
              <a:latin typeface="Adobe 宋体 Std L" pitchFamily="18" charset="-122"/>
              <a:ea typeface="Adobe 宋体 Std L" pitchFamily="18" charset="-122"/>
            </a:endParaRPr>
          </a:p>
        </p:txBody>
      </p:sp>
    </p:spTree>
    <p:extLst>
      <p:ext uri="{BB962C8B-B14F-4D97-AF65-F5344CB8AC3E}">
        <p14:creationId xmlns:p14="http://schemas.microsoft.com/office/powerpoint/2010/main" xmlns="" val="130830685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771800" y="2420888"/>
            <a:ext cx="4038096" cy="3796826"/>
          </a:xfrm>
        </p:spPr>
      </p:pic>
      <p:sp>
        <p:nvSpPr>
          <p:cNvPr id="5" name="TextBox 4"/>
          <p:cNvSpPr txBox="1"/>
          <p:nvPr/>
        </p:nvSpPr>
        <p:spPr>
          <a:xfrm>
            <a:off x="1187624" y="1609636"/>
            <a:ext cx="7416824" cy="523220"/>
          </a:xfrm>
          <a:prstGeom prst="rect">
            <a:avLst/>
          </a:prstGeom>
          <a:noFill/>
        </p:spPr>
        <p:txBody>
          <a:bodyPr wrap="square" rtlCol="0">
            <a:spAutoFit/>
          </a:bodyPr>
          <a:lstStyle/>
          <a:p>
            <a:pPr algn="ctr"/>
            <a:r>
              <a:rPr lang="zh-CN" altLang="en-US" sz="2800" smtClean="0">
                <a:latin typeface="Adobe 宋体 Std L" pitchFamily="18" charset="-122"/>
                <a:ea typeface="Adobe 宋体 Std L" pitchFamily="18" charset="-122"/>
              </a:rPr>
              <a:t>将</a:t>
            </a:r>
            <a:r>
              <a:rPr lang="en-US" altLang="zh-CN" sz="2800">
                <a:latin typeface="Adobe 宋体 Std L" pitchFamily="18" charset="-122"/>
                <a:ea typeface="Adobe 宋体 Std L" pitchFamily="18" charset="-122"/>
              </a:rPr>
              <a:t> </a:t>
            </a:r>
            <a:r>
              <a:rPr lang="en-US" altLang="zh-CN" sz="2800" smtClean="0">
                <a:latin typeface="Adobe 宋体 Std L" pitchFamily="18" charset="-122"/>
                <a:ea typeface="Adobe 宋体 Std L" pitchFamily="18" charset="-122"/>
              </a:rPr>
              <a:t>1 </a:t>
            </a:r>
            <a:r>
              <a:rPr lang="zh-CN" altLang="en-US" sz="2800" smtClean="0">
                <a:latin typeface="Adobe 宋体 Std L" pitchFamily="18" charset="-122"/>
                <a:ea typeface="Adobe 宋体 Std L" pitchFamily="18" charset="-122"/>
              </a:rPr>
              <a:t>和 </a:t>
            </a:r>
            <a:r>
              <a:rPr lang="en-US" altLang="zh-CN" sz="2800" smtClean="0">
                <a:latin typeface="Adobe 宋体 Std L" pitchFamily="18" charset="-122"/>
                <a:ea typeface="Adobe 宋体 Std L" pitchFamily="18" charset="-122"/>
              </a:rPr>
              <a:t>2 </a:t>
            </a:r>
            <a:r>
              <a:rPr lang="zh-CN" altLang="en-US" sz="2800" smtClean="0">
                <a:latin typeface="Adobe 宋体 Std L" pitchFamily="18" charset="-122"/>
                <a:ea typeface="Adobe 宋体 Std L" pitchFamily="18" charset="-122"/>
              </a:rPr>
              <a:t>压入栈。</a:t>
            </a:r>
            <a:endParaRPr lang="zh-CN" altLang="en-US" sz="2800">
              <a:latin typeface="Adobe 宋体 Std L" pitchFamily="18" charset="-122"/>
              <a:ea typeface="Adobe 宋体 Std L" pitchFamily="18" charset="-122"/>
            </a:endParaRPr>
          </a:p>
        </p:txBody>
      </p:sp>
    </p:spTree>
    <p:extLst>
      <p:ext uri="{BB962C8B-B14F-4D97-AF65-F5344CB8AC3E}">
        <p14:creationId xmlns:p14="http://schemas.microsoft.com/office/powerpoint/2010/main" xmlns="" val="243182920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771800" y="2420888"/>
            <a:ext cx="4038096" cy="3796826"/>
          </a:xfrm>
        </p:spPr>
      </p:pic>
      <p:sp>
        <p:nvSpPr>
          <p:cNvPr id="5" name="TextBox 4"/>
          <p:cNvSpPr txBox="1"/>
          <p:nvPr/>
        </p:nvSpPr>
        <p:spPr>
          <a:xfrm>
            <a:off x="1187624" y="1609636"/>
            <a:ext cx="7416824" cy="523220"/>
          </a:xfrm>
          <a:prstGeom prst="rect">
            <a:avLst/>
          </a:prstGeom>
          <a:noFill/>
        </p:spPr>
        <p:txBody>
          <a:bodyPr wrap="square" rtlCol="0">
            <a:spAutoFit/>
          </a:bodyPr>
          <a:lstStyle/>
          <a:p>
            <a:pPr algn="ctr"/>
            <a:r>
              <a:rPr lang="en-US" altLang="zh-CN" sz="2800" smtClean="0">
                <a:latin typeface="Adobe 宋体 Std L" pitchFamily="18" charset="-122"/>
                <a:ea typeface="Adobe 宋体 Std L" pitchFamily="18" charset="-122"/>
              </a:rPr>
              <a:t>2 </a:t>
            </a:r>
            <a:r>
              <a:rPr lang="zh-CN" altLang="en-US" sz="2800" smtClean="0">
                <a:latin typeface="Adobe 宋体 Std L" pitchFamily="18" charset="-122"/>
                <a:ea typeface="Adobe 宋体 Std L" pitchFamily="18" charset="-122"/>
              </a:rPr>
              <a:t>被弹出栈，</a:t>
            </a:r>
            <a:r>
              <a:rPr lang="en-US" altLang="zh-CN" sz="2800" smtClean="0">
                <a:latin typeface="Adobe 宋体 Std L" pitchFamily="18" charset="-122"/>
                <a:ea typeface="Adobe 宋体 Std L" pitchFamily="18" charset="-122"/>
              </a:rPr>
              <a:t>3 </a:t>
            </a:r>
            <a:r>
              <a:rPr lang="zh-CN" altLang="en-US" sz="2800" smtClean="0">
                <a:latin typeface="Adobe 宋体 Std L" pitchFamily="18" charset="-122"/>
                <a:ea typeface="Adobe 宋体 Std L" pitchFamily="18" charset="-122"/>
              </a:rPr>
              <a:t>进栈。</a:t>
            </a:r>
            <a:endParaRPr lang="zh-CN" altLang="en-US" sz="2800">
              <a:latin typeface="Adobe 宋体 Std L" pitchFamily="18" charset="-122"/>
              <a:ea typeface="Adobe 宋体 Std L" pitchFamily="18" charset="-122"/>
            </a:endParaRPr>
          </a:p>
        </p:txBody>
      </p:sp>
    </p:spTree>
    <p:extLst>
      <p:ext uri="{BB962C8B-B14F-4D97-AF65-F5344CB8AC3E}">
        <p14:creationId xmlns:p14="http://schemas.microsoft.com/office/powerpoint/2010/main" xmlns="" val="341945493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771800" y="2420888"/>
            <a:ext cx="4038096" cy="3796826"/>
          </a:xfrm>
        </p:spPr>
      </p:pic>
      <p:sp>
        <p:nvSpPr>
          <p:cNvPr id="5" name="TextBox 4"/>
          <p:cNvSpPr txBox="1"/>
          <p:nvPr/>
        </p:nvSpPr>
        <p:spPr>
          <a:xfrm>
            <a:off x="1187624" y="1609636"/>
            <a:ext cx="7416824" cy="523220"/>
          </a:xfrm>
          <a:prstGeom prst="rect">
            <a:avLst/>
          </a:prstGeom>
          <a:noFill/>
        </p:spPr>
        <p:txBody>
          <a:bodyPr wrap="square" rtlCol="0">
            <a:spAutoFit/>
          </a:bodyPr>
          <a:lstStyle/>
          <a:p>
            <a:pPr algn="ctr"/>
            <a:r>
              <a:rPr lang="zh-CN" altLang="en-US" sz="2800" smtClean="0">
                <a:latin typeface="Adobe 宋体 Std L" pitchFamily="18" charset="-122"/>
                <a:ea typeface="Adobe 宋体 Std L" pitchFamily="18" charset="-122"/>
              </a:rPr>
              <a:t>没有点被弹出栈，</a:t>
            </a:r>
            <a:r>
              <a:rPr lang="en-US" altLang="zh-CN" sz="2800" smtClean="0">
                <a:latin typeface="Adobe 宋体 Std L" pitchFamily="18" charset="-122"/>
                <a:ea typeface="Adobe 宋体 Std L" pitchFamily="18" charset="-122"/>
              </a:rPr>
              <a:t>4 </a:t>
            </a:r>
            <a:r>
              <a:rPr lang="zh-CN" altLang="en-US" sz="2800" smtClean="0">
                <a:latin typeface="Adobe 宋体 Std L" pitchFamily="18" charset="-122"/>
                <a:ea typeface="Adobe 宋体 Std L" pitchFamily="18" charset="-122"/>
              </a:rPr>
              <a:t>进栈。</a:t>
            </a:r>
            <a:endParaRPr lang="zh-CN" altLang="en-US" sz="2800">
              <a:latin typeface="Adobe 宋体 Std L" pitchFamily="18" charset="-122"/>
              <a:ea typeface="Adobe 宋体 Std L" pitchFamily="18" charset="-122"/>
            </a:endParaRPr>
          </a:p>
        </p:txBody>
      </p:sp>
    </p:spTree>
    <p:extLst>
      <p:ext uri="{BB962C8B-B14F-4D97-AF65-F5344CB8AC3E}">
        <p14:creationId xmlns:p14="http://schemas.microsoft.com/office/powerpoint/2010/main" xmlns="" val="361738914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771800" y="2420888"/>
            <a:ext cx="4038096" cy="3796826"/>
          </a:xfrm>
        </p:spPr>
      </p:pic>
      <p:sp>
        <p:nvSpPr>
          <p:cNvPr id="5" name="TextBox 4"/>
          <p:cNvSpPr txBox="1"/>
          <p:nvPr/>
        </p:nvSpPr>
        <p:spPr>
          <a:xfrm>
            <a:off x="1187624" y="1609636"/>
            <a:ext cx="7416824" cy="523220"/>
          </a:xfrm>
          <a:prstGeom prst="rect">
            <a:avLst/>
          </a:prstGeom>
          <a:noFill/>
        </p:spPr>
        <p:txBody>
          <a:bodyPr wrap="square" rtlCol="0">
            <a:spAutoFit/>
          </a:bodyPr>
          <a:lstStyle/>
          <a:p>
            <a:pPr algn="ctr"/>
            <a:r>
              <a:rPr lang="en-US" altLang="zh-CN" sz="2800" smtClean="0">
                <a:latin typeface="Adobe 宋体 Std L" pitchFamily="18" charset="-122"/>
                <a:ea typeface="Adobe 宋体 Std L" pitchFamily="18" charset="-122"/>
              </a:rPr>
              <a:t>4 </a:t>
            </a:r>
            <a:r>
              <a:rPr lang="zh-CN" altLang="en-US" sz="2800" smtClean="0">
                <a:latin typeface="Adobe 宋体 Std L" pitchFamily="18" charset="-122"/>
                <a:ea typeface="Adobe 宋体 Std L" pitchFamily="18" charset="-122"/>
              </a:rPr>
              <a:t>被弹出栈，</a:t>
            </a:r>
            <a:r>
              <a:rPr lang="en-US" altLang="zh-CN" sz="2800" smtClean="0">
                <a:latin typeface="Adobe 宋体 Std L" pitchFamily="18" charset="-122"/>
                <a:ea typeface="Adobe 宋体 Std L" pitchFamily="18" charset="-122"/>
              </a:rPr>
              <a:t>5 </a:t>
            </a:r>
            <a:r>
              <a:rPr lang="zh-CN" altLang="en-US" sz="2800" smtClean="0">
                <a:latin typeface="Adobe 宋体 Std L" pitchFamily="18" charset="-122"/>
                <a:ea typeface="Adobe 宋体 Std L" pitchFamily="18" charset="-122"/>
              </a:rPr>
              <a:t>进栈。</a:t>
            </a:r>
            <a:endParaRPr lang="zh-CN" altLang="en-US" sz="2800">
              <a:latin typeface="Adobe 宋体 Std L" pitchFamily="18" charset="-122"/>
              <a:ea typeface="Adobe 宋体 Std L" pitchFamily="18" charset="-122"/>
            </a:endParaRPr>
          </a:p>
        </p:txBody>
      </p:sp>
    </p:spTree>
    <p:extLst>
      <p:ext uri="{BB962C8B-B14F-4D97-AF65-F5344CB8AC3E}">
        <p14:creationId xmlns:p14="http://schemas.microsoft.com/office/powerpoint/2010/main" xmlns="" val="393729030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771800" y="2420888"/>
            <a:ext cx="4038096" cy="3796826"/>
          </a:xfrm>
        </p:spPr>
      </p:pic>
      <p:sp>
        <p:nvSpPr>
          <p:cNvPr id="5" name="TextBox 4"/>
          <p:cNvSpPr txBox="1"/>
          <p:nvPr/>
        </p:nvSpPr>
        <p:spPr>
          <a:xfrm>
            <a:off x="1187624" y="1609636"/>
            <a:ext cx="7416824" cy="523220"/>
          </a:xfrm>
          <a:prstGeom prst="rect">
            <a:avLst/>
          </a:prstGeom>
          <a:noFill/>
        </p:spPr>
        <p:txBody>
          <a:bodyPr wrap="square" rtlCol="0">
            <a:spAutoFit/>
          </a:bodyPr>
          <a:lstStyle/>
          <a:p>
            <a:pPr algn="ctr"/>
            <a:r>
              <a:rPr lang="en-US" altLang="zh-CN" sz="2800" smtClean="0">
                <a:latin typeface="Adobe 宋体 Std L" pitchFamily="18" charset="-122"/>
                <a:ea typeface="Adobe 宋体 Std L" pitchFamily="18" charset="-122"/>
              </a:rPr>
              <a:t>5 </a:t>
            </a:r>
            <a:r>
              <a:rPr lang="zh-CN" altLang="en-US" sz="2800" smtClean="0">
                <a:latin typeface="Adobe 宋体 Std L" pitchFamily="18" charset="-122"/>
                <a:ea typeface="Adobe 宋体 Std L" pitchFamily="18" charset="-122"/>
              </a:rPr>
              <a:t>被弹出栈，</a:t>
            </a:r>
            <a:r>
              <a:rPr lang="en-US" altLang="zh-CN" sz="2800" smtClean="0">
                <a:latin typeface="Adobe 宋体 Std L" pitchFamily="18" charset="-122"/>
                <a:ea typeface="Adobe 宋体 Std L" pitchFamily="18" charset="-122"/>
              </a:rPr>
              <a:t>6 </a:t>
            </a:r>
            <a:r>
              <a:rPr lang="zh-CN" altLang="en-US" sz="2800" smtClean="0">
                <a:latin typeface="Adobe 宋体 Std L" pitchFamily="18" charset="-122"/>
                <a:ea typeface="Adobe 宋体 Std L" pitchFamily="18" charset="-122"/>
              </a:rPr>
              <a:t>进栈。</a:t>
            </a:r>
            <a:endParaRPr lang="zh-CN" altLang="en-US" sz="2800">
              <a:latin typeface="Adobe 宋体 Std L" pitchFamily="18" charset="-122"/>
              <a:ea typeface="Adobe 宋体 Std L" pitchFamily="18" charset="-122"/>
            </a:endParaRPr>
          </a:p>
        </p:txBody>
      </p:sp>
    </p:spTree>
    <p:extLst>
      <p:ext uri="{BB962C8B-B14F-4D97-AF65-F5344CB8AC3E}">
        <p14:creationId xmlns:p14="http://schemas.microsoft.com/office/powerpoint/2010/main" xmlns="" val="415728287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771800" y="2420888"/>
            <a:ext cx="4038096" cy="3796826"/>
          </a:xfrm>
        </p:spPr>
      </p:pic>
      <p:sp>
        <p:nvSpPr>
          <p:cNvPr id="5" name="TextBox 4"/>
          <p:cNvSpPr txBox="1"/>
          <p:nvPr/>
        </p:nvSpPr>
        <p:spPr>
          <a:xfrm>
            <a:off x="1187624" y="1609636"/>
            <a:ext cx="7416824" cy="523220"/>
          </a:xfrm>
          <a:prstGeom prst="rect">
            <a:avLst/>
          </a:prstGeom>
          <a:noFill/>
        </p:spPr>
        <p:txBody>
          <a:bodyPr wrap="square" rtlCol="0">
            <a:spAutoFit/>
          </a:bodyPr>
          <a:lstStyle/>
          <a:p>
            <a:pPr algn="ctr"/>
            <a:r>
              <a:rPr lang="en-US" altLang="zh-CN" sz="2800" smtClean="0">
                <a:latin typeface="Adobe 宋体 Std L" pitchFamily="18" charset="-122"/>
                <a:ea typeface="Adobe 宋体 Std L" pitchFamily="18" charset="-122"/>
              </a:rPr>
              <a:t>6 </a:t>
            </a:r>
            <a:r>
              <a:rPr lang="zh-CN" altLang="en-US" sz="2800" smtClean="0">
                <a:latin typeface="Adobe 宋体 Std L" pitchFamily="18" charset="-122"/>
                <a:ea typeface="Adobe 宋体 Std L" pitchFamily="18" charset="-122"/>
              </a:rPr>
              <a:t>被弹出栈，</a:t>
            </a:r>
            <a:r>
              <a:rPr lang="en-US" altLang="zh-CN" sz="2800" smtClean="0">
                <a:latin typeface="Adobe 宋体 Std L" pitchFamily="18" charset="-122"/>
                <a:ea typeface="Adobe 宋体 Std L" pitchFamily="18" charset="-122"/>
              </a:rPr>
              <a:t>7 </a:t>
            </a:r>
            <a:r>
              <a:rPr lang="zh-CN" altLang="en-US" sz="2800" smtClean="0">
                <a:latin typeface="Adobe 宋体 Std L" pitchFamily="18" charset="-122"/>
                <a:ea typeface="Adobe 宋体 Std L" pitchFamily="18" charset="-122"/>
              </a:rPr>
              <a:t>进栈。</a:t>
            </a:r>
            <a:endParaRPr lang="zh-CN" altLang="en-US" sz="2800">
              <a:latin typeface="Adobe 宋体 Std L" pitchFamily="18" charset="-122"/>
              <a:ea typeface="Adobe 宋体 Std L" pitchFamily="18" charset="-122"/>
            </a:endParaRPr>
          </a:p>
        </p:txBody>
      </p:sp>
    </p:spTree>
    <p:extLst>
      <p:ext uri="{BB962C8B-B14F-4D97-AF65-F5344CB8AC3E}">
        <p14:creationId xmlns:p14="http://schemas.microsoft.com/office/powerpoint/2010/main" xmlns="" val="340716130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771800" y="2420888"/>
            <a:ext cx="4038096" cy="3796826"/>
          </a:xfrm>
        </p:spPr>
      </p:pic>
      <p:sp>
        <p:nvSpPr>
          <p:cNvPr id="5" name="TextBox 4"/>
          <p:cNvSpPr txBox="1"/>
          <p:nvPr/>
        </p:nvSpPr>
        <p:spPr>
          <a:xfrm>
            <a:off x="1187624" y="1609636"/>
            <a:ext cx="7416824" cy="523220"/>
          </a:xfrm>
          <a:prstGeom prst="rect">
            <a:avLst/>
          </a:prstGeom>
          <a:noFill/>
        </p:spPr>
        <p:txBody>
          <a:bodyPr wrap="square" rtlCol="0">
            <a:spAutoFit/>
          </a:bodyPr>
          <a:lstStyle/>
          <a:p>
            <a:pPr algn="ctr"/>
            <a:r>
              <a:rPr lang="zh-CN" altLang="en-US" sz="2800" smtClean="0">
                <a:latin typeface="Adobe 宋体 Std L" pitchFamily="18" charset="-122"/>
                <a:ea typeface="Adobe 宋体 Std L" pitchFamily="18" charset="-122"/>
              </a:rPr>
              <a:t>如此直到下凸壳被找到。</a:t>
            </a:r>
            <a:endParaRPr lang="zh-CN" altLang="en-US" sz="2800">
              <a:latin typeface="Adobe 宋体 Std L" pitchFamily="18" charset="-122"/>
              <a:ea typeface="Adobe 宋体 Std L" pitchFamily="18" charset="-122"/>
            </a:endParaRPr>
          </a:p>
        </p:txBody>
      </p:sp>
    </p:spTree>
    <p:extLst>
      <p:ext uri="{BB962C8B-B14F-4D97-AF65-F5344CB8AC3E}">
        <p14:creationId xmlns:p14="http://schemas.microsoft.com/office/powerpoint/2010/main" xmlns="" val="364020377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771800" y="2420888"/>
            <a:ext cx="4038096" cy="3796826"/>
          </a:xfrm>
        </p:spPr>
      </p:pic>
      <p:sp>
        <p:nvSpPr>
          <p:cNvPr id="5" name="TextBox 4"/>
          <p:cNvSpPr txBox="1"/>
          <p:nvPr/>
        </p:nvSpPr>
        <p:spPr>
          <a:xfrm>
            <a:off x="1187624" y="1609636"/>
            <a:ext cx="7416824" cy="523220"/>
          </a:xfrm>
          <a:prstGeom prst="rect">
            <a:avLst/>
          </a:prstGeom>
          <a:noFill/>
        </p:spPr>
        <p:txBody>
          <a:bodyPr wrap="square" rtlCol="0">
            <a:spAutoFit/>
          </a:bodyPr>
          <a:lstStyle/>
          <a:p>
            <a:pPr algn="ctr"/>
            <a:r>
              <a:rPr lang="zh-CN" altLang="en-US" sz="2800" smtClean="0">
                <a:latin typeface="Adobe 宋体 Std L" pitchFamily="18" charset="-122"/>
                <a:ea typeface="Adobe 宋体 Std L" pitchFamily="18" charset="-122"/>
              </a:rPr>
              <a:t>倒序进行扫描找到上凸壳。</a:t>
            </a:r>
            <a:endParaRPr lang="zh-CN" altLang="en-US" sz="2800">
              <a:latin typeface="Adobe 宋体 Std L" pitchFamily="18" charset="-122"/>
              <a:ea typeface="Adobe 宋体 Std L" pitchFamily="18" charset="-122"/>
            </a:endParaRPr>
          </a:p>
        </p:txBody>
      </p:sp>
    </p:spTree>
    <p:extLst>
      <p:ext uri="{BB962C8B-B14F-4D97-AF65-F5344CB8AC3E}">
        <p14:creationId xmlns:p14="http://schemas.microsoft.com/office/powerpoint/2010/main" xmlns="" val="280502980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Graham </a:t>
            </a:r>
            <a:r>
              <a:rPr lang="zh-CN" altLang="en-US" smtClean="0"/>
              <a:t>扫描的时间复杂度</a:t>
            </a:r>
            <a:endParaRPr lang="zh-CN" altLang="en-US"/>
          </a:p>
        </p:txBody>
      </p:sp>
      <p:sp>
        <p:nvSpPr>
          <p:cNvPr id="3" name="内容占位符 2"/>
          <p:cNvSpPr>
            <a:spLocks noGrp="1"/>
          </p:cNvSpPr>
          <p:nvPr>
            <p:ph idx="1"/>
          </p:nvPr>
        </p:nvSpPr>
        <p:spPr/>
        <p:txBody>
          <a:bodyPr/>
          <a:lstStyle/>
          <a:p>
            <a:r>
              <a:rPr lang="zh-CN" altLang="en-US" smtClean="0"/>
              <a:t>这太傻缺了。算法的瓶颈在排序，所以时间复杂度是 </a:t>
            </a:r>
            <a:r>
              <a:rPr lang="en-US" altLang="zh-CN" smtClean="0">
                <a:latin typeface="Times New Roman" pitchFamily="18" charset="0"/>
                <a:cs typeface="Times New Roman" pitchFamily="18" charset="0"/>
              </a:rPr>
              <a:t>O(</a:t>
            </a:r>
            <a:r>
              <a:rPr lang="en-US" altLang="zh-CN" i="1" smtClean="0">
                <a:latin typeface="Times New Roman" pitchFamily="18" charset="0"/>
                <a:cs typeface="Times New Roman" pitchFamily="18" charset="0"/>
              </a:rPr>
              <a:t>N </a:t>
            </a:r>
            <a:r>
              <a:rPr lang="en-US" altLang="zh-CN" smtClean="0">
                <a:latin typeface="Times New Roman" pitchFamily="18" charset="0"/>
                <a:cs typeface="Times New Roman" pitchFamily="18" charset="0"/>
              </a:rPr>
              <a:t>log </a:t>
            </a:r>
            <a:r>
              <a:rPr lang="en-US" altLang="zh-CN" i="1" smtClean="0">
                <a:latin typeface="Times New Roman" pitchFamily="18" charset="0"/>
                <a:cs typeface="Times New Roman" pitchFamily="18" charset="0"/>
              </a:rPr>
              <a:t>N</a:t>
            </a:r>
            <a:r>
              <a:rPr lang="en-US" altLang="zh-CN" smtClean="0">
                <a:latin typeface="Times New Roman" pitchFamily="18" charset="0"/>
                <a:cs typeface="Times New Roman" pitchFamily="18" charset="0"/>
              </a:rPr>
              <a:t>)</a:t>
            </a:r>
            <a:r>
              <a:rPr lang="zh-CN" altLang="en-US" smtClean="0"/>
              <a:t>。</a:t>
            </a:r>
            <a:endParaRPr lang="en-US" altLang="zh-CN" smtClean="0"/>
          </a:p>
          <a:p>
            <a:r>
              <a:rPr lang="zh-CN" altLang="en-US" smtClean="0"/>
              <a:t>若坐标均为整数，可以用基数排序将复杂度优化到 </a:t>
            </a:r>
            <a:r>
              <a:rPr lang="en-US" altLang="zh-CN" smtClean="0">
                <a:latin typeface="Times New Roman" pitchFamily="18" charset="0"/>
                <a:cs typeface="Times New Roman" pitchFamily="18" charset="0"/>
              </a:rPr>
              <a:t>O(</a:t>
            </a:r>
            <a:r>
              <a:rPr lang="en-US" altLang="zh-CN" i="1" smtClean="0">
                <a:latin typeface="Times New Roman" pitchFamily="18" charset="0"/>
                <a:cs typeface="Times New Roman" pitchFamily="18" charset="0"/>
              </a:rPr>
              <a:t>N</a:t>
            </a:r>
            <a:r>
              <a:rPr lang="en-US" altLang="zh-CN" smtClean="0">
                <a:latin typeface="Times New Roman" pitchFamily="18" charset="0"/>
                <a:cs typeface="Times New Roman" pitchFamily="18" charset="0"/>
              </a:rPr>
              <a:t>)</a:t>
            </a:r>
            <a:r>
              <a:rPr lang="zh-CN" altLang="en-US" smtClean="0"/>
              <a:t>。</a:t>
            </a:r>
            <a:endParaRPr lang="zh-CN" altLang="en-US"/>
          </a:p>
        </p:txBody>
      </p:sp>
    </p:spTree>
    <p:extLst>
      <p:ext uri="{BB962C8B-B14F-4D97-AF65-F5344CB8AC3E}">
        <p14:creationId xmlns:p14="http://schemas.microsoft.com/office/powerpoint/2010/main" xmlns="" val="296551345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旋转卡壳算法</a:t>
            </a:r>
            <a:endParaRPr lang="zh-CN" altLang="en-US"/>
          </a:p>
        </p:txBody>
      </p:sp>
      <p:sp>
        <p:nvSpPr>
          <p:cNvPr id="3" name="内容占位符 2"/>
          <p:cNvSpPr>
            <a:spLocks noGrp="1"/>
          </p:cNvSpPr>
          <p:nvPr>
            <p:ph idx="1"/>
          </p:nvPr>
        </p:nvSpPr>
        <p:spPr/>
        <p:txBody>
          <a:bodyPr/>
          <a:lstStyle/>
          <a:p>
            <a:r>
              <a:rPr lang="zh-CN" altLang="en-US" smtClean="0"/>
              <a:t>如何计算 </a:t>
            </a:r>
            <a:r>
              <a:rPr lang="en-US" altLang="zh-CN" i="1" smtClean="0">
                <a:latin typeface="Times New Roman" pitchFamily="18" charset="0"/>
                <a:cs typeface="Times New Roman" pitchFamily="18" charset="0"/>
              </a:rPr>
              <a:t>N</a:t>
            </a:r>
            <a:r>
              <a:rPr lang="en-US" altLang="zh-CN" smtClean="0"/>
              <a:t> </a:t>
            </a:r>
            <a:r>
              <a:rPr lang="zh-CN" altLang="en-US" smtClean="0"/>
              <a:t>个点中，距离最大的两个点的距离？</a:t>
            </a:r>
            <a:endParaRPr lang="en-US" altLang="zh-CN" smtClean="0"/>
          </a:p>
          <a:p>
            <a:r>
              <a:rPr lang="zh-CN" altLang="en-US" smtClean="0"/>
              <a:t>要求 </a:t>
            </a:r>
            <a:r>
              <a:rPr lang="en-US" altLang="zh-CN" smtClean="0">
                <a:latin typeface="Times New Roman" pitchFamily="18" charset="0"/>
                <a:cs typeface="Times New Roman" pitchFamily="18" charset="0"/>
              </a:rPr>
              <a:t>O(</a:t>
            </a:r>
            <a:r>
              <a:rPr lang="en-US" altLang="zh-CN" i="1" smtClean="0">
                <a:latin typeface="Times New Roman" pitchFamily="18" charset="0"/>
                <a:cs typeface="Times New Roman" pitchFamily="18" charset="0"/>
              </a:rPr>
              <a:t>N</a:t>
            </a:r>
            <a:r>
              <a:rPr lang="en-US" altLang="zh-CN" smtClean="0">
                <a:latin typeface="Times New Roman" pitchFamily="18" charset="0"/>
                <a:cs typeface="Times New Roman" pitchFamily="18" charset="0"/>
              </a:rPr>
              <a:t> log </a:t>
            </a:r>
            <a:r>
              <a:rPr lang="en-US" altLang="zh-CN" i="1" smtClean="0">
                <a:latin typeface="Times New Roman" pitchFamily="18" charset="0"/>
                <a:cs typeface="Times New Roman" pitchFamily="18" charset="0"/>
              </a:rPr>
              <a:t>N</a:t>
            </a:r>
            <a:r>
              <a:rPr lang="en-US" altLang="zh-CN" smtClean="0">
                <a:latin typeface="Times New Roman" pitchFamily="18" charset="0"/>
                <a:cs typeface="Times New Roman" pitchFamily="18" charset="0"/>
              </a:rPr>
              <a:t>) </a:t>
            </a:r>
            <a:r>
              <a:rPr lang="zh-CN" altLang="en-US" smtClean="0"/>
              <a:t>的算法。</a:t>
            </a:r>
            <a:endParaRPr lang="en-US" altLang="zh-CN" smtClean="0"/>
          </a:p>
          <a:p>
            <a:r>
              <a:rPr lang="zh-CN" altLang="en-US" smtClean="0"/>
              <a:t>容易证明距离最大的两个点一定是凸包上的两个点，很明显是先求凸包然后做文章啦。</a:t>
            </a:r>
            <a:endParaRPr lang="zh-CN" altLang="en-US"/>
          </a:p>
        </p:txBody>
      </p:sp>
    </p:spTree>
    <p:extLst>
      <p:ext uri="{BB962C8B-B14F-4D97-AF65-F5344CB8AC3E}">
        <p14:creationId xmlns:p14="http://schemas.microsoft.com/office/powerpoint/2010/main" xmlns="" val="237830398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对踵点</a:t>
            </a:r>
            <a:endParaRPr lang="zh-CN" altLang="en-US"/>
          </a:p>
        </p:txBody>
      </p:sp>
      <p:sp>
        <p:nvSpPr>
          <p:cNvPr id="3" name="内容占位符 2"/>
          <p:cNvSpPr>
            <a:spLocks noGrp="1"/>
          </p:cNvSpPr>
          <p:nvPr>
            <p:ph idx="1"/>
          </p:nvPr>
        </p:nvSpPr>
        <p:spPr/>
        <p:txBody>
          <a:bodyPr/>
          <a:lstStyle/>
          <a:p>
            <a:r>
              <a:rPr lang="zh-CN" altLang="en-US" smtClean="0"/>
              <a:t>若凸包上的两个顶点能落在一对平行切线上，则称它们为对踵点。</a:t>
            </a:r>
            <a:endParaRPr lang="en-US" altLang="zh-CN" smtClean="0"/>
          </a:p>
          <a:p>
            <a:r>
              <a:rPr lang="zh-CN" altLang="en-US"/>
              <a:t>容易</a:t>
            </a:r>
            <a:r>
              <a:rPr lang="zh-CN" altLang="en-US" smtClean="0"/>
              <a:t>证明，答案一定是一对对踵点之间的距离。</a:t>
            </a:r>
            <a:endParaRPr lang="zh-CN" altLang="en-US"/>
          </a:p>
        </p:txBody>
      </p:sp>
      <p:pic>
        <p:nvPicPr>
          <p:cNvPr id="4" name="图片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4788024" y="3608130"/>
            <a:ext cx="3456384" cy="3249870"/>
          </a:xfrm>
          <a:prstGeom prst="rect">
            <a:avLst/>
          </a:prstGeom>
        </p:spPr>
      </p:pic>
    </p:spTree>
    <p:extLst>
      <p:ext uri="{BB962C8B-B14F-4D97-AF65-F5344CB8AC3E}">
        <p14:creationId xmlns:p14="http://schemas.microsoft.com/office/powerpoint/2010/main" xmlns="" val="63690197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对踵点的枚举</a:t>
            </a:r>
            <a:endParaRPr lang="zh-CN" altLang="en-US"/>
          </a:p>
        </p:txBody>
      </p:sp>
      <p:sp>
        <p:nvSpPr>
          <p:cNvPr id="3" name="内容占位符 2"/>
          <p:cNvSpPr>
            <a:spLocks noGrp="1"/>
          </p:cNvSpPr>
          <p:nvPr>
            <p:ph idx="1"/>
          </p:nvPr>
        </p:nvSpPr>
        <p:spPr/>
        <p:txBody>
          <a:bodyPr/>
          <a:lstStyle/>
          <a:p>
            <a:r>
              <a:rPr lang="zh-CN" altLang="en-US" smtClean="0"/>
              <a:t>从一对对踵点逆时针枚举下一对对踵点的话，只需要观察下图中 </a:t>
            </a:r>
            <a:r>
              <a:rPr lang="en-US" altLang="zh-CN" i="1" smtClean="0">
                <a:latin typeface="Times New Roman" pitchFamily="18" charset="0"/>
                <a:cs typeface="Times New Roman" pitchFamily="18" charset="0"/>
              </a:rPr>
              <a:t>α</a:t>
            </a:r>
            <a:r>
              <a:rPr lang="en-US" altLang="zh-CN" smtClean="0"/>
              <a:t> </a:t>
            </a:r>
            <a:r>
              <a:rPr lang="zh-CN" altLang="en-US" smtClean="0"/>
              <a:t>角和 </a:t>
            </a:r>
            <a:r>
              <a:rPr lang="en-US" altLang="zh-CN" i="1" smtClean="0">
                <a:latin typeface="Times New Roman" pitchFamily="18" charset="0"/>
                <a:cs typeface="Times New Roman" pitchFamily="18" charset="0"/>
              </a:rPr>
              <a:t>β</a:t>
            </a:r>
            <a:r>
              <a:rPr lang="en-US" altLang="zh-CN" smtClean="0"/>
              <a:t> </a:t>
            </a:r>
            <a:r>
              <a:rPr lang="zh-CN" altLang="en-US" smtClean="0"/>
              <a:t>角的大小，选择其中较小的一个转过去就行了。</a:t>
            </a:r>
            <a:endParaRPr lang="zh-CN" altLang="en-US"/>
          </a:p>
        </p:txBody>
      </p:sp>
      <p:pic>
        <p:nvPicPr>
          <p:cNvPr id="4" name="图片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843808" y="3565230"/>
            <a:ext cx="3502010" cy="3292770"/>
          </a:xfrm>
          <a:prstGeom prst="rect">
            <a:avLst/>
          </a:prstGeom>
        </p:spPr>
      </p:pic>
    </p:spTree>
    <p:extLst>
      <p:ext uri="{BB962C8B-B14F-4D97-AF65-F5344CB8AC3E}">
        <p14:creationId xmlns:p14="http://schemas.microsoft.com/office/powerpoint/2010/main" xmlns="" val="365036211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算法</a:t>
            </a:r>
          </a:p>
        </p:txBody>
      </p:sp>
      <p:sp>
        <p:nvSpPr>
          <p:cNvPr id="3" name="内容占位符 2"/>
          <p:cNvSpPr>
            <a:spLocks noGrp="1"/>
          </p:cNvSpPr>
          <p:nvPr>
            <p:ph idx="1"/>
          </p:nvPr>
        </p:nvSpPr>
        <p:spPr/>
        <p:txBody>
          <a:bodyPr/>
          <a:lstStyle/>
          <a:p>
            <a:r>
              <a:rPr lang="zh-CN" altLang="en-US" smtClean="0"/>
              <a:t>最左侧点和最右侧点一定是对踵点。从此点对开始枚举即可。</a:t>
            </a:r>
            <a:endParaRPr lang="en-US" altLang="zh-CN" smtClean="0"/>
          </a:p>
          <a:p>
            <a:r>
              <a:rPr lang="zh-CN" altLang="en-US" smtClean="0"/>
              <a:t>注意不只有“点</a:t>
            </a:r>
            <a:r>
              <a:rPr lang="en-US" altLang="zh-CN"/>
              <a:t> </a:t>
            </a:r>
            <a:r>
              <a:rPr lang="en-US" altLang="zh-CN" smtClean="0"/>
              <a:t>– </a:t>
            </a:r>
            <a:r>
              <a:rPr lang="zh-CN" altLang="en-US" smtClean="0"/>
              <a:t>点”的情况，还有“点 </a:t>
            </a:r>
            <a:r>
              <a:rPr lang="en-US" altLang="zh-CN" smtClean="0"/>
              <a:t>– </a:t>
            </a:r>
            <a:r>
              <a:rPr lang="zh-CN" altLang="en-US" smtClean="0"/>
              <a:t>边”和“边 </a:t>
            </a:r>
            <a:r>
              <a:rPr lang="en-US" altLang="zh-CN" smtClean="0"/>
              <a:t>– </a:t>
            </a:r>
            <a:r>
              <a:rPr lang="zh-CN" altLang="en-US" smtClean="0"/>
              <a:t>边”的情况。这些情况下要枚举所有的点对。</a:t>
            </a:r>
            <a:endParaRPr lang="en-US" altLang="zh-CN" smtClean="0"/>
          </a:p>
          <a:p>
            <a:r>
              <a:rPr lang="zh-CN" altLang="en-US" smtClean="0"/>
              <a:t>虽然看上去很简单，但是写起来还是要颇费一番周折的。</a:t>
            </a:r>
            <a:endParaRPr lang="zh-CN" altLang="en-US"/>
          </a:p>
        </p:txBody>
      </p:sp>
    </p:spTree>
    <p:extLst>
      <p:ext uri="{BB962C8B-B14F-4D97-AF65-F5344CB8AC3E}">
        <p14:creationId xmlns:p14="http://schemas.microsoft.com/office/powerpoint/2010/main" xmlns="" val="127117608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旋转卡壳练习题</a:t>
            </a:r>
            <a:endParaRPr lang="zh-CN" altLang="en-US"/>
          </a:p>
        </p:txBody>
      </p:sp>
      <p:sp>
        <p:nvSpPr>
          <p:cNvPr id="3" name="内容占位符 2"/>
          <p:cNvSpPr>
            <a:spLocks noGrp="1"/>
          </p:cNvSpPr>
          <p:nvPr>
            <p:ph idx="1"/>
          </p:nvPr>
        </p:nvSpPr>
        <p:spPr/>
        <p:txBody>
          <a:bodyPr/>
          <a:lstStyle/>
          <a:p>
            <a:r>
              <a:rPr lang="en-US" altLang="zh-CN" b="1" smtClean="0">
                <a:solidFill>
                  <a:schemeClr val="accent4">
                    <a:lumMod val="60000"/>
                    <a:lumOff val="40000"/>
                  </a:schemeClr>
                </a:solidFill>
              </a:rPr>
              <a:t>POJ 2178  </a:t>
            </a:r>
            <a:r>
              <a:rPr lang="zh-CN" altLang="en-US" smtClean="0"/>
              <a:t>求点集中最远点</a:t>
            </a:r>
            <a:endParaRPr lang="en-US" altLang="zh-CN" smtClean="0"/>
          </a:p>
          <a:p>
            <a:r>
              <a:rPr lang="en-US" altLang="zh-CN" b="1" smtClean="0">
                <a:solidFill>
                  <a:schemeClr val="accent4">
                    <a:lumMod val="60000"/>
                    <a:lumOff val="40000"/>
                  </a:schemeClr>
                </a:solidFill>
              </a:rPr>
              <a:t>POJ 3608  </a:t>
            </a:r>
            <a:r>
              <a:rPr lang="zh-CN" altLang="en-US" smtClean="0"/>
              <a:t>求两凸包间的最近点</a:t>
            </a:r>
            <a:endParaRPr lang="en-US" altLang="zh-CN" smtClean="0"/>
          </a:p>
          <a:p>
            <a:r>
              <a:rPr lang="en-US" altLang="zh-CN" b="1" smtClean="0">
                <a:solidFill>
                  <a:schemeClr val="accent4">
                    <a:lumMod val="60000"/>
                    <a:lumOff val="40000"/>
                  </a:schemeClr>
                </a:solidFill>
              </a:rPr>
              <a:t>POJ 2079  </a:t>
            </a:r>
            <a:r>
              <a:rPr lang="zh-CN" altLang="en-US" smtClean="0"/>
              <a:t>求以点集中的点为顶点组成的三角形的最大面积，要求 </a:t>
            </a:r>
            <a:r>
              <a:rPr lang="en-US" altLang="zh-CN" smtClean="0">
                <a:latin typeface="Times New Roman" pitchFamily="18" charset="0"/>
                <a:cs typeface="Times New Roman" pitchFamily="18" charset="0"/>
              </a:rPr>
              <a:t>O(</a:t>
            </a:r>
            <a:r>
              <a:rPr lang="en-US" altLang="zh-CN" i="1" smtClean="0">
                <a:latin typeface="Times New Roman" pitchFamily="18" charset="0"/>
                <a:cs typeface="Times New Roman" pitchFamily="18" charset="0"/>
              </a:rPr>
              <a:t>N</a:t>
            </a:r>
            <a:r>
              <a:rPr lang="en-US" altLang="zh-CN" baseline="30000" smtClean="0">
                <a:latin typeface="Times New Roman" pitchFamily="18" charset="0"/>
                <a:cs typeface="Times New Roman" pitchFamily="18" charset="0"/>
              </a:rPr>
              <a:t>2</a:t>
            </a:r>
            <a:r>
              <a:rPr lang="en-US" altLang="zh-CN" smtClean="0">
                <a:latin typeface="Times New Roman" pitchFamily="18" charset="0"/>
                <a:cs typeface="Times New Roman" pitchFamily="18" charset="0"/>
              </a:rPr>
              <a:t>) </a:t>
            </a:r>
            <a:r>
              <a:rPr lang="zh-CN" altLang="en-US" smtClean="0"/>
              <a:t>算法。</a:t>
            </a:r>
            <a:endParaRPr lang="zh-CN" altLang="en-US"/>
          </a:p>
        </p:txBody>
      </p:sp>
    </p:spTree>
    <p:extLst>
      <p:ext uri="{BB962C8B-B14F-4D97-AF65-F5344CB8AC3E}">
        <p14:creationId xmlns:p14="http://schemas.microsoft.com/office/powerpoint/2010/main" xmlns="" val="63272882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半平面</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dirty="0" smtClean="0"/>
                  <a:t>半平面指一条直线的一侧的点构成的点集，一般包含直线上的点。</a:t>
                </a:r>
                <a:endParaRPr lang="en-US" altLang="zh-CN" dirty="0" smtClean="0"/>
              </a:p>
              <a:p>
                <a:r>
                  <a:rPr lang="zh-CN" altLang="en-US" dirty="0" smtClean="0"/>
                  <a:t>在解析几何中直线多以 </a:t>
                </a:r>
                <a14:m>
                  <m:oMath xmlns:m="http://schemas.openxmlformats.org/officeDocument/2006/math">
                    <m:r>
                      <a:rPr lang="en-US" altLang="zh-CN" b="0" i="1" smtClean="0">
                        <a:latin typeface="Cambria Math"/>
                      </a:rPr>
                      <m:t>𝐴𝑥</m:t>
                    </m:r>
                    <m:r>
                      <a:rPr lang="en-US" altLang="zh-CN" b="0" i="1" smtClean="0">
                        <a:latin typeface="Cambria Math"/>
                      </a:rPr>
                      <m:t>+</m:t>
                    </m:r>
                    <m:r>
                      <a:rPr lang="en-US" altLang="zh-CN" b="0" i="1" smtClean="0">
                        <a:latin typeface="Cambria Math"/>
                      </a:rPr>
                      <m:t>𝐵𝑦</m:t>
                    </m:r>
                    <m:r>
                      <a:rPr lang="en-US" altLang="zh-CN" b="0" i="1" smtClean="0">
                        <a:latin typeface="Cambria Math"/>
                      </a:rPr>
                      <m:t>+</m:t>
                    </m:r>
                    <m:r>
                      <a:rPr lang="en-US" altLang="zh-CN" b="0" i="1" smtClean="0">
                        <a:latin typeface="Cambria Math"/>
                      </a:rPr>
                      <m:t>𝐶</m:t>
                    </m:r>
                    <m:r>
                      <a:rPr lang="en-US" altLang="zh-CN" b="0" i="1" smtClean="0">
                        <a:latin typeface="Cambria Math"/>
                      </a:rPr>
                      <m:t>=0</m:t>
                    </m:r>
                  </m:oMath>
                </a14:m>
                <a:r>
                  <a:rPr lang="zh-CN" altLang="en-US" dirty="0" smtClean="0"/>
                  <a:t> 表示 </a:t>
                </a:r>
                <a:r>
                  <a:rPr lang="en-US" altLang="zh-CN" dirty="0" smtClean="0"/>
                  <a:t>(</a:t>
                </a:r>
                <a:r>
                  <a:rPr lang="zh-CN" altLang="en-US" dirty="0" smtClean="0"/>
                  <a:t>其中 </a:t>
                </a:r>
                <a:r>
                  <a:rPr lang="en-US" altLang="zh-CN" i="1" dirty="0" smtClean="0">
                    <a:latin typeface="Times New Roman" pitchFamily="18" charset="0"/>
                    <a:cs typeface="Times New Roman" pitchFamily="18" charset="0"/>
                  </a:rPr>
                  <a:t>A</a:t>
                </a:r>
                <a:r>
                  <a:rPr lang="en-US" altLang="zh-CN" dirty="0" smtClean="0"/>
                  <a:t>, </a:t>
                </a:r>
                <a:r>
                  <a:rPr lang="en-US" altLang="zh-CN" i="1" dirty="0" smtClean="0">
                    <a:latin typeface="Times New Roman" pitchFamily="18" charset="0"/>
                    <a:cs typeface="Times New Roman" pitchFamily="18" charset="0"/>
                  </a:rPr>
                  <a:t>B</a:t>
                </a:r>
                <a:r>
                  <a:rPr lang="en-US" altLang="zh-CN" dirty="0" smtClean="0"/>
                  <a:t>, </a:t>
                </a:r>
                <a:r>
                  <a:rPr lang="en-US" altLang="zh-CN" i="1" dirty="0" smtClean="0">
                    <a:latin typeface="Times New Roman" pitchFamily="18" charset="0"/>
                    <a:cs typeface="Times New Roman" pitchFamily="18" charset="0"/>
                  </a:rPr>
                  <a:t>C</a:t>
                </a:r>
                <a:r>
                  <a:rPr lang="en-US" altLang="zh-CN" dirty="0" smtClean="0"/>
                  <a:t/>
                </a:r>
                <a:r>
                  <a:rPr lang="zh-CN" altLang="en-US" dirty="0" smtClean="0"/>
                  <a:t>是常数，</a:t>
                </a:r>
                <a:r>
                  <a:rPr lang="en-US" altLang="zh-CN" i="1" dirty="0" smtClean="0">
                    <a:latin typeface="Times New Roman" pitchFamily="18" charset="0"/>
                    <a:cs typeface="Times New Roman" pitchFamily="18" charset="0"/>
                  </a:rPr>
                  <a:t>A</a:t>
                </a:r>
                <a:r>
                  <a:rPr lang="en-US" altLang="zh-CN" dirty="0" smtClean="0"/>
                  <a:t>, </a:t>
                </a:r>
                <a:r>
                  <a:rPr lang="en-US" altLang="zh-CN" i="1" dirty="0" smtClean="0">
                    <a:latin typeface="Times New Roman" pitchFamily="18" charset="0"/>
                    <a:cs typeface="Times New Roman" pitchFamily="18" charset="0"/>
                  </a:rPr>
                  <a:t>B</a:t>
                </a:r>
                <a:r>
                  <a:rPr lang="en-US" altLang="zh-CN" dirty="0" smtClean="0"/>
                  <a:t/>
                </a:r>
                <a:r>
                  <a:rPr lang="zh-CN" altLang="en-US" dirty="0" smtClean="0"/>
                  <a:t>不全等于 </a:t>
                </a:r>
                <a:r>
                  <a:rPr lang="en-US" altLang="zh-CN" dirty="0" smtClean="0"/>
                  <a:t>0)</a:t>
                </a:r>
                <a:r>
                  <a:rPr lang="zh-CN" altLang="en-US" dirty="0" smtClean="0"/>
                  <a:t>。半平面交即以 </a:t>
                </a:r>
                <a14:m>
                  <m:oMath xmlns:m="http://schemas.openxmlformats.org/officeDocument/2006/math">
                    <m:r>
                      <a:rPr lang="en-US" altLang="zh-CN" b="0" i="1" smtClean="0">
                        <a:latin typeface="Cambria Math"/>
                      </a:rPr>
                      <m:t>𝐴𝑥</m:t>
                    </m:r>
                    <m:r>
                      <a:rPr lang="en-US" altLang="zh-CN" b="0" i="1" smtClean="0">
                        <a:latin typeface="Cambria Math"/>
                      </a:rPr>
                      <m:t>+</m:t>
                    </m:r>
                    <m:r>
                      <a:rPr lang="en-US" altLang="zh-CN" b="0" i="1" smtClean="0">
                        <a:latin typeface="Cambria Math"/>
                      </a:rPr>
                      <m:t>𝐵𝑦</m:t>
                    </m:r>
                    <m:r>
                      <a:rPr lang="en-US" altLang="zh-CN" b="0" i="1" smtClean="0">
                        <a:latin typeface="Cambria Math"/>
                      </a:rPr>
                      <m:t>+</m:t>
                    </m:r>
                    <m:r>
                      <a:rPr lang="en-US" altLang="zh-CN" b="0" i="1" smtClean="0">
                        <a:latin typeface="Cambria Math"/>
                      </a:rPr>
                      <m:t>𝐶</m:t>
                    </m:r>
                    <m:r>
                      <a:rPr lang="en-US" altLang="zh-CN" b="0" i="1" smtClean="0">
                        <a:latin typeface="Cambria Math"/>
                      </a:rPr>
                      <m:t>≥0</m:t>
                    </m:r>
                  </m:oMath>
                </a14:m>
                <a:r>
                  <a:rPr lang="zh-CN" altLang="en-US" dirty="0" smtClean="0"/>
                  <a:t> 表示。</a:t>
                </a:r>
                <a:endParaRPr lang="en-US" altLang="zh-CN" dirty="0" smtClean="0"/>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1200" r="-2588"/>
                </a:stretch>
              </a:blipFill>
            </p:spPr>
            <p:txBody>
              <a:bodyPr/>
              <a:lstStyle/>
              <a:p>
                <a:r>
                  <a:rPr lang="zh-CN" altLang="en-US">
                    <a:noFill/>
                  </a:rPr>
                  <a:t> </a:t>
                </a:r>
              </a:p>
            </p:txBody>
          </p:sp>
        </mc:Fallback>
      </mc:AlternateContent>
      <p:pic>
        <p:nvPicPr>
          <p:cNvPr id="4" name="图片 3"/>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6588224" y="4789421"/>
            <a:ext cx="1926338" cy="1944216"/>
          </a:xfrm>
          <a:prstGeom prst="rect">
            <a:avLst/>
          </a:prstGeom>
        </p:spPr>
      </p:pic>
    </p:spTree>
    <p:extLst>
      <p:ext uri="{BB962C8B-B14F-4D97-AF65-F5344CB8AC3E}">
        <p14:creationId xmlns:p14="http://schemas.microsoft.com/office/powerpoint/2010/main" xmlns="" val="235898967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半平面的表示</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smtClean="0"/>
                  <a:t>半平面一般用一个点 </a:t>
                </a:r>
                <a:r>
                  <a:rPr lang="en-US" altLang="zh-CN" i="1" smtClean="0">
                    <a:latin typeface="Times New Roman" pitchFamily="18" charset="0"/>
                    <a:cs typeface="Times New Roman" pitchFamily="18" charset="0"/>
                  </a:rPr>
                  <a:t>P</a:t>
                </a:r>
                <a:r>
                  <a:rPr lang="en-US" altLang="zh-CN" smtClean="0"/>
                  <a:t/>
                </a:r>
                <a:r>
                  <a:rPr lang="zh-CN" altLang="en-US" smtClean="0"/>
                  <a:t>和方向矢量 </a:t>
                </a:r>
                <a:r>
                  <a:rPr lang="en-US" altLang="zh-CN" b="1" i="1" smtClean="0">
                    <a:latin typeface="Times New Roman" pitchFamily="18" charset="0"/>
                    <a:cs typeface="Times New Roman" pitchFamily="18" charset="0"/>
                  </a:rPr>
                  <a:t>v</a:t>
                </a:r>
                <a:r>
                  <a:rPr lang="en-US" altLang="zh-CN" smtClean="0"/>
                  <a:t/>
                </a:r>
                <a:r>
                  <a:rPr lang="zh-CN" altLang="en-US" smtClean="0"/>
                  <a:t>来代表。满足 </a:t>
                </a:r>
                <a14:m>
                  <m:oMath xmlns:m="http://schemas.openxmlformats.org/officeDocument/2006/math">
                    <m:r>
                      <a:rPr lang="en-US" altLang="zh-CN" b="1" i="1" smtClean="0">
                        <a:latin typeface="Cambria Math"/>
                      </a:rPr>
                      <m:t>𝒗</m:t>
                    </m:r>
                    <m:r>
                      <a:rPr lang="en-US" altLang="zh-CN" b="0" i="1" smtClean="0">
                        <a:latin typeface="Cambria Math"/>
                      </a:rPr>
                      <m:t>×</m:t>
                    </m:r>
                    <m:d>
                      <m:dPr>
                        <m:ctrlPr>
                          <a:rPr lang="en-US" altLang="zh-CN" b="0" i="1" smtClean="0">
                            <a:latin typeface="Cambria Math"/>
                          </a:rPr>
                        </m:ctrlPr>
                      </m:dPr>
                      <m:e>
                        <m:r>
                          <a:rPr lang="en-US" altLang="zh-CN" b="0" i="1" smtClean="0">
                            <a:latin typeface="Cambria Math"/>
                          </a:rPr>
                          <m:t>𝐴</m:t>
                        </m:r>
                        <m:r>
                          <a:rPr lang="en-US" altLang="zh-CN" b="0" i="1" smtClean="0">
                            <a:latin typeface="Cambria Math"/>
                          </a:rPr>
                          <m:t>−</m:t>
                        </m:r>
                        <m:r>
                          <a:rPr lang="en-US" altLang="zh-CN" b="0" i="1" smtClean="0">
                            <a:latin typeface="Cambria Math"/>
                          </a:rPr>
                          <m:t>𝑃</m:t>
                        </m:r>
                      </m:e>
                    </m:d>
                    <m:r>
                      <a:rPr lang="en-US" altLang="zh-CN" b="0" i="1" smtClean="0">
                        <a:latin typeface="Cambria Math"/>
                      </a:rPr>
                      <m:t>≥0</m:t>
                    </m:r>
                  </m:oMath>
                </a14:m>
                <a:r>
                  <a:rPr lang="zh-CN" altLang="en-US" smtClean="0"/>
                  <a:t> 的点 </a:t>
                </a:r>
                <a:r>
                  <a:rPr lang="en-US" altLang="zh-CN" i="1" smtClean="0">
                    <a:latin typeface="Times New Roman" pitchFamily="18" charset="0"/>
                    <a:cs typeface="Times New Roman" pitchFamily="18" charset="0"/>
                  </a:rPr>
                  <a:t>A</a:t>
                </a:r>
                <a:r>
                  <a:rPr lang="en-US" altLang="zh-CN" smtClean="0"/>
                  <a:t/>
                </a:r>
                <a:r>
                  <a:rPr lang="zh-CN" altLang="en-US" smtClean="0"/>
                  <a:t>在半平面上。</a:t>
                </a:r>
                <a:endParaRPr lang="en-US" altLang="zh-CN" smtClean="0"/>
              </a:p>
              <a:p>
                <a:r>
                  <a:rPr lang="en-US" altLang="zh-CN" b="1" i="1" smtClean="0">
                    <a:latin typeface="Times New Roman" pitchFamily="18" charset="0"/>
                    <a:cs typeface="Times New Roman" pitchFamily="18" charset="0"/>
                  </a:rPr>
                  <a:t>v</a:t>
                </a:r>
                <a:r>
                  <a:rPr lang="en-US" altLang="zh-CN" smtClean="0"/>
                  <a:t/>
                </a:r>
                <a:r>
                  <a:rPr lang="zh-CN" altLang="en-US" smtClean="0"/>
                  <a:t>的极角即为半平面的极角。</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667"/>
                </a:stretch>
              </a:blipFill>
            </p:spPr>
            <p:txBody>
              <a:bodyPr/>
              <a:lstStyle/>
              <a:p>
                <a:r>
                  <a:rPr lang="zh-CN" altLang="en-US">
                    <a:noFill/>
                  </a:rPr>
                  <a:t> </a:t>
                </a:r>
              </a:p>
            </p:txBody>
          </p:sp>
        </mc:Fallback>
      </mc:AlternateContent>
      <p:pic>
        <p:nvPicPr>
          <p:cNvPr id="4" name="图片 3"/>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5293083" y="3504349"/>
            <a:ext cx="3281909" cy="3312368"/>
          </a:xfrm>
          <a:prstGeom prst="rect">
            <a:avLst/>
          </a:prstGeom>
        </p:spPr>
      </p:pic>
    </p:spTree>
    <p:extLst>
      <p:ext uri="{BB962C8B-B14F-4D97-AF65-F5344CB8AC3E}">
        <p14:creationId xmlns:p14="http://schemas.microsoft.com/office/powerpoint/2010/main" xmlns="" val="367402189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半平面的交</a:t>
            </a:r>
            <a:endParaRPr lang="zh-CN" altLang="en-US"/>
          </a:p>
        </p:txBody>
      </p:sp>
      <p:sp>
        <p:nvSpPr>
          <p:cNvPr id="3" name="内容占位符 2"/>
          <p:cNvSpPr>
            <a:spLocks noGrp="1"/>
          </p:cNvSpPr>
          <p:nvPr>
            <p:ph idx="1"/>
          </p:nvPr>
        </p:nvSpPr>
        <p:spPr/>
        <p:txBody>
          <a:bodyPr/>
          <a:lstStyle/>
          <a:p>
            <a:r>
              <a:rPr lang="zh-CN" altLang="en-US" smtClean="0"/>
              <a:t>半平面是凸集，所以半平面的交也是凸集。</a:t>
            </a:r>
            <a:endParaRPr lang="en-US" altLang="zh-CN" smtClean="0"/>
          </a:p>
          <a:p>
            <a:r>
              <a:rPr lang="zh-CN" altLang="en-US" smtClean="0"/>
              <a:t>有限个半平面的交可能是空集、点、直线、射线、线段、凸多边形、有“开口”的形状甚至一个半平面。</a:t>
            </a:r>
            <a:endParaRPr lang="zh-CN" altLang="en-US"/>
          </a:p>
        </p:txBody>
      </p:sp>
      <p:pic>
        <p:nvPicPr>
          <p:cNvPr id="4" name="图片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5447484" y="3573016"/>
            <a:ext cx="3238595" cy="3312368"/>
          </a:xfrm>
          <a:prstGeom prst="rect">
            <a:avLst/>
          </a:prstGeom>
        </p:spPr>
      </p:pic>
    </p:spTree>
    <p:extLst>
      <p:ext uri="{BB962C8B-B14F-4D97-AF65-F5344CB8AC3E}">
        <p14:creationId xmlns:p14="http://schemas.microsoft.com/office/powerpoint/2010/main" xmlns="" val="133744507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朴素的每次 </a:t>
            </a:r>
            <a:r>
              <a:rPr lang="en-US" altLang="zh-CN" smtClean="0"/>
              <a:t>O(N) </a:t>
            </a:r>
            <a:r>
              <a:rPr lang="zh-CN" altLang="en-US"/>
              <a:t>算</a:t>
            </a:r>
            <a:r>
              <a:rPr lang="zh-CN" altLang="en-US" smtClean="0"/>
              <a:t>法</a:t>
            </a:r>
            <a:endParaRPr lang="zh-CN" altLang="en-US"/>
          </a:p>
        </p:txBody>
      </p:sp>
      <p:sp>
        <p:nvSpPr>
          <p:cNvPr id="3" name="内容占位符 2"/>
          <p:cNvSpPr>
            <a:spLocks noGrp="1"/>
          </p:cNvSpPr>
          <p:nvPr>
            <p:ph idx="1"/>
          </p:nvPr>
        </p:nvSpPr>
        <p:spPr/>
        <p:txBody>
          <a:bodyPr/>
          <a:lstStyle/>
          <a:p>
            <a:r>
              <a:rPr lang="zh-CN" altLang="en-US" smtClean="0"/>
              <a:t>为了保证结果是凸多边形或其退化，首先建立一个非～常～大的边框。你懂的。</a:t>
            </a:r>
            <a:endParaRPr lang="en-US" altLang="zh-CN" smtClean="0"/>
          </a:p>
          <a:p>
            <a:r>
              <a:rPr lang="zh-CN" altLang="en-US" smtClean="0"/>
              <a:t>每次顺次枚举多边形的边，与半平面求交，并将交的部分加入新多边形。</a:t>
            </a:r>
            <a:endParaRPr lang="en-US" altLang="zh-CN" smtClean="0"/>
          </a:p>
          <a:p>
            <a:r>
              <a:rPr lang="zh-CN" altLang="en-US" smtClean="0"/>
              <a:t>在</a:t>
            </a:r>
            <a:r>
              <a:rPr lang="zh-CN" altLang="en-US" b="1" smtClean="0">
                <a:solidFill>
                  <a:schemeClr val="tx2">
                    <a:lumMod val="75000"/>
                  </a:schemeClr>
                </a:solidFill>
              </a:rPr>
              <a:t>得到</a:t>
            </a:r>
            <a:r>
              <a:rPr lang="zh-CN" altLang="en-US" smtClean="0"/>
              <a:t>半平面边界与凸多边形所交形成的边时，立即将其加入新多边形。</a:t>
            </a:r>
            <a:endParaRPr lang="en-US" altLang="zh-CN" smtClean="0"/>
          </a:p>
        </p:txBody>
      </p:sp>
    </p:spTree>
    <p:extLst>
      <p:ext uri="{BB962C8B-B14F-4D97-AF65-F5344CB8AC3E}">
        <p14:creationId xmlns:p14="http://schemas.microsoft.com/office/powerpoint/2010/main" xmlns="" val="75370982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560550" y="1784350"/>
            <a:ext cx="4480099" cy="4572000"/>
          </a:xfrm>
        </p:spPr>
      </p:pic>
    </p:spTree>
    <p:extLst>
      <p:ext uri="{BB962C8B-B14F-4D97-AF65-F5344CB8AC3E}">
        <p14:creationId xmlns:p14="http://schemas.microsoft.com/office/powerpoint/2010/main" xmlns="" val="233719348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值得注意的边界情况 </a:t>
            </a:r>
            <a:r>
              <a:rPr lang="en-US" altLang="zh-CN" smtClean="0"/>
              <a:t>1</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914400" y="2136965"/>
            <a:ext cx="7772400" cy="3866769"/>
          </a:xfrm>
        </p:spPr>
      </p:pic>
    </p:spTree>
    <p:extLst>
      <p:ext uri="{BB962C8B-B14F-4D97-AF65-F5344CB8AC3E}">
        <p14:creationId xmlns:p14="http://schemas.microsoft.com/office/powerpoint/2010/main" xmlns="" val="368572691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值得注意的边界情况 </a:t>
            </a:r>
            <a:r>
              <a:rPr lang="en-US" altLang="zh-CN" smtClean="0"/>
              <a:t>2</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914400" y="2136965"/>
            <a:ext cx="7772399" cy="3866769"/>
          </a:xfrm>
        </p:spPr>
      </p:pic>
    </p:spTree>
    <p:extLst>
      <p:ext uri="{BB962C8B-B14F-4D97-AF65-F5344CB8AC3E}">
        <p14:creationId xmlns:p14="http://schemas.microsoft.com/office/powerpoint/2010/main" xmlns="" val="233284902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值得注意的边界情况 </a:t>
            </a:r>
            <a:r>
              <a:rPr lang="en-US" altLang="zh-CN" smtClean="0"/>
              <a:t>3</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914400" y="2136965"/>
            <a:ext cx="7772400" cy="3866769"/>
          </a:xfrm>
        </p:spPr>
      </p:pic>
    </p:spTree>
    <p:extLst>
      <p:ext uri="{BB962C8B-B14F-4D97-AF65-F5344CB8AC3E}">
        <p14:creationId xmlns:p14="http://schemas.microsoft.com/office/powerpoint/2010/main" xmlns="" val="377343849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合计 </a:t>
            </a:r>
            <a:r>
              <a:rPr lang="en-US" altLang="zh-CN" smtClean="0"/>
              <a:t>O(NlogN) </a:t>
            </a:r>
            <a:r>
              <a:rPr lang="zh-CN" altLang="en-US" smtClean="0"/>
              <a:t>的算法</a:t>
            </a:r>
            <a:endParaRPr lang="zh-CN" altLang="en-US"/>
          </a:p>
        </p:txBody>
      </p:sp>
      <p:sp>
        <p:nvSpPr>
          <p:cNvPr id="3" name="内容占位符 2"/>
          <p:cNvSpPr>
            <a:spLocks noGrp="1"/>
          </p:cNvSpPr>
          <p:nvPr>
            <p:ph idx="1"/>
          </p:nvPr>
        </p:nvSpPr>
        <p:spPr/>
        <p:txBody>
          <a:bodyPr/>
          <a:lstStyle/>
          <a:p>
            <a:r>
              <a:rPr lang="zh-CN" altLang="en-US" smtClean="0"/>
              <a:t>这是朱泽园在其国家集训队论文</a:t>
            </a:r>
            <a:r>
              <a:rPr lang="en-US" altLang="zh-CN" smtClean="0"/>
              <a:t>《</a:t>
            </a:r>
            <a:r>
              <a:rPr lang="zh-CN" altLang="en-US"/>
              <a:t>半平面交的新算法及其实用价值</a:t>
            </a:r>
            <a:r>
              <a:rPr lang="en-US" altLang="zh-CN" smtClean="0"/>
              <a:t>》</a:t>
            </a:r>
            <a:r>
              <a:rPr lang="zh-CN" altLang="en-US" smtClean="0"/>
              <a:t>中提出的算法。</a:t>
            </a:r>
            <a:endParaRPr lang="en-US" altLang="zh-CN" smtClean="0"/>
          </a:p>
          <a:p>
            <a:r>
              <a:rPr lang="zh-CN" altLang="en-US" smtClean="0"/>
              <a:t>由于建立了非～常～大的边框，半平面交的结果一定是一个凸多边形。</a:t>
            </a:r>
            <a:endParaRPr lang="en-US" altLang="zh-CN" smtClean="0"/>
          </a:p>
          <a:p>
            <a:r>
              <a:rPr lang="zh-CN" altLang="en-US" smtClean="0"/>
              <a:t>而凸多边形分为下凸壳和上凸壳。如果分开处理这两部分，就会获得非常好的性质。</a:t>
            </a:r>
            <a:endParaRPr lang="zh-CN" altLang="en-US"/>
          </a:p>
        </p:txBody>
      </p:sp>
    </p:spTree>
    <p:extLst>
      <p:ext uri="{BB962C8B-B14F-4D97-AF65-F5344CB8AC3E}">
        <p14:creationId xmlns:p14="http://schemas.microsoft.com/office/powerpoint/2010/main" xmlns="" val="77620188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下凸壳与上凸壳</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a:xfrm>
                <a:off x="914400" y="1593304"/>
                <a:ext cx="7772400" cy="4572000"/>
              </a:xfrm>
            </p:spPr>
            <p:txBody>
              <a:bodyPr/>
              <a:lstStyle/>
              <a:p>
                <a:r>
                  <a:rPr lang="zh-CN" altLang="en-US" smtClean="0"/>
                  <a:t>下</a:t>
                </a:r>
                <a:r>
                  <a:rPr lang="zh-CN" altLang="en-US"/>
                  <a:t>凸</a:t>
                </a:r>
                <a:r>
                  <a:rPr lang="zh-CN" altLang="en-US" smtClean="0"/>
                  <a:t>壳中矢量的极角在 </a:t>
                </a:r>
                <a14:m>
                  <m:oMath xmlns:m="http://schemas.openxmlformats.org/officeDocument/2006/math">
                    <m:d>
                      <m:dPr>
                        <m:begChr m:val="]"/>
                        <m:endChr m:val="]"/>
                        <m:ctrlPr>
                          <a:rPr lang="zh-CN" altLang="en-US" i="1" smtClean="0">
                            <a:latin typeface="Cambria Math"/>
                          </a:rPr>
                        </m:ctrlPr>
                      </m:dPr>
                      <m:e>
                        <m:r>
                          <a:rPr lang="en-US" altLang="zh-CN" b="0" i="1" smtClean="0">
                            <a:latin typeface="Cambria Math"/>
                          </a:rPr>
                          <m:t>−</m:t>
                        </m:r>
                        <m:f>
                          <m:fPr>
                            <m:ctrlPr>
                              <a:rPr lang="en-US" altLang="zh-CN" i="1" smtClean="0">
                                <a:latin typeface="Cambria Math"/>
                              </a:rPr>
                            </m:ctrlPr>
                          </m:fPr>
                          <m:num>
                            <m:r>
                              <a:rPr lang="en-US" altLang="zh-CN" b="0" i="1" smtClean="0">
                                <a:latin typeface="Cambria Math"/>
                              </a:rPr>
                              <m:t>𝜋</m:t>
                            </m:r>
                          </m:num>
                          <m:den>
                            <m:r>
                              <a:rPr lang="en-US" altLang="zh-CN" b="0" i="1" smtClean="0">
                                <a:latin typeface="Cambria Math"/>
                              </a:rPr>
                              <m:t>2</m:t>
                            </m:r>
                          </m:den>
                        </m:f>
                        <m:r>
                          <a:rPr lang="en-US" altLang="zh-CN" b="0" i="1" smtClean="0">
                            <a:latin typeface="Cambria Math"/>
                          </a:rPr>
                          <m:t>,</m:t>
                        </m:r>
                        <m:f>
                          <m:fPr>
                            <m:ctrlPr>
                              <a:rPr lang="en-US" altLang="zh-CN" b="0" i="1" smtClean="0">
                                <a:latin typeface="Cambria Math"/>
                              </a:rPr>
                            </m:ctrlPr>
                          </m:fPr>
                          <m:num>
                            <m:r>
                              <a:rPr lang="en-US" altLang="zh-CN" b="0" i="1" smtClean="0">
                                <a:latin typeface="Cambria Math"/>
                              </a:rPr>
                              <m:t>𝜋</m:t>
                            </m:r>
                          </m:num>
                          <m:den>
                            <m:r>
                              <a:rPr lang="en-US" altLang="zh-CN" b="0" i="1" smtClean="0">
                                <a:latin typeface="Cambria Math"/>
                              </a:rPr>
                              <m:t>2</m:t>
                            </m:r>
                          </m:den>
                        </m:f>
                      </m:e>
                    </m:d>
                  </m:oMath>
                </a14:m>
                <a:r>
                  <a:rPr lang="zh-CN" altLang="en-US" smtClean="0"/>
                  <a:t> 之间。</a:t>
                </a:r>
                <a:endParaRPr lang="en-US" altLang="zh-CN" smtClean="0"/>
              </a:p>
              <a:p>
                <a:r>
                  <a:rPr lang="zh-CN" altLang="en-US"/>
                  <a:t>上凸</a:t>
                </a:r>
                <a:r>
                  <a:rPr lang="zh-CN" altLang="en-US" smtClean="0"/>
                  <a:t>壳极角取值为其补集。</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914400" y="1593304"/>
                <a:ext cx="7772400" cy="4572000"/>
              </a:xfrm>
              <a:blipFill rotWithShape="1">
                <a:blip r:embed="rId2"/>
                <a:stretch>
                  <a:fillRect l="-471"/>
                </a:stretch>
              </a:blipFill>
            </p:spPr>
            <p:txBody>
              <a:bodyPr/>
              <a:lstStyle/>
              <a:p>
                <a:r>
                  <a:rPr lang="zh-CN" altLang="en-US">
                    <a:noFill/>
                  </a:rPr>
                  <a:t> </a:t>
                </a:r>
              </a:p>
            </p:txBody>
          </p:sp>
        </mc:Fallback>
      </mc:AlternateContent>
      <p:pic>
        <p:nvPicPr>
          <p:cNvPr id="4" name="图片 3"/>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5148064" y="2852936"/>
            <a:ext cx="3739711" cy="3816424"/>
          </a:xfrm>
          <a:prstGeom prst="rect">
            <a:avLst/>
          </a:prstGeom>
        </p:spPr>
      </p:pic>
    </p:spTree>
    <p:extLst>
      <p:ext uri="{BB962C8B-B14F-4D97-AF65-F5344CB8AC3E}">
        <p14:creationId xmlns:p14="http://schemas.microsoft.com/office/powerpoint/2010/main" xmlns="" val="274362539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分别排序</a:t>
            </a:r>
            <a:endParaRPr lang="zh-CN" altLang="en-US"/>
          </a:p>
        </p:txBody>
      </p:sp>
      <p:sp>
        <p:nvSpPr>
          <p:cNvPr id="3" name="内容占位符 2"/>
          <p:cNvSpPr>
            <a:spLocks noGrp="1"/>
          </p:cNvSpPr>
          <p:nvPr>
            <p:ph idx="1"/>
          </p:nvPr>
        </p:nvSpPr>
        <p:spPr/>
        <p:txBody>
          <a:bodyPr/>
          <a:lstStyle/>
          <a:p>
            <a:r>
              <a:rPr lang="zh-CN" altLang="en-US" dirty="0" smtClean="0"/>
              <a:t>按照极角，筛选出可能属于下凸壳和上凸壳的半平面分别按极角大小从小到大排序。</a:t>
            </a:r>
            <a:endParaRPr lang="en-US" altLang="zh-CN" dirty="0" smtClean="0"/>
          </a:p>
          <a:p>
            <a:r>
              <a:rPr lang="zh-CN" altLang="en-US" dirty="0" smtClean="0"/>
              <a:t>上凸壳排序时，极角位于第三象限的半平面要加上</a:t>
            </a:r>
            <a:r>
              <a:rPr lang="zh-CN" altLang="en-US" dirty="0" smtClean="0">
                <a:latin typeface="Times New Roman" pitchFamily="18" charset="0"/>
                <a:cs typeface="Times New Roman" pitchFamily="18" charset="0"/>
              </a:rPr>
              <a:t> </a:t>
            </a:r>
            <a:r>
              <a:rPr lang="en-US" altLang="zh-CN" dirty="0" smtClean="0">
                <a:latin typeface="Times New Roman" pitchFamily="18" charset="0"/>
                <a:cs typeface="Times New Roman" pitchFamily="18" charset="0"/>
              </a:rPr>
              <a:t>2π.</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3563888" y="4509120"/>
            <a:ext cx="2069841" cy="1600000"/>
          </a:xfrm>
          <a:prstGeom prst="rect">
            <a:avLst/>
          </a:prstGeom>
        </p:spPr>
      </p:pic>
    </p:spTree>
    <p:extLst>
      <p:ext uri="{BB962C8B-B14F-4D97-AF65-F5344CB8AC3E}">
        <p14:creationId xmlns:p14="http://schemas.microsoft.com/office/powerpoint/2010/main" xmlns="" val="24872644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扫清障碍</a:t>
            </a:r>
            <a:endParaRPr lang="zh-CN" altLang="en-US"/>
          </a:p>
        </p:txBody>
      </p:sp>
      <p:sp>
        <p:nvSpPr>
          <p:cNvPr id="3" name="内容占位符 2"/>
          <p:cNvSpPr>
            <a:spLocks noGrp="1"/>
          </p:cNvSpPr>
          <p:nvPr>
            <p:ph idx="1"/>
          </p:nvPr>
        </p:nvSpPr>
        <p:spPr/>
        <p:txBody>
          <a:bodyPr/>
          <a:lstStyle/>
          <a:p>
            <a:r>
              <a:rPr lang="zh-CN" altLang="en-US" smtClean="0"/>
              <a:t>对于极角相同的半平面，选择最靠左的一个，并将剩下的舍弃。</a:t>
            </a:r>
            <a:endParaRPr lang="en-US" altLang="zh-CN" smtClean="0"/>
          </a:p>
          <a:p>
            <a:r>
              <a:rPr lang="zh-CN" altLang="en-US" smtClean="0"/>
              <a:t>这样即保证所有的半平面的极角皆不相同。</a:t>
            </a:r>
            <a:endParaRPr lang="zh-CN" altLang="en-US"/>
          </a:p>
        </p:txBody>
      </p:sp>
    </p:spTree>
    <p:extLst>
      <p:ext uri="{BB962C8B-B14F-4D97-AF65-F5344CB8AC3E}">
        <p14:creationId xmlns:p14="http://schemas.microsoft.com/office/powerpoint/2010/main" xmlns="" val="8600182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处理下凸壳</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normAutofit fontScale="92500"/>
              </a:bodyPr>
              <a:lstStyle/>
              <a:p>
                <a:r>
                  <a:rPr lang="zh-CN" altLang="en-US" smtClean="0"/>
                  <a:t>准备一个空栈，并将前两个半平面压入栈。</a:t>
                </a:r>
                <a:endParaRPr lang="en-US" altLang="zh-CN" smtClean="0"/>
              </a:p>
              <a:p>
                <a:r>
                  <a:rPr lang="zh-CN" altLang="en-US" smtClean="0"/>
                  <a:t>扫描排好序的半平面。对于每个半平面，只要栈中还有两个半平面，即检查其边界直线与栈顶边界直线的交点的横坐标 </a:t>
                </a:r>
                <a:r>
                  <a:rPr lang="en-US" altLang="zh-CN" smtClean="0"/>
                  <a:t>(</a:t>
                </a:r>
                <a:r>
                  <a:rPr lang="zh-CN" altLang="en-US" smtClean="0"/>
                  <a:t>记为 </a:t>
                </a:r>
                <a14:m>
                  <m:oMath xmlns:m="http://schemas.openxmlformats.org/officeDocument/2006/math">
                    <m:sSub>
                      <m:sSubPr>
                        <m:ctrlPr>
                          <a:rPr lang="en-US" altLang="zh-CN" b="0" i="1" smtClean="0">
                            <a:latin typeface="Cambria Math"/>
                          </a:rPr>
                        </m:ctrlPr>
                      </m:sSubPr>
                      <m:e>
                        <m:r>
                          <a:rPr lang="en-US" altLang="zh-CN" b="0" i="1" smtClean="0">
                            <a:latin typeface="Cambria Math"/>
                          </a:rPr>
                          <m:t>𝑥</m:t>
                        </m:r>
                      </m:e>
                      <m:sub>
                        <m:r>
                          <a:rPr lang="en-US" altLang="zh-CN" b="0" i="1" smtClean="0">
                            <a:latin typeface="Cambria Math"/>
                          </a:rPr>
                          <m:t>1</m:t>
                        </m:r>
                      </m:sub>
                    </m:sSub>
                  </m:oMath>
                </a14:m>
                <a:r>
                  <a:rPr lang="en-US" altLang="zh-CN" smtClean="0"/>
                  <a:t>) </a:t>
                </a:r>
                <a:r>
                  <a:rPr lang="zh-CN" altLang="en-US" smtClean="0"/>
                  <a:t>与栈中前两个边界直线的交点的横坐标 </a:t>
                </a:r>
                <a:r>
                  <a:rPr lang="en-US" altLang="zh-CN" smtClean="0"/>
                  <a:t>(</a:t>
                </a:r>
                <a:r>
                  <a:rPr lang="zh-CN" altLang="en-US" smtClean="0"/>
                  <a:t>记为 </a:t>
                </a:r>
                <a14:m>
                  <m:oMath xmlns:m="http://schemas.openxmlformats.org/officeDocument/2006/math">
                    <m:sSub>
                      <m:sSubPr>
                        <m:ctrlPr>
                          <a:rPr lang="en-US" altLang="zh-CN" b="0" i="1" smtClean="0">
                            <a:latin typeface="Cambria Math"/>
                          </a:rPr>
                        </m:ctrlPr>
                      </m:sSubPr>
                      <m:e>
                        <m:r>
                          <a:rPr lang="en-US" altLang="zh-CN" b="0" i="1" smtClean="0">
                            <a:latin typeface="Cambria Math"/>
                          </a:rPr>
                          <m:t>𝑥</m:t>
                        </m:r>
                      </m:e>
                      <m:sub>
                        <m:r>
                          <a:rPr lang="en-US" altLang="zh-CN" b="0" i="1" smtClean="0">
                            <a:latin typeface="Cambria Math"/>
                          </a:rPr>
                          <m:t>0</m:t>
                        </m:r>
                      </m:sub>
                    </m:sSub>
                  </m:oMath>
                </a14:m>
                <a:r>
                  <a:rPr lang="en-US" altLang="zh-CN" smtClean="0"/>
                  <a:t>)</a:t>
                </a:r>
                <a:r>
                  <a:rPr lang="zh-CN" altLang="en-US" smtClean="0"/>
                  <a:t>。若 </a:t>
                </a:r>
                <a14:m>
                  <m:oMath xmlns:m="http://schemas.openxmlformats.org/officeDocument/2006/math">
                    <m:sSub>
                      <m:sSubPr>
                        <m:ctrlPr>
                          <a:rPr lang="en-US" altLang="zh-CN" b="0" i="1" smtClean="0">
                            <a:solidFill>
                              <a:schemeClr val="tx2">
                                <a:lumMod val="75000"/>
                              </a:schemeClr>
                            </a:solidFill>
                            <a:latin typeface="Cambria Math"/>
                          </a:rPr>
                        </m:ctrlPr>
                      </m:sSubPr>
                      <m:e>
                        <m:r>
                          <a:rPr lang="en-US" altLang="zh-CN" b="0" i="1" smtClean="0">
                            <a:solidFill>
                              <a:schemeClr val="tx2">
                                <a:lumMod val="75000"/>
                              </a:schemeClr>
                            </a:solidFill>
                            <a:latin typeface="Cambria Math"/>
                          </a:rPr>
                          <m:t>𝑥</m:t>
                        </m:r>
                      </m:e>
                      <m:sub>
                        <m:r>
                          <a:rPr lang="en-US" altLang="zh-CN" b="0" i="1" smtClean="0">
                            <a:solidFill>
                              <a:schemeClr val="tx2">
                                <a:lumMod val="75000"/>
                              </a:schemeClr>
                            </a:solidFill>
                            <a:latin typeface="Cambria Math"/>
                          </a:rPr>
                          <m:t>0</m:t>
                        </m:r>
                      </m:sub>
                    </m:sSub>
                    <m:r>
                      <a:rPr lang="en-US" altLang="zh-CN" b="0" i="1" smtClean="0">
                        <a:solidFill>
                          <a:schemeClr val="tx2">
                            <a:lumMod val="75000"/>
                          </a:schemeClr>
                        </a:solidFill>
                        <a:latin typeface="Cambria Math"/>
                      </a:rPr>
                      <m:t>≥</m:t>
                    </m:r>
                    <m:sSub>
                      <m:sSubPr>
                        <m:ctrlPr>
                          <a:rPr lang="en-US" altLang="zh-CN" b="0" i="1" smtClean="0">
                            <a:solidFill>
                              <a:schemeClr val="tx2">
                                <a:lumMod val="75000"/>
                              </a:schemeClr>
                            </a:solidFill>
                            <a:latin typeface="Cambria Math"/>
                          </a:rPr>
                        </m:ctrlPr>
                      </m:sSubPr>
                      <m:e>
                        <m:r>
                          <a:rPr lang="en-US" altLang="zh-CN" b="0" i="1" smtClean="0">
                            <a:solidFill>
                              <a:schemeClr val="tx2">
                                <a:lumMod val="75000"/>
                              </a:schemeClr>
                            </a:solidFill>
                            <a:latin typeface="Cambria Math"/>
                          </a:rPr>
                          <m:t>𝑥</m:t>
                        </m:r>
                      </m:e>
                      <m:sub>
                        <m:r>
                          <a:rPr lang="en-US" altLang="zh-CN" b="0" i="1" smtClean="0">
                            <a:solidFill>
                              <a:schemeClr val="tx2">
                                <a:lumMod val="75000"/>
                              </a:schemeClr>
                            </a:solidFill>
                            <a:latin typeface="Cambria Math"/>
                          </a:rPr>
                          <m:t>1</m:t>
                        </m:r>
                      </m:sub>
                    </m:sSub>
                  </m:oMath>
                </a14:m>
                <a:r>
                  <a:rPr lang="zh-CN" altLang="en-US" smtClean="0"/>
                  <a:t>，则弹出栈顶。重复此过程。</a:t>
                </a:r>
                <a:endParaRPr lang="en-US" altLang="zh-CN" smtClean="0"/>
              </a:p>
              <a:p>
                <a:r>
                  <a:rPr lang="zh-CN" altLang="en-US" smtClean="0"/>
                  <a:t>若上一步没有弹栈，则将当前半平面压入栈。</a:t>
                </a:r>
                <a:endParaRPr lang="en-US" altLang="zh-CN" smtClean="0"/>
              </a:p>
              <a:p>
                <a:r>
                  <a:rPr lang="zh-CN" altLang="en-US" smtClean="0"/>
                  <a:t>扫描完成之后栈中即为组成下凸壳的半平面。</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314" t="-133" r="-1412" b="-5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90149898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861263" y="2204864"/>
            <a:ext cx="3798969" cy="3876898"/>
          </a:xfrm>
        </p:spPr>
      </p:pic>
      <p:sp>
        <p:nvSpPr>
          <p:cNvPr id="5" name="TextBox 4"/>
          <p:cNvSpPr txBox="1"/>
          <p:nvPr/>
        </p:nvSpPr>
        <p:spPr>
          <a:xfrm>
            <a:off x="1115616" y="1412776"/>
            <a:ext cx="7416824" cy="523220"/>
          </a:xfrm>
          <a:prstGeom prst="rect">
            <a:avLst/>
          </a:prstGeom>
          <a:noFill/>
        </p:spPr>
        <p:txBody>
          <a:bodyPr wrap="square" rtlCol="0">
            <a:spAutoFit/>
          </a:bodyPr>
          <a:lstStyle/>
          <a:p>
            <a:pPr algn="ctr"/>
            <a:r>
              <a:rPr lang="zh-CN" altLang="en-US" sz="2800" smtClean="0">
                <a:latin typeface="Adobe 宋体 Std L" pitchFamily="18" charset="-122"/>
                <a:ea typeface="Adobe 宋体 Std L" pitchFamily="18" charset="-122"/>
              </a:rPr>
              <a:t>首先将前两个半平面进栈。</a:t>
            </a:r>
            <a:endParaRPr lang="zh-CN" altLang="en-US" sz="2800">
              <a:latin typeface="Adobe 宋体 Std L" pitchFamily="18" charset="-122"/>
              <a:ea typeface="Adobe 宋体 Std L" pitchFamily="18" charset="-122"/>
            </a:endParaRPr>
          </a:p>
        </p:txBody>
      </p:sp>
    </p:spTree>
    <p:extLst>
      <p:ext uri="{BB962C8B-B14F-4D97-AF65-F5344CB8AC3E}">
        <p14:creationId xmlns:p14="http://schemas.microsoft.com/office/powerpoint/2010/main" xmlns="" val="3998697562"/>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861263" y="2204864"/>
            <a:ext cx="3798969" cy="3876897"/>
          </a:xfrm>
        </p:spPr>
      </p:pic>
      <p:sp>
        <p:nvSpPr>
          <p:cNvPr id="5" name="TextBox 4"/>
          <p:cNvSpPr txBox="1"/>
          <p:nvPr/>
        </p:nvSpPr>
        <p:spPr>
          <a:xfrm>
            <a:off x="1115616" y="1412776"/>
            <a:ext cx="7416824" cy="523220"/>
          </a:xfrm>
          <a:prstGeom prst="rect">
            <a:avLst/>
          </a:prstGeom>
          <a:noFill/>
        </p:spPr>
        <p:txBody>
          <a:bodyPr wrap="square" rtlCol="0">
            <a:spAutoFit/>
          </a:bodyPr>
          <a:lstStyle/>
          <a:p>
            <a:pPr algn="ctr"/>
            <a:r>
              <a:rPr lang="en-US" altLang="zh-CN" sz="2800" i="1" smtClean="0">
                <a:latin typeface="Times New Roman" pitchFamily="18" charset="0"/>
                <a:ea typeface="Adobe 宋体 Std L" pitchFamily="18" charset="-122"/>
                <a:cs typeface="Times New Roman" pitchFamily="18" charset="0"/>
              </a:rPr>
              <a:t>x</a:t>
            </a:r>
            <a:r>
              <a:rPr lang="en-US" altLang="zh-CN" sz="2800" baseline="-25000" smtClean="0">
                <a:latin typeface="Times New Roman" pitchFamily="18" charset="0"/>
                <a:ea typeface="Adobe 宋体 Std L" pitchFamily="18" charset="-122"/>
                <a:cs typeface="Times New Roman" pitchFamily="18" charset="0"/>
              </a:rPr>
              <a:t>0</a:t>
            </a:r>
            <a:r>
              <a:rPr lang="en-US" altLang="zh-CN" sz="2800" smtClean="0">
                <a:latin typeface="Times New Roman" pitchFamily="18" charset="0"/>
                <a:ea typeface="Adobe 宋体 Std L" pitchFamily="18" charset="-122"/>
                <a:cs typeface="Times New Roman" pitchFamily="18" charset="0"/>
              </a:rPr>
              <a:t> &lt; </a:t>
            </a:r>
            <a:r>
              <a:rPr lang="en-US" altLang="zh-CN" sz="2800" i="1" smtClean="0">
                <a:latin typeface="Times New Roman" pitchFamily="18" charset="0"/>
                <a:ea typeface="Adobe 宋体 Std L" pitchFamily="18" charset="-122"/>
                <a:cs typeface="Times New Roman" pitchFamily="18" charset="0"/>
              </a:rPr>
              <a:t>x</a:t>
            </a:r>
            <a:r>
              <a:rPr lang="en-US" altLang="zh-CN" sz="2800" baseline="-25000" smtClean="0">
                <a:latin typeface="Times New Roman" pitchFamily="18" charset="0"/>
                <a:ea typeface="Adobe 宋体 Std L" pitchFamily="18" charset="-122"/>
                <a:cs typeface="Times New Roman" pitchFamily="18" charset="0"/>
              </a:rPr>
              <a:t>1</a:t>
            </a:r>
            <a:r>
              <a:rPr lang="zh-CN" altLang="en-US" sz="2800" smtClean="0">
                <a:latin typeface="Adobe 宋体 Std L" pitchFamily="18" charset="-122"/>
                <a:ea typeface="Adobe 宋体 Std L" pitchFamily="18" charset="-122"/>
              </a:rPr>
              <a:t>，将新的半平面压入栈。</a:t>
            </a:r>
            <a:endParaRPr lang="zh-CN" altLang="en-US" sz="2800">
              <a:latin typeface="Adobe 宋体 Std L" pitchFamily="18" charset="-122"/>
              <a:ea typeface="Adobe 宋体 Std L" pitchFamily="18" charset="-122"/>
            </a:endParaRPr>
          </a:p>
        </p:txBody>
      </p:sp>
    </p:spTree>
    <p:extLst>
      <p:ext uri="{BB962C8B-B14F-4D97-AF65-F5344CB8AC3E}">
        <p14:creationId xmlns:p14="http://schemas.microsoft.com/office/powerpoint/2010/main" xmlns="" val="269120087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861263" y="2204864"/>
            <a:ext cx="3798968" cy="3876897"/>
          </a:xfrm>
        </p:spPr>
      </p:pic>
      <p:sp>
        <p:nvSpPr>
          <p:cNvPr id="5" name="TextBox 4"/>
          <p:cNvSpPr txBox="1"/>
          <p:nvPr/>
        </p:nvSpPr>
        <p:spPr>
          <a:xfrm>
            <a:off x="1115616" y="1412776"/>
            <a:ext cx="7416824" cy="523220"/>
          </a:xfrm>
          <a:prstGeom prst="rect">
            <a:avLst/>
          </a:prstGeom>
          <a:noFill/>
        </p:spPr>
        <p:txBody>
          <a:bodyPr wrap="square" rtlCol="0">
            <a:spAutoFit/>
          </a:bodyPr>
          <a:lstStyle/>
          <a:p>
            <a:pPr algn="ctr"/>
            <a:r>
              <a:rPr lang="en-US" altLang="zh-CN" sz="2800" i="1" smtClean="0">
                <a:latin typeface="Times New Roman" pitchFamily="18" charset="0"/>
                <a:ea typeface="Adobe 宋体 Std L" pitchFamily="18" charset="-122"/>
                <a:cs typeface="Times New Roman" pitchFamily="18" charset="0"/>
              </a:rPr>
              <a:t>x</a:t>
            </a:r>
            <a:r>
              <a:rPr lang="en-US" altLang="zh-CN" sz="2800" baseline="-25000" smtClean="0">
                <a:latin typeface="Times New Roman" pitchFamily="18" charset="0"/>
                <a:ea typeface="Adobe 宋体 Std L" pitchFamily="18" charset="-122"/>
                <a:cs typeface="Times New Roman" pitchFamily="18" charset="0"/>
              </a:rPr>
              <a:t>0</a:t>
            </a:r>
            <a:r>
              <a:rPr lang="en-US" altLang="zh-CN" sz="2800" smtClean="0">
                <a:latin typeface="Times New Roman" pitchFamily="18" charset="0"/>
                <a:ea typeface="Adobe 宋体 Std L" pitchFamily="18" charset="-122"/>
                <a:cs typeface="Times New Roman" pitchFamily="18" charset="0"/>
              </a:rPr>
              <a:t> </a:t>
            </a:r>
            <a:r>
              <a:rPr lang="zh-CN" altLang="en-US" sz="2800" smtClean="0">
                <a:latin typeface="Times New Roman" pitchFamily="18" charset="0"/>
                <a:ea typeface="Adobe 宋体 Std L" pitchFamily="18" charset="-122"/>
                <a:cs typeface="Times New Roman" pitchFamily="18" charset="0"/>
              </a:rPr>
              <a:t>≥</a:t>
            </a:r>
            <a:r>
              <a:rPr lang="en-US" altLang="zh-CN" sz="2800" smtClean="0">
                <a:latin typeface="Times New Roman" pitchFamily="18" charset="0"/>
                <a:ea typeface="Adobe 宋体 Std L" pitchFamily="18" charset="-122"/>
                <a:cs typeface="Times New Roman" pitchFamily="18" charset="0"/>
              </a:rPr>
              <a:t> </a:t>
            </a:r>
            <a:r>
              <a:rPr lang="en-US" altLang="zh-CN" sz="2800" i="1" smtClean="0">
                <a:latin typeface="Times New Roman" pitchFamily="18" charset="0"/>
                <a:ea typeface="Adobe 宋体 Std L" pitchFamily="18" charset="-122"/>
                <a:cs typeface="Times New Roman" pitchFamily="18" charset="0"/>
              </a:rPr>
              <a:t>x</a:t>
            </a:r>
            <a:r>
              <a:rPr lang="en-US" altLang="zh-CN" sz="2800" baseline="-25000" smtClean="0">
                <a:latin typeface="Times New Roman" pitchFamily="18" charset="0"/>
                <a:ea typeface="Adobe 宋体 Std L" pitchFamily="18" charset="-122"/>
                <a:cs typeface="Times New Roman" pitchFamily="18" charset="0"/>
              </a:rPr>
              <a:t>1</a:t>
            </a:r>
            <a:r>
              <a:rPr lang="zh-CN" altLang="en-US" sz="2800" smtClean="0">
                <a:latin typeface="Adobe 宋体 Std L" pitchFamily="18" charset="-122"/>
                <a:ea typeface="Adobe 宋体 Std L" pitchFamily="18" charset="-122"/>
              </a:rPr>
              <a:t>，将栈顶弹出。</a:t>
            </a:r>
            <a:endParaRPr lang="zh-CN" altLang="en-US" sz="2800">
              <a:latin typeface="Adobe 宋体 Std L" pitchFamily="18" charset="-122"/>
              <a:ea typeface="Adobe 宋体 Std L" pitchFamily="18" charset="-122"/>
            </a:endParaRPr>
          </a:p>
        </p:txBody>
      </p:sp>
    </p:spTree>
    <p:extLst>
      <p:ext uri="{BB962C8B-B14F-4D97-AF65-F5344CB8AC3E}">
        <p14:creationId xmlns:p14="http://schemas.microsoft.com/office/powerpoint/2010/main" xmlns="" val="1527476457"/>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861263" y="2204864"/>
            <a:ext cx="3798968" cy="3876896"/>
          </a:xfrm>
        </p:spPr>
      </p:pic>
      <p:sp>
        <p:nvSpPr>
          <p:cNvPr id="5" name="TextBox 4"/>
          <p:cNvSpPr txBox="1"/>
          <p:nvPr/>
        </p:nvSpPr>
        <p:spPr>
          <a:xfrm>
            <a:off x="1115616" y="1412776"/>
            <a:ext cx="7416824" cy="523220"/>
          </a:xfrm>
          <a:prstGeom prst="rect">
            <a:avLst/>
          </a:prstGeom>
          <a:noFill/>
        </p:spPr>
        <p:txBody>
          <a:bodyPr wrap="square" rtlCol="0">
            <a:spAutoFit/>
          </a:bodyPr>
          <a:lstStyle/>
          <a:p>
            <a:pPr algn="ctr"/>
            <a:r>
              <a:rPr lang="en-US" altLang="zh-CN" sz="2800" i="1">
                <a:latin typeface="Times New Roman" pitchFamily="18" charset="0"/>
                <a:ea typeface="Adobe 宋体 Std L" pitchFamily="18" charset="-122"/>
                <a:cs typeface="Times New Roman" pitchFamily="18" charset="0"/>
              </a:rPr>
              <a:t>x</a:t>
            </a:r>
            <a:r>
              <a:rPr lang="en-US" altLang="zh-CN" sz="2800" baseline="-25000">
                <a:latin typeface="Times New Roman" pitchFamily="18" charset="0"/>
                <a:ea typeface="Adobe 宋体 Std L" pitchFamily="18" charset="-122"/>
                <a:cs typeface="Times New Roman" pitchFamily="18" charset="0"/>
              </a:rPr>
              <a:t>0</a:t>
            </a:r>
            <a:r>
              <a:rPr lang="en-US" altLang="zh-CN" sz="2800">
                <a:latin typeface="Times New Roman" pitchFamily="18" charset="0"/>
                <a:ea typeface="Adobe 宋体 Std L" pitchFamily="18" charset="-122"/>
                <a:cs typeface="Times New Roman" pitchFamily="18" charset="0"/>
              </a:rPr>
              <a:t> &lt; </a:t>
            </a:r>
            <a:r>
              <a:rPr lang="en-US" altLang="zh-CN" sz="2800" i="1">
                <a:latin typeface="Times New Roman" pitchFamily="18" charset="0"/>
                <a:ea typeface="Adobe 宋体 Std L" pitchFamily="18" charset="-122"/>
                <a:cs typeface="Times New Roman" pitchFamily="18" charset="0"/>
              </a:rPr>
              <a:t>x</a:t>
            </a:r>
            <a:r>
              <a:rPr lang="en-US" altLang="zh-CN" sz="2800" baseline="-25000">
                <a:latin typeface="Times New Roman" pitchFamily="18" charset="0"/>
                <a:ea typeface="Adobe 宋体 Std L" pitchFamily="18" charset="-122"/>
                <a:cs typeface="Times New Roman" pitchFamily="18" charset="0"/>
              </a:rPr>
              <a:t>1</a:t>
            </a:r>
            <a:r>
              <a:rPr lang="zh-CN" altLang="en-US" sz="2800">
                <a:latin typeface="Adobe 宋体 Std L" pitchFamily="18" charset="-122"/>
                <a:ea typeface="Adobe 宋体 Std L" pitchFamily="18" charset="-122"/>
              </a:rPr>
              <a:t>，将新的半平面压入栈</a:t>
            </a:r>
            <a:r>
              <a:rPr lang="zh-CN" altLang="en-US" sz="2800" smtClean="0">
                <a:latin typeface="Adobe 宋体 Std L" pitchFamily="18" charset="-122"/>
                <a:ea typeface="Adobe 宋体 Std L" pitchFamily="18" charset="-122"/>
              </a:rPr>
              <a:t>。依此类推。</a:t>
            </a:r>
            <a:endParaRPr lang="zh-CN" altLang="en-US" sz="2800">
              <a:latin typeface="Adobe 宋体 Std L" pitchFamily="18" charset="-122"/>
              <a:ea typeface="Adobe 宋体 Std L" pitchFamily="18" charset="-122"/>
            </a:endParaRPr>
          </a:p>
        </p:txBody>
      </p:sp>
    </p:spTree>
    <p:extLst>
      <p:ext uri="{BB962C8B-B14F-4D97-AF65-F5344CB8AC3E}">
        <p14:creationId xmlns:p14="http://schemas.microsoft.com/office/powerpoint/2010/main" xmlns="" val="1863697340"/>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处理上凸壳</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smtClean="0"/>
                  <a:t>处理上凸壳的方式完全类似。</a:t>
                </a:r>
                <a:endParaRPr lang="en-US" altLang="zh-CN" smtClean="0"/>
              </a:p>
              <a:p>
                <a:r>
                  <a:rPr lang="zh-CN" altLang="en-US" smtClean="0"/>
                  <a:t>只是弹栈的条件变为 </a:t>
                </a:r>
                <a14:m>
                  <m:oMath xmlns:m="http://schemas.openxmlformats.org/officeDocument/2006/math">
                    <m:sSub>
                      <m:sSubPr>
                        <m:ctrlPr>
                          <a:rPr lang="en-US" altLang="zh-CN" b="0" i="1" smtClean="0">
                            <a:solidFill>
                              <a:schemeClr val="tx2">
                                <a:lumMod val="75000"/>
                              </a:schemeClr>
                            </a:solidFill>
                            <a:latin typeface="Cambria Math"/>
                          </a:rPr>
                        </m:ctrlPr>
                      </m:sSubPr>
                      <m:e>
                        <m:r>
                          <a:rPr lang="en-US" altLang="zh-CN" b="0" i="1" smtClean="0">
                            <a:solidFill>
                              <a:schemeClr val="tx2">
                                <a:lumMod val="75000"/>
                              </a:schemeClr>
                            </a:solidFill>
                            <a:latin typeface="Cambria Math"/>
                          </a:rPr>
                          <m:t>𝑥</m:t>
                        </m:r>
                      </m:e>
                      <m:sub>
                        <m:r>
                          <a:rPr lang="en-US" altLang="zh-CN" b="0" i="1" smtClean="0">
                            <a:solidFill>
                              <a:schemeClr val="tx2">
                                <a:lumMod val="75000"/>
                              </a:schemeClr>
                            </a:solidFill>
                            <a:latin typeface="Cambria Math"/>
                          </a:rPr>
                          <m:t>0</m:t>
                        </m:r>
                      </m:sub>
                    </m:sSub>
                    <m:r>
                      <a:rPr lang="en-US" altLang="zh-CN" b="0" i="1" smtClean="0">
                        <a:solidFill>
                          <a:schemeClr val="tx2">
                            <a:lumMod val="75000"/>
                          </a:schemeClr>
                        </a:solidFill>
                        <a:latin typeface="Cambria Math"/>
                      </a:rPr>
                      <m:t>≤</m:t>
                    </m:r>
                    <m:sSub>
                      <m:sSubPr>
                        <m:ctrlPr>
                          <a:rPr lang="en-US" altLang="zh-CN" b="0" i="1" smtClean="0">
                            <a:solidFill>
                              <a:schemeClr val="tx2">
                                <a:lumMod val="75000"/>
                              </a:schemeClr>
                            </a:solidFill>
                            <a:latin typeface="Cambria Math"/>
                          </a:rPr>
                        </m:ctrlPr>
                      </m:sSubPr>
                      <m:e>
                        <m:r>
                          <a:rPr lang="en-US" altLang="zh-CN" b="0" i="1" smtClean="0">
                            <a:solidFill>
                              <a:schemeClr val="tx2">
                                <a:lumMod val="75000"/>
                              </a:schemeClr>
                            </a:solidFill>
                            <a:latin typeface="Cambria Math"/>
                          </a:rPr>
                          <m:t>𝑥</m:t>
                        </m:r>
                      </m:e>
                      <m:sub>
                        <m:r>
                          <a:rPr lang="en-US" altLang="zh-CN" b="0" i="1" smtClean="0">
                            <a:solidFill>
                              <a:schemeClr val="tx2">
                                <a:lumMod val="75000"/>
                              </a:schemeClr>
                            </a:solidFill>
                            <a:latin typeface="Cambria Math"/>
                          </a:rPr>
                          <m:t>1</m:t>
                        </m:r>
                      </m:sub>
                    </m:sSub>
                  </m:oMath>
                </a14:m>
                <a:r>
                  <a:rPr lang="en-US" altLang="zh-CN" smtClean="0"/>
                  <a:t>.</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4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2086409160"/>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上下凸壳的合并</a:t>
            </a:r>
            <a:endParaRPr lang="zh-CN" altLang="en-US"/>
          </a:p>
        </p:txBody>
      </p:sp>
      <p:sp>
        <p:nvSpPr>
          <p:cNvPr id="3" name="内容占位符 2"/>
          <p:cNvSpPr>
            <a:spLocks noGrp="1"/>
          </p:cNvSpPr>
          <p:nvPr>
            <p:ph idx="1"/>
          </p:nvPr>
        </p:nvSpPr>
        <p:spPr/>
        <p:txBody>
          <a:bodyPr/>
          <a:lstStyle/>
          <a:p>
            <a:r>
              <a:rPr lang="zh-CN" altLang="en-US" smtClean="0"/>
              <a:t>只要凸壳中有不止一个半平面，就有可能出现没有用的半平面。</a:t>
            </a:r>
            <a:endParaRPr lang="en-US" altLang="zh-CN" smtClean="0"/>
          </a:p>
          <a:p>
            <a:r>
              <a:rPr lang="zh-CN" altLang="en-US"/>
              <a:t>如</a:t>
            </a:r>
            <a:r>
              <a:rPr lang="zh-CN" altLang="en-US" smtClean="0"/>
              <a:t>图，下图中的</a:t>
            </a:r>
            <a:r>
              <a:rPr lang="zh-CN" altLang="en-US" i="1" smtClean="0">
                <a:latin typeface="Times New Roman" pitchFamily="18" charset="0"/>
                <a:cs typeface="Times New Roman" pitchFamily="18" charset="0"/>
              </a:rPr>
              <a:t> </a:t>
            </a:r>
            <a:r>
              <a:rPr lang="en-US" altLang="zh-CN" i="1" smtClean="0">
                <a:latin typeface="Times New Roman" pitchFamily="18" charset="0"/>
                <a:cs typeface="Times New Roman" pitchFamily="18" charset="0"/>
              </a:rPr>
              <a:t>p1 </a:t>
            </a:r>
            <a:r>
              <a:rPr lang="zh-CN" altLang="en-US" smtClean="0"/>
              <a:t>半平面没有用。</a:t>
            </a:r>
            <a:endParaRPr lang="zh-CN" altLang="en-US"/>
          </a:p>
        </p:txBody>
      </p:sp>
      <p:pic>
        <p:nvPicPr>
          <p:cNvPr id="4" name="图片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3347864" y="3645024"/>
            <a:ext cx="2892984" cy="2952328"/>
          </a:xfrm>
          <a:prstGeom prst="rect">
            <a:avLst/>
          </a:prstGeom>
        </p:spPr>
      </p:pic>
    </p:spTree>
    <p:extLst>
      <p:ext uri="{BB962C8B-B14F-4D97-AF65-F5344CB8AC3E}">
        <p14:creationId xmlns:p14="http://schemas.microsoft.com/office/powerpoint/2010/main" xmlns="" val="138059145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滤</a:t>
            </a:r>
            <a:r>
              <a:rPr lang="zh-CN" altLang="en-US" smtClean="0"/>
              <a:t>除没有用的半平面</a:t>
            </a:r>
            <a:endParaRPr lang="zh-CN" altLang="en-US"/>
          </a:p>
        </p:txBody>
      </p:sp>
      <p:sp>
        <p:nvSpPr>
          <p:cNvPr id="3" name="内容占位符 2"/>
          <p:cNvSpPr>
            <a:spLocks noGrp="1"/>
          </p:cNvSpPr>
          <p:nvPr>
            <p:ph idx="1"/>
          </p:nvPr>
        </p:nvSpPr>
        <p:spPr/>
        <p:txBody>
          <a:bodyPr>
            <a:normAutofit fontScale="85000" lnSpcReduction="10000"/>
          </a:bodyPr>
          <a:lstStyle/>
          <a:p>
            <a:r>
              <a:rPr lang="zh-CN" altLang="en-US" smtClean="0"/>
              <a:t>先滤除左侧的半平面。指针 </a:t>
            </a:r>
            <a:r>
              <a:rPr lang="en-US" altLang="zh-CN" i="1" smtClean="0">
                <a:latin typeface="Times New Roman" pitchFamily="18" charset="0"/>
                <a:cs typeface="Times New Roman" pitchFamily="18" charset="0"/>
              </a:rPr>
              <a:t>p1</a:t>
            </a:r>
            <a:r>
              <a:rPr lang="en-US" altLang="zh-CN" smtClean="0"/>
              <a:t> </a:t>
            </a:r>
            <a:r>
              <a:rPr lang="zh-CN" altLang="en-US" smtClean="0"/>
              <a:t>指向下凸壳的最左侧，</a:t>
            </a:r>
            <a:r>
              <a:rPr lang="en-US" altLang="zh-CN" i="1" smtClean="0">
                <a:latin typeface="Times New Roman" pitchFamily="18" charset="0"/>
                <a:cs typeface="Times New Roman" pitchFamily="18" charset="0"/>
              </a:rPr>
              <a:t>p2</a:t>
            </a:r>
            <a:r>
              <a:rPr lang="en-US" altLang="zh-CN" smtClean="0"/>
              <a:t> </a:t>
            </a:r>
            <a:r>
              <a:rPr lang="zh-CN" altLang="en-US" smtClean="0"/>
              <a:t>指向上凸壳的最左侧。</a:t>
            </a:r>
            <a:endParaRPr lang="en-US" altLang="zh-CN" smtClean="0"/>
          </a:p>
          <a:p>
            <a:r>
              <a:rPr lang="zh-CN" altLang="en-US" smtClean="0"/>
              <a:t>若下凸壳中还有至少两个半平面，检查 </a:t>
            </a:r>
            <a:r>
              <a:rPr lang="en-US" altLang="zh-CN" i="1" smtClean="0">
                <a:latin typeface="Times New Roman" pitchFamily="18" charset="0"/>
                <a:cs typeface="Times New Roman" pitchFamily="18" charset="0"/>
              </a:rPr>
              <a:t>p2</a:t>
            </a:r>
            <a:r>
              <a:rPr lang="en-US" altLang="zh-CN" smtClean="0"/>
              <a:t> </a:t>
            </a:r>
            <a:r>
              <a:rPr lang="zh-CN" altLang="en-US" smtClean="0"/>
              <a:t>与 </a:t>
            </a:r>
            <a:r>
              <a:rPr lang="en-US" altLang="zh-CN" i="1" smtClean="0">
                <a:latin typeface="Times New Roman" pitchFamily="18" charset="0"/>
                <a:cs typeface="Times New Roman" pitchFamily="18" charset="0"/>
              </a:rPr>
              <a:t>p1</a:t>
            </a:r>
            <a:r>
              <a:rPr lang="en-US" altLang="zh-CN" smtClean="0"/>
              <a:t> </a:t>
            </a:r>
            <a:r>
              <a:rPr lang="zh-CN" altLang="en-US" smtClean="0"/>
              <a:t>的边界的交，以及下凸壳中 </a:t>
            </a:r>
            <a:r>
              <a:rPr lang="en-US" altLang="zh-CN" i="1" smtClean="0">
                <a:latin typeface="Times New Roman" pitchFamily="18" charset="0"/>
                <a:cs typeface="Times New Roman" pitchFamily="18" charset="0"/>
              </a:rPr>
              <a:t>p1</a:t>
            </a:r>
            <a:r>
              <a:rPr lang="en-US" altLang="zh-CN" smtClean="0"/>
              <a:t> </a:t>
            </a:r>
            <a:r>
              <a:rPr lang="zh-CN" altLang="en-US" smtClean="0"/>
              <a:t>右侧的半平面与 </a:t>
            </a:r>
            <a:r>
              <a:rPr lang="en-US" altLang="zh-CN" i="1" smtClean="0">
                <a:latin typeface="Times New Roman" pitchFamily="18" charset="0"/>
                <a:cs typeface="Times New Roman" pitchFamily="18" charset="0"/>
              </a:rPr>
              <a:t>p1</a:t>
            </a:r>
            <a:r>
              <a:rPr lang="en-US" altLang="zh-CN" smtClean="0"/>
              <a:t> </a:t>
            </a:r>
            <a:r>
              <a:rPr lang="zh-CN" altLang="en-US" smtClean="0"/>
              <a:t>的边界的交。</a:t>
            </a:r>
            <a:r>
              <a:rPr lang="zh-CN" altLang="en-US" b="1" smtClean="0">
                <a:solidFill>
                  <a:schemeClr val="tx2">
                    <a:lumMod val="75000"/>
                  </a:schemeClr>
                </a:solidFill>
              </a:rPr>
              <a:t>若这两个交的并集为空或只有一个端点</a:t>
            </a:r>
            <a:r>
              <a:rPr lang="zh-CN" altLang="en-US" smtClean="0"/>
              <a:t>，则舍弃半平面 </a:t>
            </a:r>
            <a:r>
              <a:rPr lang="en-US" altLang="zh-CN" i="1" smtClean="0">
                <a:latin typeface="Times New Roman" pitchFamily="18" charset="0"/>
                <a:cs typeface="Times New Roman" pitchFamily="18" charset="0"/>
              </a:rPr>
              <a:t>p1</a:t>
            </a:r>
            <a:r>
              <a:rPr lang="zh-CN" altLang="en-US" smtClean="0"/>
              <a:t>，将指针 </a:t>
            </a:r>
            <a:r>
              <a:rPr lang="en-US" altLang="zh-CN" i="1" smtClean="0">
                <a:latin typeface="Times New Roman" pitchFamily="18" charset="0"/>
                <a:cs typeface="Times New Roman" pitchFamily="18" charset="0"/>
              </a:rPr>
              <a:t>p1</a:t>
            </a:r>
            <a:r>
              <a:rPr lang="en-US" altLang="zh-CN" smtClean="0"/>
              <a:t> </a:t>
            </a:r>
            <a:r>
              <a:rPr lang="zh-CN" altLang="en-US" smtClean="0"/>
              <a:t>右移。</a:t>
            </a:r>
            <a:endParaRPr lang="en-US" altLang="zh-CN" smtClean="0"/>
          </a:p>
          <a:p>
            <a:r>
              <a:rPr lang="zh-CN" altLang="en-US" smtClean="0"/>
              <a:t>处理完 </a:t>
            </a:r>
            <a:r>
              <a:rPr lang="en-US" altLang="zh-CN" i="1" smtClean="0">
                <a:latin typeface="Times New Roman" pitchFamily="18" charset="0"/>
                <a:cs typeface="Times New Roman" pitchFamily="18" charset="0"/>
              </a:rPr>
              <a:t>p1</a:t>
            </a:r>
            <a:r>
              <a:rPr lang="en-US" altLang="zh-CN" smtClean="0"/>
              <a:t> </a:t>
            </a:r>
            <a:r>
              <a:rPr lang="zh-CN" altLang="en-US" smtClean="0"/>
              <a:t>后类似处理 </a:t>
            </a:r>
            <a:r>
              <a:rPr lang="en-US" altLang="zh-CN" i="1" smtClean="0">
                <a:latin typeface="Times New Roman" pitchFamily="18" charset="0"/>
                <a:cs typeface="Times New Roman" pitchFamily="18" charset="0"/>
              </a:rPr>
              <a:t>p2</a:t>
            </a:r>
            <a:r>
              <a:rPr lang="zh-CN" altLang="en-US" smtClean="0"/>
              <a:t>。若 </a:t>
            </a:r>
            <a:r>
              <a:rPr lang="en-US" altLang="zh-CN" i="1" smtClean="0">
                <a:latin typeface="Times New Roman" pitchFamily="18" charset="0"/>
                <a:cs typeface="Times New Roman" pitchFamily="18" charset="0"/>
              </a:rPr>
              <a:t>p2</a:t>
            </a:r>
            <a:r>
              <a:rPr lang="en-US" altLang="zh-CN" smtClean="0"/>
              <a:t> </a:t>
            </a:r>
            <a:r>
              <a:rPr lang="zh-CN" altLang="en-US" smtClean="0"/>
              <a:t>右移了，就重复处理 </a:t>
            </a:r>
            <a:r>
              <a:rPr lang="en-US" altLang="zh-CN" i="1" smtClean="0">
                <a:latin typeface="Times New Roman" pitchFamily="18" charset="0"/>
                <a:cs typeface="Times New Roman" pitchFamily="18" charset="0"/>
              </a:rPr>
              <a:t>p1</a:t>
            </a:r>
            <a:r>
              <a:rPr lang="zh-CN" altLang="en-US" smtClean="0"/>
              <a:t>，依此类推，直到二者都不右移了为止。</a:t>
            </a:r>
            <a:endParaRPr lang="en-US" altLang="zh-CN" smtClean="0"/>
          </a:p>
          <a:p>
            <a:r>
              <a:rPr lang="zh-CN" altLang="en-US" smtClean="0"/>
              <a:t>类似滤除右侧没有用的半平面。</a:t>
            </a:r>
            <a:endParaRPr lang="zh-CN" altLang="en-US"/>
          </a:p>
        </p:txBody>
      </p:sp>
    </p:spTree>
    <p:extLst>
      <p:ext uri="{BB962C8B-B14F-4D97-AF65-F5344CB8AC3E}">
        <p14:creationId xmlns:p14="http://schemas.microsoft.com/office/powerpoint/2010/main" xmlns="" val="4173788746"/>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实际上</a:t>
            </a:r>
            <a:r>
              <a:rPr lang="en-US" altLang="zh-CN" smtClean="0"/>
              <a:t>……</a:t>
            </a:r>
            <a:endParaRPr lang="zh-CN" altLang="en-US"/>
          </a:p>
        </p:txBody>
      </p:sp>
      <p:sp>
        <p:nvSpPr>
          <p:cNvPr id="3" name="内容占位符 2"/>
          <p:cNvSpPr>
            <a:spLocks noGrp="1"/>
          </p:cNvSpPr>
          <p:nvPr>
            <p:ph idx="1"/>
          </p:nvPr>
        </p:nvSpPr>
        <p:spPr/>
        <p:txBody>
          <a:bodyPr/>
          <a:lstStyle/>
          <a:p>
            <a:r>
              <a:rPr lang="zh-CN" altLang="en-US"/>
              <a:t>“这两个交的并集为空或只有一个</a:t>
            </a:r>
            <a:r>
              <a:rPr lang="zh-CN" altLang="en-US" smtClean="0"/>
              <a:t>端点”仍然只是讨论交点的坐标大小。</a:t>
            </a:r>
            <a:endParaRPr lang="en-US" altLang="zh-CN" smtClean="0"/>
          </a:p>
          <a:p>
            <a:r>
              <a:rPr lang="zh-CN" altLang="en-US" smtClean="0"/>
              <a:t>但是，这两个交点的 </a:t>
            </a:r>
            <a:r>
              <a:rPr lang="en-US" altLang="zh-CN" i="1" smtClean="0">
                <a:latin typeface="Times New Roman" pitchFamily="18" charset="0"/>
                <a:cs typeface="Times New Roman" pitchFamily="18" charset="0"/>
              </a:rPr>
              <a:t>x</a:t>
            </a:r>
            <a:r>
              <a:rPr lang="en-US" altLang="zh-CN" smtClean="0"/>
              <a:t> </a:t>
            </a:r>
            <a:r>
              <a:rPr lang="zh-CN" altLang="en-US" smtClean="0"/>
              <a:t>坐标可能相同，但 </a:t>
            </a:r>
            <a:r>
              <a:rPr lang="en-US" altLang="zh-CN" i="1" smtClean="0">
                <a:latin typeface="Times New Roman" pitchFamily="18" charset="0"/>
                <a:cs typeface="Times New Roman" pitchFamily="18" charset="0"/>
              </a:rPr>
              <a:t>y</a:t>
            </a:r>
            <a:r>
              <a:rPr lang="en-US" altLang="zh-CN" smtClean="0"/>
              <a:t> </a:t>
            </a:r>
            <a:r>
              <a:rPr lang="zh-CN" altLang="en-US" smtClean="0"/>
              <a:t>坐标不相同。所以不能像前面一样只讨论 </a:t>
            </a:r>
            <a:r>
              <a:rPr lang="en-US" altLang="zh-CN" i="1" smtClean="0">
                <a:latin typeface="Times New Roman" pitchFamily="18" charset="0"/>
                <a:cs typeface="Times New Roman" pitchFamily="18" charset="0"/>
              </a:rPr>
              <a:t>x</a:t>
            </a:r>
            <a:r>
              <a:rPr lang="en-US" altLang="zh-CN" smtClean="0"/>
              <a:t> </a:t>
            </a:r>
            <a:r>
              <a:rPr lang="zh-CN" altLang="en-US" smtClean="0"/>
              <a:t>坐标。</a:t>
            </a:r>
            <a:endParaRPr lang="zh-CN" altLang="en-US"/>
          </a:p>
        </p:txBody>
      </p:sp>
    </p:spTree>
    <p:extLst>
      <p:ext uri="{BB962C8B-B14F-4D97-AF65-F5344CB8AC3E}">
        <p14:creationId xmlns:p14="http://schemas.microsoft.com/office/powerpoint/2010/main" xmlns="" val="3626999097"/>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861263" y="2204864"/>
            <a:ext cx="3798967" cy="3876896"/>
          </a:xfrm>
        </p:spPr>
      </p:pic>
      <p:sp>
        <p:nvSpPr>
          <p:cNvPr id="5" name="TextBox 4"/>
          <p:cNvSpPr txBox="1"/>
          <p:nvPr/>
        </p:nvSpPr>
        <p:spPr>
          <a:xfrm>
            <a:off x="1115616" y="1412776"/>
            <a:ext cx="7416824" cy="523220"/>
          </a:xfrm>
          <a:prstGeom prst="rect">
            <a:avLst/>
          </a:prstGeom>
          <a:noFill/>
        </p:spPr>
        <p:txBody>
          <a:bodyPr wrap="square" rtlCol="0">
            <a:spAutoFit/>
          </a:bodyPr>
          <a:lstStyle/>
          <a:p>
            <a:pPr algn="ctr"/>
            <a:r>
              <a:rPr lang="en-US" altLang="zh-CN" sz="2800" i="1" smtClean="0">
                <a:latin typeface="Times New Roman" pitchFamily="18" charset="0"/>
                <a:ea typeface="Adobe 宋体 Std L" pitchFamily="18" charset="-122"/>
                <a:cs typeface="Times New Roman" pitchFamily="18" charset="0"/>
              </a:rPr>
              <a:t>p1</a:t>
            </a:r>
            <a:r>
              <a:rPr lang="en-US" altLang="zh-CN" sz="2800" smtClean="0">
                <a:latin typeface="Adobe 宋体 Std L" pitchFamily="18" charset="-122"/>
                <a:ea typeface="Adobe 宋体 Std L" pitchFamily="18" charset="-122"/>
              </a:rPr>
              <a:t> </a:t>
            </a:r>
            <a:r>
              <a:rPr lang="zh-CN" altLang="en-US" sz="2800" smtClean="0">
                <a:latin typeface="Adobe 宋体 Std L" pitchFamily="18" charset="-122"/>
                <a:ea typeface="Adobe 宋体 Std L" pitchFamily="18" charset="-122"/>
              </a:rPr>
              <a:t>上二者的交为空集。右移 </a:t>
            </a:r>
            <a:r>
              <a:rPr lang="en-US" altLang="zh-CN" sz="2800" i="1" smtClean="0">
                <a:latin typeface="Times New Roman" pitchFamily="18" charset="0"/>
                <a:ea typeface="Adobe 宋体 Std L" pitchFamily="18" charset="-122"/>
                <a:cs typeface="Times New Roman" pitchFamily="18" charset="0"/>
              </a:rPr>
              <a:t>p1</a:t>
            </a:r>
            <a:r>
              <a:rPr lang="zh-CN" altLang="en-US" sz="2800" smtClean="0">
                <a:latin typeface="Adobe 宋体 Std L" pitchFamily="18" charset="-122"/>
                <a:ea typeface="Adobe 宋体 Std L" pitchFamily="18" charset="-122"/>
              </a:rPr>
              <a:t>。</a:t>
            </a:r>
            <a:endParaRPr lang="zh-CN" altLang="en-US" sz="2800">
              <a:latin typeface="Adobe 宋体 Std L" pitchFamily="18" charset="-122"/>
              <a:ea typeface="Adobe 宋体 Std L" pitchFamily="18" charset="-122"/>
            </a:endParaRPr>
          </a:p>
        </p:txBody>
      </p:sp>
    </p:spTree>
    <p:extLst>
      <p:ext uri="{BB962C8B-B14F-4D97-AF65-F5344CB8AC3E}">
        <p14:creationId xmlns:p14="http://schemas.microsoft.com/office/powerpoint/2010/main" xmlns="" val="201885949"/>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861263" y="2432425"/>
            <a:ext cx="3798967" cy="3876895"/>
          </a:xfrm>
        </p:spPr>
      </p:pic>
      <p:sp>
        <p:nvSpPr>
          <p:cNvPr id="5" name="TextBox 4"/>
          <p:cNvSpPr txBox="1"/>
          <p:nvPr/>
        </p:nvSpPr>
        <p:spPr>
          <a:xfrm>
            <a:off x="1115616" y="1412776"/>
            <a:ext cx="7416824" cy="523220"/>
          </a:xfrm>
          <a:prstGeom prst="rect">
            <a:avLst/>
          </a:prstGeom>
          <a:noFill/>
        </p:spPr>
        <p:txBody>
          <a:bodyPr wrap="square" rtlCol="0">
            <a:spAutoFit/>
          </a:bodyPr>
          <a:lstStyle/>
          <a:p>
            <a:pPr algn="ctr"/>
            <a:r>
              <a:rPr lang="en-US" altLang="zh-CN" sz="2800" i="1" smtClean="0">
                <a:latin typeface="Times New Roman" pitchFamily="18" charset="0"/>
                <a:ea typeface="Adobe 宋体 Std L" pitchFamily="18" charset="-122"/>
                <a:cs typeface="Times New Roman" pitchFamily="18" charset="0"/>
              </a:rPr>
              <a:t>p2</a:t>
            </a:r>
            <a:r>
              <a:rPr lang="en-US" altLang="zh-CN" sz="2800" smtClean="0">
                <a:latin typeface="Adobe 宋体 Std L" pitchFamily="18" charset="-122"/>
                <a:ea typeface="Adobe 宋体 Std L" pitchFamily="18" charset="-122"/>
              </a:rPr>
              <a:t> </a:t>
            </a:r>
            <a:r>
              <a:rPr lang="zh-CN" altLang="en-US" sz="2800" smtClean="0">
                <a:latin typeface="Adobe 宋体 Std L" pitchFamily="18" charset="-122"/>
                <a:ea typeface="Adobe 宋体 Std L" pitchFamily="18" charset="-122"/>
              </a:rPr>
              <a:t>上二者的交为空集。右移 </a:t>
            </a:r>
            <a:r>
              <a:rPr lang="en-US" altLang="zh-CN" sz="2800" i="1" smtClean="0">
                <a:latin typeface="Times New Roman" pitchFamily="18" charset="0"/>
                <a:ea typeface="Adobe 宋体 Std L" pitchFamily="18" charset="-122"/>
                <a:cs typeface="Times New Roman" pitchFamily="18" charset="0"/>
              </a:rPr>
              <a:t>p2</a:t>
            </a:r>
            <a:r>
              <a:rPr lang="zh-CN" altLang="en-US" sz="2800" smtClean="0">
                <a:latin typeface="Adobe 宋体 Std L" pitchFamily="18" charset="-122"/>
                <a:ea typeface="Adobe 宋体 Std L" pitchFamily="18" charset="-122"/>
              </a:rPr>
              <a:t>，重新检查 </a:t>
            </a:r>
            <a:r>
              <a:rPr lang="en-US" altLang="zh-CN" sz="2800" i="1" smtClean="0">
                <a:latin typeface="Times New Roman" pitchFamily="18" charset="0"/>
                <a:ea typeface="Adobe 宋体 Std L" pitchFamily="18" charset="-122"/>
                <a:cs typeface="Times New Roman" pitchFamily="18" charset="0"/>
              </a:rPr>
              <a:t>p1</a:t>
            </a:r>
            <a:r>
              <a:rPr lang="zh-CN" altLang="en-US" sz="2800" smtClean="0">
                <a:latin typeface="Adobe 宋体 Std L" pitchFamily="18" charset="-122"/>
                <a:ea typeface="Adobe 宋体 Std L" pitchFamily="18" charset="-122"/>
              </a:rPr>
              <a:t>。</a:t>
            </a:r>
            <a:endParaRPr lang="zh-CN" altLang="en-US" sz="2800">
              <a:latin typeface="Adobe 宋体 Std L" pitchFamily="18" charset="-122"/>
              <a:ea typeface="Adobe 宋体 Std L" pitchFamily="18" charset="-122"/>
            </a:endParaRPr>
          </a:p>
        </p:txBody>
      </p:sp>
    </p:spTree>
    <p:extLst>
      <p:ext uri="{BB962C8B-B14F-4D97-AF65-F5344CB8AC3E}">
        <p14:creationId xmlns:p14="http://schemas.microsoft.com/office/powerpoint/2010/main" xmlns="" val="693578758"/>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861263" y="2204864"/>
            <a:ext cx="3798966" cy="3876895"/>
          </a:xfrm>
        </p:spPr>
      </p:pic>
      <p:sp>
        <p:nvSpPr>
          <p:cNvPr id="5" name="TextBox 4"/>
          <p:cNvSpPr txBox="1"/>
          <p:nvPr/>
        </p:nvSpPr>
        <p:spPr>
          <a:xfrm>
            <a:off x="1115616" y="1412776"/>
            <a:ext cx="7416824" cy="523220"/>
          </a:xfrm>
          <a:prstGeom prst="rect">
            <a:avLst/>
          </a:prstGeom>
          <a:noFill/>
        </p:spPr>
        <p:txBody>
          <a:bodyPr wrap="square" rtlCol="0">
            <a:spAutoFit/>
          </a:bodyPr>
          <a:lstStyle/>
          <a:p>
            <a:pPr algn="ctr"/>
            <a:r>
              <a:rPr lang="en-US" altLang="zh-CN" sz="2800" i="1" smtClean="0">
                <a:latin typeface="Times New Roman" pitchFamily="18" charset="0"/>
                <a:ea typeface="Adobe 宋体 Std L" pitchFamily="18" charset="-122"/>
                <a:cs typeface="Times New Roman" pitchFamily="18" charset="0"/>
              </a:rPr>
              <a:t>p1 </a:t>
            </a:r>
            <a:r>
              <a:rPr lang="zh-CN" altLang="en-US" sz="2800" smtClean="0">
                <a:latin typeface="Times New Roman" pitchFamily="18" charset="0"/>
                <a:ea typeface="Adobe 宋体 Std L" pitchFamily="18" charset="-122"/>
                <a:cs typeface="Times New Roman" pitchFamily="18" charset="0"/>
              </a:rPr>
              <a:t>和</a:t>
            </a:r>
            <a:r>
              <a:rPr lang="zh-CN" altLang="en-US" sz="2800" i="1" smtClean="0">
                <a:latin typeface="Times New Roman" pitchFamily="18" charset="0"/>
                <a:ea typeface="Adobe 宋体 Std L" pitchFamily="18" charset="-122"/>
                <a:cs typeface="Times New Roman" pitchFamily="18" charset="0"/>
              </a:rPr>
              <a:t> </a:t>
            </a:r>
            <a:r>
              <a:rPr lang="en-US" altLang="zh-CN" sz="2800" i="1" smtClean="0">
                <a:latin typeface="Times New Roman" pitchFamily="18" charset="0"/>
                <a:ea typeface="Adobe 宋体 Std L" pitchFamily="18" charset="-122"/>
                <a:cs typeface="Times New Roman" pitchFamily="18" charset="0"/>
              </a:rPr>
              <a:t>p2 </a:t>
            </a:r>
            <a:r>
              <a:rPr lang="zh-CN" altLang="en-US" sz="2800" smtClean="0">
                <a:latin typeface="Times New Roman" pitchFamily="18" charset="0"/>
                <a:ea typeface="Adobe 宋体 Std L" pitchFamily="18" charset="-122"/>
                <a:cs typeface="Times New Roman" pitchFamily="18" charset="0"/>
              </a:rPr>
              <a:t>均满足要求，结束对左侧的检查</a:t>
            </a:r>
            <a:r>
              <a:rPr lang="zh-CN" altLang="en-US" sz="2800" smtClean="0">
                <a:latin typeface="Adobe 宋体 Std L" pitchFamily="18" charset="-122"/>
                <a:ea typeface="Adobe 宋体 Std L" pitchFamily="18" charset="-122"/>
              </a:rPr>
              <a:t>。</a:t>
            </a:r>
            <a:endParaRPr lang="zh-CN" altLang="en-US" sz="2800">
              <a:latin typeface="Adobe 宋体 Std L" pitchFamily="18" charset="-122"/>
              <a:ea typeface="Adobe 宋体 Std L" pitchFamily="18" charset="-122"/>
            </a:endParaRPr>
          </a:p>
        </p:txBody>
      </p:sp>
    </p:spTree>
    <p:extLst>
      <p:ext uri="{BB962C8B-B14F-4D97-AF65-F5344CB8AC3E}">
        <p14:creationId xmlns:p14="http://schemas.microsoft.com/office/powerpoint/2010/main" xmlns="" val="1033775094"/>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总结</a:t>
            </a:r>
            <a:endParaRPr lang="zh-CN" altLang="en-US"/>
          </a:p>
        </p:txBody>
      </p:sp>
      <p:sp>
        <p:nvSpPr>
          <p:cNvPr id="3" name="内容占位符 2"/>
          <p:cNvSpPr>
            <a:spLocks noGrp="1"/>
          </p:cNvSpPr>
          <p:nvPr>
            <p:ph idx="1"/>
          </p:nvPr>
        </p:nvSpPr>
        <p:spPr/>
        <p:txBody>
          <a:bodyPr>
            <a:normAutofit lnSpcReduction="10000"/>
          </a:bodyPr>
          <a:lstStyle/>
          <a:p>
            <a:r>
              <a:rPr lang="zh-CN" altLang="en-US" dirty="0" smtClean="0"/>
              <a:t>算法的瓶颈仍然在于排序，所以时间复杂度为 </a:t>
            </a:r>
            <a:r>
              <a:rPr lang="en-US" altLang="zh-CN" dirty="0" smtClean="0">
                <a:latin typeface="Times New Roman" pitchFamily="18" charset="0"/>
                <a:cs typeface="Times New Roman" pitchFamily="18" charset="0"/>
              </a:rPr>
              <a:t>O(</a:t>
            </a:r>
            <a:r>
              <a:rPr lang="en-US" altLang="zh-CN" i="1" dirty="0" smtClean="0">
                <a:latin typeface="Times New Roman" pitchFamily="18" charset="0"/>
                <a:cs typeface="Times New Roman" pitchFamily="18" charset="0"/>
              </a:rPr>
              <a:t>N</a:t>
            </a:r>
            <a:r>
              <a:rPr lang="en-US" altLang="zh-CN" dirty="0" smtClean="0">
                <a:latin typeface="Times New Roman" pitchFamily="18" charset="0"/>
                <a:cs typeface="Times New Roman" pitchFamily="18" charset="0"/>
              </a:rPr>
              <a:t> log </a:t>
            </a:r>
            <a:r>
              <a:rPr lang="en-US" altLang="zh-CN" i="1" dirty="0" smtClean="0">
                <a:latin typeface="Times New Roman" pitchFamily="18" charset="0"/>
                <a:cs typeface="Times New Roman" pitchFamily="18" charset="0"/>
              </a:rPr>
              <a:t>N</a:t>
            </a:r>
            <a:r>
              <a:rPr lang="en-US" altLang="zh-CN" dirty="0" smtClean="0">
                <a:latin typeface="Times New Roman" pitchFamily="18" charset="0"/>
                <a:cs typeface="Times New Roman" pitchFamily="18" charset="0"/>
              </a:rPr>
              <a:t>)</a:t>
            </a:r>
            <a:r>
              <a:rPr lang="zh-CN" altLang="en-US" dirty="0" smtClean="0"/>
              <a:t>。若使用桶排序，甚至能得到 </a:t>
            </a:r>
            <a:r>
              <a:rPr lang="en-US" altLang="zh-CN" dirty="0" smtClean="0">
                <a:latin typeface="Times New Roman" pitchFamily="18" charset="0"/>
                <a:cs typeface="Times New Roman" pitchFamily="18" charset="0"/>
              </a:rPr>
              <a:t>O(</a:t>
            </a:r>
            <a:r>
              <a:rPr lang="en-US" altLang="zh-CN" i="1" dirty="0" smtClean="0">
                <a:latin typeface="Times New Roman" pitchFamily="18" charset="0"/>
                <a:cs typeface="Times New Roman" pitchFamily="18" charset="0"/>
              </a:rPr>
              <a:t>N</a:t>
            </a:r>
            <a:r>
              <a:rPr lang="en-US" altLang="zh-CN" dirty="0" smtClean="0">
                <a:latin typeface="Times New Roman" pitchFamily="18" charset="0"/>
                <a:cs typeface="Times New Roman" pitchFamily="18" charset="0"/>
              </a:rPr>
              <a:t>) </a:t>
            </a:r>
            <a:r>
              <a:rPr lang="zh-CN" altLang="en-US" dirty="0" smtClean="0"/>
              <a:t>的半平面交算法，但是并不会有明显的性能提升。</a:t>
            </a:r>
            <a:endParaRPr lang="en-US" altLang="zh-CN" dirty="0" smtClean="0"/>
          </a:p>
          <a:p>
            <a:r>
              <a:rPr lang="zh-CN" altLang="en-US" dirty="0" smtClean="0"/>
              <a:t>总体来说讨论比较辛苦，写起来不算很难。</a:t>
            </a:r>
            <a:endParaRPr lang="en-US" altLang="zh-CN" dirty="0" smtClean="0"/>
          </a:p>
          <a:p>
            <a:r>
              <a:rPr lang="zh-CN" altLang="en-US" dirty="0" smtClean="0"/>
              <a:t>精度存在比较大的问题，而且半平面交的题目一般都容许 </a:t>
            </a:r>
            <a:r>
              <a:rPr lang="en-US" altLang="zh-CN" dirty="0" smtClean="0">
                <a:latin typeface="Times New Roman" pitchFamily="18" charset="0"/>
                <a:cs typeface="Times New Roman" pitchFamily="18" charset="0"/>
              </a:rPr>
              <a:t>O(</a:t>
            </a:r>
            <a:r>
              <a:rPr lang="en-US" altLang="zh-CN" i="1" dirty="0" smtClean="0">
                <a:latin typeface="Times New Roman" pitchFamily="18" charset="0"/>
                <a:cs typeface="Times New Roman" pitchFamily="18" charset="0"/>
              </a:rPr>
              <a:t>N</a:t>
            </a:r>
            <a:r>
              <a:rPr lang="en-US" altLang="zh-CN" baseline="30000" dirty="0" smtClean="0">
                <a:latin typeface="Times New Roman" pitchFamily="18" charset="0"/>
                <a:cs typeface="Times New Roman" pitchFamily="18" charset="0"/>
              </a:rPr>
              <a:t>2</a:t>
            </a:r>
            <a:r>
              <a:rPr lang="en-US" altLang="zh-CN" dirty="0" smtClean="0">
                <a:latin typeface="Times New Roman" pitchFamily="18" charset="0"/>
                <a:cs typeface="Times New Roman" pitchFamily="18" charset="0"/>
              </a:rPr>
              <a:t>) </a:t>
            </a:r>
            <a:r>
              <a:rPr lang="zh-CN" altLang="en-US" dirty="0" smtClean="0"/>
              <a:t>算法，所以并不是很常用。</a:t>
            </a:r>
            <a:endParaRPr lang="zh-CN" altLang="en-US" dirty="0"/>
          </a:p>
        </p:txBody>
      </p:sp>
    </p:spTree>
    <p:extLst>
      <p:ext uri="{BB962C8B-B14F-4D97-AF65-F5344CB8AC3E}">
        <p14:creationId xmlns:p14="http://schemas.microsoft.com/office/powerpoint/2010/main" xmlns="" val="4198160541"/>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半平面交练习题</a:t>
            </a:r>
            <a:endParaRPr lang="zh-CN" altLang="en-US" dirty="0"/>
          </a:p>
        </p:txBody>
      </p:sp>
      <p:sp>
        <p:nvSpPr>
          <p:cNvPr id="3" name="内容占位符 2"/>
          <p:cNvSpPr>
            <a:spLocks noGrp="1"/>
          </p:cNvSpPr>
          <p:nvPr>
            <p:ph idx="1"/>
          </p:nvPr>
        </p:nvSpPr>
        <p:spPr/>
        <p:txBody>
          <a:bodyPr>
            <a:normAutofit fontScale="77500" lnSpcReduction="20000"/>
          </a:bodyPr>
          <a:lstStyle/>
          <a:p>
            <a:pPr>
              <a:lnSpc>
                <a:spcPct val="140000"/>
              </a:lnSpc>
            </a:pPr>
            <a:r>
              <a:rPr lang="en-US" altLang="zh-CN" b="1" dirty="0" smtClean="0">
                <a:solidFill>
                  <a:schemeClr val="tx2">
                    <a:lumMod val="75000"/>
                  </a:schemeClr>
                </a:solidFill>
              </a:rPr>
              <a:t>POJ 1279  </a:t>
            </a:r>
            <a:r>
              <a:rPr lang="zh-CN" altLang="en-US" dirty="0" smtClean="0"/>
              <a:t>求多边形的核。核中的点满足其到多边形边界上任一点之间的线段只与多边形在那一点相交。</a:t>
            </a:r>
            <a:endParaRPr lang="en-US" altLang="zh-CN" dirty="0" smtClean="0"/>
          </a:p>
          <a:p>
            <a:pPr>
              <a:lnSpc>
                <a:spcPct val="140000"/>
              </a:lnSpc>
            </a:pPr>
            <a:r>
              <a:rPr lang="en-US" altLang="zh-CN" b="1" dirty="0" smtClean="0">
                <a:solidFill>
                  <a:schemeClr val="tx2">
                    <a:lumMod val="75000"/>
                  </a:schemeClr>
                </a:solidFill>
              </a:rPr>
              <a:t>POJ 3525  </a:t>
            </a:r>
            <a:r>
              <a:rPr lang="zh-CN" altLang="en-US" dirty="0" smtClean="0"/>
              <a:t>求凸多边形最大内切圆半径。</a:t>
            </a:r>
            <a:endParaRPr lang="en-US" altLang="zh-CN" dirty="0" smtClean="0"/>
          </a:p>
          <a:p>
            <a:pPr>
              <a:lnSpc>
                <a:spcPct val="140000"/>
              </a:lnSpc>
            </a:pPr>
            <a:r>
              <a:rPr lang="en-US" altLang="zh-CN" b="1" dirty="0" smtClean="0">
                <a:solidFill>
                  <a:schemeClr val="tx2">
                    <a:lumMod val="75000"/>
                  </a:schemeClr>
                </a:solidFill>
              </a:rPr>
              <a:t>POJ 2451  </a:t>
            </a:r>
            <a:r>
              <a:rPr lang="zh-CN" altLang="en-US" dirty="0" smtClean="0"/>
              <a:t>裸的半平面交</a:t>
            </a:r>
            <a:r>
              <a:rPr lang="zh-CN" altLang="en-US" dirty="0"/>
              <a:t>。</a:t>
            </a:r>
            <a:r>
              <a:rPr lang="zh-CN" altLang="en-US" dirty="0" smtClean="0"/>
              <a:t>朱泽园专门为他的算法出的题，要求 </a:t>
            </a:r>
            <a:r>
              <a:rPr lang="en-US" altLang="zh-CN" dirty="0" smtClean="0">
                <a:cs typeface="Times New Roman" pitchFamily="18" charset="0"/>
              </a:rPr>
              <a:t>O(</a:t>
            </a:r>
            <a:r>
              <a:rPr lang="en-US" altLang="zh-CN" i="1" dirty="0" smtClean="0">
                <a:cs typeface="Times New Roman" pitchFamily="18" charset="0"/>
              </a:rPr>
              <a:t>N</a:t>
            </a:r>
            <a:r>
              <a:rPr lang="en-US" altLang="zh-CN" dirty="0" smtClean="0">
                <a:cs typeface="Times New Roman" pitchFamily="18" charset="0"/>
              </a:rPr>
              <a:t> log </a:t>
            </a:r>
            <a:r>
              <a:rPr lang="en-US" altLang="zh-CN" i="1" dirty="0" smtClean="0">
                <a:cs typeface="Times New Roman" pitchFamily="18" charset="0"/>
              </a:rPr>
              <a:t>N</a:t>
            </a:r>
            <a:r>
              <a:rPr lang="en-US" altLang="zh-CN" dirty="0" smtClean="0">
                <a:cs typeface="Times New Roman" pitchFamily="18" charset="0"/>
              </a:rPr>
              <a:t>) </a:t>
            </a:r>
            <a:r>
              <a:rPr lang="zh-CN" altLang="en-US" dirty="0" smtClean="0"/>
              <a:t>算法。</a:t>
            </a:r>
            <a:endParaRPr lang="en-US" altLang="zh-CN" dirty="0" smtClean="0"/>
          </a:p>
          <a:p>
            <a:pPr>
              <a:lnSpc>
                <a:spcPct val="140000"/>
              </a:lnSpc>
            </a:pPr>
            <a:r>
              <a:rPr lang="en-US" altLang="zh-CN" b="1" dirty="0" smtClean="0">
                <a:solidFill>
                  <a:schemeClr val="tx2">
                    <a:lumMod val="75000"/>
                  </a:schemeClr>
                </a:solidFill>
              </a:rPr>
              <a:t>POJ 3384  </a:t>
            </a:r>
            <a:r>
              <a:rPr lang="zh-CN" altLang="en-US" dirty="0" smtClean="0"/>
              <a:t>求在凸多边形内部放两个半径为 </a:t>
            </a:r>
            <a:r>
              <a:rPr lang="en-US" altLang="zh-CN" i="1" dirty="0" smtClean="0">
                <a:cs typeface="Times New Roman" pitchFamily="18" charset="0"/>
              </a:rPr>
              <a:t>r</a:t>
            </a:r>
            <a:r>
              <a:rPr lang="en-US" altLang="zh-CN" dirty="0" smtClean="0"/>
              <a:t> </a:t>
            </a:r>
            <a:r>
              <a:rPr lang="zh-CN" altLang="en-US" dirty="0" smtClean="0"/>
              <a:t>的圆所能覆盖的最大面积。两圆可以重叠，但不能与多边形相交。需要用到旋转卡壳。</a:t>
            </a:r>
            <a:endParaRPr lang="zh-CN" altLang="en-US" dirty="0"/>
          </a:p>
        </p:txBody>
      </p:sp>
    </p:spTree>
    <p:extLst>
      <p:ext uri="{BB962C8B-B14F-4D97-AF65-F5344CB8AC3E}">
        <p14:creationId xmlns:p14="http://schemas.microsoft.com/office/powerpoint/2010/main" xmlns="" val="267230896"/>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圆</a:t>
            </a:r>
            <a:endParaRPr lang="zh-CN" altLang="en-US"/>
          </a:p>
        </p:txBody>
      </p:sp>
      <p:sp>
        <p:nvSpPr>
          <p:cNvPr id="3" name="内容占位符 2"/>
          <p:cNvSpPr>
            <a:spLocks noGrp="1"/>
          </p:cNvSpPr>
          <p:nvPr>
            <p:ph idx="1"/>
          </p:nvPr>
        </p:nvSpPr>
        <p:spPr/>
        <p:txBody>
          <a:bodyPr/>
          <a:lstStyle/>
          <a:p>
            <a:r>
              <a:rPr lang="zh-CN" altLang="en-US" smtClean="0"/>
              <a:t>到定点 </a:t>
            </a:r>
            <a:r>
              <a:rPr lang="en-US" altLang="zh-CN" i="1" smtClean="0">
                <a:latin typeface="Times New Roman" pitchFamily="18" charset="0"/>
                <a:cs typeface="Times New Roman" pitchFamily="18" charset="0"/>
              </a:rPr>
              <a:t>O</a:t>
            </a:r>
            <a:r>
              <a:rPr lang="en-US" altLang="zh-CN" smtClean="0"/>
              <a:t> </a:t>
            </a:r>
            <a:r>
              <a:rPr lang="zh-CN" altLang="en-US" smtClean="0"/>
              <a:t>距离等于定值 </a:t>
            </a:r>
            <a:r>
              <a:rPr lang="en-US" altLang="zh-CN" i="1" smtClean="0">
                <a:latin typeface="Times New Roman" pitchFamily="18" charset="0"/>
                <a:cs typeface="Times New Roman" pitchFamily="18" charset="0"/>
              </a:rPr>
              <a:t>r</a:t>
            </a:r>
            <a:r>
              <a:rPr lang="en-US" altLang="zh-CN" smtClean="0"/>
              <a:t> </a:t>
            </a:r>
            <a:r>
              <a:rPr lang="zh-CN" altLang="en-US" smtClean="0"/>
              <a:t>的点的集合。</a:t>
            </a:r>
            <a:endParaRPr lang="en-US" altLang="zh-CN" smtClean="0"/>
          </a:p>
          <a:p>
            <a:r>
              <a:rPr lang="zh-CN" altLang="en-US" smtClean="0"/>
              <a:t>有时根据上下文也包含内部的点。</a:t>
            </a:r>
            <a:endParaRPr lang="en-US" altLang="zh-CN" smtClean="0"/>
          </a:p>
          <a:p>
            <a:r>
              <a:rPr lang="en-US" altLang="zh-CN" i="1" smtClean="0">
                <a:latin typeface="Times New Roman" pitchFamily="18" charset="0"/>
                <a:cs typeface="Times New Roman" pitchFamily="18" charset="0"/>
              </a:rPr>
              <a:t>O</a:t>
            </a:r>
            <a:r>
              <a:rPr lang="zh-CN" altLang="en-US" smtClean="0"/>
              <a:t> 即为</a:t>
            </a:r>
            <a:r>
              <a:rPr lang="zh-CN" altLang="en-US" b="1" smtClean="0">
                <a:solidFill>
                  <a:schemeClr val="accent4">
                    <a:lumMod val="60000"/>
                    <a:lumOff val="40000"/>
                  </a:schemeClr>
                </a:solidFill>
              </a:rPr>
              <a:t>圆心</a:t>
            </a:r>
            <a:r>
              <a:rPr lang="zh-CN" altLang="en-US" smtClean="0"/>
              <a:t>，</a:t>
            </a:r>
            <a:r>
              <a:rPr lang="en-US" altLang="zh-CN" i="1" smtClean="0">
                <a:latin typeface="Times New Roman" pitchFamily="18" charset="0"/>
                <a:cs typeface="Times New Roman" pitchFamily="18" charset="0"/>
              </a:rPr>
              <a:t>r</a:t>
            </a:r>
            <a:r>
              <a:rPr lang="en-US" altLang="zh-CN" smtClean="0"/>
              <a:t> </a:t>
            </a:r>
            <a:r>
              <a:rPr lang="zh-CN" altLang="en-US" smtClean="0"/>
              <a:t>即为</a:t>
            </a:r>
            <a:r>
              <a:rPr lang="zh-CN" altLang="en-US" b="1" smtClean="0">
                <a:solidFill>
                  <a:schemeClr val="accent4">
                    <a:lumMod val="60000"/>
                    <a:lumOff val="40000"/>
                  </a:schemeClr>
                </a:solidFill>
              </a:rPr>
              <a:t>半径</a:t>
            </a:r>
            <a:r>
              <a:rPr lang="zh-CN" altLang="en-US" smtClean="0"/>
              <a:t>。</a:t>
            </a:r>
            <a:endParaRPr lang="en-US" altLang="zh-CN" smtClean="0"/>
          </a:p>
          <a:p>
            <a:r>
              <a:rPr lang="zh-CN" altLang="en-US" smtClean="0"/>
              <a:t>圆只需要用这两个东西表示就行了。</a:t>
            </a:r>
            <a:endParaRPr lang="en-US" altLang="zh-CN" smtClean="0"/>
          </a:p>
        </p:txBody>
      </p:sp>
    </p:spTree>
    <p:extLst>
      <p:ext uri="{BB962C8B-B14F-4D97-AF65-F5344CB8AC3E}">
        <p14:creationId xmlns:p14="http://schemas.microsoft.com/office/powerpoint/2010/main" xmlns="" val="2110568552"/>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圆与直线的交点</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smtClean="0"/>
                  <a:t>先求圆心到直线的距离 </a:t>
                </a:r>
                <a:r>
                  <a:rPr lang="en-US" altLang="zh-CN" i="1" smtClean="0">
                    <a:latin typeface="Times New Roman" pitchFamily="18" charset="0"/>
                    <a:cs typeface="Times New Roman" pitchFamily="18" charset="0"/>
                  </a:rPr>
                  <a:t>h</a:t>
                </a:r>
                <a:r>
                  <a:rPr lang="zh-CN" altLang="en-US" smtClean="0"/>
                  <a:t>。若 </a:t>
                </a:r>
                <a14:m>
                  <m:oMath xmlns:m="http://schemas.openxmlformats.org/officeDocument/2006/math">
                    <m:r>
                      <a:rPr lang="en-US" altLang="zh-CN" b="0" i="1" smtClean="0">
                        <a:latin typeface="Cambria Math"/>
                      </a:rPr>
                      <m:t>h</m:t>
                    </m:r>
                    <m:r>
                      <a:rPr lang="en-US" altLang="zh-CN" b="0" i="1" smtClean="0">
                        <a:latin typeface="Cambria Math"/>
                      </a:rPr>
                      <m:t>&gt;</m:t>
                    </m:r>
                    <m:r>
                      <a:rPr lang="en-US" altLang="zh-CN" b="0" i="1" smtClean="0">
                        <a:latin typeface="Cambria Math"/>
                      </a:rPr>
                      <m:t>𝑟</m:t>
                    </m:r>
                  </m:oMath>
                </a14:m>
                <a:r>
                  <a:rPr lang="zh-CN" altLang="en-US" smtClean="0"/>
                  <a:t> 则圆与直线木有交点。</a:t>
                </a:r>
                <a:endParaRPr lang="en-US" altLang="zh-CN" smtClean="0"/>
              </a:p>
              <a:p>
                <a:r>
                  <a:rPr lang="zh-CN" altLang="en-US" smtClean="0"/>
                  <a:t>否则求圆心到直线的垂直矢量 </a:t>
                </a:r>
                <a:r>
                  <a:rPr lang="en-US" altLang="zh-CN" b="1" i="1" smtClean="0">
                    <a:latin typeface="Times New Roman" pitchFamily="18" charset="0"/>
                    <a:cs typeface="Times New Roman" pitchFamily="18" charset="0"/>
                  </a:rPr>
                  <a:t>H</a:t>
                </a:r>
                <a:r>
                  <a:rPr lang="zh-CN" altLang="en-US" smtClean="0"/>
                  <a:t/>
                </a:r>
                <a:r>
                  <a:rPr lang="en-US" altLang="zh-CN" baseline="30000" smtClean="0"/>
                  <a:t>(</a:t>
                </a:r>
                <a:r>
                  <a:rPr lang="zh-CN" altLang="en-US" baseline="30000" smtClean="0"/>
                  <a:t>见第 </a:t>
                </a:r>
                <a:r>
                  <a:rPr lang="en-US" altLang="zh-CN" baseline="30000" smtClean="0"/>
                  <a:t>28 </a:t>
                </a:r>
                <a:r>
                  <a:rPr lang="zh-CN" altLang="en-US" baseline="30000" smtClean="0"/>
                  <a:t>页之定义</a:t>
                </a:r>
                <a:r>
                  <a:rPr lang="en-US" altLang="zh-CN" baseline="30000" smtClean="0"/>
                  <a:t>)</a:t>
                </a:r>
                <a:r>
                  <a:rPr lang="zh-CN" altLang="en-US" smtClean="0"/>
                  <a:t>。若 </a:t>
                </a:r>
                <a14:m>
                  <m:oMath xmlns:m="http://schemas.openxmlformats.org/officeDocument/2006/math">
                    <m:r>
                      <a:rPr lang="en-US" altLang="zh-CN" b="0" i="1" smtClean="0">
                        <a:latin typeface="Cambria Math"/>
                      </a:rPr>
                      <m:t>h</m:t>
                    </m:r>
                    <m:r>
                      <a:rPr lang="en-US" altLang="zh-CN" b="0" i="1" smtClean="0">
                        <a:latin typeface="Cambria Math"/>
                      </a:rPr>
                      <m:t>=</m:t>
                    </m:r>
                    <m:r>
                      <a:rPr lang="en-US" altLang="zh-CN" b="0" i="1" smtClean="0">
                        <a:latin typeface="Cambria Math"/>
                      </a:rPr>
                      <m:t>𝑟</m:t>
                    </m:r>
                  </m:oMath>
                </a14:m>
                <a:r>
                  <a:rPr lang="zh-CN" altLang="en-US" smtClean="0"/>
                  <a:t> 则 </a:t>
                </a:r>
                <a14:m>
                  <m:oMath xmlns:m="http://schemas.openxmlformats.org/officeDocument/2006/math">
                    <m:r>
                      <a:rPr lang="en-US" altLang="zh-CN" b="0" i="1" smtClean="0">
                        <a:latin typeface="Cambria Math"/>
                      </a:rPr>
                      <m:t>𝑂</m:t>
                    </m:r>
                    <m:r>
                      <a:rPr lang="en-US" altLang="zh-CN" b="0" i="1" smtClean="0">
                        <a:latin typeface="Cambria Math"/>
                      </a:rPr>
                      <m:t>+</m:t>
                    </m:r>
                    <m:r>
                      <a:rPr lang="en-US" altLang="zh-CN" b="1" i="1" smtClean="0">
                        <a:latin typeface="Cambria Math"/>
                      </a:rPr>
                      <m:t>𝑯</m:t>
                    </m:r>
                  </m:oMath>
                </a14:m>
                <a:r>
                  <a:rPr lang="zh-CN" altLang="en-US" smtClean="0"/>
                  <a:t> 即为切点。</a:t>
                </a:r>
                <a:endParaRPr lang="en-US" altLang="zh-CN" smtClean="0"/>
              </a:p>
              <a:p>
                <a:r>
                  <a:rPr lang="zh-CN" altLang="en-US" smtClean="0"/>
                  <a:t>否则</a:t>
                </a:r>
                <a:r>
                  <a:rPr lang="en-US" altLang="zh-CN" smtClean="0"/>
                  <a:t>……</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667" r="-235"/>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311242037"/>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圆与直线的交点</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a:xfrm>
                <a:off x="914400" y="1628800"/>
                <a:ext cx="7772400" cy="4572000"/>
              </a:xfrm>
            </p:spPr>
            <p:txBody>
              <a:bodyPr>
                <a:normAutofit/>
              </a:bodyPr>
              <a:lstStyle/>
              <a:p>
                <a:r>
                  <a:rPr lang="zh-CN" altLang="en-US" smtClean="0"/>
                  <a:t>否则记 </a:t>
                </a:r>
                <a14:m>
                  <m:oMath xmlns:m="http://schemas.openxmlformats.org/officeDocument/2006/math">
                    <m:r>
                      <a:rPr lang="en-US" altLang="zh-CN" b="0" i="1" smtClean="0">
                        <a:latin typeface="Cambria Math"/>
                      </a:rPr>
                      <m:t>𝐻</m:t>
                    </m:r>
                    <m:r>
                      <a:rPr lang="en-US" altLang="zh-CN" b="0" i="1" smtClean="0">
                        <a:latin typeface="Cambria Math"/>
                      </a:rPr>
                      <m:t>=(</m:t>
                    </m:r>
                    <m:r>
                      <a:rPr lang="en-US" altLang="zh-CN" b="0" i="1" smtClean="0">
                        <a:latin typeface="Cambria Math"/>
                      </a:rPr>
                      <m:t>𝑥</m:t>
                    </m:r>
                    <m:r>
                      <a:rPr lang="en-US" altLang="zh-CN" b="0" i="1" smtClean="0">
                        <a:latin typeface="Cambria Math"/>
                      </a:rPr>
                      <m:t>,</m:t>
                    </m:r>
                    <m:r>
                      <a:rPr lang="en-US" altLang="zh-CN" b="0" i="1" smtClean="0">
                        <a:latin typeface="Cambria Math"/>
                      </a:rPr>
                      <m:t>𝑦</m:t>
                    </m:r>
                    <m:r>
                      <a:rPr lang="en-US" altLang="zh-CN" b="0" i="1" smtClean="0">
                        <a:latin typeface="Cambria Math"/>
                      </a:rPr>
                      <m:t>)</m:t>
                    </m:r>
                  </m:oMath>
                </a14:m>
                <a:r>
                  <a:rPr lang="zh-CN" altLang="en-US" smtClean="0"/>
                  <a:t>，且 </a:t>
                </a:r>
                <a:r>
                  <a:rPr lang="en-US" altLang="zh-CN" b="1" i="1" smtClean="0">
                    <a:latin typeface="Times New Roman" pitchFamily="18" charset="0"/>
                    <a:cs typeface="Times New Roman" pitchFamily="18" charset="0"/>
                  </a:rPr>
                  <a:t>H</a:t>
                </a:r>
                <a:r>
                  <a:rPr lang="en-US" altLang="zh-CN" smtClean="0"/>
                  <a:t/>
                </a:r>
                <a:r>
                  <a:rPr lang="zh-CN" altLang="en-US" smtClean="0"/>
                  <a:t>逆时针旋转 </a:t>
                </a:r>
                <a14:m>
                  <m:oMath xmlns:m="http://schemas.openxmlformats.org/officeDocument/2006/math">
                    <m:f>
                      <m:fPr>
                        <m:ctrlPr>
                          <a:rPr lang="en-US" altLang="zh-CN" i="1" smtClean="0">
                            <a:latin typeface="Cambria Math"/>
                          </a:rPr>
                        </m:ctrlPr>
                      </m:fPr>
                      <m:num>
                        <m:r>
                          <a:rPr lang="en-US" altLang="zh-CN" b="0" i="1" smtClean="0">
                            <a:latin typeface="Cambria Math"/>
                          </a:rPr>
                          <m:t>𝜋</m:t>
                        </m:r>
                      </m:num>
                      <m:den>
                        <m:r>
                          <a:rPr lang="en-US" altLang="zh-CN" b="0" i="1" smtClean="0">
                            <a:latin typeface="Cambria Math"/>
                          </a:rPr>
                          <m:t>2</m:t>
                        </m:r>
                      </m:den>
                    </m:f>
                  </m:oMath>
                </a14:m>
                <a:r>
                  <a:rPr lang="zh-CN" altLang="en-US" smtClean="0"/>
                  <a:t/>
                </a:r>
                <a:r>
                  <a:rPr lang="zh-CN" altLang="en-US" smtClean="0">
                    <a:latin typeface="Times New Roman" pitchFamily="18" charset="0"/>
                    <a:cs typeface="Times New Roman" pitchFamily="18" charset="0"/>
                  </a:rPr>
                  <a:t>为 </a:t>
                </a:r>
                <a14:m>
                  <m:oMath xmlns:m="http://schemas.openxmlformats.org/officeDocument/2006/math">
                    <m:sSub>
                      <m:sSubPr>
                        <m:ctrlPr>
                          <a:rPr lang="en-US" altLang="zh-CN" b="1" i="1" smtClean="0">
                            <a:latin typeface="Cambria Math"/>
                            <a:cs typeface="Times New Roman" pitchFamily="18" charset="0"/>
                          </a:rPr>
                        </m:ctrlPr>
                      </m:sSubPr>
                      <m:e>
                        <m:r>
                          <a:rPr lang="en-US" altLang="zh-CN" b="1" i="1" smtClean="0">
                            <a:latin typeface="Cambria Math"/>
                            <a:cs typeface="Times New Roman" pitchFamily="18" charset="0"/>
                          </a:rPr>
                          <m:t>𝑯</m:t>
                        </m:r>
                      </m:e>
                      <m:sub>
                        <m:r>
                          <a:rPr lang="en-US" altLang="zh-CN" b="1" i="1" smtClean="0">
                            <a:latin typeface="Cambria Math"/>
                            <a:cs typeface="Times New Roman" pitchFamily="18" charset="0"/>
                          </a:rPr>
                          <m:t>𝟎</m:t>
                        </m:r>
                      </m:sub>
                    </m:sSub>
                    <m:r>
                      <a:rPr lang="en-US" altLang="zh-CN" b="0" i="1" smtClean="0">
                        <a:latin typeface="Cambria Math"/>
                        <a:cs typeface="Times New Roman" pitchFamily="18" charset="0"/>
                      </a:rPr>
                      <m:t>=</m:t>
                    </m:r>
                    <m:d>
                      <m:dPr>
                        <m:ctrlPr>
                          <a:rPr lang="en-US" altLang="zh-CN" b="0" i="1" smtClean="0">
                            <a:latin typeface="Cambria Math"/>
                            <a:cs typeface="Times New Roman" pitchFamily="18" charset="0"/>
                          </a:rPr>
                        </m:ctrlPr>
                      </m:dPr>
                      <m:e>
                        <m:r>
                          <a:rPr lang="en-US" altLang="zh-CN" b="0" i="1" smtClean="0">
                            <a:latin typeface="Cambria Math"/>
                            <a:cs typeface="Times New Roman" pitchFamily="18" charset="0"/>
                          </a:rPr>
                          <m:t>−</m:t>
                        </m:r>
                        <m:r>
                          <a:rPr lang="en-US" altLang="zh-CN" b="0" i="1" smtClean="0">
                            <a:latin typeface="Cambria Math"/>
                            <a:cs typeface="Times New Roman" pitchFamily="18" charset="0"/>
                          </a:rPr>
                          <m:t>𝑦</m:t>
                        </m:r>
                        <m:r>
                          <a:rPr lang="en-US" altLang="zh-CN" b="0" i="1" smtClean="0">
                            <a:latin typeface="Cambria Math"/>
                            <a:cs typeface="Times New Roman" pitchFamily="18" charset="0"/>
                          </a:rPr>
                          <m:t>,</m:t>
                        </m:r>
                        <m:r>
                          <a:rPr lang="en-US" altLang="zh-CN" b="0" i="1" smtClean="0">
                            <a:latin typeface="Cambria Math"/>
                            <a:cs typeface="Times New Roman" pitchFamily="18" charset="0"/>
                          </a:rPr>
                          <m:t>𝑥</m:t>
                        </m:r>
                      </m:e>
                    </m:d>
                    <m:r>
                      <a:rPr lang="en-US" altLang="zh-CN" b="1" i="1" smtClean="0">
                        <a:latin typeface="Cambria Math"/>
                        <a:cs typeface="Times New Roman" pitchFamily="18" charset="0"/>
                      </a:rPr>
                      <m:t> </m:t>
                    </m:r>
                  </m:oMath>
                </a14:m>
                <a:r>
                  <a:rPr lang="zh-CN" altLang="en-US" smtClean="0">
                    <a:latin typeface="Times New Roman" pitchFamily="18" charset="0"/>
                    <a:cs typeface="Times New Roman" pitchFamily="18" charset="0"/>
                  </a:rPr>
                  <a:t>。</a:t>
                </a:r>
                <a:endParaRPr lang="en-US" altLang="zh-CN" smtClean="0">
                  <a:latin typeface="Times New Roman" pitchFamily="18" charset="0"/>
                  <a:cs typeface="Times New Roman" pitchFamily="18" charset="0"/>
                </a:endParaRPr>
              </a:p>
              <a:p>
                <a:r>
                  <a:rPr lang="zh-CN" altLang="en-US" smtClean="0">
                    <a:latin typeface="Times New Roman" pitchFamily="18" charset="0"/>
                    <a:cs typeface="Times New Roman" pitchFamily="18" charset="0"/>
                  </a:rPr>
                  <a:t>记 </a:t>
                </a:r>
                <a14:m>
                  <m:oMath xmlns:m="http://schemas.openxmlformats.org/officeDocument/2006/math">
                    <m:r>
                      <a:rPr lang="en-US" altLang="zh-CN" b="0" i="1" smtClean="0">
                        <a:latin typeface="Cambria Math"/>
                        <a:cs typeface="Times New Roman" pitchFamily="18" charset="0"/>
                      </a:rPr>
                      <m:t>𝑑</m:t>
                    </m:r>
                    <m:r>
                      <a:rPr lang="en-US" altLang="zh-CN" b="0" i="1" smtClean="0">
                        <a:latin typeface="Cambria Math"/>
                        <a:cs typeface="Times New Roman" pitchFamily="18" charset="0"/>
                      </a:rPr>
                      <m:t>=</m:t>
                    </m:r>
                    <m:rad>
                      <m:radPr>
                        <m:degHide m:val="on"/>
                        <m:ctrlPr>
                          <a:rPr lang="en-US" altLang="zh-CN" b="0" i="1" smtClean="0">
                            <a:latin typeface="Cambria Math"/>
                            <a:cs typeface="Times New Roman" pitchFamily="18" charset="0"/>
                          </a:rPr>
                        </m:ctrlPr>
                      </m:radPr>
                      <m:deg/>
                      <m:e>
                        <m:sSup>
                          <m:sSupPr>
                            <m:ctrlPr>
                              <a:rPr lang="en-US" altLang="zh-CN" b="0" i="1" smtClean="0">
                                <a:latin typeface="Cambria Math"/>
                                <a:cs typeface="Times New Roman" pitchFamily="18" charset="0"/>
                              </a:rPr>
                            </m:ctrlPr>
                          </m:sSupPr>
                          <m:e>
                            <m:r>
                              <a:rPr lang="en-US" altLang="zh-CN" b="0" i="1" smtClean="0">
                                <a:latin typeface="Cambria Math"/>
                                <a:cs typeface="Times New Roman" pitchFamily="18" charset="0"/>
                              </a:rPr>
                              <m:t>𝑟</m:t>
                            </m:r>
                          </m:e>
                          <m:sup>
                            <m:r>
                              <a:rPr lang="en-US" altLang="zh-CN" b="0" i="1" smtClean="0">
                                <a:latin typeface="Cambria Math"/>
                                <a:cs typeface="Times New Roman" pitchFamily="18" charset="0"/>
                              </a:rPr>
                              <m:t>2</m:t>
                            </m:r>
                          </m:sup>
                        </m:sSup>
                        <m:r>
                          <a:rPr lang="en-US" altLang="zh-CN" b="0" i="1" smtClean="0">
                            <a:latin typeface="Cambria Math"/>
                            <a:cs typeface="Times New Roman" pitchFamily="18" charset="0"/>
                          </a:rPr>
                          <m:t>−</m:t>
                        </m:r>
                        <m:sSup>
                          <m:sSupPr>
                            <m:ctrlPr>
                              <a:rPr lang="en-US" altLang="zh-CN" b="0" i="1" smtClean="0">
                                <a:latin typeface="Cambria Math"/>
                                <a:cs typeface="Times New Roman" pitchFamily="18" charset="0"/>
                              </a:rPr>
                            </m:ctrlPr>
                          </m:sSupPr>
                          <m:e>
                            <m:r>
                              <a:rPr lang="en-US" altLang="zh-CN" b="0" i="1" smtClean="0">
                                <a:latin typeface="Cambria Math"/>
                                <a:cs typeface="Times New Roman" pitchFamily="18" charset="0"/>
                              </a:rPr>
                              <m:t>h</m:t>
                            </m:r>
                          </m:e>
                          <m:sup>
                            <m:r>
                              <a:rPr lang="en-US" altLang="zh-CN" b="0" i="1" smtClean="0">
                                <a:latin typeface="Cambria Math"/>
                                <a:cs typeface="Times New Roman" pitchFamily="18" charset="0"/>
                              </a:rPr>
                              <m:t>2</m:t>
                            </m:r>
                          </m:sup>
                        </m:sSup>
                      </m:e>
                    </m:rad>
                  </m:oMath>
                </a14:m>
                <a:r>
                  <a:rPr lang="zh-CN" altLang="en-US" smtClean="0">
                    <a:latin typeface="Times New Roman" pitchFamily="18" charset="0"/>
                    <a:cs typeface="Times New Roman" pitchFamily="18" charset="0"/>
                  </a:rPr>
                  <a:t> 为垂足到交点的距离，则两个交点分别为 </a:t>
                </a:r>
                <a14:m>
                  <m:oMath xmlns:m="http://schemas.openxmlformats.org/officeDocument/2006/math">
                    <m:r>
                      <a:rPr lang="en-US" altLang="zh-CN" b="0" i="1" smtClean="0">
                        <a:latin typeface="Cambria Math"/>
                        <a:cs typeface="Times New Roman" pitchFamily="18" charset="0"/>
                      </a:rPr>
                      <m:t>𝑂</m:t>
                    </m:r>
                    <m:r>
                      <a:rPr lang="en-US" altLang="zh-CN" b="0" i="1" smtClean="0">
                        <a:latin typeface="Cambria Math"/>
                        <a:cs typeface="Times New Roman" pitchFamily="18" charset="0"/>
                      </a:rPr>
                      <m:t>+</m:t>
                    </m:r>
                    <m:r>
                      <a:rPr lang="en-US" altLang="zh-CN" b="1" i="1" smtClean="0">
                        <a:latin typeface="Cambria Math"/>
                        <a:cs typeface="Times New Roman" pitchFamily="18" charset="0"/>
                      </a:rPr>
                      <m:t>𝑯</m:t>
                    </m:r>
                    <m:r>
                      <a:rPr lang="en-US" altLang="zh-CN" b="0" i="1" smtClean="0">
                        <a:latin typeface="Cambria Math"/>
                        <a:cs typeface="Times New Roman" pitchFamily="18" charset="0"/>
                      </a:rPr>
                      <m:t>+</m:t>
                    </m:r>
                    <m:f>
                      <m:fPr>
                        <m:ctrlPr>
                          <a:rPr lang="en-US" altLang="zh-CN" b="0" i="1" smtClean="0">
                            <a:latin typeface="Cambria Math"/>
                            <a:cs typeface="Times New Roman" pitchFamily="18" charset="0"/>
                          </a:rPr>
                        </m:ctrlPr>
                      </m:fPr>
                      <m:num>
                        <m:r>
                          <a:rPr lang="en-US" altLang="zh-CN" b="0" i="1" smtClean="0">
                            <a:latin typeface="Cambria Math"/>
                            <a:cs typeface="Times New Roman" pitchFamily="18" charset="0"/>
                          </a:rPr>
                          <m:t>𝑑</m:t>
                        </m:r>
                        <m:sSub>
                          <m:sSubPr>
                            <m:ctrlPr>
                              <a:rPr lang="en-US" altLang="zh-CN" b="1" i="1" smtClean="0">
                                <a:latin typeface="Cambria Math"/>
                                <a:cs typeface="Times New Roman" pitchFamily="18" charset="0"/>
                              </a:rPr>
                            </m:ctrlPr>
                          </m:sSubPr>
                          <m:e>
                            <m:r>
                              <a:rPr lang="en-US" altLang="zh-CN" b="1" i="1" smtClean="0">
                                <a:latin typeface="Cambria Math"/>
                                <a:cs typeface="Times New Roman" pitchFamily="18" charset="0"/>
                              </a:rPr>
                              <m:t>𝑯</m:t>
                            </m:r>
                          </m:e>
                          <m:sub>
                            <m:r>
                              <a:rPr lang="en-US" altLang="zh-CN" b="1" i="1" smtClean="0">
                                <a:latin typeface="Cambria Math"/>
                                <a:cs typeface="Times New Roman" pitchFamily="18" charset="0"/>
                              </a:rPr>
                              <m:t>𝟎</m:t>
                            </m:r>
                          </m:sub>
                        </m:sSub>
                      </m:num>
                      <m:den>
                        <m:r>
                          <a:rPr lang="en-US" altLang="zh-CN" b="0" i="1" smtClean="0">
                            <a:latin typeface="Cambria Math"/>
                            <a:cs typeface="Times New Roman" pitchFamily="18" charset="0"/>
                          </a:rPr>
                          <m:t>h</m:t>
                        </m:r>
                      </m:den>
                    </m:f>
                  </m:oMath>
                </a14:m>
                <a:r>
                  <a:rPr lang="zh-CN" altLang="en-US" smtClean="0">
                    <a:latin typeface="Times New Roman" pitchFamily="18" charset="0"/>
                    <a:cs typeface="Times New Roman" pitchFamily="18" charset="0"/>
                  </a:rPr>
                  <a:t>，</a:t>
                </a:r>
                <a14:m>
                  <m:oMath xmlns:m="http://schemas.openxmlformats.org/officeDocument/2006/math">
                    <m:r>
                      <a:rPr lang="en-US" altLang="zh-CN" b="0" i="1" smtClean="0">
                        <a:latin typeface="Cambria Math"/>
                        <a:cs typeface="Times New Roman" pitchFamily="18" charset="0"/>
                      </a:rPr>
                      <m:t>𝑂</m:t>
                    </m:r>
                    <m:r>
                      <a:rPr lang="en-US" altLang="zh-CN" b="0" i="1" smtClean="0">
                        <a:latin typeface="Cambria Math"/>
                        <a:cs typeface="Times New Roman" pitchFamily="18" charset="0"/>
                      </a:rPr>
                      <m:t>+</m:t>
                    </m:r>
                    <m:r>
                      <a:rPr lang="en-US" altLang="zh-CN" b="1" i="1" smtClean="0">
                        <a:latin typeface="Cambria Math"/>
                        <a:cs typeface="Times New Roman" pitchFamily="18" charset="0"/>
                      </a:rPr>
                      <m:t>𝑯</m:t>
                    </m:r>
                    <m:r>
                      <a:rPr lang="en-US" altLang="zh-CN" b="1" i="1" smtClean="0">
                        <a:latin typeface="Cambria Math"/>
                        <a:cs typeface="Times New Roman" pitchFamily="18" charset="0"/>
                      </a:rPr>
                      <m:t>−</m:t>
                    </m:r>
                    <m:f>
                      <m:fPr>
                        <m:ctrlPr>
                          <a:rPr lang="en-US" altLang="zh-CN" b="0" i="1" smtClean="0">
                            <a:latin typeface="Cambria Math"/>
                            <a:cs typeface="Times New Roman" pitchFamily="18" charset="0"/>
                          </a:rPr>
                        </m:ctrlPr>
                      </m:fPr>
                      <m:num>
                        <m:r>
                          <a:rPr lang="en-US" altLang="zh-CN" b="0" i="1" smtClean="0">
                            <a:latin typeface="Cambria Math"/>
                            <a:cs typeface="Times New Roman" pitchFamily="18" charset="0"/>
                          </a:rPr>
                          <m:t>𝑑</m:t>
                        </m:r>
                        <m:sSub>
                          <m:sSubPr>
                            <m:ctrlPr>
                              <a:rPr lang="en-US" altLang="zh-CN" b="1" i="1" smtClean="0">
                                <a:latin typeface="Cambria Math"/>
                                <a:cs typeface="Times New Roman" pitchFamily="18" charset="0"/>
                              </a:rPr>
                            </m:ctrlPr>
                          </m:sSubPr>
                          <m:e>
                            <m:r>
                              <a:rPr lang="en-US" altLang="zh-CN" b="1" i="1" smtClean="0">
                                <a:latin typeface="Cambria Math"/>
                                <a:cs typeface="Times New Roman" pitchFamily="18" charset="0"/>
                              </a:rPr>
                              <m:t>𝑯</m:t>
                            </m:r>
                          </m:e>
                          <m:sub>
                            <m:r>
                              <a:rPr lang="en-US" altLang="zh-CN" b="1" i="1" smtClean="0">
                                <a:latin typeface="Cambria Math"/>
                                <a:cs typeface="Times New Roman" pitchFamily="18" charset="0"/>
                              </a:rPr>
                              <m:t>𝟎</m:t>
                            </m:r>
                          </m:sub>
                        </m:sSub>
                      </m:num>
                      <m:den>
                        <m:r>
                          <a:rPr lang="en-US" altLang="zh-CN" b="0" i="1" smtClean="0">
                            <a:latin typeface="Cambria Math"/>
                            <a:cs typeface="Times New Roman" pitchFamily="18" charset="0"/>
                          </a:rPr>
                          <m:t>h</m:t>
                        </m:r>
                      </m:den>
                    </m:f>
                  </m:oMath>
                </a14:m>
                <a:r>
                  <a:rPr lang="zh-CN" altLang="en-US" smtClean="0">
                    <a:latin typeface="Times New Roman" pitchFamily="18" charset="0"/>
                    <a:cs typeface="Times New Roman" pitchFamily="18" charset="0"/>
                  </a:rPr>
                  <a:t>。</a:t>
                </a:r>
                <a:endParaRPr lang="en-US" altLang="zh-CN" smtClean="0">
                  <a:latin typeface="Times New Roman" pitchFamily="18" charset="0"/>
                  <a:cs typeface="Times New Roman" pitchFamily="18" charset="0"/>
                </a:endParaRPr>
              </a:p>
              <a:p>
                <a:r>
                  <a:rPr lang="zh-CN" altLang="en-US" smtClean="0">
                    <a:latin typeface="Times New Roman" pitchFamily="18" charset="0"/>
                    <a:cs typeface="Times New Roman" pitchFamily="18" charset="0"/>
                  </a:rPr>
                  <a:t>↑ 注意 </a:t>
                </a:r>
                <a14:m>
                  <m:oMath xmlns:m="http://schemas.openxmlformats.org/officeDocument/2006/math">
                    <m:d>
                      <m:dPr>
                        <m:begChr m:val="|"/>
                        <m:endChr m:val="|"/>
                        <m:ctrlPr>
                          <a:rPr lang="en-US" altLang="zh-CN" i="1" smtClean="0">
                            <a:latin typeface="Cambria Math"/>
                            <a:cs typeface="Times New Roman" pitchFamily="18" charset="0"/>
                          </a:rPr>
                        </m:ctrlPr>
                      </m:dPr>
                      <m:e>
                        <m:sSub>
                          <m:sSubPr>
                            <m:ctrlPr>
                              <a:rPr lang="en-US" altLang="zh-CN" b="1" i="1" smtClean="0">
                                <a:latin typeface="Cambria Math"/>
                                <a:cs typeface="Times New Roman" pitchFamily="18" charset="0"/>
                              </a:rPr>
                            </m:ctrlPr>
                          </m:sSubPr>
                          <m:e>
                            <m:r>
                              <a:rPr lang="en-US" altLang="zh-CN" b="1" i="1" smtClean="0">
                                <a:latin typeface="Cambria Math"/>
                                <a:cs typeface="Times New Roman" pitchFamily="18" charset="0"/>
                              </a:rPr>
                              <m:t>𝑯</m:t>
                            </m:r>
                          </m:e>
                          <m:sub>
                            <m:r>
                              <a:rPr lang="en-US" altLang="zh-CN" b="1" i="1" smtClean="0">
                                <a:latin typeface="Cambria Math"/>
                                <a:cs typeface="Times New Roman" pitchFamily="18" charset="0"/>
                              </a:rPr>
                              <m:t>𝟎</m:t>
                            </m:r>
                          </m:sub>
                        </m:sSub>
                      </m:e>
                    </m:d>
                    <m:r>
                      <a:rPr lang="en-US" altLang="zh-CN" b="0" i="1" smtClean="0">
                        <a:latin typeface="Cambria Math"/>
                        <a:cs typeface="Times New Roman" pitchFamily="18" charset="0"/>
                      </a:rPr>
                      <m:t>=</m:t>
                    </m:r>
                    <m:r>
                      <a:rPr lang="en-US" altLang="zh-CN" b="0" i="1" smtClean="0">
                        <a:latin typeface="Cambria Math"/>
                        <a:cs typeface="Times New Roman" pitchFamily="18" charset="0"/>
                      </a:rPr>
                      <m:t>h</m:t>
                    </m:r>
                  </m:oMath>
                </a14:m>
                <a:r>
                  <a:rPr lang="zh-CN" altLang="en-US" smtClean="0">
                    <a:latin typeface="Times New Roman" pitchFamily="18" charset="0"/>
                    <a:cs typeface="Times New Roman" pitchFamily="18" charset="0"/>
                  </a:rPr>
                  <a:t>。</a:t>
                </a:r>
                <a:endParaRPr lang="zh-CN" altLang="en-US">
                  <a:latin typeface="Times New Roman" pitchFamily="18" charset="0"/>
                  <a:cs typeface="Times New Roman" pitchFamily="18" charset="0"/>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914400" y="1628800"/>
                <a:ext cx="7772400" cy="4572000"/>
              </a:xfrm>
              <a:blipFill rotWithShape="1">
                <a:blip r:embed="rId2"/>
                <a:stretch>
                  <a:fillRect l="-471"/>
                </a:stretch>
              </a:blipFill>
            </p:spPr>
            <p:txBody>
              <a:bodyPr/>
              <a:lstStyle/>
              <a:p>
                <a:r>
                  <a:rPr lang="zh-CN" altLang="en-US">
                    <a:noFill/>
                  </a:rPr>
                  <a:t> </a:t>
                </a:r>
              </a:p>
            </p:txBody>
          </p:sp>
        </mc:Fallback>
      </mc:AlternateContent>
      <p:pic>
        <p:nvPicPr>
          <p:cNvPr id="4" name="图片 3"/>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5868144" y="4293096"/>
            <a:ext cx="3075165" cy="2592288"/>
          </a:xfrm>
          <a:prstGeom prst="rect">
            <a:avLst/>
          </a:prstGeom>
        </p:spPr>
      </p:pic>
    </p:spTree>
    <p:extLst>
      <p:ext uri="{BB962C8B-B14F-4D97-AF65-F5344CB8AC3E}">
        <p14:creationId xmlns:p14="http://schemas.microsoft.com/office/powerpoint/2010/main" xmlns="" val="363515673"/>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圆与圆的交点</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smtClean="0"/>
                  <a:t>先求二圆的圆心距 </a:t>
                </a:r>
                <a:r>
                  <a:rPr lang="en-US" altLang="zh-CN" i="1" smtClean="0">
                    <a:latin typeface="Times New Roman" pitchFamily="18" charset="0"/>
                    <a:cs typeface="Times New Roman" pitchFamily="18" charset="0"/>
                  </a:rPr>
                  <a:t>d</a:t>
                </a:r>
                <a:r>
                  <a:rPr lang="zh-CN" altLang="en-US" smtClean="0"/>
                  <a:t>，并记二圆的半径为 </a:t>
                </a:r>
                <a:r>
                  <a:rPr lang="en-US" altLang="zh-CN" i="1" smtClean="0">
                    <a:latin typeface="Times New Roman" pitchFamily="18" charset="0"/>
                    <a:cs typeface="Times New Roman" pitchFamily="18" charset="0"/>
                  </a:rPr>
                  <a:t>r</a:t>
                </a:r>
                <a:r>
                  <a:rPr lang="en-US" altLang="zh-CN" baseline="-25000" smtClean="0">
                    <a:latin typeface="Times New Roman" pitchFamily="18" charset="0"/>
                    <a:cs typeface="Times New Roman" pitchFamily="18" charset="0"/>
                  </a:rPr>
                  <a:t>1</a:t>
                </a:r>
                <a:r>
                  <a:rPr lang="en-US" altLang="zh-CN" smtClean="0"/>
                  <a:t/>
                </a:r>
                <a:r>
                  <a:rPr lang="zh-CN" altLang="en-US" smtClean="0"/>
                  <a:t>和 </a:t>
                </a:r>
                <a:r>
                  <a:rPr lang="en-US" altLang="zh-CN" i="1" smtClean="0">
                    <a:latin typeface="Times New Roman" pitchFamily="18" charset="0"/>
                    <a:cs typeface="Times New Roman" pitchFamily="18" charset="0"/>
                  </a:rPr>
                  <a:t>r</a:t>
                </a:r>
                <a:r>
                  <a:rPr lang="en-US" altLang="zh-CN" baseline="-25000" smtClean="0">
                    <a:latin typeface="Times New Roman" pitchFamily="18" charset="0"/>
                    <a:cs typeface="Times New Roman" pitchFamily="18" charset="0"/>
                  </a:rPr>
                  <a:t>2</a:t>
                </a:r>
                <a:r>
                  <a:rPr lang="zh-CN" altLang="en-US" smtClean="0"/>
                  <a:t>。若 </a:t>
                </a:r>
                <a14:m>
                  <m:oMath xmlns:m="http://schemas.openxmlformats.org/officeDocument/2006/math">
                    <m:r>
                      <a:rPr lang="en-US" altLang="zh-CN" b="0" i="1" smtClean="0">
                        <a:latin typeface="Cambria Math"/>
                      </a:rPr>
                      <m:t>𝑑</m:t>
                    </m:r>
                    <m:r>
                      <a:rPr lang="en-US" altLang="zh-CN" b="0" i="1" smtClean="0">
                        <a:latin typeface="Cambria Math"/>
                      </a:rPr>
                      <m:t>&gt;</m:t>
                    </m:r>
                    <m:sSub>
                      <m:sSubPr>
                        <m:ctrlPr>
                          <a:rPr lang="en-US" altLang="zh-CN" b="0" i="1" smtClean="0">
                            <a:latin typeface="Cambria Math"/>
                          </a:rPr>
                        </m:ctrlPr>
                      </m:sSubPr>
                      <m:e>
                        <m:r>
                          <a:rPr lang="en-US" altLang="zh-CN" b="0" i="1" smtClean="0">
                            <a:latin typeface="Cambria Math"/>
                          </a:rPr>
                          <m:t>𝑟</m:t>
                        </m:r>
                      </m:e>
                      <m:sub>
                        <m:r>
                          <a:rPr lang="en-US" altLang="zh-CN" b="0" i="1" smtClean="0">
                            <a:latin typeface="Cambria Math"/>
                          </a:rPr>
                          <m:t>1</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𝑟</m:t>
                        </m:r>
                      </m:e>
                      <m:sub>
                        <m:r>
                          <a:rPr lang="en-US" altLang="zh-CN" b="0" i="1" smtClean="0">
                            <a:latin typeface="Cambria Math"/>
                          </a:rPr>
                          <m:t>2</m:t>
                        </m:r>
                      </m:sub>
                    </m:sSub>
                  </m:oMath>
                </a14:m>
                <a:r>
                  <a:rPr lang="zh-CN" altLang="en-US" smtClean="0"/>
                  <a:t>，则二圆外离；若 </a:t>
                </a:r>
                <a14:m>
                  <m:oMath xmlns:m="http://schemas.openxmlformats.org/officeDocument/2006/math">
                    <m:r>
                      <a:rPr lang="en-US" altLang="zh-CN" b="0" i="1" smtClean="0">
                        <a:latin typeface="Cambria Math"/>
                      </a:rPr>
                      <m:t>𝑑</m:t>
                    </m:r>
                    <m:r>
                      <a:rPr lang="en-US" altLang="zh-CN" b="0" i="1" smtClean="0">
                        <a:latin typeface="Cambria Math"/>
                      </a:rPr>
                      <m:t>&lt;</m:t>
                    </m:r>
                    <m:d>
                      <m:dPr>
                        <m:begChr m:val="|"/>
                        <m:endChr m:val="|"/>
                        <m:ctrlPr>
                          <a:rPr lang="en-US" altLang="zh-CN" b="0" i="1" smtClean="0">
                            <a:latin typeface="Cambria Math"/>
                          </a:rPr>
                        </m:ctrlPr>
                      </m:dPr>
                      <m:e>
                        <m:sSub>
                          <m:sSubPr>
                            <m:ctrlPr>
                              <a:rPr lang="en-US" altLang="zh-CN" b="0" i="1" smtClean="0">
                                <a:latin typeface="Cambria Math"/>
                              </a:rPr>
                            </m:ctrlPr>
                          </m:sSubPr>
                          <m:e>
                            <m:r>
                              <a:rPr lang="en-US" altLang="zh-CN" b="0" i="1" smtClean="0">
                                <a:latin typeface="Cambria Math"/>
                              </a:rPr>
                              <m:t>𝑟</m:t>
                            </m:r>
                          </m:e>
                          <m:sub>
                            <m:r>
                              <a:rPr lang="en-US" altLang="zh-CN" b="0" i="1" smtClean="0">
                                <a:latin typeface="Cambria Math"/>
                              </a:rPr>
                              <m:t>1</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𝑟</m:t>
                            </m:r>
                          </m:e>
                          <m:sub>
                            <m:r>
                              <a:rPr lang="en-US" altLang="zh-CN" b="0" i="1" smtClean="0">
                                <a:latin typeface="Cambria Math"/>
                              </a:rPr>
                              <m:t>2</m:t>
                            </m:r>
                          </m:sub>
                        </m:sSub>
                      </m:e>
                    </m:d>
                  </m:oMath>
                </a14:m>
                <a:r>
                  <a:rPr lang="zh-CN" altLang="en-US" smtClean="0"/>
                  <a:t>，则二圆内含。这些情况下都不会有交点。</a:t>
                </a:r>
                <a:endParaRPr lang="en-US" altLang="zh-CN" smtClean="0"/>
              </a:p>
              <a:p>
                <a:r>
                  <a:rPr lang="zh-CN" altLang="en-US" smtClean="0"/>
                  <a:t>上面不等式若取等号，则二圆分别为外切和内切。处理方式见下页。</a:t>
                </a:r>
                <a:endParaRPr lang="en-US" altLang="zh-CN" smtClean="0"/>
              </a:p>
              <a:p>
                <a:r>
                  <a:rPr lang="zh-CN" altLang="en-US" smtClean="0"/>
                  <a:t>否则</a:t>
                </a:r>
                <a:r>
                  <a:rPr lang="en-US" altLang="zh-CN" smtClean="0"/>
                  <a:t>……</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1445938377"/>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圆与圆的交点</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a:xfrm>
                <a:off x="914400" y="1556791"/>
                <a:ext cx="7772400" cy="5121319"/>
              </a:xfrm>
            </p:spPr>
            <p:txBody>
              <a:bodyPr/>
              <a:lstStyle/>
              <a:p>
                <a:r>
                  <a:rPr lang="zh-CN" altLang="en-US" smtClean="0"/>
                  <a:t>如图所示，据余弦定理有 </a:t>
                </a:r>
                <a14:m>
                  <m:oMath xmlns:m="http://schemas.openxmlformats.org/officeDocument/2006/math">
                    <m:func>
                      <m:funcPr>
                        <m:ctrlPr>
                          <a:rPr lang="en-US" altLang="zh-CN" i="1" smtClean="0">
                            <a:latin typeface="Cambria Math"/>
                          </a:rPr>
                        </m:ctrlPr>
                      </m:funcPr>
                      <m:fName>
                        <m:r>
                          <m:rPr>
                            <m:sty m:val="p"/>
                          </m:rPr>
                          <a:rPr lang="en-US" altLang="zh-CN" i="0" smtClean="0">
                            <a:latin typeface="Cambria Math"/>
                          </a:rPr>
                          <m:t>cos</m:t>
                        </m:r>
                      </m:fName>
                      <m:e>
                        <m:r>
                          <a:rPr lang="en-US" altLang="zh-CN" b="0" i="1" smtClean="0">
                            <a:latin typeface="Cambria Math"/>
                          </a:rPr>
                          <m:t>𝜃</m:t>
                        </m:r>
                      </m:e>
                    </m:func>
                    <m:r>
                      <a:rPr lang="en-US" altLang="zh-CN" b="0" i="1" smtClean="0">
                        <a:latin typeface="Cambria Math"/>
                      </a:rPr>
                      <m:t>=</m:t>
                    </m:r>
                    <m:f>
                      <m:fPr>
                        <m:ctrlPr>
                          <a:rPr lang="en-US" altLang="zh-CN" b="0" i="1" smtClean="0">
                            <a:latin typeface="Cambria Math"/>
                          </a:rPr>
                        </m:ctrlPr>
                      </m:fPr>
                      <m:num>
                        <m:sSubSup>
                          <m:sSubSupPr>
                            <m:ctrlPr>
                              <a:rPr lang="en-US" altLang="zh-CN" b="0" i="1" smtClean="0">
                                <a:latin typeface="Cambria Math"/>
                              </a:rPr>
                            </m:ctrlPr>
                          </m:sSubSupPr>
                          <m:e>
                            <m:r>
                              <a:rPr lang="en-US" altLang="zh-CN" b="0" i="1" smtClean="0">
                                <a:latin typeface="Cambria Math"/>
                              </a:rPr>
                              <m:t>𝑟</m:t>
                            </m:r>
                          </m:e>
                          <m:sub>
                            <m:r>
                              <a:rPr lang="en-US" altLang="zh-CN" b="0" i="1" smtClean="0">
                                <a:latin typeface="Cambria Math"/>
                              </a:rPr>
                              <m:t>1</m:t>
                            </m:r>
                          </m:sub>
                          <m:sup>
                            <m:r>
                              <a:rPr lang="en-US" altLang="zh-CN" b="0" i="1" smtClean="0">
                                <a:latin typeface="Cambria Math"/>
                              </a:rPr>
                              <m:t>2</m:t>
                            </m:r>
                          </m:sup>
                        </m:sSubSup>
                        <m:r>
                          <a:rPr lang="en-US" altLang="zh-CN" b="0" i="1" smtClean="0">
                            <a:latin typeface="Cambria Math"/>
                          </a:rPr>
                          <m:t>+</m:t>
                        </m:r>
                        <m:sSup>
                          <m:sSupPr>
                            <m:ctrlPr>
                              <a:rPr lang="en-US" altLang="zh-CN" b="0" i="1" smtClean="0">
                                <a:latin typeface="Cambria Math"/>
                              </a:rPr>
                            </m:ctrlPr>
                          </m:sSupPr>
                          <m:e>
                            <m:r>
                              <a:rPr lang="en-US" altLang="zh-CN" b="0" i="1" smtClean="0">
                                <a:latin typeface="Cambria Math"/>
                              </a:rPr>
                              <m:t>𝑑</m:t>
                            </m:r>
                          </m:e>
                          <m:sup>
                            <m:r>
                              <a:rPr lang="en-US" altLang="zh-CN" b="0" i="1" smtClean="0">
                                <a:latin typeface="Cambria Math"/>
                              </a:rPr>
                              <m:t>2</m:t>
                            </m:r>
                          </m:sup>
                        </m:sSup>
                        <m:r>
                          <a:rPr lang="en-US" altLang="zh-CN" b="0" i="1" smtClean="0">
                            <a:latin typeface="Cambria Math"/>
                          </a:rPr>
                          <m:t>−</m:t>
                        </m:r>
                        <m:sSubSup>
                          <m:sSubSupPr>
                            <m:ctrlPr>
                              <a:rPr lang="en-US" altLang="zh-CN" b="0" i="1" smtClean="0">
                                <a:latin typeface="Cambria Math"/>
                              </a:rPr>
                            </m:ctrlPr>
                          </m:sSubSupPr>
                          <m:e>
                            <m:r>
                              <a:rPr lang="en-US" altLang="zh-CN" b="0" i="1" smtClean="0">
                                <a:latin typeface="Cambria Math"/>
                              </a:rPr>
                              <m:t>𝑟</m:t>
                            </m:r>
                          </m:e>
                          <m:sub>
                            <m:r>
                              <a:rPr lang="en-US" altLang="zh-CN" b="0" i="1" smtClean="0">
                                <a:latin typeface="Cambria Math"/>
                              </a:rPr>
                              <m:t>2</m:t>
                            </m:r>
                          </m:sub>
                          <m:sup>
                            <m:r>
                              <a:rPr lang="en-US" altLang="zh-CN" b="0" i="1" smtClean="0">
                                <a:latin typeface="Cambria Math"/>
                              </a:rPr>
                              <m:t>2</m:t>
                            </m:r>
                          </m:sup>
                        </m:sSubSup>
                      </m:num>
                      <m:den>
                        <m:r>
                          <a:rPr lang="en-US" altLang="zh-CN" b="0" i="1" smtClean="0">
                            <a:latin typeface="Cambria Math"/>
                          </a:rPr>
                          <m:t>2</m:t>
                        </m:r>
                        <m:sSub>
                          <m:sSubPr>
                            <m:ctrlPr>
                              <a:rPr lang="en-US" altLang="zh-CN" b="0" i="1" smtClean="0">
                                <a:latin typeface="Cambria Math"/>
                              </a:rPr>
                            </m:ctrlPr>
                          </m:sSubPr>
                          <m:e>
                            <m:r>
                              <a:rPr lang="en-US" altLang="zh-CN" b="0" i="1" smtClean="0">
                                <a:latin typeface="Cambria Math"/>
                              </a:rPr>
                              <m:t>𝑟</m:t>
                            </m:r>
                          </m:e>
                          <m:sub>
                            <m:r>
                              <a:rPr lang="en-US" altLang="zh-CN" b="0" i="1" smtClean="0">
                                <a:latin typeface="Cambria Math"/>
                              </a:rPr>
                              <m:t>1</m:t>
                            </m:r>
                          </m:sub>
                        </m:sSub>
                        <m:r>
                          <a:rPr lang="en-US" altLang="zh-CN" b="0" i="1" smtClean="0">
                            <a:latin typeface="Cambria Math"/>
                          </a:rPr>
                          <m:t>𝑑</m:t>
                        </m:r>
                      </m:den>
                    </m:f>
                  </m:oMath>
                </a14:m>
                <a:r>
                  <a:rPr lang="en-US" altLang="zh-CN" smtClean="0"/>
                  <a:t>.</a:t>
                </a:r>
              </a:p>
              <a:p>
                <a:r>
                  <a:rPr lang="zh-CN" altLang="en-US" smtClean="0"/>
                  <a:t>设 </a:t>
                </a:r>
                <a14:m>
                  <m:oMath xmlns:m="http://schemas.openxmlformats.org/officeDocument/2006/math">
                    <m:r>
                      <a:rPr lang="en-US" altLang="zh-CN" b="1" i="1" smtClean="0">
                        <a:latin typeface="Cambria Math"/>
                      </a:rPr>
                      <m:t>𝑫</m:t>
                    </m:r>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𝑂</m:t>
                        </m:r>
                      </m:e>
                      <m:sub>
                        <m:r>
                          <a:rPr lang="en-US" altLang="zh-CN" b="0" i="1" smtClean="0">
                            <a:latin typeface="Cambria Math"/>
                          </a:rPr>
                          <m:t>2</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𝑂</m:t>
                        </m:r>
                      </m:e>
                      <m:sub>
                        <m:r>
                          <a:rPr lang="en-US" altLang="zh-CN" b="0" i="1" smtClean="0">
                            <a:latin typeface="Cambria Math"/>
                          </a:rPr>
                          <m:t>1</m:t>
                        </m:r>
                      </m:sub>
                    </m:sSub>
                  </m:oMath>
                </a14:m>
                <a:r>
                  <a:rPr lang="en-US" altLang="zh-CN" smtClean="0"/>
                  <a:t>. </a:t>
                </a:r>
                <a:r>
                  <a:rPr lang="zh-CN" altLang="en-US" smtClean="0"/>
                  <a:t>若二圆外切或内切，则 </a:t>
                </a:r>
                <a14:m>
                  <m:oMath xmlns:m="http://schemas.openxmlformats.org/officeDocument/2006/math">
                    <m:sSub>
                      <m:sSubPr>
                        <m:ctrlPr>
                          <a:rPr lang="en-US" altLang="zh-CN" b="0" i="1" smtClean="0">
                            <a:latin typeface="Cambria Math"/>
                          </a:rPr>
                        </m:ctrlPr>
                      </m:sSubPr>
                      <m:e>
                        <m:r>
                          <a:rPr lang="en-US" altLang="zh-CN" b="0" i="1" smtClean="0">
                            <a:latin typeface="Cambria Math"/>
                          </a:rPr>
                          <m:t>𝑂</m:t>
                        </m:r>
                      </m:e>
                      <m:sub>
                        <m:r>
                          <a:rPr lang="en-US" altLang="zh-CN" b="0" i="1" smtClean="0">
                            <a:latin typeface="Cambria Math"/>
                          </a:rPr>
                          <m:t>1</m:t>
                        </m:r>
                      </m:sub>
                    </m:sSub>
                    <m:r>
                      <a:rPr lang="en-US" altLang="zh-CN" b="0" i="1" smtClean="0">
                        <a:latin typeface="Cambria Math"/>
                      </a:rPr>
                      <m:t>+</m:t>
                    </m:r>
                    <m:f>
                      <m:fPr>
                        <m:ctrlPr>
                          <a:rPr lang="en-US" altLang="zh-CN" b="0" i="1" smtClean="0">
                            <a:latin typeface="Cambria Math"/>
                          </a:rPr>
                        </m:ctrlPr>
                      </m:fPr>
                      <m:num>
                        <m:r>
                          <a:rPr lang="en-US" altLang="zh-CN" b="1" i="1" smtClean="0">
                            <a:latin typeface="Cambria Math"/>
                          </a:rPr>
                          <m:t>𝑫</m:t>
                        </m:r>
                        <m:sSub>
                          <m:sSubPr>
                            <m:ctrlPr>
                              <a:rPr lang="en-US" altLang="zh-CN" b="0" i="1" smtClean="0">
                                <a:latin typeface="Cambria Math"/>
                              </a:rPr>
                            </m:ctrlPr>
                          </m:sSubPr>
                          <m:e>
                            <m:r>
                              <a:rPr lang="en-US" altLang="zh-CN" b="0" i="1" smtClean="0">
                                <a:latin typeface="Cambria Math"/>
                              </a:rPr>
                              <m:t>𝑟</m:t>
                            </m:r>
                          </m:e>
                          <m:sub>
                            <m:r>
                              <a:rPr lang="en-US" altLang="zh-CN" b="0" i="1" smtClean="0">
                                <a:latin typeface="Cambria Math"/>
                              </a:rPr>
                              <m:t>1</m:t>
                            </m:r>
                          </m:sub>
                        </m:sSub>
                        <m:func>
                          <m:funcPr>
                            <m:ctrlPr>
                              <a:rPr lang="en-US" altLang="zh-CN" b="0" i="1" smtClean="0">
                                <a:latin typeface="Cambria Math"/>
                              </a:rPr>
                            </m:ctrlPr>
                          </m:funcPr>
                          <m:fName>
                            <m:r>
                              <m:rPr>
                                <m:sty m:val="p"/>
                              </m:rPr>
                              <a:rPr lang="en-US" altLang="zh-CN" b="0" i="0" smtClean="0">
                                <a:latin typeface="Cambria Math"/>
                              </a:rPr>
                              <m:t>cos</m:t>
                            </m:r>
                          </m:fName>
                          <m:e>
                            <m:r>
                              <a:rPr lang="en-US" altLang="zh-CN" b="0" i="1" smtClean="0">
                                <a:latin typeface="Cambria Math"/>
                              </a:rPr>
                              <m:t>𝜃</m:t>
                            </m:r>
                          </m:e>
                        </m:func>
                      </m:num>
                      <m:den>
                        <m:r>
                          <a:rPr lang="en-US" altLang="zh-CN" b="0" i="1" smtClean="0">
                            <a:latin typeface="Cambria Math"/>
                          </a:rPr>
                          <m:t>𝑑</m:t>
                        </m:r>
                      </m:den>
                    </m:f>
                  </m:oMath>
                </a14:m>
                <a:r>
                  <a:rPr lang="zh-CN" altLang="en-US" smtClean="0"/>
                  <a:t> 则为唯一交点。</a:t>
                </a:r>
                <a:endParaRPr lang="en-US" altLang="zh-CN" smtClean="0"/>
              </a:p>
              <a:p>
                <a:r>
                  <a:rPr lang="zh-CN" altLang="en-US" smtClean="0"/>
                  <a:t>否则</a:t>
                </a:r>
                <a:r>
                  <a:rPr lang="en-US" altLang="zh-CN" smtClean="0"/>
                  <a:t>……</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914400" y="1556791"/>
                <a:ext cx="7772400" cy="5121319"/>
              </a:xfrm>
              <a:blipFill rotWithShape="1">
                <a:blip r:embed="rId2"/>
                <a:stretch>
                  <a:fillRect l="-471" r="-235"/>
                </a:stretch>
              </a:blipFill>
            </p:spPr>
            <p:txBody>
              <a:bodyPr/>
              <a:lstStyle/>
              <a:p>
                <a:r>
                  <a:rPr lang="zh-CN" altLang="en-US">
                    <a:noFill/>
                  </a:rPr>
                  <a:t> </a:t>
                </a:r>
              </a:p>
            </p:txBody>
          </p:sp>
        </mc:Fallback>
      </mc:AlternateContent>
      <p:pic>
        <p:nvPicPr>
          <p:cNvPr id="4" name="图片 3"/>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5051835" y="3996313"/>
            <a:ext cx="3984661" cy="2817063"/>
          </a:xfrm>
          <a:prstGeom prst="rect">
            <a:avLst/>
          </a:prstGeom>
        </p:spPr>
      </p:pic>
    </p:spTree>
    <p:extLst>
      <p:ext uri="{BB962C8B-B14F-4D97-AF65-F5344CB8AC3E}">
        <p14:creationId xmlns:p14="http://schemas.microsoft.com/office/powerpoint/2010/main" xmlns="" val="4071114130"/>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圆与圆的交点</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a:xfrm>
                <a:off x="914400" y="1556792"/>
                <a:ext cx="7772400" cy="4572000"/>
              </a:xfrm>
            </p:spPr>
            <p:txBody>
              <a:bodyPr/>
              <a:lstStyle/>
              <a:p>
                <a:r>
                  <a:rPr lang="zh-CN" altLang="en-US" smtClean="0"/>
                  <a:t>设 </a:t>
                </a:r>
                <a:r>
                  <a:rPr lang="en-US" altLang="zh-CN" b="1" i="1" smtClean="0">
                    <a:latin typeface="Times New Roman" pitchFamily="18" charset="0"/>
                    <a:cs typeface="Times New Roman" pitchFamily="18" charset="0"/>
                  </a:rPr>
                  <a:t>D</a:t>
                </a:r>
                <a:r>
                  <a:rPr lang="en-US" altLang="zh-CN" smtClean="0"/>
                  <a:t/>
                </a:r>
                <a:r>
                  <a:rPr lang="zh-CN" altLang="en-US" smtClean="0"/>
                  <a:t>逆时针旋转 </a:t>
                </a:r>
                <a14:m>
                  <m:oMath xmlns:m="http://schemas.openxmlformats.org/officeDocument/2006/math">
                    <m:f>
                      <m:fPr>
                        <m:ctrlPr>
                          <a:rPr lang="en-US" altLang="zh-CN" i="1" smtClean="0">
                            <a:latin typeface="Cambria Math"/>
                          </a:rPr>
                        </m:ctrlPr>
                      </m:fPr>
                      <m:num>
                        <m:r>
                          <a:rPr lang="en-US" altLang="zh-CN" b="0" i="1" smtClean="0">
                            <a:latin typeface="Cambria Math"/>
                          </a:rPr>
                          <m:t>𝜋</m:t>
                        </m:r>
                      </m:num>
                      <m:den>
                        <m:r>
                          <a:rPr lang="en-US" altLang="zh-CN" b="0" i="1" smtClean="0">
                            <a:latin typeface="Cambria Math"/>
                          </a:rPr>
                          <m:t>2</m:t>
                        </m:r>
                      </m:den>
                    </m:f>
                  </m:oMath>
                </a14:m>
                <a:r>
                  <a:rPr lang="zh-CN" altLang="en-US" smtClean="0"/>
                  <a:t> 为 </a:t>
                </a:r>
                <a:r>
                  <a:rPr lang="en-US" altLang="zh-CN" b="1" i="1" smtClean="0">
                    <a:latin typeface="Times New Roman" pitchFamily="18" charset="0"/>
                    <a:cs typeface="Times New Roman" pitchFamily="18" charset="0"/>
                  </a:rPr>
                  <a:t>D</a:t>
                </a:r>
                <a:r>
                  <a:rPr lang="en-US" altLang="zh-CN" baseline="-25000" smtClean="0">
                    <a:latin typeface="Times New Roman" pitchFamily="18" charset="0"/>
                    <a:cs typeface="Times New Roman" pitchFamily="18" charset="0"/>
                  </a:rPr>
                  <a:t>0</a:t>
                </a:r>
                <a:r>
                  <a:rPr lang="en-US" altLang="zh-CN" smtClean="0"/>
                  <a:t>.</a:t>
                </a:r>
              </a:p>
              <a:p>
                <a:r>
                  <a:rPr lang="zh-CN" altLang="en-US" smtClean="0"/>
                  <a:t>而 </a:t>
                </a:r>
                <a14:m>
                  <m:oMath xmlns:m="http://schemas.openxmlformats.org/officeDocument/2006/math">
                    <m:func>
                      <m:funcPr>
                        <m:ctrlPr>
                          <a:rPr lang="en-US" altLang="zh-CN" i="1" smtClean="0">
                            <a:latin typeface="Cambria Math"/>
                          </a:rPr>
                        </m:ctrlPr>
                      </m:funcPr>
                      <m:fName>
                        <m:r>
                          <m:rPr>
                            <m:sty m:val="p"/>
                          </m:rPr>
                          <a:rPr lang="en-US" altLang="zh-CN" i="0" smtClean="0">
                            <a:latin typeface="Cambria Math"/>
                          </a:rPr>
                          <m:t>sin</m:t>
                        </m:r>
                      </m:fName>
                      <m:e>
                        <m:r>
                          <a:rPr lang="en-US" altLang="zh-CN" b="0" i="1" smtClean="0">
                            <a:latin typeface="Cambria Math"/>
                          </a:rPr>
                          <m:t>𝜃</m:t>
                        </m:r>
                      </m:e>
                    </m:func>
                    <m:r>
                      <a:rPr lang="en-US" altLang="zh-CN" b="0" i="1" smtClean="0">
                        <a:latin typeface="Cambria Math"/>
                      </a:rPr>
                      <m:t>=</m:t>
                    </m:r>
                    <m:rad>
                      <m:radPr>
                        <m:degHide m:val="on"/>
                        <m:ctrlPr>
                          <a:rPr lang="en-US" altLang="zh-CN" b="0" i="1" smtClean="0">
                            <a:latin typeface="Cambria Math"/>
                          </a:rPr>
                        </m:ctrlPr>
                      </m:radPr>
                      <m:deg/>
                      <m:e>
                        <m:r>
                          <a:rPr lang="en-US" altLang="zh-CN" b="0" i="1" smtClean="0">
                            <a:latin typeface="Cambria Math"/>
                          </a:rPr>
                          <m:t>1−</m:t>
                        </m:r>
                        <m:func>
                          <m:funcPr>
                            <m:ctrlPr>
                              <a:rPr lang="en-US" altLang="zh-CN" b="0" i="1" smtClean="0">
                                <a:latin typeface="Cambria Math"/>
                              </a:rPr>
                            </m:ctrlPr>
                          </m:funcPr>
                          <m:fName>
                            <m:sSup>
                              <m:sSupPr>
                                <m:ctrlPr>
                                  <a:rPr lang="en-US" altLang="zh-CN" b="0" i="1" smtClean="0">
                                    <a:latin typeface="Cambria Math"/>
                                  </a:rPr>
                                </m:ctrlPr>
                              </m:sSupPr>
                              <m:e>
                                <m:r>
                                  <m:rPr>
                                    <m:sty m:val="p"/>
                                  </m:rPr>
                                  <a:rPr lang="en-US" altLang="zh-CN" b="0" i="0" smtClean="0">
                                    <a:latin typeface="Cambria Math"/>
                                  </a:rPr>
                                  <m:t>cos</m:t>
                                </m:r>
                              </m:e>
                              <m:sup>
                                <m:r>
                                  <a:rPr lang="en-US" altLang="zh-CN" b="0" i="1" smtClean="0">
                                    <a:latin typeface="Cambria Math"/>
                                  </a:rPr>
                                  <m:t>2</m:t>
                                </m:r>
                              </m:sup>
                            </m:sSup>
                          </m:fName>
                          <m:e>
                            <m:r>
                              <a:rPr lang="en-US" altLang="zh-CN" b="0" i="1" smtClean="0">
                                <a:latin typeface="Cambria Math"/>
                              </a:rPr>
                              <m:t>𝜃</m:t>
                            </m:r>
                          </m:e>
                        </m:func>
                      </m:e>
                    </m:rad>
                  </m:oMath>
                </a14:m>
                <a:r>
                  <a:rPr lang="zh-CN" altLang="en-US" smtClean="0"/>
                  <a:t>，故两个交点分别为 </a:t>
                </a:r>
                <a14:m>
                  <m:oMath xmlns:m="http://schemas.openxmlformats.org/officeDocument/2006/math">
                    <m:sSub>
                      <m:sSubPr>
                        <m:ctrlPr>
                          <a:rPr lang="en-US" altLang="zh-CN" b="0" i="1" smtClean="0">
                            <a:latin typeface="Cambria Math"/>
                          </a:rPr>
                        </m:ctrlPr>
                      </m:sSubPr>
                      <m:e>
                        <m:r>
                          <a:rPr lang="en-US" altLang="zh-CN" b="0" i="1" smtClean="0">
                            <a:latin typeface="Cambria Math"/>
                          </a:rPr>
                          <m:t>𝑂</m:t>
                        </m:r>
                      </m:e>
                      <m:sub>
                        <m:r>
                          <a:rPr lang="en-US" altLang="zh-CN" b="0" i="1" smtClean="0">
                            <a:latin typeface="Cambria Math"/>
                          </a:rPr>
                          <m:t>1</m:t>
                        </m:r>
                      </m:sub>
                    </m:sSub>
                    <m:r>
                      <a:rPr lang="en-US" altLang="zh-CN" b="0" i="1" smtClean="0">
                        <a:latin typeface="Cambria Math"/>
                      </a:rPr>
                      <m:t>+</m:t>
                    </m:r>
                    <m:f>
                      <m:fPr>
                        <m:ctrlPr>
                          <a:rPr lang="en-US" altLang="zh-CN" b="0" i="1" smtClean="0">
                            <a:latin typeface="Cambria Math"/>
                          </a:rPr>
                        </m:ctrlPr>
                      </m:fPr>
                      <m:num>
                        <m:r>
                          <a:rPr lang="en-US" altLang="zh-CN" b="1" i="1" smtClean="0">
                            <a:latin typeface="Cambria Math"/>
                          </a:rPr>
                          <m:t>𝑫</m:t>
                        </m:r>
                        <m:sSub>
                          <m:sSubPr>
                            <m:ctrlPr>
                              <a:rPr lang="en-US" altLang="zh-CN" b="0" i="1" smtClean="0">
                                <a:latin typeface="Cambria Math"/>
                              </a:rPr>
                            </m:ctrlPr>
                          </m:sSubPr>
                          <m:e>
                            <m:r>
                              <a:rPr lang="en-US" altLang="zh-CN" b="0" i="1" smtClean="0">
                                <a:latin typeface="Cambria Math"/>
                              </a:rPr>
                              <m:t>𝑟</m:t>
                            </m:r>
                          </m:e>
                          <m:sub>
                            <m:r>
                              <a:rPr lang="en-US" altLang="zh-CN" b="0" i="1" smtClean="0">
                                <a:latin typeface="Cambria Math"/>
                              </a:rPr>
                              <m:t>1</m:t>
                            </m:r>
                          </m:sub>
                        </m:sSub>
                        <m:func>
                          <m:funcPr>
                            <m:ctrlPr>
                              <a:rPr lang="en-US" altLang="zh-CN" b="0" i="1" smtClean="0">
                                <a:latin typeface="Cambria Math"/>
                              </a:rPr>
                            </m:ctrlPr>
                          </m:funcPr>
                          <m:fName>
                            <m:r>
                              <m:rPr>
                                <m:sty m:val="p"/>
                              </m:rPr>
                              <a:rPr lang="en-US" altLang="zh-CN" b="0" i="0" smtClean="0">
                                <a:latin typeface="Cambria Math"/>
                              </a:rPr>
                              <m:t>cos</m:t>
                            </m:r>
                          </m:fName>
                          <m:e>
                            <m:r>
                              <a:rPr lang="en-US" altLang="zh-CN" b="0" i="1" smtClean="0">
                                <a:latin typeface="Cambria Math"/>
                              </a:rPr>
                              <m:t>𝜃</m:t>
                            </m:r>
                          </m:e>
                        </m:func>
                      </m:num>
                      <m:den>
                        <m:r>
                          <a:rPr lang="en-US" altLang="zh-CN" b="0" i="1" smtClean="0">
                            <a:latin typeface="Cambria Math"/>
                          </a:rPr>
                          <m:t>𝑑</m:t>
                        </m:r>
                      </m:den>
                    </m:f>
                    <m:r>
                      <a:rPr lang="en-US" altLang="zh-CN" b="0" i="1" smtClean="0">
                        <a:latin typeface="Cambria Math"/>
                      </a:rPr>
                      <m:t>+</m:t>
                    </m:r>
                    <m:f>
                      <m:fPr>
                        <m:ctrlPr>
                          <a:rPr lang="en-US" altLang="zh-CN" b="0" i="1" smtClean="0">
                            <a:latin typeface="Cambria Math"/>
                          </a:rPr>
                        </m:ctrlPr>
                      </m:fPr>
                      <m:num>
                        <m:sSub>
                          <m:sSubPr>
                            <m:ctrlPr>
                              <a:rPr lang="en-US" altLang="zh-CN" b="0" i="1" smtClean="0">
                                <a:latin typeface="Cambria Math"/>
                              </a:rPr>
                            </m:ctrlPr>
                          </m:sSubPr>
                          <m:e>
                            <m:r>
                              <a:rPr lang="en-US" altLang="zh-CN" b="1" i="1" smtClean="0">
                                <a:latin typeface="Cambria Math"/>
                              </a:rPr>
                              <m:t>𝑫</m:t>
                            </m:r>
                          </m:e>
                          <m:sub>
                            <m:r>
                              <a:rPr lang="en-US" altLang="zh-CN" b="1" i="1" smtClean="0">
                                <a:latin typeface="Cambria Math"/>
                              </a:rPr>
                              <m:t>𝟎</m:t>
                            </m:r>
                          </m:sub>
                        </m:sSub>
                        <m:sSub>
                          <m:sSubPr>
                            <m:ctrlPr>
                              <a:rPr lang="en-US" altLang="zh-CN" b="0" i="1" smtClean="0">
                                <a:latin typeface="Cambria Math"/>
                              </a:rPr>
                            </m:ctrlPr>
                          </m:sSubPr>
                          <m:e>
                            <m:r>
                              <a:rPr lang="en-US" altLang="zh-CN" b="0" i="1" smtClean="0">
                                <a:latin typeface="Cambria Math"/>
                              </a:rPr>
                              <m:t>𝑟</m:t>
                            </m:r>
                          </m:e>
                          <m:sub>
                            <m:r>
                              <a:rPr lang="en-US" altLang="zh-CN" b="0" i="1" smtClean="0">
                                <a:latin typeface="Cambria Math"/>
                              </a:rPr>
                              <m:t>1</m:t>
                            </m:r>
                          </m:sub>
                        </m:sSub>
                        <m:func>
                          <m:funcPr>
                            <m:ctrlPr>
                              <a:rPr lang="en-US" altLang="zh-CN" b="0" i="1" smtClean="0">
                                <a:latin typeface="Cambria Math"/>
                              </a:rPr>
                            </m:ctrlPr>
                          </m:funcPr>
                          <m:fName>
                            <m:r>
                              <m:rPr>
                                <m:sty m:val="p"/>
                              </m:rPr>
                              <a:rPr lang="en-US" altLang="zh-CN" b="0" i="0" smtClean="0">
                                <a:latin typeface="Cambria Math"/>
                              </a:rPr>
                              <m:t>sin</m:t>
                            </m:r>
                          </m:fName>
                          <m:e>
                            <m:r>
                              <a:rPr lang="en-US" altLang="zh-CN" b="0" i="1" smtClean="0">
                                <a:latin typeface="Cambria Math"/>
                              </a:rPr>
                              <m:t>𝜃</m:t>
                            </m:r>
                          </m:e>
                        </m:func>
                      </m:num>
                      <m:den>
                        <m:r>
                          <a:rPr lang="en-US" altLang="zh-CN" b="0" i="1" smtClean="0">
                            <a:latin typeface="Cambria Math"/>
                          </a:rPr>
                          <m:t>𝑑</m:t>
                        </m:r>
                      </m:den>
                    </m:f>
                  </m:oMath>
                </a14:m>
                <a:r>
                  <a:rPr lang="zh-CN" altLang="en-US" smtClean="0"/>
                  <a:t>，</a:t>
                </a:r>
                <a:r>
                  <a:rPr lang="en-US" altLang="zh-CN"/>
                  <a:t/>
                </a:r>
                <a14:m>
                  <m:oMath xmlns:m="http://schemas.openxmlformats.org/officeDocument/2006/math">
                    <m:sSub>
                      <m:sSubPr>
                        <m:ctrlPr>
                          <a:rPr lang="en-US" altLang="zh-CN" i="1">
                            <a:latin typeface="Cambria Math"/>
                          </a:rPr>
                        </m:ctrlPr>
                      </m:sSubPr>
                      <m:e>
                        <m:r>
                          <a:rPr lang="en-US" altLang="zh-CN" i="1">
                            <a:latin typeface="Cambria Math"/>
                          </a:rPr>
                          <m:t>𝑂</m:t>
                        </m:r>
                      </m:e>
                      <m:sub>
                        <m:r>
                          <a:rPr lang="en-US" altLang="zh-CN" i="1">
                            <a:latin typeface="Cambria Math"/>
                          </a:rPr>
                          <m:t>1</m:t>
                        </m:r>
                      </m:sub>
                    </m:sSub>
                    <m:r>
                      <a:rPr lang="en-US" altLang="zh-CN" i="1">
                        <a:latin typeface="Cambria Math"/>
                      </a:rPr>
                      <m:t>+</m:t>
                    </m:r>
                    <m:f>
                      <m:fPr>
                        <m:ctrlPr>
                          <a:rPr lang="en-US" altLang="zh-CN" i="1">
                            <a:latin typeface="Cambria Math"/>
                          </a:rPr>
                        </m:ctrlPr>
                      </m:fPr>
                      <m:num>
                        <m:r>
                          <a:rPr lang="en-US" altLang="zh-CN" b="1" i="1">
                            <a:latin typeface="Cambria Math"/>
                          </a:rPr>
                          <m:t>𝑫</m:t>
                        </m:r>
                        <m:sSub>
                          <m:sSubPr>
                            <m:ctrlPr>
                              <a:rPr lang="en-US" altLang="zh-CN" i="1">
                                <a:latin typeface="Cambria Math"/>
                              </a:rPr>
                            </m:ctrlPr>
                          </m:sSubPr>
                          <m:e>
                            <m:r>
                              <a:rPr lang="en-US" altLang="zh-CN" i="1">
                                <a:latin typeface="Cambria Math"/>
                              </a:rPr>
                              <m:t>𝑟</m:t>
                            </m:r>
                          </m:e>
                          <m:sub>
                            <m:r>
                              <a:rPr lang="en-US" altLang="zh-CN" i="1">
                                <a:latin typeface="Cambria Math"/>
                              </a:rPr>
                              <m:t>1</m:t>
                            </m:r>
                          </m:sub>
                        </m:sSub>
                        <m:func>
                          <m:funcPr>
                            <m:ctrlPr>
                              <a:rPr lang="en-US" altLang="zh-CN" i="1">
                                <a:latin typeface="Cambria Math"/>
                              </a:rPr>
                            </m:ctrlPr>
                          </m:funcPr>
                          <m:fName>
                            <m:r>
                              <m:rPr>
                                <m:sty m:val="p"/>
                              </m:rPr>
                              <a:rPr lang="en-US" altLang="zh-CN">
                                <a:latin typeface="Cambria Math"/>
                              </a:rPr>
                              <m:t>cos</m:t>
                            </m:r>
                          </m:fName>
                          <m:e>
                            <m:r>
                              <a:rPr lang="en-US" altLang="zh-CN" i="1">
                                <a:latin typeface="Cambria Math"/>
                              </a:rPr>
                              <m:t>𝜃</m:t>
                            </m:r>
                          </m:e>
                        </m:func>
                      </m:num>
                      <m:den>
                        <m:r>
                          <a:rPr lang="en-US" altLang="zh-CN" b="0" i="1" smtClean="0">
                            <a:latin typeface="Cambria Math"/>
                          </a:rPr>
                          <m:t>𝑑</m:t>
                        </m:r>
                      </m:den>
                    </m:f>
                    <m:r>
                      <a:rPr lang="en-US" altLang="zh-CN" b="0" i="1" smtClean="0">
                        <a:latin typeface="Cambria Math"/>
                      </a:rPr>
                      <m:t>−</m:t>
                    </m:r>
                    <m:f>
                      <m:fPr>
                        <m:ctrlPr>
                          <a:rPr lang="en-US" altLang="zh-CN" i="1">
                            <a:latin typeface="Cambria Math"/>
                          </a:rPr>
                        </m:ctrlPr>
                      </m:fPr>
                      <m:num>
                        <m:sSub>
                          <m:sSubPr>
                            <m:ctrlPr>
                              <a:rPr lang="en-US" altLang="zh-CN" i="1">
                                <a:latin typeface="Cambria Math"/>
                              </a:rPr>
                            </m:ctrlPr>
                          </m:sSubPr>
                          <m:e>
                            <m:r>
                              <a:rPr lang="en-US" altLang="zh-CN" b="1" i="1">
                                <a:latin typeface="Cambria Math"/>
                              </a:rPr>
                              <m:t>𝑫</m:t>
                            </m:r>
                          </m:e>
                          <m:sub>
                            <m:r>
                              <a:rPr lang="en-US" altLang="zh-CN" b="1" i="1">
                                <a:latin typeface="Cambria Math"/>
                              </a:rPr>
                              <m:t>𝟎</m:t>
                            </m:r>
                          </m:sub>
                        </m:sSub>
                        <m:sSub>
                          <m:sSubPr>
                            <m:ctrlPr>
                              <a:rPr lang="en-US" altLang="zh-CN" i="1">
                                <a:latin typeface="Cambria Math"/>
                              </a:rPr>
                            </m:ctrlPr>
                          </m:sSubPr>
                          <m:e>
                            <m:r>
                              <a:rPr lang="en-US" altLang="zh-CN" i="1">
                                <a:latin typeface="Cambria Math"/>
                              </a:rPr>
                              <m:t>𝑟</m:t>
                            </m:r>
                          </m:e>
                          <m:sub>
                            <m:r>
                              <a:rPr lang="en-US" altLang="zh-CN" i="1">
                                <a:latin typeface="Cambria Math"/>
                              </a:rPr>
                              <m:t>1</m:t>
                            </m:r>
                          </m:sub>
                        </m:sSub>
                        <m:func>
                          <m:funcPr>
                            <m:ctrlPr>
                              <a:rPr lang="en-US" altLang="zh-CN" i="1">
                                <a:latin typeface="Cambria Math"/>
                              </a:rPr>
                            </m:ctrlPr>
                          </m:funcPr>
                          <m:fName>
                            <m:r>
                              <m:rPr>
                                <m:sty m:val="p"/>
                              </m:rPr>
                              <a:rPr lang="en-US" altLang="zh-CN">
                                <a:latin typeface="Cambria Math"/>
                              </a:rPr>
                              <m:t>sin</m:t>
                            </m:r>
                          </m:fName>
                          <m:e>
                            <m:r>
                              <a:rPr lang="en-US" altLang="zh-CN" i="1">
                                <a:latin typeface="Cambria Math"/>
                              </a:rPr>
                              <m:t>𝜃</m:t>
                            </m:r>
                          </m:e>
                        </m:func>
                      </m:num>
                      <m:den>
                        <m:r>
                          <a:rPr lang="en-US" altLang="zh-CN" b="0" i="1" smtClean="0">
                            <a:latin typeface="Cambria Math"/>
                          </a:rPr>
                          <m:t>𝑑</m:t>
                        </m:r>
                      </m:den>
                    </m:f>
                  </m:oMath>
                </a14:m>
                <a:r>
                  <a:rPr lang="en-US" altLang="zh-CN" smtClean="0"/>
                  <a:t>.</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914400" y="1556792"/>
                <a:ext cx="7772400" cy="4572000"/>
              </a:xfrm>
              <a:blipFill rotWithShape="1">
                <a:blip r:embed="rId2"/>
                <a:stretch>
                  <a:fillRect l="-471" r="-863"/>
                </a:stretch>
              </a:blipFill>
            </p:spPr>
            <p:txBody>
              <a:bodyPr/>
              <a:lstStyle/>
              <a:p>
                <a:r>
                  <a:rPr lang="zh-CN" altLang="en-US">
                    <a:noFill/>
                  </a:rPr>
                  <a:t> </a:t>
                </a:r>
              </a:p>
            </p:txBody>
          </p:sp>
        </mc:Fallback>
      </mc:AlternateContent>
      <p:pic>
        <p:nvPicPr>
          <p:cNvPr id="5" name="图片 4"/>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5051835" y="3996313"/>
            <a:ext cx="3984661" cy="2817063"/>
          </a:xfrm>
          <a:prstGeom prst="rect">
            <a:avLst/>
          </a:prstGeom>
        </p:spPr>
      </p:pic>
    </p:spTree>
    <p:extLst>
      <p:ext uri="{BB962C8B-B14F-4D97-AF65-F5344CB8AC3E}">
        <p14:creationId xmlns:p14="http://schemas.microsoft.com/office/powerpoint/2010/main" xmlns="" val="3374746326"/>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圆的面积并</a:t>
            </a:r>
            <a:endParaRPr lang="zh-CN" altLang="en-US"/>
          </a:p>
        </p:txBody>
      </p:sp>
      <p:sp>
        <p:nvSpPr>
          <p:cNvPr id="3" name="内容占位符 2"/>
          <p:cNvSpPr>
            <a:spLocks noGrp="1"/>
          </p:cNvSpPr>
          <p:nvPr>
            <p:ph idx="1"/>
          </p:nvPr>
        </p:nvSpPr>
        <p:spPr/>
        <p:txBody>
          <a:bodyPr/>
          <a:lstStyle/>
          <a:p>
            <a:r>
              <a:rPr lang="zh-CN" altLang="en-US" smtClean="0"/>
              <a:t>题目：</a:t>
            </a:r>
            <a:r>
              <a:rPr lang="en-US" altLang="zh-CN" b="1" smtClean="0">
                <a:solidFill>
                  <a:schemeClr val="accent4">
                    <a:lumMod val="60000"/>
                    <a:lumOff val="40000"/>
                  </a:schemeClr>
                </a:solidFill>
              </a:rPr>
              <a:t>SPOJ CIRU</a:t>
            </a:r>
          </a:p>
          <a:p>
            <a:r>
              <a:rPr lang="zh-CN" altLang="en-US" smtClean="0"/>
              <a:t>给出 </a:t>
            </a:r>
            <a:r>
              <a:rPr lang="en-US" altLang="zh-CN" i="1" smtClean="0">
                <a:latin typeface="Times New Roman" pitchFamily="18" charset="0"/>
                <a:cs typeface="Times New Roman" pitchFamily="18" charset="0"/>
              </a:rPr>
              <a:t>N</a:t>
            </a:r>
            <a:r>
              <a:rPr lang="en-US" altLang="zh-CN" smtClean="0"/>
              <a:t> (</a:t>
            </a:r>
            <a:r>
              <a:rPr lang="en-US" altLang="zh-CN" i="1" smtClean="0">
                <a:latin typeface="Times New Roman" pitchFamily="18" charset="0"/>
                <a:cs typeface="Times New Roman" pitchFamily="18" charset="0"/>
              </a:rPr>
              <a:t>N</a:t>
            </a:r>
            <a:r>
              <a:rPr lang="en-US" altLang="zh-CN" smtClean="0">
                <a:latin typeface="Times New Roman" pitchFamily="18" charset="0"/>
                <a:cs typeface="Times New Roman" pitchFamily="18" charset="0"/>
              </a:rPr>
              <a:t> </a:t>
            </a:r>
            <a:r>
              <a:rPr lang="zh-CN" altLang="en-US" smtClean="0">
                <a:latin typeface="Times New Roman" pitchFamily="18" charset="0"/>
                <a:cs typeface="Times New Roman" pitchFamily="18" charset="0"/>
              </a:rPr>
              <a:t>≤ </a:t>
            </a:r>
            <a:r>
              <a:rPr lang="en-US" altLang="zh-CN" smtClean="0">
                <a:latin typeface="Times New Roman" pitchFamily="18" charset="0"/>
                <a:cs typeface="Times New Roman" pitchFamily="18" charset="0"/>
              </a:rPr>
              <a:t>1000</a:t>
            </a:r>
            <a:r>
              <a:rPr lang="en-US" altLang="zh-CN" smtClean="0"/>
              <a:t>) </a:t>
            </a:r>
            <a:r>
              <a:rPr lang="zh-CN" altLang="en-US" smtClean="0"/>
              <a:t>个圆，求其并集的面积。</a:t>
            </a:r>
            <a:endParaRPr lang="en-US" altLang="zh-CN" smtClean="0"/>
          </a:p>
          <a:p>
            <a:r>
              <a:rPr lang="zh-CN" altLang="en-US" smtClean="0"/>
              <a:t>要求 </a:t>
            </a:r>
            <a:r>
              <a:rPr lang="en-US" altLang="zh-CN" smtClean="0">
                <a:latin typeface="Times New Roman" pitchFamily="18" charset="0"/>
                <a:cs typeface="Times New Roman" pitchFamily="18" charset="0"/>
              </a:rPr>
              <a:t>O(</a:t>
            </a:r>
            <a:r>
              <a:rPr lang="en-US" altLang="zh-CN" i="1" smtClean="0">
                <a:latin typeface="Times New Roman" pitchFamily="18" charset="0"/>
                <a:cs typeface="Times New Roman" pitchFamily="18" charset="0"/>
              </a:rPr>
              <a:t>N</a:t>
            </a:r>
            <a:r>
              <a:rPr lang="en-US" altLang="zh-CN" baseline="30000" smtClean="0">
                <a:latin typeface="Times New Roman" pitchFamily="18" charset="0"/>
                <a:cs typeface="Times New Roman" pitchFamily="18" charset="0"/>
              </a:rPr>
              <a:t>2</a:t>
            </a:r>
            <a:r>
              <a:rPr lang="en-US" altLang="zh-CN" smtClean="0">
                <a:latin typeface="Times New Roman" pitchFamily="18" charset="0"/>
                <a:cs typeface="Times New Roman" pitchFamily="18" charset="0"/>
              </a:rPr>
              <a:t> log </a:t>
            </a:r>
            <a:r>
              <a:rPr lang="en-US" altLang="zh-CN" i="1" smtClean="0">
                <a:latin typeface="Times New Roman" pitchFamily="18" charset="0"/>
                <a:cs typeface="Times New Roman" pitchFamily="18" charset="0"/>
              </a:rPr>
              <a:t>N</a:t>
            </a:r>
            <a:r>
              <a:rPr lang="en-US" altLang="zh-CN" smtClean="0">
                <a:latin typeface="Times New Roman" pitchFamily="18" charset="0"/>
                <a:cs typeface="Times New Roman" pitchFamily="18" charset="0"/>
              </a:rPr>
              <a:t>) </a:t>
            </a:r>
            <a:r>
              <a:rPr lang="zh-CN" altLang="en-US" smtClean="0"/>
              <a:t>的算法。</a:t>
            </a:r>
            <a:endParaRPr lang="en-US" altLang="zh-CN" smtClean="0"/>
          </a:p>
          <a:p>
            <a:endParaRPr lang="en-US" altLang="zh-CN"/>
          </a:p>
          <a:p>
            <a:r>
              <a:rPr lang="zh-CN" altLang="en-US" smtClean="0"/>
              <a:t>后面给出的算法由 </a:t>
            </a:r>
            <a:r>
              <a:rPr lang="en-US" altLang="zh-CN" smtClean="0"/>
              <a:t>AekdyCoin </a:t>
            </a:r>
            <a:r>
              <a:rPr lang="zh-CN" altLang="en-US" smtClean="0"/>
              <a:t>原创。</a:t>
            </a:r>
            <a:endParaRPr lang="zh-CN" altLang="en-US"/>
          </a:p>
        </p:txBody>
      </p:sp>
    </p:spTree>
    <p:extLst>
      <p:ext uri="{BB962C8B-B14F-4D97-AF65-F5344CB8AC3E}">
        <p14:creationId xmlns:p14="http://schemas.microsoft.com/office/powerpoint/2010/main" xmlns="" val="3236322435"/>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分析</a:t>
            </a:r>
          </a:p>
        </p:txBody>
      </p:sp>
      <p:sp>
        <p:nvSpPr>
          <p:cNvPr id="3" name="内容占位符 2"/>
          <p:cNvSpPr>
            <a:spLocks noGrp="1"/>
          </p:cNvSpPr>
          <p:nvPr>
            <p:ph sz="half" idx="1"/>
          </p:nvPr>
        </p:nvSpPr>
        <p:spPr/>
        <p:txBody>
          <a:bodyPr/>
          <a:lstStyle/>
          <a:p>
            <a:r>
              <a:rPr lang="zh-CN" altLang="en-US" dirty="0" smtClean="0">
                <a:latin typeface="Adobe 宋体 Std L" pitchFamily="18" charset="-122"/>
                <a:ea typeface="Adobe 宋体 Std L" pitchFamily="18" charset="-122"/>
              </a:rPr>
              <a:t>如图，最后形成的图形是由很多弓形和多边形组成的。</a:t>
            </a:r>
            <a:endParaRPr lang="en-US" altLang="zh-CN" dirty="0" smtClean="0">
              <a:latin typeface="Adobe 宋体 Std L" pitchFamily="18" charset="-122"/>
              <a:ea typeface="Adobe 宋体 Std L" pitchFamily="18" charset="-122"/>
            </a:endParaRPr>
          </a:p>
          <a:p>
            <a:r>
              <a:rPr lang="zh-CN" altLang="en-US" dirty="0" smtClean="0">
                <a:latin typeface="Adobe 宋体 Std L" pitchFamily="18" charset="-122"/>
                <a:ea typeface="Adobe 宋体 Std L" pitchFamily="18" charset="-122"/>
              </a:rPr>
              <a:t>弓形可以单独计算，多边形利用叉积亦可以分各边计算，所以我们可以单独考虑每个圆。</a:t>
            </a:r>
            <a:endParaRPr lang="en-US" altLang="zh-CN" dirty="0" smtClean="0">
              <a:latin typeface="Adobe 宋体 Std L" pitchFamily="18" charset="-122"/>
              <a:ea typeface="Adobe 宋体 Std L" pitchFamily="18" charset="-122"/>
            </a:endParaRPr>
          </a:p>
        </p:txBody>
      </p:sp>
      <p:pic>
        <p:nvPicPr>
          <p:cNvPr id="5" name="内容占位符 4"/>
          <p:cNvPicPr>
            <a:picLocks noGrp="1" noChangeAspect="1"/>
          </p:cNvPicPr>
          <p:nvPr>
            <p:ph sz="half" idx="2"/>
          </p:nvPr>
        </p:nvPicPr>
        <p:blipFill>
          <a:blip r:embed="rId2">
            <a:extLst>
              <a:ext uri="{28A0092B-C50C-407E-A947-70E740481C1C}">
                <a14:useLocalDpi xmlns:a14="http://schemas.microsoft.com/office/drawing/2010/main" xmlns="" val="0"/>
              </a:ext>
            </a:extLst>
          </a:blip>
          <a:stretch>
            <a:fillRect/>
          </a:stretch>
        </p:blipFill>
        <p:spPr>
          <a:xfrm>
            <a:off x="4781872" y="1907688"/>
            <a:ext cx="4038600" cy="4250711"/>
          </a:xfrm>
        </p:spPr>
      </p:pic>
    </p:spTree>
    <p:extLst>
      <p:ext uri="{BB962C8B-B14F-4D97-AF65-F5344CB8AC3E}">
        <p14:creationId xmlns:p14="http://schemas.microsoft.com/office/powerpoint/2010/main" xmlns="" val="3693388068"/>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每个圆的情形</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a:xfrm>
                <a:off x="914400" y="1484784"/>
                <a:ext cx="7772400" cy="4572000"/>
              </a:xfrm>
            </p:spPr>
            <p:txBody>
              <a:bodyPr>
                <a:normAutofit lnSpcReduction="10000"/>
              </a:bodyPr>
              <a:lstStyle/>
              <a:p>
                <a:r>
                  <a:rPr lang="zh-CN" altLang="en-US" dirty="0" smtClean="0"/>
                  <a:t>如图，对于每个圆，用其他的圆与之求交，找到所有</a:t>
                </a:r>
                <a:r>
                  <a:rPr lang="zh-CN" altLang="en-US" b="1" dirty="0" smtClean="0">
                    <a:solidFill>
                      <a:schemeClr val="accent4">
                        <a:lumMod val="60000"/>
                        <a:lumOff val="40000"/>
                      </a:schemeClr>
                    </a:solidFill>
                  </a:rPr>
                  <a:t>没有被覆盖过</a:t>
                </a:r>
                <a:r>
                  <a:rPr lang="zh-CN" altLang="en-US" dirty="0" smtClean="0"/>
                  <a:t>的圆弧。圆弧须以逆时针序表示。</a:t>
                </a:r>
                <a:endParaRPr lang="en-US" altLang="zh-CN" dirty="0" smtClean="0"/>
              </a:p>
              <a:p>
                <a:r>
                  <a:rPr lang="zh-CN" altLang="en-US" dirty="0" smtClean="0"/>
                  <a:t>对于每条圆弧 </a:t>
                </a:r>
                <a14:m>
                  <m:oMath xmlns:m="http://schemas.openxmlformats.org/officeDocument/2006/math">
                    <m:acc>
                      <m:accPr>
                        <m:chr m:val="̂"/>
                        <m:ctrlPr>
                          <a:rPr lang="zh-CN" altLang="en-US" i="1" smtClean="0">
                            <a:latin typeface="Cambria Math"/>
                          </a:rPr>
                        </m:ctrlPr>
                      </m:accPr>
                      <m:e>
                        <m:r>
                          <a:rPr lang="en-US" altLang="zh-CN" b="0" i="1" smtClean="0">
                            <a:latin typeface="Cambria Math"/>
                          </a:rPr>
                          <m:t>𝐴𝐵</m:t>
                        </m:r>
                      </m:e>
                    </m:acc>
                  </m:oMath>
                </a14:m>
                <a:r>
                  <a:rPr lang="zh-CN" altLang="en-US" dirty="0" smtClean="0"/>
                  <a:t>，累加其弓形的面积，以及这条边的有向面积 </a:t>
                </a:r>
                <a14:m>
                  <m:oMath xmlns:m="http://schemas.openxmlformats.org/officeDocument/2006/math">
                    <m:f>
                      <m:fPr>
                        <m:ctrlPr>
                          <a:rPr lang="en-US" altLang="zh-CN" i="1" smtClean="0">
                            <a:latin typeface="Cambria Math"/>
                          </a:rPr>
                        </m:ctrlPr>
                      </m:fPr>
                      <m:num>
                        <m:r>
                          <a:rPr lang="en-US" altLang="zh-CN" b="0" i="1" smtClean="0">
                            <a:latin typeface="Cambria Math"/>
                          </a:rPr>
                          <m:t>𝐴</m:t>
                        </m:r>
                        <m:r>
                          <a:rPr lang="en-US" altLang="zh-CN" b="0" i="1" smtClean="0">
                            <a:latin typeface="Cambria Math"/>
                          </a:rPr>
                          <m:t>×</m:t>
                        </m:r>
                        <m:r>
                          <a:rPr lang="en-US" altLang="zh-CN" b="0" i="1" smtClean="0">
                            <a:latin typeface="Cambria Math"/>
                          </a:rPr>
                          <m:t>𝐵</m:t>
                        </m:r>
                      </m:num>
                      <m:den>
                        <m:r>
                          <a:rPr lang="en-US" altLang="zh-CN" b="0" i="1" smtClean="0">
                            <a:latin typeface="Cambria Math"/>
                          </a:rPr>
                          <m:t>2</m:t>
                        </m:r>
                      </m:den>
                    </m:f>
                  </m:oMath>
                </a14:m>
                <a:r>
                  <a:rPr lang="en-US" altLang="zh-CN" dirty="0" smtClean="0"/>
                  <a:t>.</a:t>
                </a:r>
              </a:p>
              <a:p>
                <a:r>
                  <a:rPr lang="zh-CN" altLang="en-US" dirty="0" smtClean="0"/>
                  <a:t>半径为 </a:t>
                </a:r>
                <a:r>
                  <a:rPr lang="en-US" altLang="zh-CN" i="1" dirty="0" smtClean="0">
                    <a:latin typeface="Times New Roman" pitchFamily="18" charset="0"/>
                    <a:cs typeface="Times New Roman" pitchFamily="18" charset="0"/>
                  </a:rPr>
                  <a:t>r</a:t>
                </a:r>
                <a:r>
                  <a:rPr lang="zh-CN" altLang="en-US" dirty="0" smtClean="0"/>
                  <a:t>，角度为 </a:t>
                </a:r>
                <a:r>
                  <a:rPr lang="el-GR" altLang="zh-CN" i="1" dirty="0" smtClean="0">
                    <a:latin typeface="Times New Roman" pitchFamily="18" charset="0"/>
                    <a:cs typeface="Times New Roman" pitchFamily="18" charset="0"/>
                  </a:rPr>
                  <a:t>θ</a:t>
                </a:r>
                <a:r>
                  <a:rPr lang="en-US" altLang="zh-CN" dirty="0" smtClean="0"/>
                  <a:t/>
                </a:r>
                <a:r>
                  <a:rPr lang="zh-CN" altLang="en-US" dirty="0" smtClean="0"/>
                  <a:t>的</a:t>
                </a:r>
                <a:endParaRPr lang="en-US" altLang="zh-CN" dirty="0" smtClean="0"/>
              </a:p>
              <a:p>
                <a:pPr marL="68580" indent="0">
                  <a:buNone/>
                </a:pPr>
                <a:r>
                  <a:rPr lang="zh-CN" altLang="en-US" dirty="0" smtClean="0"/>
                  <a:t>　弓形面积为 </a:t>
                </a:r>
                <a14:m>
                  <m:oMath xmlns:m="http://schemas.openxmlformats.org/officeDocument/2006/math">
                    <m:f>
                      <m:fPr>
                        <m:ctrlPr>
                          <a:rPr lang="en-US" altLang="zh-CN" i="1" smtClean="0">
                            <a:latin typeface="Cambria Math"/>
                          </a:rPr>
                        </m:ctrlPr>
                      </m:fPr>
                      <m:num>
                        <m:sSup>
                          <m:sSupPr>
                            <m:ctrlPr>
                              <a:rPr lang="en-US" altLang="zh-CN" b="0" i="1" smtClean="0">
                                <a:latin typeface="Cambria Math"/>
                              </a:rPr>
                            </m:ctrlPr>
                          </m:sSupPr>
                          <m:e>
                            <m:r>
                              <a:rPr lang="en-US" altLang="zh-CN" b="0" i="1" smtClean="0">
                                <a:latin typeface="Cambria Math"/>
                              </a:rPr>
                              <m:t>𝑟</m:t>
                            </m:r>
                          </m:e>
                          <m:sup>
                            <m:r>
                              <a:rPr lang="en-US" altLang="zh-CN" b="0" i="1" smtClean="0">
                                <a:latin typeface="Cambria Math"/>
                              </a:rPr>
                              <m:t>2</m:t>
                            </m:r>
                          </m:sup>
                        </m:sSup>
                        <m:r>
                          <a:rPr lang="en-US" altLang="zh-CN" b="0" i="1" smtClean="0">
                            <a:latin typeface="Cambria Math"/>
                          </a:rPr>
                          <m:t>(</m:t>
                        </m:r>
                        <m:r>
                          <a:rPr lang="en-US" altLang="zh-CN" b="0" i="1" smtClean="0">
                            <a:latin typeface="Cambria Math"/>
                          </a:rPr>
                          <m:t>𝜃</m:t>
                        </m:r>
                        <m:r>
                          <a:rPr lang="en-US" altLang="zh-CN" b="0" i="1" smtClean="0">
                            <a:latin typeface="Cambria Math"/>
                          </a:rPr>
                          <m:t>−</m:t>
                        </m:r>
                        <m:func>
                          <m:funcPr>
                            <m:ctrlPr>
                              <a:rPr lang="en-US" altLang="zh-CN" b="0" i="1" smtClean="0">
                                <a:latin typeface="Cambria Math"/>
                              </a:rPr>
                            </m:ctrlPr>
                          </m:funcPr>
                          <m:fName>
                            <m:r>
                              <m:rPr>
                                <m:sty m:val="p"/>
                              </m:rPr>
                              <a:rPr lang="en-US" altLang="zh-CN" b="0" i="0" smtClean="0">
                                <a:latin typeface="Cambria Math"/>
                              </a:rPr>
                              <m:t>sin</m:t>
                            </m:r>
                          </m:fName>
                          <m:e>
                            <m:r>
                              <a:rPr lang="en-US" altLang="zh-CN" b="0" i="1" smtClean="0">
                                <a:latin typeface="Cambria Math"/>
                              </a:rPr>
                              <m:t>𝜃</m:t>
                            </m:r>
                          </m:e>
                        </m:func>
                        <m:r>
                          <a:rPr lang="en-US" altLang="zh-CN" b="0" i="1" smtClean="0">
                            <a:latin typeface="Cambria Math"/>
                          </a:rPr>
                          <m:t>)</m:t>
                        </m:r>
                      </m:num>
                      <m:den>
                        <m:r>
                          <a:rPr lang="en-US" altLang="zh-CN" b="0" i="1" smtClean="0">
                            <a:latin typeface="Cambria Math"/>
                          </a:rPr>
                          <m:t>2</m:t>
                        </m:r>
                      </m:den>
                    </m:f>
                  </m:oMath>
                </a14:m>
                <a:r>
                  <a:rPr lang="en-US" altLang="zh-CN" dirty="0" smtClean="0"/>
                  <a:t>.</a:t>
                </a: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914400" y="1484784"/>
                <a:ext cx="7772400" cy="4572000"/>
              </a:xfrm>
              <a:blipFill rotWithShape="1">
                <a:blip r:embed="rId2"/>
                <a:stretch>
                  <a:fillRect l="-471" t="-2000" r="-2588"/>
                </a:stretch>
              </a:blipFill>
            </p:spPr>
            <p:txBody>
              <a:bodyPr/>
              <a:lstStyle/>
              <a:p>
                <a:r>
                  <a:rPr lang="zh-CN" altLang="en-US">
                    <a:noFill/>
                  </a:rPr>
                  <a:t> </a:t>
                </a:r>
              </a:p>
            </p:txBody>
          </p:sp>
        </mc:Fallback>
      </mc:AlternateContent>
      <p:pic>
        <p:nvPicPr>
          <p:cNvPr id="4" name="图片 3"/>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6084168" y="4149080"/>
            <a:ext cx="2514286" cy="2450794"/>
          </a:xfrm>
          <a:prstGeom prst="rect">
            <a:avLst/>
          </a:prstGeom>
        </p:spPr>
      </p:pic>
    </p:spTree>
    <p:extLst>
      <p:ext uri="{BB962C8B-B14F-4D97-AF65-F5344CB8AC3E}">
        <p14:creationId xmlns:p14="http://schemas.microsoft.com/office/powerpoint/2010/main" xmlns="" val="360245129"/>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不</a:t>
            </a:r>
            <a:r>
              <a:rPr lang="zh-CN" altLang="en-US" smtClean="0"/>
              <a:t>连通？</a:t>
            </a:r>
            <a:endParaRPr lang="zh-CN" altLang="en-US"/>
          </a:p>
        </p:txBody>
      </p:sp>
      <p:sp>
        <p:nvSpPr>
          <p:cNvPr id="3" name="内容占位符 2"/>
          <p:cNvSpPr>
            <a:spLocks noGrp="1"/>
          </p:cNvSpPr>
          <p:nvPr>
            <p:ph idx="1"/>
          </p:nvPr>
        </p:nvSpPr>
        <p:spPr/>
        <p:txBody>
          <a:bodyPr/>
          <a:lstStyle/>
          <a:p>
            <a:r>
              <a:rPr lang="zh-CN" altLang="en-US" smtClean="0"/>
              <a:t>由于各个连通块中的弓形和多边形的边实际上都得到了很好的处理，所以图形</a:t>
            </a:r>
            <a:r>
              <a:rPr lang="zh-CN" altLang="en-US"/>
              <a:t>不连通没有</a:t>
            </a:r>
            <a:r>
              <a:rPr lang="zh-CN" altLang="en-US" smtClean="0"/>
              <a:t>问题。</a:t>
            </a:r>
            <a:endParaRPr lang="zh-CN" altLang="en-US"/>
          </a:p>
        </p:txBody>
      </p:sp>
    </p:spTree>
    <p:extLst>
      <p:ext uri="{BB962C8B-B14F-4D97-AF65-F5344CB8AC3E}">
        <p14:creationId xmlns:p14="http://schemas.microsoft.com/office/powerpoint/2010/main" xmlns="" val="45946520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有“洞”？</a:t>
            </a:r>
            <a:endParaRPr lang="zh-CN" altLang="en-US"/>
          </a:p>
        </p:txBody>
      </p:sp>
      <p:sp>
        <p:nvSpPr>
          <p:cNvPr id="3" name="内容占位符 2"/>
          <p:cNvSpPr>
            <a:spLocks noGrp="1"/>
          </p:cNvSpPr>
          <p:nvPr>
            <p:ph sz="half" idx="1"/>
          </p:nvPr>
        </p:nvSpPr>
        <p:spPr/>
        <p:txBody>
          <a:bodyPr/>
          <a:lstStyle/>
          <a:p>
            <a:r>
              <a:rPr lang="zh-CN" altLang="en-US" smtClean="0"/>
              <a:t>发生了非常 </a:t>
            </a:r>
            <a:r>
              <a:rPr lang="en-US" altLang="zh-CN" smtClean="0"/>
              <a:t>NB </a:t>
            </a:r>
            <a:r>
              <a:rPr lang="zh-CN" altLang="en-US" smtClean="0"/>
              <a:t>的事情。由于我们累加的是</a:t>
            </a:r>
            <a:r>
              <a:rPr lang="zh-CN" altLang="en-US" b="1" smtClean="0">
                <a:solidFill>
                  <a:schemeClr val="accent4">
                    <a:lumMod val="60000"/>
                    <a:lumOff val="40000"/>
                  </a:schemeClr>
                </a:solidFill>
              </a:rPr>
              <a:t>有向面积</a:t>
            </a:r>
            <a:r>
              <a:rPr lang="zh-CN" altLang="en-US" smtClean="0"/>
              <a:t>，而“洞”中多边形是反向 </a:t>
            </a:r>
            <a:r>
              <a:rPr lang="en-US" altLang="zh-CN" smtClean="0"/>
              <a:t>(</a:t>
            </a:r>
            <a:r>
              <a:rPr lang="zh-CN" altLang="en-US" smtClean="0"/>
              <a:t>顺时针</a:t>
            </a:r>
            <a:r>
              <a:rPr lang="en-US" altLang="zh-CN" smtClean="0"/>
              <a:t>) </a:t>
            </a:r>
            <a:r>
              <a:rPr lang="zh-CN" altLang="en-US" smtClean="0"/>
              <a:t>旋转的，所以“洞”会被</a:t>
            </a:r>
            <a:r>
              <a:rPr lang="zh-CN" altLang="en-US" b="1" smtClean="0">
                <a:solidFill>
                  <a:schemeClr val="accent4">
                    <a:lumMod val="60000"/>
                    <a:lumOff val="40000"/>
                  </a:schemeClr>
                </a:solidFill>
              </a:rPr>
              <a:t>自动抵消</a:t>
            </a:r>
            <a:r>
              <a:rPr lang="zh-CN" altLang="en-US" smtClean="0"/>
              <a:t>！</a:t>
            </a:r>
            <a:endParaRPr lang="zh-CN" altLang="en-US"/>
          </a:p>
        </p:txBody>
      </p:sp>
      <p:pic>
        <p:nvPicPr>
          <p:cNvPr id="5" name="内容占位符 4"/>
          <p:cNvPicPr>
            <a:picLocks noGrp="1" noChangeAspect="1"/>
          </p:cNvPicPr>
          <p:nvPr>
            <p:ph sz="half" idx="2"/>
          </p:nvPr>
        </p:nvPicPr>
        <p:blipFill>
          <a:blip r:embed="rId2">
            <a:extLst>
              <a:ext uri="{28A0092B-C50C-407E-A947-70E740481C1C}">
                <a14:useLocalDpi xmlns:a14="http://schemas.microsoft.com/office/drawing/2010/main" xmlns="" val="0"/>
              </a:ext>
            </a:extLst>
          </a:blip>
          <a:stretch>
            <a:fillRect/>
          </a:stretch>
        </p:blipFill>
        <p:spPr>
          <a:xfrm>
            <a:off x="4925888" y="1556792"/>
            <a:ext cx="4038600" cy="3799580"/>
          </a:xfrm>
        </p:spPr>
      </p:pic>
    </p:spTree>
    <p:extLst>
      <p:ext uri="{BB962C8B-B14F-4D97-AF65-F5344CB8AC3E}">
        <p14:creationId xmlns:p14="http://schemas.microsoft.com/office/powerpoint/2010/main" xmlns="" val="3443860986"/>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时间复杂度</a:t>
            </a:r>
            <a:endParaRPr lang="zh-CN" altLang="en-US"/>
          </a:p>
        </p:txBody>
      </p:sp>
      <p:sp>
        <p:nvSpPr>
          <p:cNvPr id="3" name="内容占位符 2"/>
          <p:cNvSpPr>
            <a:spLocks noGrp="1"/>
          </p:cNvSpPr>
          <p:nvPr>
            <p:ph idx="1"/>
          </p:nvPr>
        </p:nvSpPr>
        <p:spPr/>
        <p:txBody>
          <a:bodyPr/>
          <a:lstStyle/>
          <a:p>
            <a:r>
              <a:rPr lang="zh-CN" altLang="en-US" smtClean="0"/>
              <a:t>对于每个圆，要求 </a:t>
            </a:r>
            <a:r>
              <a:rPr lang="en-US" altLang="zh-CN" smtClean="0">
                <a:latin typeface="Times New Roman" pitchFamily="18" charset="0"/>
                <a:cs typeface="Times New Roman" pitchFamily="18" charset="0"/>
              </a:rPr>
              <a:t>O(</a:t>
            </a:r>
            <a:r>
              <a:rPr lang="en-US" altLang="zh-CN" i="1" smtClean="0">
                <a:latin typeface="Times New Roman" pitchFamily="18" charset="0"/>
                <a:cs typeface="Times New Roman" pitchFamily="18" charset="0"/>
              </a:rPr>
              <a:t>N</a:t>
            </a:r>
            <a:r>
              <a:rPr lang="en-US" altLang="zh-CN" smtClean="0">
                <a:latin typeface="Times New Roman" pitchFamily="18" charset="0"/>
                <a:cs typeface="Times New Roman" pitchFamily="18" charset="0"/>
              </a:rPr>
              <a:t>) </a:t>
            </a:r>
            <a:r>
              <a:rPr lang="zh-CN" altLang="en-US" smtClean="0"/>
              <a:t>次交，从而出现了 </a:t>
            </a:r>
            <a:r>
              <a:rPr lang="en-US" altLang="zh-CN" smtClean="0">
                <a:latin typeface="Times New Roman" pitchFamily="18" charset="0"/>
                <a:cs typeface="Times New Roman" pitchFamily="18" charset="0"/>
              </a:rPr>
              <a:t>O(</a:t>
            </a:r>
            <a:r>
              <a:rPr lang="en-US" altLang="zh-CN" i="1" smtClean="0">
                <a:latin typeface="Times New Roman" pitchFamily="18" charset="0"/>
                <a:cs typeface="Times New Roman" pitchFamily="18" charset="0"/>
              </a:rPr>
              <a:t>N</a:t>
            </a:r>
            <a:r>
              <a:rPr lang="en-US" altLang="zh-CN" smtClean="0">
                <a:latin typeface="Times New Roman" pitchFamily="18" charset="0"/>
                <a:cs typeface="Times New Roman" pitchFamily="18" charset="0"/>
              </a:rPr>
              <a:t>) </a:t>
            </a:r>
            <a:r>
              <a:rPr lang="zh-CN" altLang="en-US" smtClean="0"/>
              <a:t>个交点。要找出未被覆盖的弧的话，要对交点进行排序，所以每个圆要花费 </a:t>
            </a:r>
            <a:r>
              <a:rPr lang="en-US" altLang="zh-CN" smtClean="0">
                <a:latin typeface="Times New Roman" pitchFamily="18" charset="0"/>
                <a:cs typeface="Times New Roman" pitchFamily="18" charset="0"/>
              </a:rPr>
              <a:t>O(</a:t>
            </a:r>
            <a:r>
              <a:rPr lang="en-US" altLang="zh-CN" i="1" smtClean="0">
                <a:latin typeface="Times New Roman" pitchFamily="18" charset="0"/>
                <a:cs typeface="Times New Roman" pitchFamily="18" charset="0"/>
              </a:rPr>
              <a:t>N</a:t>
            </a:r>
            <a:r>
              <a:rPr lang="en-US" altLang="zh-CN" smtClean="0">
                <a:latin typeface="Times New Roman" pitchFamily="18" charset="0"/>
                <a:cs typeface="Times New Roman" pitchFamily="18" charset="0"/>
              </a:rPr>
              <a:t> log </a:t>
            </a:r>
            <a:r>
              <a:rPr lang="en-US" altLang="zh-CN" i="1" smtClean="0">
                <a:latin typeface="Times New Roman" pitchFamily="18" charset="0"/>
                <a:cs typeface="Times New Roman" pitchFamily="18" charset="0"/>
              </a:rPr>
              <a:t>N</a:t>
            </a:r>
            <a:r>
              <a:rPr lang="en-US" altLang="zh-CN" smtClean="0">
                <a:latin typeface="Times New Roman" pitchFamily="18" charset="0"/>
                <a:cs typeface="Times New Roman" pitchFamily="18" charset="0"/>
              </a:rPr>
              <a:t>) </a:t>
            </a:r>
            <a:r>
              <a:rPr lang="zh-CN" altLang="en-US" smtClean="0"/>
              <a:t>的时间进行处理。</a:t>
            </a:r>
            <a:endParaRPr lang="en-US" altLang="zh-CN" smtClean="0"/>
          </a:p>
          <a:p>
            <a:r>
              <a:rPr lang="zh-CN" altLang="en-US" smtClean="0"/>
              <a:t>总时间复杂度 </a:t>
            </a:r>
            <a:r>
              <a:rPr lang="en-US" altLang="zh-CN" smtClean="0">
                <a:latin typeface="Times New Roman" pitchFamily="18" charset="0"/>
                <a:cs typeface="Times New Roman" pitchFamily="18" charset="0"/>
              </a:rPr>
              <a:t>O(</a:t>
            </a:r>
            <a:r>
              <a:rPr lang="en-US" altLang="zh-CN" i="1" smtClean="0">
                <a:latin typeface="Times New Roman" pitchFamily="18" charset="0"/>
                <a:cs typeface="Times New Roman" pitchFamily="18" charset="0"/>
              </a:rPr>
              <a:t>N</a:t>
            </a:r>
            <a:r>
              <a:rPr lang="en-US" altLang="zh-CN" baseline="30000" smtClean="0">
                <a:latin typeface="Times New Roman" pitchFamily="18" charset="0"/>
                <a:cs typeface="Times New Roman" pitchFamily="18" charset="0"/>
              </a:rPr>
              <a:t>2</a:t>
            </a:r>
            <a:r>
              <a:rPr lang="en-US" altLang="zh-CN" smtClean="0">
                <a:latin typeface="Times New Roman" pitchFamily="18" charset="0"/>
                <a:cs typeface="Times New Roman" pitchFamily="18" charset="0"/>
              </a:rPr>
              <a:t> log </a:t>
            </a:r>
            <a:r>
              <a:rPr lang="en-US" altLang="zh-CN" i="1" smtClean="0">
                <a:latin typeface="Times New Roman" pitchFamily="18" charset="0"/>
                <a:cs typeface="Times New Roman" pitchFamily="18" charset="0"/>
              </a:rPr>
              <a:t>N</a:t>
            </a:r>
            <a:r>
              <a:rPr lang="en-US" altLang="zh-CN" smtClean="0">
                <a:latin typeface="Times New Roman" pitchFamily="18" charset="0"/>
                <a:cs typeface="Times New Roman" pitchFamily="18" charset="0"/>
              </a:rPr>
              <a:t>)</a:t>
            </a:r>
            <a:r>
              <a:rPr lang="zh-CN" altLang="en-US" smtClean="0"/>
              <a:t>。</a:t>
            </a:r>
            <a:endParaRPr lang="zh-CN" altLang="en-US"/>
          </a:p>
        </p:txBody>
      </p:sp>
    </p:spTree>
    <p:extLst>
      <p:ext uri="{BB962C8B-B14F-4D97-AF65-F5344CB8AC3E}">
        <p14:creationId xmlns:p14="http://schemas.microsoft.com/office/powerpoint/2010/main" xmlns="" val="2980491937"/>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算法扩展</a:t>
            </a:r>
            <a:endParaRPr lang="zh-CN" altLang="en-US"/>
          </a:p>
        </p:txBody>
      </p:sp>
      <p:sp>
        <p:nvSpPr>
          <p:cNvPr id="3" name="内容占位符 2"/>
          <p:cNvSpPr>
            <a:spLocks noGrp="1"/>
          </p:cNvSpPr>
          <p:nvPr>
            <p:ph idx="1"/>
          </p:nvPr>
        </p:nvSpPr>
        <p:spPr/>
        <p:txBody>
          <a:bodyPr/>
          <a:lstStyle/>
          <a:p>
            <a:r>
              <a:rPr lang="en-US" altLang="zh-CN" b="1" dirty="0" smtClean="0">
                <a:solidFill>
                  <a:schemeClr val="accent4">
                    <a:lumMod val="60000"/>
                    <a:lumOff val="40000"/>
                  </a:schemeClr>
                </a:solidFill>
              </a:rPr>
              <a:t>SPOJ CIRUT  </a:t>
            </a:r>
            <a:r>
              <a:rPr lang="zh-CN" altLang="en-US" dirty="0" smtClean="0"/>
              <a:t>求恰好被覆盖 </a:t>
            </a:r>
            <a:r>
              <a:rPr lang="en-US" altLang="zh-CN" dirty="0" smtClean="0"/>
              <a:t>1 </a:t>
            </a:r>
            <a:r>
              <a:rPr lang="zh-CN" altLang="en-US" dirty="0" smtClean="0"/>
              <a:t>次、</a:t>
            </a:r>
            <a:r>
              <a:rPr lang="en-US" altLang="zh-CN" dirty="0" smtClean="0"/>
              <a:t>2 </a:t>
            </a:r>
            <a:r>
              <a:rPr lang="zh-CN" altLang="en-US" dirty="0" smtClean="0"/>
              <a:t>次、</a:t>
            </a:r>
            <a:r>
              <a:rPr lang="en-US" altLang="zh-CN" dirty="0" smtClean="0"/>
              <a:t>…</a:t>
            </a:r>
            <a:r>
              <a:rPr lang="zh-CN" altLang="en-US" dirty="0" smtClean="0"/>
              <a:t>、</a:t>
            </a:r>
            <a:r>
              <a:rPr lang="en-US" altLang="zh-CN" i="1" dirty="0" smtClean="0">
                <a:latin typeface="Times New Roman" pitchFamily="18" charset="0"/>
                <a:cs typeface="Times New Roman" pitchFamily="18" charset="0"/>
              </a:rPr>
              <a:t>N</a:t>
            </a:r>
            <a:r>
              <a:rPr lang="en-US" altLang="zh-CN" dirty="0" smtClean="0"/>
              <a:t> </a:t>
            </a:r>
            <a:r>
              <a:rPr lang="zh-CN" altLang="en-US" dirty="0" smtClean="0"/>
              <a:t>次的面积。</a:t>
            </a:r>
            <a:endParaRPr lang="en-US" altLang="zh-CN" dirty="0" smtClean="0"/>
          </a:p>
          <a:p>
            <a:r>
              <a:rPr lang="zh-CN" altLang="en-US" dirty="0" smtClean="0"/>
              <a:t>算法的本质在于对“裸露”部分进行处理。这种方法也可以用于求很多圆与很多凸多边形的面积并</a:t>
            </a:r>
            <a:r>
              <a:rPr lang="en-US" altLang="zh-CN" dirty="0" smtClean="0"/>
              <a:t>——</a:t>
            </a:r>
            <a:r>
              <a:rPr lang="zh-CN" altLang="en-US" dirty="0" smtClean="0"/>
              <a:t>但是情况复杂得多，要讨论的情况也多得多。</a:t>
            </a:r>
            <a:endParaRPr lang="zh-CN" altLang="en-US" dirty="0"/>
          </a:p>
        </p:txBody>
      </p:sp>
    </p:spTree>
    <p:extLst>
      <p:ext uri="{BB962C8B-B14F-4D97-AF65-F5344CB8AC3E}">
        <p14:creationId xmlns:p14="http://schemas.microsoft.com/office/powerpoint/2010/main" xmlns="" val="1863395262"/>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en-US" altLang="ja-JP" dirty="0" smtClean="0"/>
              <a:t>3-Dimension Vector</a:t>
            </a:r>
            <a:endParaRPr lang="zh-CN" altLang="en-US" dirty="0"/>
          </a:p>
        </p:txBody>
      </p:sp>
      <p:sp>
        <p:nvSpPr>
          <p:cNvPr id="3" name="标题 2"/>
          <p:cNvSpPr>
            <a:spLocks noGrp="1"/>
          </p:cNvSpPr>
          <p:nvPr>
            <p:ph type="title"/>
          </p:nvPr>
        </p:nvSpPr>
        <p:spPr/>
        <p:txBody>
          <a:bodyPr/>
          <a:lstStyle/>
          <a:p>
            <a:r>
              <a:rPr lang="zh-CN" altLang="en-US" smtClean="0"/>
              <a:t>三维矢量</a:t>
            </a:r>
            <a:endParaRPr lang="zh-CN" altLang="en-US"/>
          </a:p>
        </p:txBody>
      </p:sp>
    </p:spTree>
    <p:extLst>
      <p:ext uri="{BB962C8B-B14F-4D97-AF65-F5344CB8AC3E}">
        <p14:creationId xmlns:p14="http://schemas.microsoft.com/office/powerpoint/2010/main" xmlns="" val="3479101541"/>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第三维度</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smtClean="0"/>
                  <a:t>三维矢量用</a:t>
                </a:r>
                <a:r>
                  <a:rPr lang="en-US" altLang="zh-CN"/>
                  <a:t/>
                </a:r>
                <a14:m>
                  <m:oMath xmlns:m="http://schemas.openxmlformats.org/officeDocument/2006/math">
                    <m:r>
                      <a:rPr lang="en-US" altLang="zh-CN" smtClean="0">
                        <a:latin typeface="Cambria Math"/>
                      </a:rPr>
                      <m:t>(</m:t>
                    </m:r>
                    <m:r>
                      <a:rPr lang="en-US" altLang="zh-CN" b="0" i="1" smtClean="0">
                        <a:latin typeface="Cambria Math"/>
                      </a:rPr>
                      <m:t>𝑥</m:t>
                    </m:r>
                    <m:r>
                      <a:rPr lang="en-US" altLang="zh-CN" b="0" i="1" smtClean="0">
                        <a:latin typeface="Cambria Math"/>
                      </a:rPr>
                      <m:t>,</m:t>
                    </m:r>
                    <m:r>
                      <a:rPr lang="en-US" altLang="zh-CN" b="0" i="1" smtClean="0">
                        <a:latin typeface="Cambria Math"/>
                      </a:rPr>
                      <m:t>𝑦</m:t>
                    </m:r>
                    <m:r>
                      <a:rPr lang="en-US" altLang="zh-CN" b="0" i="1" smtClean="0">
                        <a:latin typeface="Cambria Math"/>
                      </a:rPr>
                      <m:t>,</m:t>
                    </m:r>
                    <m:r>
                      <a:rPr lang="en-US" altLang="zh-CN" b="0" i="1" smtClean="0">
                        <a:latin typeface="Cambria Math"/>
                      </a:rPr>
                      <m:t>𝑧</m:t>
                    </m:r>
                    <m:r>
                      <a:rPr lang="en-US" altLang="zh-CN" b="0" i="1" smtClean="0">
                        <a:latin typeface="Cambria Math"/>
                      </a:rPr>
                      <m:t>)</m:t>
                    </m:r>
                  </m:oMath>
                </a14:m>
                <a:r>
                  <a:rPr lang="zh-CN" altLang="en-US" smtClean="0"/>
                  <a:t> 表示。</a:t>
                </a:r>
                <a:endParaRPr lang="en-US" altLang="zh-CN" smtClean="0"/>
              </a:p>
              <a:p>
                <a:r>
                  <a:rPr lang="zh-CN" altLang="en-US"/>
                  <a:t>点</a:t>
                </a:r>
                <a:r>
                  <a:rPr lang="zh-CN" altLang="en-US" smtClean="0"/>
                  <a:t>积和标量乘法天然是在多维上定义的概念，所以在三维空间中可以立即使用。</a:t>
                </a:r>
                <a:endParaRPr lang="en-US" altLang="zh-CN" smtClean="0"/>
              </a:p>
              <a:p>
                <a:r>
                  <a:rPr lang="zh-CN" altLang="en-US" smtClean="0"/>
                  <a:t>矢量的模</a:t>
                </a:r>
                <a:r>
                  <a:rPr lang="zh-CN" altLang="en-US"/>
                  <a:t>，夹角，垂直，缩放，投影，</a:t>
                </a:r>
                <a:r>
                  <a:rPr lang="zh-CN" altLang="en-US" smtClean="0"/>
                  <a:t>对称等扩展概念和计算方法也立刻投入了我们的怀抱。</a:t>
                </a:r>
                <a:endParaRPr lang="en-US" altLang="zh-CN" smtClean="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4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385155572"/>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三维叉积</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normAutofit fontScale="92500" lnSpcReduction="10000"/>
              </a:bodyPr>
              <a:lstStyle/>
              <a:p>
                <a:r>
                  <a:rPr lang="zh-CN" altLang="en-US" smtClean="0"/>
                  <a:t>但是二维叉积却不适用了。在此我们要定义三维叉积。</a:t>
                </a:r>
                <a:endParaRPr lang="en-US" altLang="zh-CN" smtClean="0"/>
              </a:p>
              <a:p>
                <a:r>
                  <a:rPr lang="zh-CN" altLang="en-US"/>
                  <a:t>三维叉积</a:t>
                </a:r>
                <a:r>
                  <a:rPr lang="zh-CN" altLang="en-US" smtClean="0"/>
                  <a:t>的结果是</a:t>
                </a:r>
                <a:r>
                  <a:rPr lang="zh-CN" altLang="en-US" b="1" smtClean="0">
                    <a:solidFill>
                      <a:schemeClr val="accent4">
                        <a:lumMod val="60000"/>
                        <a:lumOff val="40000"/>
                      </a:schemeClr>
                    </a:solidFill>
                  </a:rPr>
                  <a:t>三维矢量</a:t>
                </a:r>
                <a:r>
                  <a:rPr lang="zh-CN" altLang="en-US" smtClean="0"/>
                  <a:t>。</a:t>
                </a:r>
                <a:endParaRPr lang="en-US" altLang="zh-CN" smtClean="0"/>
              </a:p>
              <a:p>
                <a:r>
                  <a:rPr lang="zh-CN" altLang="en-US"/>
                  <a:t>我们</a:t>
                </a:r>
                <a:r>
                  <a:rPr lang="zh-CN" altLang="en-US" smtClean="0"/>
                  <a:t>有 </a:t>
                </a:r>
                <a14:m>
                  <m:oMath xmlns:m="http://schemas.openxmlformats.org/officeDocument/2006/math">
                    <m:d>
                      <m:dPr>
                        <m:ctrlPr>
                          <a:rPr lang="en-US" altLang="zh-CN" b="0" i="1" smtClean="0">
                            <a:latin typeface="Cambria Math"/>
                          </a:rPr>
                        </m:ctrlPr>
                      </m:dPr>
                      <m:e>
                        <m:sSub>
                          <m:sSubPr>
                            <m:ctrlPr>
                              <a:rPr lang="en-US" altLang="zh-CN" b="0" i="1" smtClean="0">
                                <a:latin typeface="Cambria Math"/>
                              </a:rPr>
                            </m:ctrlPr>
                          </m:sSubPr>
                          <m:e>
                            <m:r>
                              <a:rPr lang="en-US" altLang="zh-CN" b="0" i="1" smtClean="0">
                                <a:latin typeface="Cambria Math"/>
                              </a:rPr>
                              <m:t>𝑥</m:t>
                            </m:r>
                          </m:e>
                          <m:sub>
                            <m:r>
                              <a:rPr lang="en-US" altLang="zh-CN" b="0" i="1" smtClean="0">
                                <a:latin typeface="Cambria Math"/>
                              </a:rPr>
                              <m:t>1</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𝑦</m:t>
                            </m:r>
                          </m:e>
                          <m:sub>
                            <m:r>
                              <a:rPr lang="en-US" altLang="zh-CN" b="0" i="1" smtClean="0">
                                <a:latin typeface="Cambria Math"/>
                              </a:rPr>
                              <m:t>1</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𝑧</m:t>
                            </m:r>
                          </m:e>
                          <m:sub>
                            <m:r>
                              <a:rPr lang="en-US" altLang="zh-CN" b="0" i="1" smtClean="0">
                                <a:latin typeface="Cambria Math"/>
                              </a:rPr>
                              <m:t>1</m:t>
                            </m:r>
                          </m:sub>
                        </m:sSub>
                      </m:e>
                    </m:d>
                    <m:r>
                      <a:rPr lang="en-US" altLang="zh-CN" b="0" i="1" smtClean="0">
                        <a:latin typeface="Cambria Math"/>
                      </a:rPr>
                      <m:t>×</m:t>
                    </m:r>
                    <m:d>
                      <m:dPr>
                        <m:ctrlPr>
                          <a:rPr lang="en-US" altLang="zh-CN" b="0" i="1" smtClean="0">
                            <a:latin typeface="Cambria Math"/>
                          </a:rPr>
                        </m:ctrlPr>
                      </m:dPr>
                      <m:e>
                        <m:sSub>
                          <m:sSubPr>
                            <m:ctrlPr>
                              <a:rPr lang="en-US" altLang="zh-CN" b="0" i="1" smtClean="0">
                                <a:latin typeface="Cambria Math"/>
                              </a:rPr>
                            </m:ctrlPr>
                          </m:sSubPr>
                          <m:e>
                            <m:r>
                              <a:rPr lang="en-US" altLang="zh-CN" b="0" i="1" smtClean="0">
                                <a:latin typeface="Cambria Math"/>
                              </a:rPr>
                              <m:t>𝑥</m:t>
                            </m:r>
                          </m:e>
                          <m:sub>
                            <m:r>
                              <a:rPr lang="en-US" altLang="zh-CN" b="0" i="1" smtClean="0">
                                <a:latin typeface="Cambria Math"/>
                              </a:rPr>
                              <m:t>2</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𝑦</m:t>
                            </m:r>
                          </m:e>
                          <m:sub>
                            <m:r>
                              <a:rPr lang="en-US" altLang="zh-CN" b="0" i="1" smtClean="0">
                                <a:latin typeface="Cambria Math"/>
                              </a:rPr>
                              <m:t>2</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𝑧</m:t>
                            </m:r>
                          </m:e>
                          <m:sub>
                            <m:r>
                              <a:rPr lang="en-US" altLang="zh-CN" b="0" i="1" smtClean="0">
                                <a:latin typeface="Cambria Math"/>
                              </a:rPr>
                              <m:t>2</m:t>
                            </m:r>
                          </m:sub>
                        </m:sSub>
                      </m:e>
                    </m:d>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𝑦</m:t>
                        </m:r>
                      </m:e>
                      <m:sub>
                        <m:r>
                          <a:rPr lang="en-US" altLang="zh-CN" b="0" i="1" smtClean="0">
                            <a:latin typeface="Cambria Math"/>
                          </a:rPr>
                          <m:t>1</m:t>
                        </m:r>
                      </m:sub>
                    </m:sSub>
                    <m:sSub>
                      <m:sSubPr>
                        <m:ctrlPr>
                          <a:rPr lang="en-US" altLang="zh-CN" b="0" i="1" smtClean="0">
                            <a:latin typeface="Cambria Math"/>
                          </a:rPr>
                        </m:ctrlPr>
                      </m:sSubPr>
                      <m:e>
                        <m:r>
                          <a:rPr lang="en-US" altLang="zh-CN" b="0" i="1" smtClean="0">
                            <a:latin typeface="Cambria Math"/>
                          </a:rPr>
                          <m:t>𝑧</m:t>
                        </m:r>
                      </m:e>
                      <m:sub>
                        <m:r>
                          <a:rPr lang="en-US" altLang="zh-CN" b="0" i="1" smtClean="0">
                            <a:latin typeface="Cambria Math"/>
                          </a:rPr>
                          <m:t>2</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𝑦</m:t>
                        </m:r>
                      </m:e>
                      <m:sub>
                        <m:r>
                          <a:rPr lang="en-US" altLang="zh-CN" b="0" i="1" smtClean="0">
                            <a:latin typeface="Cambria Math"/>
                          </a:rPr>
                          <m:t>2</m:t>
                        </m:r>
                      </m:sub>
                    </m:sSub>
                    <m:sSub>
                      <m:sSubPr>
                        <m:ctrlPr>
                          <a:rPr lang="en-US" altLang="zh-CN" b="0" i="1" smtClean="0">
                            <a:latin typeface="Cambria Math"/>
                          </a:rPr>
                        </m:ctrlPr>
                      </m:sSubPr>
                      <m:e>
                        <m:r>
                          <a:rPr lang="en-US" altLang="zh-CN" b="0" i="1" smtClean="0">
                            <a:latin typeface="Cambria Math"/>
                          </a:rPr>
                          <m:t>𝑧</m:t>
                        </m:r>
                      </m:e>
                      <m:sub>
                        <m:r>
                          <a:rPr lang="en-US" altLang="zh-CN" b="0" i="1" smtClean="0">
                            <a:latin typeface="Cambria Math"/>
                          </a:rPr>
                          <m:t>1</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𝑥</m:t>
                        </m:r>
                      </m:e>
                      <m:sub>
                        <m:r>
                          <a:rPr lang="en-US" altLang="zh-CN" b="0" i="1" smtClean="0">
                            <a:latin typeface="Cambria Math"/>
                          </a:rPr>
                          <m:t>1</m:t>
                        </m:r>
                      </m:sub>
                    </m:sSub>
                    <m:sSub>
                      <m:sSubPr>
                        <m:ctrlPr>
                          <a:rPr lang="en-US" altLang="zh-CN" b="0" i="1" smtClean="0">
                            <a:latin typeface="Cambria Math"/>
                          </a:rPr>
                        </m:ctrlPr>
                      </m:sSubPr>
                      <m:e>
                        <m:r>
                          <a:rPr lang="en-US" altLang="zh-CN" b="0" i="1" smtClean="0">
                            <a:latin typeface="Cambria Math"/>
                          </a:rPr>
                          <m:t>𝑧</m:t>
                        </m:r>
                      </m:e>
                      <m:sub>
                        <m:r>
                          <a:rPr lang="en-US" altLang="zh-CN" b="0" i="1" smtClean="0">
                            <a:latin typeface="Cambria Math"/>
                          </a:rPr>
                          <m:t>2</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𝑥</m:t>
                        </m:r>
                      </m:e>
                      <m:sub>
                        <m:r>
                          <a:rPr lang="en-US" altLang="zh-CN" b="0" i="1" smtClean="0">
                            <a:latin typeface="Cambria Math"/>
                          </a:rPr>
                          <m:t>2</m:t>
                        </m:r>
                      </m:sub>
                    </m:sSub>
                    <m:sSub>
                      <m:sSubPr>
                        <m:ctrlPr>
                          <a:rPr lang="en-US" altLang="zh-CN" b="0" i="1" smtClean="0">
                            <a:latin typeface="Cambria Math"/>
                          </a:rPr>
                        </m:ctrlPr>
                      </m:sSubPr>
                      <m:e>
                        <m:r>
                          <a:rPr lang="en-US" altLang="zh-CN" b="0" i="1" smtClean="0">
                            <a:latin typeface="Cambria Math"/>
                          </a:rPr>
                          <m:t>𝑧</m:t>
                        </m:r>
                      </m:e>
                      <m:sub>
                        <m:r>
                          <a:rPr lang="en-US" altLang="zh-CN" b="0" i="1" smtClean="0">
                            <a:latin typeface="Cambria Math"/>
                          </a:rPr>
                          <m:t>1</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𝑥</m:t>
                        </m:r>
                      </m:e>
                      <m:sub>
                        <m:r>
                          <a:rPr lang="en-US" altLang="zh-CN" b="0" i="1" smtClean="0">
                            <a:latin typeface="Cambria Math"/>
                          </a:rPr>
                          <m:t>1</m:t>
                        </m:r>
                      </m:sub>
                    </m:sSub>
                    <m:sSub>
                      <m:sSubPr>
                        <m:ctrlPr>
                          <a:rPr lang="en-US" altLang="zh-CN" b="0" i="1" smtClean="0">
                            <a:latin typeface="Cambria Math"/>
                          </a:rPr>
                        </m:ctrlPr>
                      </m:sSubPr>
                      <m:e>
                        <m:r>
                          <a:rPr lang="en-US" altLang="zh-CN" b="0" i="1" smtClean="0">
                            <a:latin typeface="Cambria Math"/>
                          </a:rPr>
                          <m:t>𝑦</m:t>
                        </m:r>
                      </m:e>
                      <m:sub>
                        <m:r>
                          <a:rPr lang="en-US" altLang="zh-CN" b="0" i="1" smtClean="0">
                            <a:latin typeface="Cambria Math"/>
                          </a:rPr>
                          <m:t>2</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𝑥</m:t>
                        </m:r>
                      </m:e>
                      <m:sub>
                        <m:r>
                          <a:rPr lang="en-US" altLang="zh-CN" b="0" i="1" smtClean="0">
                            <a:latin typeface="Cambria Math"/>
                          </a:rPr>
                          <m:t>2</m:t>
                        </m:r>
                      </m:sub>
                    </m:sSub>
                    <m:sSub>
                      <m:sSubPr>
                        <m:ctrlPr>
                          <a:rPr lang="en-US" altLang="zh-CN" b="0" i="1" smtClean="0">
                            <a:latin typeface="Cambria Math"/>
                          </a:rPr>
                        </m:ctrlPr>
                      </m:sSubPr>
                      <m:e>
                        <m:r>
                          <a:rPr lang="en-US" altLang="zh-CN" b="0" i="1" smtClean="0">
                            <a:latin typeface="Cambria Math"/>
                          </a:rPr>
                          <m:t>𝑦</m:t>
                        </m:r>
                      </m:e>
                      <m:sub>
                        <m:r>
                          <a:rPr lang="en-US" altLang="zh-CN" b="0" i="1" smtClean="0">
                            <a:latin typeface="Cambria Math"/>
                          </a:rPr>
                          <m:t>1</m:t>
                        </m:r>
                      </m:sub>
                    </m:sSub>
                    <m:r>
                      <a:rPr lang="en-US" altLang="zh-CN" b="0" i="1" smtClean="0">
                        <a:latin typeface="Cambria Math"/>
                      </a:rPr>
                      <m:t>)</m:t>
                    </m:r>
                  </m:oMath>
                </a14:m>
                <a:r>
                  <a:rPr lang="en-US" altLang="zh-CN" smtClean="0"/>
                  <a:t>.</a:t>
                </a:r>
              </a:p>
              <a:p>
                <a:r>
                  <a:rPr lang="zh-CN" altLang="en-US" smtClean="0"/>
                  <a:t>本质是行列式</a:t>
                </a:r>
                <a:r>
                  <a:rPr lang="zh-CN" altLang="en-US"/>
                  <a:t>，</a:t>
                </a:r>
                <a:r>
                  <a:rPr lang="zh-CN" altLang="en-US" smtClean="0"/>
                  <a:t>原式 </a:t>
                </a:r>
                <a14:m>
                  <m:oMath xmlns:m="http://schemas.openxmlformats.org/officeDocument/2006/math">
                    <m:r>
                      <a:rPr lang="en-US" altLang="zh-CN" b="0" i="1" smtClean="0">
                        <a:latin typeface="Cambria Math"/>
                      </a:rPr>
                      <m:t>=</m:t>
                    </m:r>
                    <m:d>
                      <m:dPr>
                        <m:begChr m:val="|"/>
                        <m:endChr m:val="|"/>
                        <m:ctrlPr>
                          <a:rPr lang="en-US" altLang="zh-CN" i="1" smtClean="0">
                            <a:latin typeface="Cambria Math"/>
                          </a:rPr>
                        </m:ctrlPr>
                      </m:dPr>
                      <m:e>
                        <m:m>
                          <m:mPr>
                            <m:mcs>
                              <m:mc>
                                <m:mcPr>
                                  <m:count m:val="3"/>
                                  <m:mcJc m:val="center"/>
                                </m:mcPr>
                              </m:mc>
                            </m:mcs>
                            <m:ctrlPr>
                              <a:rPr lang="en-US" altLang="zh-CN" i="1" smtClean="0">
                                <a:latin typeface="Cambria Math"/>
                              </a:rPr>
                            </m:ctrlPr>
                          </m:mPr>
                          <m:mr>
                            <m:e>
                              <m:r>
                                <m:rPr>
                                  <m:brk m:alnAt="7"/>
                                </m:rPr>
                                <a:rPr lang="en-US" altLang="zh-CN" b="1" i="1" smtClean="0">
                                  <a:latin typeface="Cambria Math"/>
                                </a:rPr>
                                <m:t>𝒊</m:t>
                              </m:r>
                            </m:e>
                            <m:e>
                              <m:r>
                                <a:rPr lang="en-US" altLang="zh-CN" b="1" i="1" smtClean="0">
                                  <a:latin typeface="Cambria Math"/>
                                </a:rPr>
                                <m:t>𝒋</m:t>
                              </m:r>
                            </m:e>
                            <m:e>
                              <m:r>
                                <a:rPr lang="en-US" altLang="zh-CN" b="1" i="1" smtClean="0">
                                  <a:latin typeface="Cambria Math"/>
                                </a:rPr>
                                <m:t>𝒌</m:t>
                              </m:r>
                            </m:e>
                          </m:mr>
                          <m:mr>
                            <m:e>
                              <m:sSub>
                                <m:sSubPr>
                                  <m:ctrlPr>
                                    <a:rPr lang="en-US" altLang="zh-CN" b="0" i="1" smtClean="0">
                                      <a:latin typeface="Cambria Math"/>
                                    </a:rPr>
                                  </m:ctrlPr>
                                </m:sSubPr>
                                <m:e>
                                  <m:r>
                                    <a:rPr lang="en-US" altLang="zh-CN" b="0" i="1" smtClean="0">
                                      <a:latin typeface="Cambria Math"/>
                                    </a:rPr>
                                    <m:t>𝑥</m:t>
                                  </m:r>
                                </m:e>
                                <m:sub>
                                  <m:r>
                                    <a:rPr lang="en-US" altLang="zh-CN" b="0" i="1" smtClean="0">
                                      <a:latin typeface="Cambria Math"/>
                                    </a:rPr>
                                    <m:t>1</m:t>
                                  </m:r>
                                </m:sub>
                              </m:sSub>
                            </m:e>
                            <m:e>
                              <m:sSub>
                                <m:sSubPr>
                                  <m:ctrlPr>
                                    <a:rPr lang="en-US" altLang="zh-CN" b="0" i="1" smtClean="0">
                                      <a:latin typeface="Cambria Math"/>
                                    </a:rPr>
                                  </m:ctrlPr>
                                </m:sSubPr>
                                <m:e>
                                  <m:r>
                                    <a:rPr lang="en-US" altLang="zh-CN" b="0" i="1" smtClean="0">
                                      <a:latin typeface="Cambria Math"/>
                                    </a:rPr>
                                    <m:t>𝑦</m:t>
                                  </m:r>
                                </m:e>
                                <m:sub>
                                  <m:r>
                                    <a:rPr lang="en-US" altLang="zh-CN" b="0" i="1" smtClean="0">
                                      <a:latin typeface="Cambria Math"/>
                                    </a:rPr>
                                    <m:t>1</m:t>
                                  </m:r>
                                </m:sub>
                              </m:sSub>
                            </m:e>
                            <m:e>
                              <m:sSub>
                                <m:sSubPr>
                                  <m:ctrlPr>
                                    <a:rPr lang="en-US" altLang="zh-CN" b="0" i="1" smtClean="0">
                                      <a:latin typeface="Cambria Math"/>
                                    </a:rPr>
                                  </m:ctrlPr>
                                </m:sSubPr>
                                <m:e>
                                  <m:r>
                                    <a:rPr lang="en-US" altLang="zh-CN" b="0" i="1" smtClean="0">
                                      <a:latin typeface="Cambria Math"/>
                                    </a:rPr>
                                    <m:t>𝑧</m:t>
                                  </m:r>
                                </m:e>
                                <m:sub>
                                  <m:r>
                                    <a:rPr lang="en-US" altLang="zh-CN" b="0" i="1" smtClean="0">
                                      <a:latin typeface="Cambria Math"/>
                                    </a:rPr>
                                    <m:t>1</m:t>
                                  </m:r>
                                </m:sub>
                              </m:sSub>
                            </m:e>
                          </m:mr>
                          <m:mr>
                            <m:e>
                              <m:sSub>
                                <m:sSubPr>
                                  <m:ctrlPr>
                                    <a:rPr lang="en-US" altLang="zh-CN" b="0" i="1" smtClean="0">
                                      <a:latin typeface="Cambria Math"/>
                                    </a:rPr>
                                  </m:ctrlPr>
                                </m:sSubPr>
                                <m:e>
                                  <m:r>
                                    <a:rPr lang="en-US" altLang="zh-CN" b="0" i="1" smtClean="0">
                                      <a:latin typeface="Cambria Math"/>
                                    </a:rPr>
                                    <m:t>𝑥</m:t>
                                  </m:r>
                                </m:e>
                                <m:sub>
                                  <m:r>
                                    <a:rPr lang="en-US" altLang="zh-CN" b="0" i="1" smtClean="0">
                                      <a:latin typeface="Cambria Math"/>
                                    </a:rPr>
                                    <m:t>2</m:t>
                                  </m:r>
                                </m:sub>
                              </m:sSub>
                            </m:e>
                            <m:e>
                              <m:sSub>
                                <m:sSubPr>
                                  <m:ctrlPr>
                                    <a:rPr lang="en-US" altLang="zh-CN" b="0" i="1" smtClean="0">
                                      <a:latin typeface="Cambria Math"/>
                                    </a:rPr>
                                  </m:ctrlPr>
                                </m:sSubPr>
                                <m:e>
                                  <m:r>
                                    <a:rPr lang="en-US" altLang="zh-CN" b="0" i="1" smtClean="0">
                                      <a:latin typeface="Cambria Math"/>
                                    </a:rPr>
                                    <m:t>𝑦</m:t>
                                  </m:r>
                                </m:e>
                                <m:sub>
                                  <m:r>
                                    <a:rPr lang="en-US" altLang="zh-CN" b="0" i="1" smtClean="0">
                                      <a:latin typeface="Cambria Math"/>
                                    </a:rPr>
                                    <m:t>2</m:t>
                                  </m:r>
                                </m:sub>
                              </m:sSub>
                            </m:e>
                            <m:e>
                              <m:sSub>
                                <m:sSubPr>
                                  <m:ctrlPr>
                                    <a:rPr lang="en-US" altLang="zh-CN" b="0" i="1" smtClean="0">
                                      <a:latin typeface="Cambria Math"/>
                                    </a:rPr>
                                  </m:ctrlPr>
                                </m:sSubPr>
                                <m:e>
                                  <m:r>
                                    <a:rPr lang="en-US" altLang="zh-CN" b="0" i="1" smtClean="0">
                                      <a:latin typeface="Cambria Math"/>
                                    </a:rPr>
                                    <m:t>𝑧</m:t>
                                  </m:r>
                                </m:e>
                                <m:sub>
                                  <m:r>
                                    <a:rPr lang="en-US" altLang="zh-CN" b="0" i="1" smtClean="0">
                                      <a:latin typeface="Cambria Math"/>
                                    </a:rPr>
                                    <m:t>2</m:t>
                                  </m:r>
                                </m:sub>
                              </m:sSub>
                            </m:e>
                          </m:mr>
                        </m:m>
                      </m:e>
                    </m:d>
                  </m:oMath>
                </a14:m>
                <a:r>
                  <a:rPr lang="zh-CN" altLang="en-US" smtClean="0"/>
                  <a:t>，其中 </a:t>
                </a:r>
                <a14:m>
                  <m:oMath xmlns:m="http://schemas.openxmlformats.org/officeDocument/2006/math">
                    <m:r>
                      <a:rPr lang="en-US" altLang="zh-CN" b="1" i="1" smtClean="0">
                        <a:latin typeface="Cambria Math"/>
                      </a:rPr>
                      <m:t>𝒊</m:t>
                    </m:r>
                    <m:r>
                      <a:rPr lang="en-US" altLang="zh-CN" b="0" i="1" smtClean="0">
                        <a:latin typeface="Cambria Math"/>
                      </a:rPr>
                      <m:t>=</m:t>
                    </m:r>
                    <m:d>
                      <m:dPr>
                        <m:ctrlPr>
                          <a:rPr lang="en-US" altLang="zh-CN" b="0" i="1" smtClean="0">
                            <a:latin typeface="Cambria Math"/>
                          </a:rPr>
                        </m:ctrlPr>
                      </m:dPr>
                      <m:e>
                        <m:r>
                          <a:rPr lang="en-US" altLang="zh-CN" b="0" i="1" smtClean="0">
                            <a:latin typeface="Cambria Math"/>
                          </a:rPr>
                          <m:t>1,0,0</m:t>
                        </m:r>
                      </m:e>
                    </m:d>
                    <m:r>
                      <a:rPr lang="en-US" altLang="zh-CN" b="0" i="1" smtClean="0">
                        <a:latin typeface="Cambria Math"/>
                      </a:rPr>
                      <m:t>,</m:t>
                    </m:r>
                    <m:r>
                      <a:rPr lang="en-US" altLang="zh-CN" b="1" i="1" smtClean="0">
                        <a:latin typeface="Cambria Math"/>
                      </a:rPr>
                      <m:t>𝒋</m:t>
                    </m:r>
                    <m:r>
                      <a:rPr lang="en-US" altLang="zh-CN" b="0" i="1" smtClean="0">
                        <a:latin typeface="Cambria Math"/>
                      </a:rPr>
                      <m:t>=</m:t>
                    </m:r>
                    <m:d>
                      <m:dPr>
                        <m:ctrlPr>
                          <a:rPr lang="en-US" altLang="zh-CN" b="0" i="1" smtClean="0">
                            <a:latin typeface="Cambria Math"/>
                          </a:rPr>
                        </m:ctrlPr>
                      </m:dPr>
                      <m:e>
                        <m:r>
                          <a:rPr lang="en-US" altLang="zh-CN" b="0" i="1" smtClean="0">
                            <a:latin typeface="Cambria Math"/>
                          </a:rPr>
                          <m:t>0,1,0</m:t>
                        </m:r>
                      </m:e>
                    </m:d>
                    <m:r>
                      <a:rPr lang="en-US" altLang="zh-CN" b="0" i="1" smtClean="0">
                        <a:latin typeface="Cambria Math"/>
                      </a:rPr>
                      <m:t>,</m:t>
                    </m:r>
                    <m:r>
                      <a:rPr lang="en-US" altLang="zh-CN" b="1" i="1" smtClean="0">
                        <a:latin typeface="Cambria Math"/>
                      </a:rPr>
                      <m:t>𝒌</m:t>
                    </m:r>
                    <m:r>
                      <a:rPr lang="en-US" altLang="zh-CN" b="0" i="1" smtClean="0">
                        <a:latin typeface="Cambria Math"/>
                      </a:rPr>
                      <m:t>=(0,0,1)</m:t>
                    </m:r>
                  </m:oMath>
                </a14:m>
                <a:r>
                  <a:rPr lang="en-US" altLang="zh-CN" smtClean="0"/>
                  <a:t>.</a:t>
                </a:r>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314" t="-800" r="-392" b="-18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232406532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左手系与右手系</a:t>
            </a:r>
            <a:endParaRPr lang="zh-CN" altLang="en-US"/>
          </a:p>
        </p:txBody>
      </p:sp>
      <p:sp>
        <p:nvSpPr>
          <p:cNvPr id="3" name="内容占位符 2"/>
          <p:cNvSpPr>
            <a:spLocks noGrp="1"/>
          </p:cNvSpPr>
          <p:nvPr>
            <p:ph idx="1"/>
          </p:nvPr>
        </p:nvSpPr>
        <p:spPr/>
        <p:txBody>
          <a:bodyPr/>
          <a:lstStyle/>
          <a:p>
            <a:r>
              <a:rPr lang="en-US" altLang="zh-CN" i="1" smtClean="0">
                <a:latin typeface="Times New Roman" pitchFamily="18" charset="0"/>
                <a:cs typeface="Times New Roman" pitchFamily="18" charset="0"/>
              </a:rPr>
              <a:t>x</a:t>
            </a:r>
            <a:r>
              <a:rPr lang="en-US" altLang="zh-CN" smtClean="0"/>
              <a:t>, </a:t>
            </a:r>
            <a:r>
              <a:rPr lang="en-US" altLang="zh-CN" i="1" smtClean="0">
                <a:latin typeface="Times New Roman" pitchFamily="18" charset="0"/>
                <a:cs typeface="Times New Roman" pitchFamily="18" charset="0"/>
              </a:rPr>
              <a:t>y</a:t>
            </a:r>
            <a:r>
              <a:rPr lang="en-US" altLang="zh-CN" smtClean="0"/>
              <a:t>, </a:t>
            </a:r>
            <a:r>
              <a:rPr lang="en-US" altLang="zh-CN" i="1" smtClean="0">
                <a:latin typeface="Times New Roman" pitchFamily="18" charset="0"/>
                <a:cs typeface="Times New Roman" pitchFamily="18" charset="0"/>
              </a:rPr>
              <a:t>z</a:t>
            </a:r>
            <a:r>
              <a:rPr lang="en-US" altLang="zh-CN" smtClean="0"/>
              <a:t> </a:t>
            </a:r>
            <a:r>
              <a:rPr lang="zh-CN" altLang="en-US" smtClean="0"/>
              <a:t>轴的方向，传统上应该满足</a:t>
            </a:r>
            <a:r>
              <a:rPr lang="zh-CN" altLang="en-US" b="1" smtClean="0">
                <a:solidFill>
                  <a:schemeClr val="accent4">
                    <a:lumMod val="60000"/>
                    <a:lumOff val="40000"/>
                  </a:schemeClr>
                </a:solidFill>
              </a:rPr>
              <a:t>右手系</a:t>
            </a:r>
            <a:r>
              <a:rPr lang="zh-CN" altLang="en-US" smtClean="0"/>
              <a:t>。</a:t>
            </a:r>
            <a:endParaRPr lang="en-US" altLang="zh-CN" smtClean="0"/>
          </a:p>
          <a:p>
            <a:r>
              <a:rPr lang="zh-CN" altLang="en-US" smtClean="0"/>
              <a:t>即</a:t>
            </a:r>
            <a:r>
              <a:rPr lang="zh-CN" altLang="en-US"/>
              <a:t>伸出右手，将四指由 </a:t>
            </a:r>
            <a:r>
              <a:rPr lang="en-US" altLang="zh-CN" i="1" smtClean="0">
                <a:latin typeface="Times New Roman" pitchFamily="18" charset="0"/>
                <a:cs typeface="Times New Roman" pitchFamily="18" charset="0"/>
              </a:rPr>
              <a:t>x</a:t>
            </a:r>
            <a:r>
              <a:rPr lang="en-US" altLang="zh-CN" smtClean="0"/>
              <a:t> </a:t>
            </a:r>
            <a:r>
              <a:rPr lang="zh-CN" altLang="en-US" smtClean="0"/>
              <a:t>轴指向沿小于平角转到 </a:t>
            </a:r>
            <a:r>
              <a:rPr lang="en-US" altLang="zh-CN" i="1" smtClean="0">
                <a:latin typeface="Times New Roman" pitchFamily="18" charset="0"/>
                <a:cs typeface="Times New Roman" pitchFamily="18" charset="0"/>
              </a:rPr>
              <a:t>y</a:t>
            </a:r>
            <a:r>
              <a:rPr lang="en-US" altLang="zh-CN" smtClean="0"/>
              <a:t> </a:t>
            </a:r>
            <a:r>
              <a:rPr lang="zh-CN" altLang="en-US" smtClean="0"/>
              <a:t>轴指向，</a:t>
            </a:r>
            <a:r>
              <a:rPr lang="zh-CN" altLang="en-US"/>
              <a:t>拇指所</a:t>
            </a:r>
            <a:r>
              <a:rPr lang="zh-CN" altLang="en-US" smtClean="0"/>
              <a:t>指即</a:t>
            </a:r>
            <a:r>
              <a:rPr lang="zh-CN" altLang="en-US"/>
              <a:t>为 </a:t>
            </a:r>
            <a:r>
              <a:rPr lang="en-US" altLang="zh-CN" i="1" smtClean="0">
                <a:latin typeface="Times New Roman" pitchFamily="18" charset="0"/>
                <a:cs typeface="Times New Roman" pitchFamily="18" charset="0"/>
              </a:rPr>
              <a:t>z</a:t>
            </a:r>
            <a:r>
              <a:rPr lang="en-US" altLang="zh-CN" smtClean="0"/>
              <a:t> </a:t>
            </a:r>
            <a:r>
              <a:rPr lang="zh-CN" altLang="en-US" smtClean="0"/>
              <a:t>轴指向。</a:t>
            </a:r>
            <a:endParaRPr lang="en-US" altLang="zh-CN" smtClean="0"/>
          </a:p>
          <a:p>
            <a:r>
              <a:rPr lang="zh-CN" altLang="en-US" smtClean="0"/>
              <a:t>类似也可以定义左手系。三个不共面的矢量必然满足左手系与右手系中的一种。</a:t>
            </a:r>
            <a:endParaRPr lang="en-US" altLang="zh-CN"/>
          </a:p>
          <a:p>
            <a:endParaRPr lang="zh-CN" altLang="en-US"/>
          </a:p>
        </p:txBody>
      </p:sp>
      <p:pic>
        <p:nvPicPr>
          <p:cNvPr id="4" name="图片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4139952" y="5090272"/>
            <a:ext cx="1358730" cy="1219048"/>
          </a:xfrm>
          <a:prstGeom prst="rect">
            <a:avLst/>
          </a:prstGeom>
        </p:spPr>
      </p:pic>
    </p:spTree>
    <p:extLst>
      <p:ext uri="{BB962C8B-B14F-4D97-AF65-F5344CB8AC3E}">
        <p14:creationId xmlns:p14="http://schemas.microsoft.com/office/powerpoint/2010/main" xmlns="" val="73422432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文字游戏</a:t>
            </a:r>
            <a:endParaRPr lang="zh-CN" altLang="en-US"/>
          </a:p>
        </p:txBody>
      </p:sp>
      <p:sp>
        <p:nvSpPr>
          <p:cNvPr id="3" name="内容占位符 2"/>
          <p:cNvSpPr>
            <a:spLocks noGrp="1"/>
          </p:cNvSpPr>
          <p:nvPr>
            <p:ph idx="1"/>
          </p:nvPr>
        </p:nvSpPr>
        <p:spPr/>
        <p:txBody>
          <a:bodyPr/>
          <a:lstStyle/>
          <a:p>
            <a:r>
              <a:rPr lang="zh-CN" altLang="en-US" smtClean="0"/>
              <a:t>注意“</a:t>
            </a:r>
            <a:r>
              <a:rPr lang="en-US" altLang="zh-CN" b="1" i="1" smtClean="0">
                <a:latin typeface="Times New Roman" pitchFamily="18" charset="0"/>
                <a:cs typeface="Times New Roman" pitchFamily="18" charset="0"/>
              </a:rPr>
              <a:t>a</a:t>
            </a:r>
            <a:r>
              <a:rPr lang="en-US" altLang="zh-CN" smtClean="0"/>
              <a:t>, </a:t>
            </a:r>
            <a:r>
              <a:rPr lang="en-US" altLang="zh-CN" b="1" i="1" smtClean="0">
                <a:latin typeface="Times New Roman" pitchFamily="18" charset="0"/>
                <a:cs typeface="Times New Roman" pitchFamily="18" charset="0"/>
              </a:rPr>
              <a:t>b</a:t>
            </a:r>
            <a:r>
              <a:rPr lang="en-US" altLang="zh-CN" smtClean="0"/>
              <a:t>, </a:t>
            </a:r>
            <a:r>
              <a:rPr lang="en-US" altLang="zh-CN" b="1" i="1" smtClean="0">
                <a:latin typeface="Times New Roman" pitchFamily="18" charset="0"/>
                <a:cs typeface="Times New Roman" pitchFamily="18" charset="0"/>
              </a:rPr>
              <a:t>c</a:t>
            </a:r>
            <a:r>
              <a:rPr lang="en-US" altLang="zh-CN" smtClean="0"/>
              <a:t> </a:t>
            </a:r>
            <a:r>
              <a:rPr lang="zh-CN" altLang="en-US" smtClean="0"/>
              <a:t>成右手系”和“</a:t>
            </a:r>
            <a:r>
              <a:rPr lang="en-US" altLang="zh-CN" b="1" i="1" smtClean="0">
                <a:latin typeface="Times New Roman" pitchFamily="18" charset="0"/>
                <a:cs typeface="Times New Roman" pitchFamily="18" charset="0"/>
              </a:rPr>
              <a:t>b</a:t>
            </a:r>
            <a:r>
              <a:rPr lang="en-US" altLang="zh-CN" smtClean="0"/>
              <a:t>, </a:t>
            </a:r>
            <a:r>
              <a:rPr lang="en-US" altLang="zh-CN" b="1" i="1" smtClean="0">
                <a:latin typeface="Times New Roman" pitchFamily="18" charset="0"/>
                <a:cs typeface="Times New Roman" pitchFamily="18" charset="0"/>
              </a:rPr>
              <a:t>a</a:t>
            </a:r>
            <a:r>
              <a:rPr lang="en-US" altLang="zh-CN" smtClean="0"/>
              <a:t>, </a:t>
            </a:r>
            <a:r>
              <a:rPr lang="en-US" altLang="zh-CN" b="1" i="1" smtClean="0">
                <a:latin typeface="Times New Roman" pitchFamily="18" charset="0"/>
                <a:cs typeface="Times New Roman" pitchFamily="18" charset="0"/>
              </a:rPr>
              <a:t>c</a:t>
            </a:r>
            <a:r>
              <a:rPr lang="en-US" altLang="zh-CN" smtClean="0"/>
              <a:t> </a:t>
            </a:r>
            <a:r>
              <a:rPr lang="zh-CN" altLang="en-US" smtClean="0"/>
              <a:t>成右手系”是截然相反的两个命题。</a:t>
            </a:r>
            <a:endParaRPr lang="en-US" altLang="zh-CN" smtClean="0"/>
          </a:p>
          <a:p>
            <a:r>
              <a:rPr lang="zh-CN" altLang="en-US" smtClean="0"/>
              <a:t>但是“</a:t>
            </a:r>
            <a:r>
              <a:rPr lang="en-US" altLang="zh-CN" b="1" i="1" smtClean="0">
                <a:latin typeface="Times New Roman" pitchFamily="18" charset="0"/>
                <a:cs typeface="Times New Roman" pitchFamily="18" charset="0"/>
              </a:rPr>
              <a:t>a</a:t>
            </a:r>
            <a:r>
              <a:rPr lang="en-US" altLang="zh-CN"/>
              <a:t>, </a:t>
            </a:r>
            <a:r>
              <a:rPr lang="en-US" altLang="zh-CN" b="1" i="1">
                <a:latin typeface="Times New Roman" pitchFamily="18" charset="0"/>
                <a:cs typeface="Times New Roman" pitchFamily="18" charset="0"/>
              </a:rPr>
              <a:t>b</a:t>
            </a:r>
            <a:r>
              <a:rPr lang="en-US" altLang="zh-CN"/>
              <a:t>, </a:t>
            </a:r>
            <a:r>
              <a:rPr lang="en-US" altLang="zh-CN" b="1" i="1">
                <a:latin typeface="Times New Roman" pitchFamily="18" charset="0"/>
                <a:cs typeface="Times New Roman" pitchFamily="18" charset="0"/>
              </a:rPr>
              <a:t>c</a:t>
            </a:r>
            <a:r>
              <a:rPr lang="en-US" altLang="zh-CN"/>
              <a:t> </a:t>
            </a:r>
            <a:r>
              <a:rPr lang="zh-CN" altLang="en-US"/>
              <a:t>成右手系”和“</a:t>
            </a:r>
            <a:r>
              <a:rPr lang="en-US" altLang="zh-CN" b="1" i="1">
                <a:latin typeface="Times New Roman" pitchFamily="18" charset="0"/>
                <a:cs typeface="Times New Roman" pitchFamily="18" charset="0"/>
              </a:rPr>
              <a:t>b</a:t>
            </a:r>
            <a:r>
              <a:rPr lang="en-US" altLang="zh-CN"/>
              <a:t>, </a:t>
            </a:r>
            <a:r>
              <a:rPr lang="en-US" altLang="zh-CN" b="1" i="1" smtClean="0">
                <a:latin typeface="Times New Roman" pitchFamily="18" charset="0"/>
                <a:cs typeface="Times New Roman" pitchFamily="18" charset="0"/>
              </a:rPr>
              <a:t>c</a:t>
            </a:r>
            <a:r>
              <a:rPr lang="en-US" altLang="zh-CN" smtClean="0"/>
              <a:t>, </a:t>
            </a:r>
            <a:r>
              <a:rPr lang="en-US" altLang="zh-CN" b="1" i="1" smtClean="0">
                <a:latin typeface="Times New Roman" pitchFamily="18" charset="0"/>
                <a:cs typeface="Times New Roman" pitchFamily="18" charset="0"/>
              </a:rPr>
              <a:t>a</a:t>
            </a:r>
            <a:r>
              <a:rPr lang="en-US" altLang="zh-CN" smtClean="0"/>
              <a:t> </a:t>
            </a:r>
            <a:r>
              <a:rPr lang="zh-CN" altLang="en-US"/>
              <a:t>成右手系</a:t>
            </a:r>
            <a:r>
              <a:rPr lang="zh-CN" altLang="en-US" smtClean="0"/>
              <a:t>”是同一个命题。</a:t>
            </a:r>
            <a:endParaRPr lang="en-US" altLang="zh-CN" smtClean="0"/>
          </a:p>
          <a:p>
            <a:r>
              <a:rPr lang="zh-CN" altLang="en-US" smtClean="0"/>
              <a:t>画图看一下这是为什么。</a:t>
            </a:r>
            <a:endParaRPr lang="zh-CN" altLang="en-US"/>
          </a:p>
        </p:txBody>
      </p:sp>
    </p:spTree>
    <p:extLst>
      <p:ext uri="{BB962C8B-B14F-4D97-AF65-F5344CB8AC3E}">
        <p14:creationId xmlns:p14="http://schemas.microsoft.com/office/powerpoint/2010/main" xmlns="" val="119734784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三维叉积的性质</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smtClean="0"/>
                  <a:t>若 </a:t>
                </a:r>
                <a14:m>
                  <m:oMath xmlns:m="http://schemas.openxmlformats.org/officeDocument/2006/math">
                    <m:r>
                      <a:rPr lang="en-US" altLang="zh-CN" b="1" i="1" smtClean="0">
                        <a:latin typeface="Cambria Math"/>
                      </a:rPr>
                      <m:t>𝒂</m:t>
                    </m:r>
                    <m:r>
                      <a:rPr lang="en-US" altLang="zh-CN" b="0" i="1" smtClean="0">
                        <a:latin typeface="Cambria Math"/>
                      </a:rPr>
                      <m:t>×</m:t>
                    </m:r>
                    <m:r>
                      <a:rPr lang="en-US" altLang="zh-CN" b="1" i="1" smtClean="0">
                        <a:latin typeface="Cambria Math"/>
                      </a:rPr>
                      <m:t>𝒃</m:t>
                    </m:r>
                    <m:r>
                      <a:rPr lang="en-US" altLang="zh-CN" b="0" i="1" smtClean="0">
                        <a:latin typeface="Cambria Math"/>
                      </a:rPr>
                      <m:t>=</m:t>
                    </m:r>
                    <m:r>
                      <a:rPr lang="en-US" altLang="zh-CN" b="1" i="1" smtClean="0">
                        <a:latin typeface="Cambria Math"/>
                      </a:rPr>
                      <m:t>𝒄</m:t>
                    </m:r>
                  </m:oMath>
                </a14:m>
                <a:r>
                  <a:rPr lang="zh-CN" altLang="en-US" smtClean="0"/>
                  <a:t>，则 </a:t>
                </a:r>
                <a14:m>
                  <m:oMath xmlns:m="http://schemas.openxmlformats.org/officeDocument/2006/math">
                    <m:r>
                      <a:rPr lang="en-US" altLang="zh-CN" b="1" i="1" smtClean="0">
                        <a:latin typeface="Cambria Math"/>
                      </a:rPr>
                      <m:t>𝒂</m:t>
                    </m:r>
                    <m:r>
                      <a:rPr lang="en-US" altLang="zh-CN" b="0" i="1" smtClean="0">
                        <a:latin typeface="Cambria Math"/>
                      </a:rPr>
                      <m:t>⋅</m:t>
                    </m:r>
                    <m:r>
                      <a:rPr lang="en-US" altLang="zh-CN" b="1" i="1" smtClean="0">
                        <a:latin typeface="Cambria Math"/>
                      </a:rPr>
                      <m:t>𝒄</m:t>
                    </m:r>
                    <m:r>
                      <a:rPr lang="en-US" altLang="zh-CN" b="0" i="1" smtClean="0">
                        <a:latin typeface="Cambria Math"/>
                      </a:rPr>
                      <m:t>=</m:t>
                    </m:r>
                    <m:r>
                      <a:rPr lang="en-US" altLang="zh-CN" b="1" i="1" smtClean="0">
                        <a:latin typeface="Cambria Math"/>
                      </a:rPr>
                      <m:t>𝒃</m:t>
                    </m:r>
                    <m:r>
                      <a:rPr lang="en-US" altLang="zh-CN" b="0" i="1" smtClean="0">
                        <a:latin typeface="Cambria Math"/>
                      </a:rPr>
                      <m:t>⋅</m:t>
                    </m:r>
                    <m:r>
                      <a:rPr lang="en-US" altLang="zh-CN" b="1" i="1" smtClean="0">
                        <a:latin typeface="Cambria Math"/>
                      </a:rPr>
                      <m:t>𝒄</m:t>
                    </m:r>
                    <m:r>
                      <a:rPr lang="en-US" altLang="zh-CN" b="0" i="1" smtClean="0">
                        <a:latin typeface="Cambria Math"/>
                      </a:rPr>
                      <m:t>=0</m:t>
                    </m:r>
                  </m:oMath>
                </a14:m>
                <a:r>
                  <a:rPr lang="zh-CN" altLang="en-US" smtClean="0"/>
                  <a:t>，即</a:t>
                </a:r>
                <a:r>
                  <a:rPr lang="zh-CN" altLang="en-US" b="1" smtClean="0">
                    <a:solidFill>
                      <a:schemeClr val="accent4">
                        <a:lumMod val="60000"/>
                        <a:lumOff val="40000"/>
                      </a:schemeClr>
                    </a:solidFill>
                  </a:rPr>
                  <a:t>叉积的结果与原矢量垂直</a:t>
                </a:r>
                <a:r>
                  <a:rPr lang="zh-CN" altLang="en-US" smtClean="0"/>
                  <a:t>。</a:t>
                </a:r>
                <a:endParaRPr lang="en-US" altLang="zh-CN" smtClean="0"/>
              </a:p>
              <a:p>
                <a:r>
                  <a:rPr lang="en-US" altLang="zh-CN" b="1" i="1" smtClean="0">
                    <a:latin typeface="Times New Roman" pitchFamily="18" charset="0"/>
                    <a:cs typeface="Times New Roman" pitchFamily="18" charset="0"/>
                  </a:rPr>
                  <a:t>a</a:t>
                </a:r>
                <a:r>
                  <a:rPr lang="en-US" altLang="zh-CN" smtClean="0">
                    <a:latin typeface="Times New Roman" pitchFamily="18" charset="0"/>
                    <a:cs typeface="Times New Roman" pitchFamily="18" charset="0"/>
                  </a:rPr>
                  <a:t>, </a:t>
                </a:r>
                <a:r>
                  <a:rPr lang="en-US" altLang="zh-CN" b="1" i="1" smtClean="0">
                    <a:latin typeface="Times New Roman" pitchFamily="18" charset="0"/>
                    <a:cs typeface="Times New Roman" pitchFamily="18" charset="0"/>
                  </a:rPr>
                  <a:t>b</a:t>
                </a:r>
                <a:r>
                  <a:rPr lang="en-US" altLang="zh-CN" smtClean="0">
                    <a:latin typeface="Times New Roman" pitchFamily="18" charset="0"/>
                    <a:cs typeface="Times New Roman" pitchFamily="18" charset="0"/>
                  </a:rPr>
                  <a:t/>
                </a:r>
                <a:r>
                  <a:rPr lang="zh-CN" altLang="en-US" smtClean="0"/>
                  <a:t>和 </a:t>
                </a:r>
                <a14:m>
                  <m:oMath xmlns:m="http://schemas.openxmlformats.org/officeDocument/2006/math">
                    <m:r>
                      <a:rPr lang="en-US" altLang="zh-CN" b="1" i="1" smtClean="0">
                        <a:latin typeface="Cambria Math"/>
                      </a:rPr>
                      <m:t>𝒂</m:t>
                    </m:r>
                    <m:r>
                      <a:rPr lang="en-US" altLang="zh-CN" b="0" i="1" smtClean="0">
                        <a:latin typeface="Cambria Math"/>
                      </a:rPr>
                      <m:t>×</m:t>
                    </m:r>
                    <m:r>
                      <a:rPr lang="en-US" altLang="zh-CN" b="1" i="1" smtClean="0">
                        <a:latin typeface="Cambria Math"/>
                      </a:rPr>
                      <m:t>𝒃</m:t>
                    </m:r>
                  </m:oMath>
                </a14:m>
                <a:r>
                  <a:rPr lang="zh-CN" altLang="en-US" smtClean="0"/>
                  <a:t> 应满足右手系。即伸出</a:t>
                </a:r>
                <a:r>
                  <a:rPr lang="zh-CN" altLang="en-US"/>
                  <a:t>右手，将四指由 </a:t>
                </a:r>
                <a:r>
                  <a:rPr lang="en-US" altLang="zh-CN" b="1" i="1">
                    <a:latin typeface="Times New Roman" pitchFamily="18" charset="0"/>
                    <a:cs typeface="Times New Roman" pitchFamily="18" charset="0"/>
                  </a:rPr>
                  <a:t>a</a:t>
                </a:r>
                <a:r>
                  <a:rPr lang="en-US" altLang="zh-CN"/>
                  <a:t/>
                </a:r>
                <a:r>
                  <a:rPr lang="zh-CN" altLang="en-US" smtClean="0"/>
                  <a:t>沿小于平角转</a:t>
                </a:r>
                <a:r>
                  <a:rPr lang="zh-CN" altLang="en-US"/>
                  <a:t>到 </a:t>
                </a:r>
                <a:r>
                  <a:rPr lang="en-US" altLang="zh-CN" b="1" i="1" smtClean="0">
                    <a:latin typeface="Times New Roman" pitchFamily="18" charset="0"/>
                    <a:cs typeface="Times New Roman" pitchFamily="18" charset="0"/>
                  </a:rPr>
                  <a:t>b</a:t>
                </a:r>
                <a:r>
                  <a:rPr lang="zh-CN" altLang="en-US" smtClean="0"/>
                  <a:t>，拇指所指的方向即为 </a:t>
                </a:r>
                <a14:m>
                  <m:oMath xmlns:m="http://schemas.openxmlformats.org/officeDocument/2006/math">
                    <m:r>
                      <a:rPr lang="en-US" altLang="zh-CN" b="1" i="1" smtClean="0">
                        <a:latin typeface="Cambria Math"/>
                      </a:rPr>
                      <m:t>𝒂</m:t>
                    </m:r>
                    <m:r>
                      <a:rPr lang="en-US" altLang="zh-CN" b="0" i="1" smtClean="0">
                        <a:latin typeface="Cambria Math"/>
                      </a:rPr>
                      <m:t>×</m:t>
                    </m:r>
                    <m:r>
                      <a:rPr lang="en-US" altLang="zh-CN" b="1" i="1" smtClean="0">
                        <a:latin typeface="Cambria Math"/>
                      </a:rPr>
                      <m:t>𝒃</m:t>
                    </m:r>
                  </m:oMath>
                </a14:m>
                <a:r>
                  <a:rPr lang="en-US" altLang="zh-CN" smtClean="0"/>
                  <a:t/>
                </a:r>
                <a:r>
                  <a:rPr lang="zh-CN" altLang="en-US" smtClean="0"/>
                  <a:t>的方向。</a:t>
                </a:r>
                <a:endParaRPr lang="en-US" altLang="zh-CN" smtClean="0"/>
              </a:p>
              <a:p>
                <a14:m>
                  <m:oMath xmlns:m="http://schemas.openxmlformats.org/officeDocument/2006/math">
                    <m:d>
                      <m:dPr>
                        <m:begChr m:val="|"/>
                        <m:endChr m:val="|"/>
                        <m:ctrlPr>
                          <a:rPr lang="en-US" altLang="zh-CN" i="1" smtClean="0">
                            <a:latin typeface="Cambria Math"/>
                          </a:rPr>
                        </m:ctrlPr>
                      </m:dPr>
                      <m:e>
                        <m:r>
                          <a:rPr lang="en-US" altLang="zh-CN" b="1" i="1" smtClean="0">
                            <a:latin typeface="Cambria Math"/>
                          </a:rPr>
                          <m:t>𝒂</m:t>
                        </m:r>
                        <m:r>
                          <a:rPr lang="en-US" altLang="zh-CN" b="0" i="1" smtClean="0">
                            <a:latin typeface="Cambria Math"/>
                          </a:rPr>
                          <m:t>×</m:t>
                        </m:r>
                        <m:r>
                          <a:rPr lang="en-US" altLang="zh-CN" b="1" i="1" smtClean="0">
                            <a:latin typeface="Cambria Math"/>
                          </a:rPr>
                          <m:t>𝒃</m:t>
                        </m:r>
                      </m:e>
                    </m:d>
                  </m:oMath>
                </a14:m>
                <a:r>
                  <a:rPr lang="zh-CN" altLang="en-US" smtClean="0"/>
                  <a:t> 的值在数值上等于 </a:t>
                </a:r>
                <a:r>
                  <a:rPr lang="en-US" altLang="zh-CN" b="1" i="1" smtClean="0">
                    <a:latin typeface="Times New Roman" pitchFamily="18" charset="0"/>
                    <a:cs typeface="Times New Roman" pitchFamily="18" charset="0"/>
                  </a:rPr>
                  <a:t>a</a:t>
                </a:r>
                <a:r>
                  <a:rPr lang="en-US" altLang="zh-CN" smtClean="0"/>
                  <a:t/>
                </a:r>
                <a:r>
                  <a:rPr lang="zh-CN" altLang="en-US" smtClean="0"/>
                  <a:t>和 </a:t>
                </a:r>
                <a:r>
                  <a:rPr lang="en-US" altLang="zh-CN" b="1" i="1" smtClean="0">
                    <a:latin typeface="Times New Roman" pitchFamily="18" charset="0"/>
                    <a:cs typeface="Times New Roman" pitchFamily="18" charset="0"/>
                  </a:rPr>
                  <a:t>b</a:t>
                </a:r>
                <a:r>
                  <a:rPr lang="en-US" altLang="zh-CN" smtClean="0"/>
                  <a:t/>
                </a:r>
                <a:r>
                  <a:rPr lang="zh-CN" altLang="en-US" smtClean="0"/>
                  <a:t>所夹的平行四边形的面积。</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400" r="-10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32601576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在三维空间我们失去的</a:t>
            </a:r>
            <a:endParaRPr lang="zh-CN" altLang="en-US"/>
          </a:p>
        </p:txBody>
      </p:sp>
      <p:sp>
        <p:nvSpPr>
          <p:cNvPr id="3" name="内容占位符 2"/>
          <p:cNvSpPr>
            <a:spLocks noGrp="1"/>
          </p:cNvSpPr>
          <p:nvPr>
            <p:ph idx="1"/>
          </p:nvPr>
        </p:nvSpPr>
        <p:spPr/>
        <p:txBody>
          <a:bodyPr/>
          <a:lstStyle/>
          <a:p>
            <a:r>
              <a:rPr lang="zh-CN" altLang="en-US" b="1" smtClean="0">
                <a:solidFill>
                  <a:schemeClr val="accent4">
                    <a:lumMod val="60000"/>
                    <a:lumOff val="40000"/>
                  </a:schemeClr>
                </a:solidFill>
              </a:rPr>
              <a:t>极角</a:t>
            </a:r>
            <a:r>
              <a:rPr lang="zh-CN" altLang="en-US" smtClean="0"/>
              <a:t>。在三维空间中描述矢量的方向不能只用一个角度，实际上需要使用两个角度。</a:t>
            </a:r>
            <a:endParaRPr lang="en-US" altLang="zh-CN" smtClean="0"/>
          </a:p>
          <a:p>
            <a:r>
              <a:rPr lang="zh-CN" altLang="en-US" b="1" smtClean="0">
                <a:solidFill>
                  <a:schemeClr val="accent4">
                    <a:lumMod val="60000"/>
                    <a:lumOff val="40000"/>
                  </a:schemeClr>
                </a:solidFill>
              </a:rPr>
              <a:t>左右</a:t>
            </a:r>
            <a:r>
              <a:rPr lang="zh-CN" altLang="en-US" smtClean="0"/>
              <a:t>。在三维空间中，</a:t>
            </a:r>
            <a:r>
              <a:rPr lang="zh-CN" altLang="en-US" b="1" smtClean="0">
                <a:solidFill>
                  <a:schemeClr val="accent2">
                    <a:lumMod val="60000"/>
                    <a:lumOff val="40000"/>
                  </a:schemeClr>
                </a:solidFill>
              </a:rPr>
              <a:t>两个矢量间</a:t>
            </a:r>
            <a:r>
              <a:rPr lang="zh-CN" altLang="en-US" smtClean="0"/>
              <a:t>没有左与右的概念。取而代之的是</a:t>
            </a:r>
            <a:r>
              <a:rPr lang="zh-CN" altLang="en-US" b="1" smtClean="0">
                <a:solidFill>
                  <a:schemeClr val="accent2">
                    <a:lumMod val="60000"/>
                    <a:lumOff val="40000"/>
                  </a:schemeClr>
                </a:solidFill>
              </a:rPr>
              <a:t>三个矢量间</a:t>
            </a:r>
            <a:r>
              <a:rPr lang="zh-CN" altLang="en-US" b="1" smtClean="0">
                <a:solidFill>
                  <a:schemeClr val="accent4">
                    <a:lumMod val="60000"/>
                    <a:lumOff val="40000"/>
                  </a:schemeClr>
                </a:solidFill>
              </a:rPr>
              <a:t>左手系</a:t>
            </a:r>
            <a:r>
              <a:rPr lang="zh-CN" altLang="en-US" smtClean="0"/>
              <a:t>与</a:t>
            </a:r>
            <a:r>
              <a:rPr lang="zh-CN" altLang="en-US" b="1" smtClean="0">
                <a:solidFill>
                  <a:schemeClr val="accent4">
                    <a:lumMod val="60000"/>
                    <a:lumOff val="40000"/>
                  </a:schemeClr>
                </a:solidFill>
              </a:rPr>
              <a:t>右手系</a:t>
            </a:r>
            <a:r>
              <a:rPr lang="zh-CN" altLang="en-US" smtClean="0"/>
              <a:t>的概念。</a:t>
            </a:r>
            <a:endParaRPr lang="en-US" altLang="zh-CN" smtClean="0"/>
          </a:p>
          <a:p>
            <a:endParaRPr lang="zh-CN" altLang="en-US"/>
          </a:p>
        </p:txBody>
      </p:sp>
    </p:spTree>
    <p:extLst>
      <p:ext uri="{BB962C8B-B14F-4D97-AF65-F5344CB8AC3E}">
        <p14:creationId xmlns:p14="http://schemas.microsoft.com/office/powerpoint/2010/main" xmlns="" val="74876535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混合积</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14:m>
                  <m:oMath xmlns:m="http://schemas.openxmlformats.org/officeDocument/2006/math">
                    <m:d>
                      <m:dPr>
                        <m:ctrlPr>
                          <a:rPr lang="en-US" altLang="zh-CN" b="0" i="1" smtClean="0">
                            <a:latin typeface="Cambria Math"/>
                          </a:rPr>
                        </m:ctrlPr>
                      </m:dPr>
                      <m:e>
                        <m:r>
                          <a:rPr lang="en-US" altLang="zh-CN" b="1" i="1" smtClean="0">
                            <a:latin typeface="Cambria Math"/>
                          </a:rPr>
                          <m:t>𝒂</m:t>
                        </m:r>
                        <m:r>
                          <a:rPr lang="en-US" altLang="zh-CN" b="0" i="1" smtClean="0">
                            <a:latin typeface="Cambria Math"/>
                          </a:rPr>
                          <m:t>×</m:t>
                        </m:r>
                        <m:r>
                          <a:rPr lang="en-US" altLang="zh-CN" b="1" i="1" smtClean="0">
                            <a:latin typeface="Cambria Math"/>
                          </a:rPr>
                          <m:t>𝒃</m:t>
                        </m:r>
                      </m:e>
                    </m:d>
                    <m:r>
                      <a:rPr lang="en-US" altLang="zh-CN" b="0" i="1" smtClean="0">
                        <a:latin typeface="Cambria Math"/>
                      </a:rPr>
                      <m:t>⋅</m:t>
                    </m:r>
                    <m:r>
                      <a:rPr lang="en-US" altLang="zh-CN" b="1" i="1" smtClean="0">
                        <a:latin typeface="Cambria Math"/>
                      </a:rPr>
                      <m:t>𝒄</m:t>
                    </m:r>
                  </m:oMath>
                </a14:m>
                <a:r>
                  <a:rPr lang="zh-CN" altLang="en-US" smtClean="0"/>
                  <a:t> 称为矢量 </a:t>
                </a:r>
                <a:r>
                  <a:rPr lang="en-US" altLang="zh-CN" b="1" i="1" smtClean="0">
                    <a:latin typeface="Times New Roman" pitchFamily="18" charset="0"/>
                    <a:cs typeface="Times New Roman" pitchFamily="18" charset="0"/>
                  </a:rPr>
                  <a:t>a</a:t>
                </a:r>
                <a:r>
                  <a:rPr lang="en-US" altLang="zh-CN" smtClean="0"/>
                  <a:t>, </a:t>
                </a:r>
                <a:r>
                  <a:rPr lang="en-US" altLang="zh-CN" b="1" i="1" smtClean="0">
                    <a:latin typeface="Times New Roman" pitchFamily="18" charset="0"/>
                    <a:cs typeface="Times New Roman" pitchFamily="18" charset="0"/>
                  </a:rPr>
                  <a:t>b</a:t>
                </a:r>
                <a:r>
                  <a:rPr lang="en-US" altLang="zh-CN" smtClean="0"/>
                  <a:t>, </a:t>
                </a:r>
                <a:r>
                  <a:rPr lang="en-US" altLang="zh-CN" b="1" i="1" smtClean="0">
                    <a:latin typeface="Times New Roman" pitchFamily="18" charset="0"/>
                    <a:cs typeface="Times New Roman" pitchFamily="18" charset="0"/>
                  </a:rPr>
                  <a:t>c</a:t>
                </a:r>
                <a:r>
                  <a:rPr lang="en-US" altLang="zh-CN" smtClean="0"/>
                  <a:t/>
                </a:r>
                <a:r>
                  <a:rPr lang="zh-CN" altLang="en-US" smtClean="0"/>
                  <a:t>的混合积。</a:t>
                </a:r>
                <a:endParaRPr lang="en-US" altLang="zh-CN" smtClean="0"/>
              </a:p>
              <a:p>
                <a:r>
                  <a:rPr lang="zh-CN" altLang="en-US" smtClean="0"/>
                  <a:t>又记为 </a:t>
                </a:r>
                <a14:m>
                  <m:oMath xmlns:m="http://schemas.openxmlformats.org/officeDocument/2006/math">
                    <m:r>
                      <a:rPr lang="en-US" altLang="zh-CN">
                        <a:latin typeface="Cambria Math"/>
                      </a:rPr>
                      <m:t>(</m:t>
                    </m:r>
                    <m:r>
                      <a:rPr lang="en-US" altLang="zh-CN" b="1" i="1" smtClean="0">
                        <a:latin typeface="Cambria Math"/>
                      </a:rPr>
                      <m:t>𝒂</m:t>
                    </m:r>
                    <m:r>
                      <a:rPr lang="en-US" altLang="zh-CN" b="0" i="1" smtClean="0">
                        <a:latin typeface="Cambria Math"/>
                      </a:rPr>
                      <m:t>,</m:t>
                    </m:r>
                    <m:r>
                      <a:rPr lang="en-US" altLang="zh-CN" b="1" i="1" smtClean="0">
                        <a:latin typeface="Cambria Math"/>
                      </a:rPr>
                      <m:t>𝒃</m:t>
                    </m:r>
                    <m:r>
                      <a:rPr lang="en-US" altLang="zh-CN" b="0" i="1" smtClean="0">
                        <a:latin typeface="Cambria Math"/>
                      </a:rPr>
                      <m:t>,</m:t>
                    </m:r>
                    <m:r>
                      <a:rPr lang="en-US" altLang="zh-CN" b="1" i="1" smtClean="0">
                        <a:latin typeface="Cambria Math"/>
                      </a:rPr>
                      <m:t>𝒄</m:t>
                    </m:r>
                    <m:r>
                      <a:rPr lang="en-US" altLang="zh-CN" b="0" i="1" smtClean="0">
                        <a:latin typeface="Cambria Math"/>
                      </a:rPr>
                      <m:t>)</m:t>
                    </m:r>
                  </m:oMath>
                </a14:m>
                <a:r>
                  <a:rPr lang="zh-CN" altLang="en-US" smtClean="0"/>
                  <a:t>。</a:t>
                </a:r>
                <a:endParaRPr lang="en-US" altLang="zh-CN" smtClean="0"/>
              </a:p>
              <a:p>
                <a:r>
                  <a:rPr lang="zh-CN" altLang="en-US" smtClean="0"/>
                  <a:t>当矢量 </a:t>
                </a:r>
                <a:r>
                  <a:rPr lang="en-US" altLang="zh-CN" b="1" i="1" smtClean="0">
                    <a:latin typeface="Times New Roman" pitchFamily="18" charset="0"/>
                    <a:cs typeface="Times New Roman" pitchFamily="18" charset="0"/>
                  </a:rPr>
                  <a:t>a</a:t>
                </a:r>
                <a:r>
                  <a:rPr lang="en-US" altLang="zh-CN" smtClean="0"/>
                  <a:t>, </a:t>
                </a:r>
                <a:r>
                  <a:rPr lang="en-US" altLang="zh-CN" b="1" i="1" smtClean="0">
                    <a:latin typeface="Times New Roman" pitchFamily="18" charset="0"/>
                    <a:cs typeface="Times New Roman" pitchFamily="18" charset="0"/>
                  </a:rPr>
                  <a:t>b</a:t>
                </a:r>
                <a:r>
                  <a:rPr lang="en-US" altLang="zh-CN" smtClean="0"/>
                  <a:t>, </a:t>
                </a:r>
                <a:r>
                  <a:rPr lang="en-US" altLang="zh-CN" b="1" i="1" smtClean="0">
                    <a:latin typeface="Times New Roman" pitchFamily="18" charset="0"/>
                    <a:cs typeface="Times New Roman" pitchFamily="18" charset="0"/>
                  </a:rPr>
                  <a:t>c</a:t>
                </a:r>
                <a:r>
                  <a:rPr lang="en-US" altLang="zh-CN" smtClean="0"/>
                  <a:t/>
                </a:r>
                <a:r>
                  <a:rPr lang="zh-CN" altLang="en-US" smtClean="0"/>
                  <a:t>成右手系时，混合积的值为正。</a:t>
                </a:r>
                <a:endParaRPr lang="en-US" altLang="zh-CN" smtClean="0"/>
              </a:p>
              <a:p>
                <a:r>
                  <a:rPr lang="zh-CN" altLang="en-US" smtClean="0"/>
                  <a:t>但是这到底是个什么玩意儿？</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667" r="-6353"/>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327338037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有向体积</a:t>
            </a:r>
            <a:endParaRPr lang="zh-CN" altLang="en-US"/>
          </a:p>
        </p:txBody>
      </p:sp>
      <p:sp>
        <p:nvSpPr>
          <p:cNvPr id="3" name="内容占位符 2"/>
          <p:cNvSpPr>
            <a:spLocks noGrp="1"/>
          </p:cNvSpPr>
          <p:nvPr>
            <p:ph idx="1"/>
          </p:nvPr>
        </p:nvSpPr>
        <p:spPr/>
        <p:txBody>
          <a:bodyPr/>
          <a:lstStyle/>
          <a:p>
            <a:r>
              <a:rPr lang="zh-CN" altLang="en-US" smtClean="0"/>
              <a:t>如图。</a:t>
            </a:r>
            <a:r>
              <a:rPr lang="en-US" altLang="zh-CN" b="1" i="1" smtClean="0">
                <a:latin typeface="Times New Roman" pitchFamily="18" charset="0"/>
                <a:cs typeface="Times New Roman" pitchFamily="18" charset="0"/>
              </a:rPr>
              <a:t>a</a:t>
            </a:r>
            <a:r>
              <a:rPr lang="en-US" altLang="zh-CN" smtClean="0"/>
              <a:t>, </a:t>
            </a:r>
            <a:r>
              <a:rPr lang="en-US" altLang="zh-CN" b="1" i="1" smtClean="0">
                <a:latin typeface="Times New Roman" pitchFamily="18" charset="0"/>
                <a:cs typeface="Times New Roman" pitchFamily="18" charset="0"/>
              </a:rPr>
              <a:t>b</a:t>
            </a:r>
            <a:r>
              <a:rPr lang="en-US" altLang="zh-CN" smtClean="0"/>
              <a:t>, </a:t>
            </a:r>
            <a:r>
              <a:rPr lang="en-US" altLang="zh-CN" b="1" i="1" smtClean="0">
                <a:latin typeface="Times New Roman" pitchFamily="18" charset="0"/>
                <a:cs typeface="Times New Roman" pitchFamily="18" charset="0"/>
              </a:rPr>
              <a:t>c</a:t>
            </a:r>
            <a:r>
              <a:rPr lang="en-US" altLang="zh-CN" smtClean="0"/>
              <a:t> </a:t>
            </a:r>
            <a:r>
              <a:rPr lang="zh-CN" altLang="en-US" smtClean="0"/>
              <a:t>的混合积的模，即为 </a:t>
            </a:r>
            <a:r>
              <a:rPr lang="en-US" altLang="zh-CN" b="1" i="1" smtClean="0">
                <a:latin typeface="Times New Roman" pitchFamily="18" charset="0"/>
                <a:cs typeface="Times New Roman" pitchFamily="18" charset="0"/>
              </a:rPr>
              <a:t>a</a:t>
            </a:r>
            <a:r>
              <a:rPr lang="en-US" altLang="zh-CN" smtClean="0"/>
              <a:t>, </a:t>
            </a:r>
            <a:r>
              <a:rPr lang="en-US" altLang="zh-CN" b="1" i="1" smtClean="0">
                <a:latin typeface="Times New Roman" pitchFamily="18" charset="0"/>
                <a:cs typeface="Times New Roman" pitchFamily="18" charset="0"/>
              </a:rPr>
              <a:t>b</a:t>
            </a:r>
            <a:r>
              <a:rPr lang="en-US" altLang="zh-CN" smtClean="0"/>
              <a:t>, </a:t>
            </a:r>
            <a:r>
              <a:rPr lang="en-US" altLang="zh-CN" b="1" i="1" smtClean="0">
                <a:latin typeface="Times New Roman" pitchFamily="18" charset="0"/>
                <a:cs typeface="Times New Roman" pitchFamily="18" charset="0"/>
              </a:rPr>
              <a:t>c</a:t>
            </a:r>
            <a:r>
              <a:rPr lang="en-US" altLang="zh-CN" smtClean="0"/>
              <a:t> </a:t>
            </a:r>
            <a:r>
              <a:rPr lang="zh-CN" altLang="en-US" smtClean="0"/>
              <a:t>所成的</a:t>
            </a:r>
            <a:r>
              <a:rPr lang="zh-CN" altLang="en-US" b="1" smtClean="0">
                <a:solidFill>
                  <a:schemeClr val="accent4">
                    <a:lumMod val="60000"/>
                    <a:lumOff val="40000"/>
                  </a:schemeClr>
                </a:solidFill>
              </a:rPr>
              <a:t>平行六面体</a:t>
            </a:r>
            <a:r>
              <a:rPr lang="zh-CN" altLang="en-US" smtClean="0"/>
              <a:t>的体积。</a:t>
            </a:r>
            <a:endParaRPr lang="en-US" altLang="zh-CN" smtClean="0"/>
          </a:p>
          <a:p>
            <a:r>
              <a:rPr lang="zh-CN" altLang="en-US" smtClean="0"/>
              <a:t>考虑符号的话，混合积又称为</a:t>
            </a:r>
            <a:r>
              <a:rPr lang="zh-CN" altLang="en-US" b="1" smtClean="0">
                <a:solidFill>
                  <a:schemeClr val="accent4">
                    <a:lumMod val="60000"/>
                    <a:lumOff val="40000"/>
                  </a:schemeClr>
                </a:solidFill>
              </a:rPr>
              <a:t>有向体积</a:t>
            </a:r>
            <a:r>
              <a:rPr lang="zh-CN" altLang="en-US" smtClean="0"/>
              <a:t>。</a:t>
            </a:r>
            <a:endParaRPr lang="en-US" altLang="zh-CN" smtClean="0"/>
          </a:p>
          <a:p>
            <a:r>
              <a:rPr lang="en-US" altLang="zh-CN" b="1" i="1">
                <a:latin typeface="Times New Roman" pitchFamily="18" charset="0"/>
                <a:cs typeface="Times New Roman" pitchFamily="18" charset="0"/>
              </a:rPr>
              <a:t>a</a:t>
            </a:r>
            <a:r>
              <a:rPr lang="en-US" altLang="zh-CN"/>
              <a:t>, </a:t>
            </a:r>
            <a:r>
              <a:rPr lang="en-US" altLang="zh-CN" b="1" i="1">
                <a:latin typeface="Times New Roman" pitchFamily="18" charset="0"/>
                <a:cs typeface="Times New Roman" pitchFamily="18" charset="0"/>
              </a:rPr>
              <a:t>b</a:t>
            </a:r>
            <a:r>
              <a:rPr lang="en-US" altLang="zh-CN"/>
              <a:t>, </a:t>
            </a:r>
            <a:r>
              <a:rPr lang="en-US" altLang="zh-CN" b="1" i="1">
                <a:latin typeface="Times New Roman" pitchFamily="18" charset="0"/>
                <a:cs typeface="Times New Roman" pitchFamily="18" charset="0"/>
              </a:rPr>
              <a:t>c</a:t>
            </a:r>
            <a:r>
              <a:rPr lang="en-US" altLang="zh-CN"/>
              <a:t> </a:t>
            </a:r>
            <a:r>
              <a:rPr lang="zh-CN" altLang="en-US"/>
              <a:t>所</a:t>
            </a:r>
            <a:r>
              <a:rPr lang="zh-CN" altLang="en-US" smtClean="0"/>
              <a:t>成三棱锥的体积为</a:t>
            </a:r>
            <a:endParaRPr lang="en-US" altLang="zh-CN" smtClean="0"/>
          </a:p>
          <a:p>
            <a:pPr marL="68580" indent="0">
              <a:buNone/>
            </a:pPr>
            <a:r>
              <a:rPr lang="zh-CN" altLang="en-US"/>
              <a:t>　</a:t>
            </a:r>
            <a:r>
              <a:rPr lang="zh-CN" altLang="en-US" smtClean="0"/>
              <a:t>平行六面体的 </a:t>
            </a:r>
            <a:r>
              <a:rPr lang="en-US" altLang="zh-CN" smtClean="0">
                <a:latin typeface="Times New Roman" pitchFamily="18" charset="0"/>
                <a:cs typeface="Times New Roman" pitchFamily="18" charset="0"/>
              </a:rPr>
              <a:t>1 / 6</a:t>
            </a:r>
            <a:r>
              <a:rPr lang="en-US" altLang="zh-CN" smtClean="0"/>
              <a:t>.</a:t>
            </a:r>
            <a:endParaRPr lang="zh-CN" altLang="en-US"/>
          </a:p>
        </p:txBody>
      </p:sp>
      <p:pic>
        <p:nvPicPr>
          <p:cNvPr id="4" name="图片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5772472" y="3933056"/>
            <a:ext cx="3029025" cy="2794780"/>
          </a:xfrm>
          <a:prstGeom prst="rect">
            <a:avLst/>
          </a:prstGeom>
        </p:spPr>
      </p:pic>
    </p:spTree>
    <p:extLst>
      <p:ext uri="{BB962C8B-B14F-4D97-AF65-F5344CB8AC3E}">
        <p14:creationId xmlns:p14="http://schemas.microsoft.com/office/powerpoint/2010/main" xmlns="" val="3963425300"/>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一切的本质：行列式</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normAutofit fontScale="92500" lnSpcReduction="10000"/>
              </a:bodyPr>
              <a:lstStyle/>
              <a:p>
                <a:r>
                  <a:rPr lang="zh-CN" altLang="en-US" smtClean="0"/>
                  <a:t>若 </a:t>
                </a:r>
                <a14:m>
                  <m:oMath xmlns:m="http://schemas.openxmlformats.org/officeDocument/2006/math">
                    <m:r>
                      <a:rPr lang="en-US" altLang="zh-CN" b="1" i="1" smtClean="0">
                        <a:latin typeface="Cambria Math"/>
                      </a:rPr>
                      <m:t>𝒂</m:t>
                    </m:r>
                    <m:r>
                      <a:rPr lang="en-US" altLang="zh-CN" b="0" i="1" smtClean="0">
                        <a:latin typeface="Cambria Math"/>
                      </a:rPr>
                      <m:t>=</m:t>
                    </m:r>
                    <m:d>
                      <m:dPr>
                        <m:ctrlPr>
                          <a:rPr lang="en-US" altLang="zh-CN" b="0" i="1" smtClean="0">
                            <a:latin typeface="Cambria Math"/>
                          </a:rPr>
                        </m:ctrlPr>
                      </m:dPr>
                      <m:e>
                        <m:sSub>
                          <m:sSubPr>
                            <m:ctrlPr>
                              <a:rPr lang="en-US" altLang="zh-CN" b="0" i="1" smtClean="0">
                                <a:latin typeface="Cambria Math"/>
                              </a:rPr>
                            </m:ctrlPr>
                          </m:sSubPr>
                          <m:e>
                            <m:r>
                              <a:rPr lang="en-US" altLang="zh-CN" b="0" i="1" smtClean="0">
                                <a:latin typeface="Cambria Math"/>
                              </a:rPr>
                              <m:t>𝑥</m:t>
                            </m:r>
                          </m:e>
                          <m:sub>
                            <m:r>
                              <a:rPr lang="en-US" altLang="zh-CN" b="0" i="1" smtClean="0">
                                <a:latin typeface="Cambria Math"/>
                              </a:rPr>
                              <m:t>1</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𝑦</m:t>
                            </m:r>
                          </m:e>
                          <m:sub>
                            <m:r>
                              <a:rPr lang="en-US" altLang="zh-CN" b="0" i="1" smtClean="0">
                                <a:latin typeface="Cambria Math"/>
                              </a:rPr>
                              <m:t>1</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𝑧</m:t>
                            </m:r>
                          </m:e>
                          <m:sub>
                            <m:r>
                              <a:rPr lang="en-US" altLang="zh-CN" b="0" i="1" smtClean="0">
                                <a:latin typeface="Cambria Math"/>
                              </a:rPr>
                              <m:t>1</m:t>
                            </m:r>
                          </m:sub>
                        </m:sSub>
                      </m:e>
                    </m:d>
                    <m:r>
                      <a:rPr lang="en-US" altLang="zh-CN" b="0" i="1" smtClean="0">
                        <a:latin typeface="Cambria Math"/>
                      </a:rPr>
                      <m:t>,</m:t>
                    </m:r>
                    <m:r>
                      <a:rPr lang="en-US" altLang="zh-CN" b="1" i="1" smtClean="0">
                        <a:latin typeface="Cambria Math"/>
                      </a:rPr>
                      <m:t>𝒃</m:t>
                    </m:r>
                    <m:r>
                      <a:rPr lang="en-US" altLang="zh-CN" b="0" i="1" smtClean="0">
                        <a:latin typeface="Cambria Math"/>
                      </a:rPr>
                      <m:t>=</m:t>
                    </m:r>
                    <m:d>
                      <m:dPr>
                        <m:ctrlPr>
                          <a:rPr lang="en-US" altLang="zh-CN" b="0" i="1" smtClean="0">
                            <a:latin typeface="Cambria Math"/>
                          </a:rPr>
                        </m:ctrlPr>
                      </m:dPr>
                      <m:e>
                        <m:sSub>
                          <m:sSubPr>
                            <m:ctrlPr>
                              <a:rPr lang="en-US" altLang="zh-CN" b="0" i="1" smtClean="0">
                                <a:latin typeface="Cambria Math"/>
                              </a:rPr>
                            </m:ctrlPr>
                          </m:sSubPr>
                          <m:e>
                            <m:r>
                              <a:rPr lang="en-US" altLang="zh-CN" b="0" i="1" smtClean="0">
                                <a:latin typeface="Cambria Math"/>
                              </a:rPr>
                              <m:t>𝑥</m:t>
                            </m:r>
                          </m:e>
                          <m:sub>
                            <m:r>
                              <a:rPr lang="en-US" altLang="zh-CN" b="0" i="1" smtClean="0">
                                <a:latin typeface="Cambria Math"/>
                              </a:rPr>
                              <m:t>2</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𝑦</m:t>
                            </m:r>
                          </m:e>
                          <m:sub>
                            <m:r>
                              <a:rPr lang="en-US" altLang="zh-CN" b="0" i="1" smtClean="0">
                                <a:latin typeface="Cambria Math"/>
                              </a:rPr>
                              <m:t>2</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𝑧</m:t>
                            </m:r>
                          </m:e>
                          <m:sub>
                            <m:r>
                              <a:rPr lang="en-US" altLang="zh-CN" b="0" i="1" smtClean="0">
                                <a:latin typeface="Cambria Math"/>
                              </a:rPr>
                              <m:t>2</m:t>
                            </m:r>
                          </m:sub>
                        </m:sSub>
                      </m:e>
                    </m:d>
                    <m:r>
                      <a:rPr lang="en-US" altLang="zh-CN" b="0" i="1" smtClean="0">
                        <a:latin typeface="Cambria Math"/>
                      </a:rPr>
                      <m:t>,</m:t>
                    </m:r>
                    <m:r>
                      <a:rPr lang="en-US" altLang="zh-CN" b="1" i="1" smtClean="0">
                        <a:latin typeface="Cambria Math"/>
                      </a:rPr>
                      <m:t>𝒄</m:t>
                    </m:r>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𝑥</m:t>
                        </m:r>
                      </m:e>
                      <m:sub>
                        <m:r>
                          <a:rPr lang="en-US" altLang="zh-CN" b="0" i="1" smtClean="0">
                            <a:latin typeface="Cambria Math"/>
                          </a:rPr>
                          <m:t>3</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𝑦</m:t>
                        </m:r>
                      </m:e>
                      <m:sub>
                        <m:r>
                          <a:rPr lang="en-US" altLang="zh-CN" b="0" i="1" smtClean="0">
                            <a:latin typeface="Cambria Math"/>
                          </a:rPr>
                          <m:t>3</m:t>
                        </m:r>
                      </m:sub>
                    </m:sSub>
                    <m:r>
                      <a:rPr lang="en-US" altLang="zh-CN" b="0" i="1" smtClean="0">
                        <a:latin typeface="Cambria Math"/>
                      </a:rPr>
                      <m:t>,</m:t>
                    </m:r>
                    <m:sSub>
                      <m:sSubPr>
                        <m:ctrlPr>
                          <a:rPr lang="en-US" altLang="zh-CN" b="0" i="1" smtClean="0">
                            <a:latin typeface="Cambria Math"/>
                          </a:rPr>
                        </m:ctrlPr>
                      </m:sSubPr>
                      <m:e>
                        <m:r>
                          <a:rPr lang="en-US" altLang="zh-CN" b="0" i="1" smtClean="0">
                            <a:latin typeface="Cambria Math"/>
                          </a:rPr>
                          <m:t>𝑧</m:t>
                        </m:r>
                      </m:e>
                      <m:sub>
                        <m:r>
                          <a:rPr lang="en-US" altLang="zh-CN" b="0" i="1" smtClean="0">
                            <a:latin typeface="Cambria Math"/>
                          </a:rPr>
                          <m:t>3</m:t>
                        </m:r>
                      </m:sub>
                    </m:sSub>
                    <m:r>
                      <a:rPr lang="en-US" altLang="zh-CN" b="0" i="1" smtClean="0">
                        <a:latin typeface="Cambria Math"/>
                      </a:rPr>
                      <m:t>)</m:t>
                    </m:r>
                  </m:oMath>
                </a14:m>
                <a:r>
                  <a:rPr lang="zh-CN" altLang="en-US" smtClean="0"/>
                  <a:t>，那么</a:t>
                </a:r>
                <a:endParaRPr lang="en-US" altLang="zh-CN" smtClean="0"/>
              </a:p>
              <a:p>
                <a:pPr marL="68580" indent="0">
                  <a:buNone/>
                </a:pPr>
                <a14:m>
                  <m:oMathPara xmlns:m="http://schemas.openxmlformats.org/officeDocument/2006/math">
                    <m:oMathParaPr>
                      <m:jc m:val="centerGroup"/>
                    </m:oMathParaPr>
                    <m:oMath xmlns:m="http://schemas.openxmlformats.org/officeDocument/2006/math">
                      <m:d>
                        <m:dPr>
                          <m:ctrlPr>
                            <a:rPr lang="en-US" altLang="zh-CN" b="0" i="1" smtClean="0">
                              <a:latin typeface="Cambria Math"/>
                            </a:rPr>
                          </m:ctrlPr>
                        </m:dPr>
                        <m:e>
                          <m:r>
                            <a:rPr lang="en-US" altLang="zh-CN" b="1" i="1" smtClean="0">
                              <a:latin typeface="Cambria Math"/>
                            </a:rPr>
                            <m:t>𝒂</m:t>
                          </m:r>
                          <m:r>
                            <a:rPr lang="en-US" altLang="zh-CN" b="0" i="1" smtClean="0">
                              <a:latin typeface="Cambria Math"/>
                            </a:rPr>
                            <m:t>×</m:t>
                          </m:r>
                          <m:r>
                            <a:rPr lang="en-US" altLang="zh-CN" b="1" i="1" smtClean="0">
                              <a:latin typeface="Cambria Math"/>
                            </a:rPr>
                            <m:t>𝒃</m:t>
                          </m:r>
                        </m:e>
                      </m:d>
                      <m:r>
                        <a:rPr lang="en-US" altLang="zh-CN" b="0" i="1" smtClean="0">
                          <a:latin typeface="Cambria Math"/>
                        </a:rPr>
                        <m:t>⋅</m:t>
                      </m:r>
                      <m:r>
                        <a:rPr lang="en-US" altLang="zh-CN" b="1" i="1" smtClean="0">
                          <a:latin typeface="Cambria Math"/>
                        </a:rPr>
                        <m:t>𝒄</m:t>
                      </m:r>
                      <m:r>
                        <a:rPr lang="en-US" altLang="zh-CN" b="0" i="1" smtClean="0">
                          <a:latin typeface="Cambria Math"/>
                        </a:rPr>
                        <m:t>=</m:t>
                      </m:r>
                      <m:d>
                        <m:dPr>
                          <m:begChr m:val="|"/>
                          <m:endChr m:val="|"/>
                          <m:ctrlPr>
                            <a:rPr lang="en-US" altLang="zh-CN" b="0" i="1" smtClean="0">
                              <a:latin typeface="Cambria Math"/>
                            </a:rPr>
                          </m:ctrlPr>
                        </m:dPr>
                        <m:e>
                          <m:m>
                            <m:mPr>
                              <m:mcs>
                                <m:mc>
                                  <m:mcPr>
                                    <m:count m:val="3"/>
                                    <m:mcJc m:val="center"/>
                                  </m:mcPr>
                                </m:mc>
                              </m:mcs>
                              <m:ctrlPr>
                                <a:rPr lang="en-US" altLang="zh-CN" b="0" i="1" smtClean="0">
                                  <a:latin typeface="Cambria Math"/>
                                </a:rPr>
                              </m:ctrlPr>
                            </m:mPr>
                            <m:mr>
                              <m:e>
                                <m:sSub>
                                  <m:sSubPr>
                                    <m:ctrlPr>
                                      <a:rPr lang="en-US" altLang="zh-CN" b="0" i="1" smtClean="0">
                                        <a:latin typeface="Cambria Math"/>
                                      </a:rPr>
                                    </m:ctrlPr>
                                  </m:sSubPr>
                                  <m:e>
                                    <m:r>
                                      <m:rPr>
                                        <m:brk m:alnAt="7"/>
                                      </m:rPr>
                                      <a:rPr lang="en-US" altLang="zh-CN" b="0" i="1" smtClean="0">
                                        <a:latin typeface="Cambria Math"/>
                                      </a:rPr>
                                      <m:t>𝑥</m:t>
                                    </m:r>
                                  </m:e>
                                  <m:sub>
                                    <m:r>
                                      <m:rPr>
                                        <m:brk m:alnAt="7"/>
                                      </m:rPr>
                                      <a:rPr lang="en-US" altLang="zh-CN" b="0" i="1" smtClean="0">
                                        <a:latin typeface="Cambria Math"/>
                                      </a:rPr>
                                      <m:t>1</m:t>
                                    </m:r>
                                  </m:sub>
                                </m:sSub>
                              </m:e>
                              <m:e>
                                <m:sSub>
                                  <m:sSubPr>
                                    <m:ctrlPr>
                                      <a:rPr lang="en-US" altLang="zh-CN" b="0" i="1" smtClean="0">
                                        <a:latin typeface="Cambria Math"/>
                                      </a:rPr>
                                    </m:ctrlPr>
                                  </m:sSubPr>
                                  <m:e>
                                    <m:r>
                                      <a:rPr lang="en-US" altLang="zh-CN" b="0" i="1" smtClean="0">
                                        <a:latin typeface="Cambria Math"/>
                                      </a:rPr>
                                      <m:t>𝑦</m:t>
                                    </m:r>
                                  </m:e>
                                  <m:sub>
                                    <m:r>
                                      <a:rPr lang="en-US" altLang="zh-CN" b="0" i="1" smtClean="0">
                                        <a:latin typeface="Cambria Math"/>
                                      </a:rPr>
                                      <m:t>1</m:t>
                                    </m:r>
                                  </m:sub>
                                </m:sSub>
                              </m:e>
                              <m:e>
                                <m:sSub>
                                  <m:sSubPr>
                                    <m:ctrlPr>
                                      <a:rPr lang="en-US" altLang="zh-CN" b="0" i="1" smtClean="0">
                                        <a:latin typeface="Cambria Math"/>
                                      </a:rPr>
                                    </m:ctrlPr>
                                  </m:sSubPr>
                                  <m:e>
                                    <m:r>
                                      <a:rPr lang="en-US" altLang="zh-CN" b="0" i="1" smtClean="0">
                                        <a:latin typeface="Cambria Math"/>
                                      </a:rPr>
                                      <m:t>𝑧</m:t>
                                    </m:r>
                                  </m:e>
                                  <m:sub>
                                    <m:r>
                                      <a:rPr lang="en-US" altLang="zh-CN" b="0" i="1" smtClean="0">
                                        <a:latin typeface="Cambria Math"/>
                                      </a:rPr>
                                      <m:t>1</m:t>
                                    </m:r>
                                  </m:sub>
                                </m:sSub>
                              </m:e>
                            </m:mr>
                            <m:mr>
                              <m:e>
                                <m:sSub>
                                  <m:sSubPr>
                                    <m:ctrlPr>
                                      <a:rPr lang="en-US" altLang="zh-CN" b="0" i="1" smtClean="0">
                                        <a:latin typeface="Cambria Math"/>
                                      </a:rPr>
                                    </m:ctrlPr>
                                  </m:sSubPr>
                                  <m:e>
                                    <m:r>
                                      <a:rPr lang="en-US" altLang="zh-CN" b="0" i="1" smtClean="0">
                                        <a:latin typeface="Cambria Math"/>
                                      </a:rPr>
                                      <m:t>𝑥</m:t>
                                    </m:r>
                                  </m:e>
                                  <m:sub>
                                    <m:r>
                                      <a:rPr lang="en-US" altLang="zh-CN" b="0" i="1" smtClean="0">
                                        <a:latin typeface="Cambria Math"/>
                                      </a:rPr>
                                      <m:t>2</m:t>
                                    </m:r>
                                  </m:sub>
                                </m:sSub>
                              </m:e>
                              <m:e>
                                <m:sSub>
                                  <m:sSubPr>
                                    <m:ctrlPr>
                                      <a:rPr lang="en-US" altLang="zh-CN" b="0" i="1" smtClean="0">
                                        <a:latin typeface="Cambria Math"/>
                                      </a:rPr>
                                    </m:ctrlPr>
                                  </m:sSubPr>
                                  <m:e>
                                    <m:r>
                                      <a:rPr lang="en-US" altLang="zh-CN" b="0" i="1" smtClean="0">
                                        <a:latin typeface="Cambria Math"/>
                                      </a:rPr>
                                      <m:t>𝑦</m:t>
                                    </m:r>
                                  </m:e>
                                  <m:sub>
                                    <m:r>
                                      <a:rPr lang="en-US" altLang="zh-CN" b="0" i="1" smtClean="0">
                                        <a:latin typeface="Cambria Math"/>
                                      </a:rPr>
                                      <m:t>2</m:t>
                                    </m:r>
                                  </m:sub>
                                </m:sSub>
                              </m:e>
                              <m:e>
                                <m:sSub>
                                  <m:sSubPr>
                                    <m:ctrlPr>
                                      <a:rPr lang="en-US" altLang="zh-CN" b="0" i="1" smtClean="0">
                                        <a:latin typeface="Cambria Math"/>
                                      </a:rPr>
                                    </m:ctrlPr>
                                  </m:sSubPr>
                                  <m:e>
                                    <m:r>
                                      <a:rPr lang="en-US" altLang="zh-CN" b="0" i="1" smtClean="0">
                                        <a:latin typeface="Cambria Math"/>
                                      </a:rPr>
                                      <m:t>𝑧</m:t>
                                    </m:r>
                                  </m:e>
                                  <m:sub>
                                    <m:r>
                                      <a:rPr lang="en-US" altLang="zh-CN" b="0" i="1" smtClean="0">
                                        <a:latin typeface="Cambria Math"/>
                                      </a:rPr>
                                      <m:t>2</m:t>
                                    </m:r>
                                  </m:sub>
                                </m:sSub>
                              </m:e>
                            </m:mr>
                            <m:mr>
                              <m:e>
                                <m:sSub>
                                  <m:sSubPr>
                                    <m:ctrlPr>
                                      <a:rPr lang="en-US" altLang="zh-CN" b="0" i="1" smtClean="0">
                                        <a:latin typeface="Cambria Math"/>
                                      </a:rPr>
                                    </m:ctrlPr>
                                  </m:sSubPr>
                                  <m:e>
                                    <m:r>
                                      <a:rPr lang="en-US" altLang="zh-CN" b="0" i="1" smtClean="0">
                                        <a:latin typeface="Cambria Math"/>
                                      </a:rPr>
                                      <m:t>𝑥</m:t>
                                    </m:r>
                                  </m:e>
                                  <m:sub>
                                    <m:r>
                                      <a:rPr lang="en-US" altLang="zh-CN" b="0" i="1" smtClean="0">
                                        <a:latin typeface="Cambria Math"/>
                                      </a:rPr>
                                      <m:t>3</m:t>
                                    </m:r>
                                  </m:sub>
                                </m:sSub>
                              </m:e>
                              <m:e>
                                <m:sSub>
                                  <m:sSubPr>
                                    <m:ctrlPr>
                                      <a:rPr lang="en-US" altLang="zh-CN" b="0" i="1" smtClean="0">
                                        <a:latin typeface="Cambria Math"/>
                                      </a:rPr>
                                    </m:ctrlPr>
                                  </m:sSubPr>
                                  <m:e>
                                    <m:r>
                                      <a:rPr lang="en-US" altLang="zh-CN" b="0" i="1" smtClean="0">
                                        <a:latin typeface="Cambria Math"/>
                                      </a:rPr>
                                      <m:t>𝑦</m:t>
                                    </m:r>
                                  </m:e>
                                  <m:sub>
                                    <m:r>
                                      <a:rPr lang="en-US" altLang="zh-CN" b="0" i="1" smtClean="0">
                                        <a:latin typeface="Cambria Math"/>
                                      </a:rPr>
                                      <m:t>3</m:t>
                                    </m:r>
                                  </m:sub>
                                </m:sSub>
                              </m:e>
                              <m:e>
                                <m:sSub>
                                  <m:sSubPr>
                                    <m:ctrlPr>
                                      <a:rPr lang="en-US" altLang="zh-CN" b="0" i="1" smtClean="0">
                                        <a:latin typeface="Cambria Math"/>
                                      </a:rPr>
                                    </m:ctrlPr>
                                  </m:sSubPr>
                                  <m:e>
                                    <m:r>
                                      <a:rPr lang="en-US" altLang="zh-CN" b="0" i="1" smtClean="0">
                                        <a:latin typeface="Cambria Math"/>
                                      </a:rPr>
                                      <m:t>𝑧</m:t>
                                    </m:r>
                                  </m:e>
                                  <m:sub>
                                    <m:r>
                                      <a:rPr lang="en-US" altLang="zh-CN" b="0" i="1" smtClean="0">
                                        <a:latin typeface="Cambria Math"/>
                                      </a:rPr>
                                      <m:t>3</m:t>
                                    </m:r>
                                  </m:sub>
                                </m:sSub>
                              </m:e>
                            </m:mr>
                          </m:m>
                        </m:e>
                      </m:d>
                    </m:oMath>
                  </m:oMathPara>
                </a14:m>
                <a:endParaRPr lang="en-US" altLang="zh-CN" smtClean="0"/>
              </a:p>
              <a:p>
                <a:r>
                  <a:rPr lang="zh-CN" altLang="en-US" smtClean="0"/>
                  <a:t>由此我们可以得到左右手系的新定义：若上面行列式为正，则 </a:t>
                </a:r>
                <a:r>
                  <a:rPr lang="en-US" altLang="zh-CN" b="1" i="1" smtClean="0">
                    <a:latin typeface="Times New Roman" pitchFamily="18" charset="0"/>
                    <a:cs typeface="Times New Roman" pitchFamily="18" charset="0"/>
                  </a:rPr>
                  <a:t>a</a:t>
                </a:r>
                <a:r>
                  <a:rPr lang="en-US" altLang="zh-CN"/>
                  <a:t>, </a:t>
                </a:r>
                <a:r>
                  <a:rPr lang="en-US" altLang="zh-CN" b="1" i="1">
                    <a:latin typeface="Times New Roman" pitchFamily="18" charset="0"/>
                    <a:cs typeface="Times New Roman" pitchFamily="18" charset="0"/>
                  </a:rPr>
                  <a:t>b</a:t>
                </a:r>
                <a:r>
                  <a:rPr lang="en-US" altLang="zh-CN"/>
                  <a:t>, </a:t>
                </a:r>
                <a:r>
                  <a:rPr lang="en-US" altLang="zh-CN" b="1" i="1">
                    <a:latin typeface="Times New Roman" pitchFamily="18" charset="0"/>
                    <a:cs typeface="Times New Roman" pitchFamily="18" charset="0"/>
                  </a:rPr>
                  <a:t>c</a:t>
                </a:r>
                <a:r>
                  <a:rPr lang="en-US" altLang="zh-CN"/>
                  <a:t/>
                </a:r>
                <a:r>
                  <a:rPr lang="zh-CN" altLang="en-US" smtClean="0"/>
                  <a:t>成右手系，否则成左手系。</a:t>
                </a:r>
                <a:endParaRPr lang="en-US" altLang="zh-CN" smtClean="0"/>
              </a:p>
              <a:p>
                <a:r>
                  <a:rPr lang="zh-CN" altLang="en-US" smtClean="0"/>
                  <a:t>这个结论和定义可以扩展到高维！</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314" t="-800" r="-392" b="-4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326180100"/>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en-US" altLang="ja-JP" dirty="0" smtClean="0"/>
              <a:t>3</a:t>
            </a:r>
            <a:r>
              <a:rPr lang="en-US" altLang="zh-CN" dirty="0" smtClean="0"/>
              <a:t>-Dimension Computational Geometry</a:t>
            </a:r>
            <a:endParaRPr lang="zh-CN" altLang="en-US" dirty="0"/>
          </a:p>
        </p:txBody>
      </p:sp>
      <p:sp>
        <p:nvSpPr>
          <p:cNvPr id="3" name="标题 2"/>
          <p:cNvSpPr>
            <a:spLocks noGrp="1"/>
          </p:cNvSpPr>
          <p:nvPr>
            <p:ph type="title"/>
          </p:nvPr>
        </p:nvSpPr>
        <p:spPr/>
        <p:txBody>
          <a:bodyPr/>
          <a:lstStyle/>
          <a:p>
            <a:r>
              <a:rPr lang="zh-CN" altLang="en-US" smtClean="0"/>
              <a:t>三维计算几何</a:t>
            </a:r>
            <a:endParaRPr lang="zh-CN" altLang="en-US"/>
          </a:p>
        </p:txBody>
      </p:sp>
    </p:spTree>
    <p:extLst>
      <p:ext uri="{BB962C8B-B14F-4D97-AF65-F5344CB8AC3E}">
        <p14:creationId xmlns:p14="http://schemas.microsoft.com/office/powerpoint/2010/main" xmlns="" val="2754826419"/>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三维直线</a:t>
            </a:r>
            <a:endParaRPr lang="zh-CN" altLang="en-US"/>
          </a:p>
        </p:txBody>
      </p:sp>
      <p:sp>
        <p:nvSpPr>
          <p:cNvPr id="3" name="内容占位符 2"/>
          <p:cNvSpPr>
            <a:spLocks noGrp="1"/>
          </p:cNvSpPr>
          <p:nvPr>
            <p:ph idx="1"/>
          </p:nvPr>
        </p:nvSpPr>
        <p:spPr/>
        <p:txBody>
          <a:bodyPr/>
          <a:lstStyle/>
          <a:p>
            <a:r>
              <a:rPr lang="zh-CN" altLang="en-US" smtClean="0"/>
              <a:t>三维直线的表示法与二维类似。</a:t>
            </a:r>
            <a:endParaRPr lang="en-US" altLang="zh-CN" smtClean="0"/>
          </a:p>
          <a:p>
            <a:r>
              <a:rPr lang="zh-CN" altLang="en-US" smtClean="0"/>
              <a:t>计算点到直线的距离的方法与二维相同。</a:t>
            </a:r>
            <a:endParaRPr lang="en-US" altLang="zh-CN" smtClean="0"/>
          </a:p>
          <a:p>
            <a:r>
              <a:rPr lang="zh-CN" altLang="en-US" smtClean="0"/>
              <a:t>计算分点的方式也与二维相同。</a:t>
            </a:r>
            <a:endParaRPr lang="zh-CN" altLang="en-US"/>
          </a:p>
        </p:txBody>
      </p:sp>
    </p:spTree>
    <p:extLst>
      <p:ext uri="{BB962C8B-B14F-4D97-AF65-F5344CB8AC3E}">
        <p14:creationId xmlns:p14="http://schemas.microsoft.com/office/powerpoint/2010/main" xmlns="" val="588740654"/>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异面直线</a:t>
            </a:r>
            <a:endParaRPr lang="zh-CN" altLang="en-US"/>
          </a:p>
        </p:txBody>
      </p:sp>
      <p:sp>
        <p:nvSpPr>
          <p:cNvPr id="3" name="内容占位符 2"/>
          <p:cNvSpPr>
            <a:spLocks noGrp="1"/>
          </p:cNvSpPr>
          <p:nvPr>
            <p:ph idx="1"/>
          </p:nvPr>
        </p:nvSpPr>
        <p:spPr/>
        <p:txBody>
          <a:bodyPr/>
          <a:lstStyle/>
          <a:p>
            <a:r>
              <a:rPr lang="zh-CN" altLang="en-US" smtClean="0"/>
              <a:t>但是在三维空间中，直线除平行与相交之外有着第三种位置关系：</a:t>
            </a:r>
            <a:r>
              <a:rPr lang="zh-CN" altLang="en-US" b="1" smtClean="0">
                <a:solidFill>
                  <a:schemeClr val="accent4">
                    <a:lumMod val="60000"/>
                    <a:lumOff val="40000"/>
                  </a:schemeClr>
                </a:solidFill>
              </a:rPr>
              <a:t>异面</a:t>
            </a:r>
            <a:r>
              <a:rPr lang="zh-CN" altLang="en-US" smtClean="0"/>
              <a:t>。</a:t>
            </a:r>
            <a:endParaRPr lang="en-US" altLang="zh-CN" smtClean="0"/>
          </a:p>
          <a:p>
            <a:r>
              <a:rPr lang="zh-CN" altLang="en-US"/>
              <a:t>异</a:t>
            </a:r>
            <a:r>
              <a:rPr lang="zh-CN" altLang="en-US" smtClean="0"/>
              <a:t>面直线的距离即为两条直线上距离最小的两点之距离。你们都知道这就是两条直线的</a:t>
            </a:r>
            <a:r>
              <a:rPr lang="zh-CN" altLang="en-US" b="1" smtClean="0">
                <a:solidFill>
                  <a:schemeClr val="accent4">
                    <a:lumMod val="60000"/>
                    <a:lumOff val="40000"/>
                  </a:schemeClr>
                </a:solidFill>
              </a:rPr>
              <a:t>公垂线段</a:t>
            </a:r>
            <a:r>
              <a:rPr lang="zh-CN" altLang="en-US" smtClean="0"/>
              <a:t>的长度。</a:t>
            </a:r>
            <a:endParaRPr lang="zh-CN" altLang="en-US"/>
          </a:p>
        </p:txBody>
      </p:sp>
      <p:pic>
        <p:nvPicPr>
          <p:cNvPr id="4" name="图片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3242922" y="3861048"/>
            <a:ext cx="3384376" cy="2720937"/>
          </a:xfrm>
          <a:prstGeom prst="rect">
            <a:avLst/>
          </a:prstGeom>
        </p:spPr>
      </p:pic>
    </p:spTree>
    <p:extLst>
      <p:ext uri="{BB962C8B-B14F-4D97-AF65-F5344CB8AC3E}">
        <p14:creationId xmlns:p14="http://schemas.microsoft.com/office/powerpoint/2010/main" xmlns="" val="1495305095"/>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异面直线的距离</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smtClean="0"/>
                  <a:t>设两条直线的方向矢量分别为 </a:t>
                </a:r>
                <a:r>
                  <a:rPr lang="en-US" altLang="zh-CN" b="1" i="1" smtClean="0">
                    <a:latin typeface="Times New Roman" pitchFamily="18" charset="0"/>
                    <a:cs typeface="Times New Roman" pitchFamily="18" charset="0"/>
                  </a:rPr>
                  <a:t>a</a:t>
                </a:r>
                <a:r>
                  <a:rPr lang="en-US" altLang="zh-CN" smtClean="0"/>
                  <a:t/>
                </a:r>
                <a:r>
                  <a:rPr lang="zh-CN" altLang="en-US" smtClean="0"/>
                  <a:t>和</a:t>
                </a:r>
                <a:r>
                  <a:rPr lang="en-US" altLang="zh-CN"/>
                  <a:t/>
                </a:r>
                <a:r>
                  <a:rPr lang="en-US" altLang="zh-CN" b="1" i="1" smtClean="0">
                    <a:latin typeface="Times New Roman" pitchFamily="18" charset="0"/>
                    <a:cs typeface="Times New Roman" pitchFamily="18" charset="0"/>
                  </a:rPr>
                  <a:t>b</a:t>
                </a:r>
                <a:r>
                  <a:rPr lang="zh-CN" altLang="en-US" smtClean="0"/>
                  <a:t>。若 </a:t>
                </a:r>
                <a14:m>
                  <m:oMath xmlns:m="http://schemas.openxmlformats.org/officeDocument/2006/math">
                    <m:r>
                      <a:rPr lang="en-US" altLang="zh-CN" b="1" i="1" smtClean="0">
                        <a:latin typeface="Cambria Math"/>
                      </a:rPr>
                      <m:t>𝒂</m:t>
                    </m:r>
                    <m:r>
                      <a:rPr lang="en-US" altLang="zh-CN" b="0" i="1" smtClean="0">
                        <a:latin typeface="Cambria Math"/>
                      </a:rPr>
                      <m:t>×</m:t>
                    </m:r>
                    <m:r>
                      <a:rPr lang="en-US" altLang="zh-CN" b="1" i="1" smtClean="0">
                        <a:latin typeface="Cambria Math"/>
                      </a:rPr>
                      <m:t>𝒃</m:t>
                    </m:r>
                    <m:r>
                      <a:rPr lang="en-US" altLang="zh-CN" b="0" i="1" smtClean="0">
                        <a:latin typeface="Cambria Math"/>
                      </a:rPr>
                      <m:t>=</m:t>
                    </m:r>
                    <m:r>
                      <a:rPr lang="en-US" altLang="zh-CN" b="1" i="1" smtClean="0">
                        <a:latin typeface="Cambria Math"/>
                      </a:rPr>
                      <m:t>𝟎</m:t>
                    </m:r>
                  </m:oMath>
                </a14:m>
                <a:r>
                  <a:rPr lang="zh-CN" altLang="en-US" smtClean="0"/>
                  <a:t>，则两直线平行，它们一定共面，其距离为 </a:t>
                </a:r>
                <a:r>
                  <a:rPr lang="en-US" altLang="zh-CN" smtClean="0">
                    <a:latin typeface="Times New Roman" pitchFamily="18" charset="0"/>
                    <a:cs typeface="Times New Roman" pitchFamily="18" charset="0"/>
                  </a:rPr>
                  <a:t>0</a:t>
                </a:r>
                <a:r>
                  <a:rPr lang="en-US" altLang="zh-CN" smtClean="0"/>
                  <a:t>.</a:t>
                </a:r>
              </a:p>
              <a:p>
                <a:r>
                  <a:rPr lang="zh-CN" altLang="en-US" smtClean="0"/>
                  <a:t>否则</a:t>
                </a:r>
                <a:r>
                  <a:rPr lang="en-US" altLang="zh-CN" smtClean="0"/>
                  <a:t>……</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667" r="-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4057799418"/>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异面直线的距离</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sz="half" idx="1"/>
              </p:nvPr>
            </p:nvSpPr>
            <p:spPr/>
            <p:txBody>
              <a:bodyPr/>
              <a:lstStyle/>
              <a:p>
                <a:r>
                  <a:rPr lang="zh-CN" altLang="en-US" smtClean="0"/>
                  <a:t>否则两条直线上各任取一点 </a:t>
                </a:r>
                <a:r>
                  <a:rPr lang="en-US" altLang="zh-CN" i="1" smtClean="0">
                    <a:latin typeface="Times New Roman" pitchFamily="18" charset="0"/>
                    <a:cs typeface="Times New Roman" pitchFamily="18" charset="0"/>
                  </a:rPr>
                  <a:t>A</a:t>
                </a:r>
                <a:r>
                  <a:rPr lang="en-US" altLang="zh-CN" smtClean="0"/>
                  <a:t/>
                </a:r>
                <a:r>
                  <a:rPr lang="zh-CN" altLang="en-US" smtClean="0"/>
                  <a:t>和 </a:t>
                </a:r>
                <a:r>
                  <a:rPr lang="en-US" altLang="zh-CN" i="1" smtClean="0">
                    <a:latin typeface="Times New Roman" pitchFamily="18" charset="0"/>
                    <a:cs typeface="Times New Roman" pitchFamily="18" charset="0"/>
                  </a:rPr>
                  <a:t>B</a:t>
                </a:r>
                <a:r>
                  <a:rPr lang="zh-CN" altLang="en-US" smtClean="0"/>
                  <a:t>。</a:t>
                </a:r>
                <a:endParaRPr lang="en-US" altLang="zh-CN" smtClean="0"/>
              </a:p>
              <a:p>
                <a:r>
                  <a:rPr lang="zh-CN" altLang="en-US" smtClean="0"/>
                  <a:t>矢量 </a:t>
                </a:r>
                <a14:m>
                  <m:oMath xmlns:m="http://schemas.openxmlformats.org/officeDocument/2006/math">
                    <m:r>
                      <a:rPr lang="en-US" altLang="zh-CN" b="0" i="1" smtClean="0">
                        <a:latin typeface="Cambria Math"/>
                      </a:rPr>
                      <m:t>𝐵</m:t>
                    </m:r>
                    <m:r>
                      <a:rPr lang="en-US" altLang="zh-CN" b="0" i="1" smtClean="0">
                        <a:latin typeface="Cambria Math"/>
                      </a:rPr>
                      <m:t>−</m:t>
                    </m:r>
                    <m:r>
                      <a:rPr lang="en-US" altLang="zh-CN" b="0" i="1" smtClean="0">
                        <a:latin typeface="Cambria Math"/>
                      </a:rPr>
                      <m:t>𝐴</m:t>
                    </m:r>
                  </m:oMath>
                </a14:m>
                <a:r>
                  <a:rPr lang="zh-CN" altLang="en-US" smtClean="0"/>
                  <a:t> 在 </a:t>
                </a:r>
                <a14:m>
                  <m:oMath xmlns:m="http://schemas.openxmlformats.org/officeDocument/2006/math">
                    <m:r>
                      <a:rPr lang="en-US" altLang="zh-CN" b="1" i="1" smtClean="0">
                        <a:latin typeface="Cambria Math"/>
                      </a:rPr>
                      <m:t>𝒂</m:t>
                    </m:r>
                    <m:r>
                      <a:rPr lang="en-US" altLang="zh-CN" b="0" i="1" smtClean="0">
                        <a:latin typeface="Cambria Math"/>
                      </a:rPr>
                      <m:t>×</m:t>
                    </m:r>
                    <m:r>
                      <a:rPr lang="en-US" altLang="zh-CN" b="1" i="1" smtClean="0">
                        <a:latin typeface="Cambria Math"/>
                      </a:rPr>
                      <m:t>𝒃</m:t>
                    </m:r>
                  </m:oMath>
                </a14:m>
                <a:r>
                  <a:rPr lang="zh-CN" altLang="en-US" smtClean="0"/>
                  <a:t> 上的投影的模即为所求。</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sz="half" idx="1"/>
              </p:nvPr>
            </p:nvSpPr>
            <p:spPr>
              <a:blipFill rotWithShape="1">
                <a:blip r:embed="rId2"/>
                <a:stretch>
                  <a:fillRect l="-770" t="-135"/>
                </a:stretch>
              </a:blipFill>
            </p:spPr>
            <p:txBody>
              <a:bodyPr/>
              <a:lstStyle/>
              <a:p>
                <a:r>
                  <a:rPr lang="zh-CN" altLang="en-US">
                    <a:noFill/>
                  </a:rPr>
                  <a:t> </a:t>
                </a:r>
              </a:p>
            </p:txBody>
          </p:sp>
        </mc:Fallback>
      </mc:AlternateContent>
      <p:pic>
        <p:nvPicPr>
          <p:cNvPr id="5" name="内容占位符 4"/>
          <p:cNvPicPr>
            <a:picLocks noGrp="1" noChangeAspect="1"/>
          </p:cNvPicPr>
          <p:nvPr>
            <p:ph sz="half" idx="2"/>
          </p:nvPr>
        </p:nvPicPr>
        <p:blipFill>
          <a:blip r:embed="rId3">
            <a:extLst>
              <a:ext uri="{28A0092B-C50C-407E-A947-70E740481C1C}">
                <a14:useLocalDpi xmlns:a14="http://schemas.microsoft.com/office/drawing/2010/main" xmlns="" val="0"/>
              </a:ext>
            </a:extLst>
          </a:blip>
          <a:stretch>
            <a:fillRect/>
          </a:stretch>
        </p:blipFill>
        <p:spPr>
          <a:xfrm>
            <a:off x="5003800" y="1886235"/>
            <a:ext cx="3889375" cy="3126941"/>
          </a:xfrm>
        </p:spPr>
      </p:pic>
    </p:spTree>
    <p:extLst>
      <p:ext uri="{BB962C8B-B14F-4D97-AF65-F5344CB8AC3E}">
        <p14:creationId xmlns:p14="http://schemas.microsoft.com/office/powerpoint/2010/main" xmlns="" val="816682280"/>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两直线的交点</a:t>
            </a:r>
            <a:endParaRPr lang="zh-CN" altLang="en-US"/>
          </a:p>
        </p:txBody>
      </p:sp>
      <p:sp>
        <p:nvSpPr>
          <p:cNvPr id="3" name="内容占位符 2"/>
          <p:cNvSpPr>
            <a:spLocks noGrp="1"/>
          </p:cNvSpPr>
          <p:nvPr>
            <p:ph idx="1"/>
          </p:nvPr>
        </p:nvSpPr>
        <p:spPr/>
        <p:txBody>
          <a:bodyPr/>
          <a:lstStyle/>
          <a:p>
            <a:r>
              <a:rPr lang="zh-CN" altLang="en-US" dirty="0" smtClean="0"/>
              <a:t>先求它们的距离。若不为 </a:t>
            </a:r>
            <a:r>
              <a:rPr lang="en-US" altLang="zh-CN" dirty="0" smtClean="0"/>
              <a:t>0</a:t>
            </a:r>
            <a:r>
              <a:rPr lang="zh-CN" altLang="en-US" dirty="0" smtClean="0"/>
              <a:t>，显然木有交点。</a:t>
            </a:r>
            <a:endParaRPr lang="en-US" altLang="zh-CN" dirty="0" smtClean="0"/>
          </a:p>
          <a:p>
            <a:r>
              <a:rPr lang="zh-CN" altLang="en-US" dirty="0" smtClean="0"/>
              <a:t>否则，若它们的方向矢量平行，它们重合。</a:t>
            </a:r>
            <a:endParaRPr lang="en-US" altLang="zh-CN" dirty="0" smtClean="0"/>
          </a:p>
          <a:p>
            <a:r>
              <a:rPr lang="zh-CN" altLang="en-US" dirty="0" smtClean="0"/>
              <a:t>否则，它们是相交的。推荐利用后面所讲的</a:t>
            </a:r>
            <a:r>
              <a:rPr lang="zh-CN" altLang="en-US" b="1" dirty="0" smtClean="0">
                <a:solidFill>
                  <a:schemeClr val="accent4">
                    <a:lumMod val="60000"/>
                    <a:lumOff val="40000"/>
                  </a:schemeClr>
                </a:solidFill>
              </a:rPr>
              <a:t>投影技术</a:t>
            </a:r>
            <a:r>
              <a:rPr lang="zh-CN" altLang="en-US" dirty="0" smtClean="0"/>
              <a:t>将其转化为二维问题。</a:t>
            </a:r>
            <a:endParaRPr lang="zh-CN" altLang="en-US" dirty="0"/>
          </a:p>
        </p:txBody>
      </p:sp>
    </p:spTree>
    <p:extLst>
      <p:ext uri="{BB962C8B-B14F-4D97-AF65-F5344CB8AC3E}">
        <p14:creationId xmlns:p14="http://schemas.microsoft.com/office/powerpoint/2010/main" xmlns="" val="1882415103"/>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平面</a:t>
            </a:r>
            <a:endParaRPr lang="zh-CN" altLang="en-US"/>
          </a:p>
        </p:txBody>
      </p:sp>
      <p:sp>
        <p:nvSpPr>
          <p:cNvPr id="3" name="内容占位符 2"/>
          <p:cNvSpPr>
            <a:spLocks noGrp="1"/>
          </p:cNvSpPr>
          <p:nvPr>
            <p:ph idx="1"/>
          </p:nvPr>
        </p:nvSpPr>
        <p:spPr/>
        <p:txBody>
          <a:bodyPr/>
          <a:lstStyle/>
          <a:p>
            <a:r>
              <a:rPr lang="zh-CN" altLang="en-US" dirty="0"/>
              <a:t>平面是到两点距离相等的点的轨迹</a:t>
            </a:r>
            <a:r>
              <a:rPr lang="zh-CN" altLang="en-US" dirty="0" smtClean="0"/>
              <a:t>。</a:t>
            </a:r>
            <a:endParaRPr lang="en-US" altLang="zh-CN" dirty="0" smtClean="0"/>
          </a:p>
          <a:p>
            <a:r>
              <a:rPr lang="zh-CN" altLang="en-US" dirty="0" smtClean="0"/>
              <a:t>具体是个啥乃们应该清楚</a:t>
            </a:r>
            <a:r>
              <a:rPr lang="en-US" altLang="zh-CN" dirty="0" smtClean="0"/>
              <a:t>……</a:t>
            </a:r>
          </a:p>
        </p:txBody>
      </p:sp>
    </p:spTree>
    <p:extLst>
      <p:ext uri="{BB962C8B-B14F-4D97-AF65-F5344CB8AC3E}">
        <p14:creationId xmlns:p14="http://schemas.microsoft.com/office/powerpoint/2010/main" xmlns="" val="1758989400"/>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点法式</a:t>
            </a:r>
            <a:endParaRPr lang="zh-CN" altLang="en-US"/>
          </a:p>
        </p:txBody>
      </p:sp>
      <p:sp>
        <p:nvSpPr>
          <p:cNvPr id="3" name="内容占位符 2"/>
          <p:cNvSpPr>
            <a:spLocks noGrp="1"/>
          </p:cNvSpPr>
          <p:nvPr>
            <p:ph idx="1"/>
          </p:nvPr>
        </p:nvSpPr>
        <p:spPr/>
        <p:txBody>
          <a:bodyPr/>
          <a:lstStyle/>
          <a:p>
            <a:r>
              <a:rPr lang="zh-CN" altLang="en-US" smtClean="0"/>
              <a:t>与平面垂直，即与平面上一切矢量垂直的非零矢量叫做平面的</a:t>
            </a:r>
            <a:r>
              <a:rPr lang="zh-CN" altLang="en-US" b="1" smtClean="0">
                <a:solidFill>
                  <a:schemeClr val="accent4">
                    <a:lumMod val="60000"/>
                    <a:lumOff val="40000"/>
                  </a:schemeClr>
                </a:solidFill>
              </a:rPr>
              <a:t>法矢量</a:t>
            </a:r>
            <a:r>
              <a:rPr lang="zh-CN" altLang="en-US" smtClean="0"/>
              <a:t>。可以证明平面的所有法矢量平行。</a:t>
            </a:r>
            <a:endParaRPr lang="en-US" altLang="zh-CN" smtClean="0"/>
          </a:p>
          <a:p>
            <a:r>
              <a:rPr lang="zh-CN" altLang="en-US" smtClean="0"/>
              <a:t>记录平面的一个法矢量 </a:t>
            </a:r>
            <a:r>
              <a:rPr lang="en-US" altLang="zh-CN" b="1" i="1" smtClean="0">
                <a:latin typeface="Times New Roman" pitchFamily="18" charset="0"/>
                <a:cs typeface="Times New Roman" pitchFamily="18" charset="0"/>
              </a:rPr>
              <a:t>v</a:t>
            </a:r>
            <a:r>
              <a:rPr lang="zh-CN" altLang="en-US" smtClean="0"/>
              <a:t>，再记录平面上一点 </a:t>
            </a:r>
            <a:r>
              <a:rPr lang="en-US" altLang="zh-CN" i="1" smtClean="0">
                <a:latin typeface="Times New Roman" pitchFamily="18" charset="0"/>
                <a:cs typeface="Times New Roman" pitchFamily="18" charset="0"/>
              </a:rPr>
              <a:t>P</a:t>
            </a:r>
            <a:r>
              <a:rPr lang="zh-CN" altLang="en-US" smtClean="0"/>
              <a:t>，就可以完整表示整个平面了。</a:t>
            </a:r>
            <a:endParaRPr lang="en-US" altLang="zh-CN" smtClean="0"/>
          </a:p>
        </p:txBody>
      </p:sp>
    </p:spTree>
    <p:extLst>
      <p:ext uri="{BB962C8B-B14F-4D97-AF65-F5344CB8AC3E}">
        <p14:creationId xmlns:p14="http://schemas.microsoft.com/office/powerpoint/2010/main" xmlns="" val="188780476"/>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点到平面的距离</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dirty="0" smtClean="0"/>
                  <a:t>点 </a:t>
                </a:r>
                <a:r>
                  <a:rPr lang="en-US" altLang="zh-CN" i="1" dirty="0" smtClean="0">
                    <a:latin typeface="Times New Roman" pitchFamily="18" charset="0"/>
                    <a:cs typeface="Times New Roman" pitchFamily="18" charset="0"/>
                  </a:rPr>
                  <a:t>A</a:t>
                </a:r>
                <a:r>
                  <a:rPr lang="en-US" altLang="zh-CN" dirty="0" smtClean="0"/>
                  <a:t/>
                </a:r>
                <a:r>
                  <a:rPr lang="zh-CN" altLang="en-US" dirty="0" smtClean="0"/>
                  <a:t>到平面的距离，即为 </a:t>
                </a:r>
                <a14:m>
                  <m:oMath xmlns:m="http://schemas.openxmlformats.org/officeDocument/2006/math">
                    <m:r>
                      <a:rPr lang="en-US" altLang="zh-CN" b="0" i="1" smtClean="0">
                        <a:latin typeface="Cambria Math"/>
                      </a:rPr>
                      <m:t>𝐴</m:t>
                    </m:r>
                    <m:r>
                      <a:rPr lang="en-US" altLang="zh-CN" b="0" i="1" smtClean="0">
                        <a:latin typeface="Cambria Math"/>
                      </a:rPr>
                      <m:t>−</m:t>
                    </m:r>
                    <m:r>
                      <a:rPr lang="en-US" altLang="zh-CN" b="0" i="1" smtClean="0">
                        <a:latin typeface="Cambria Math"/>
                      </a:rPr>
                      <m:t>𝑃</m:t>
                    </m:r>
                  </m:oMath>
                </a14:m>
                <a:r>
                  <a:rPr lang="zh-CN" altLang="en-US" dirty="0" smtClean="0"/>
                  <a:t> 在 </a:t>
                </a:r>
                <a:r>
                  <a:rPr lang="en-US" altLang="zh-CN" b="1" i="1" dirty="0" smtClean="0">
                    <a:latin typeface="Times New Roman" pitchFamily="18" charset="0"/>
                    <a:cs typeface="Times New Roman" pitchFamily="18" charset="0"/>
                  </a:rPr>
                  <a:t>v</a:t>
                </a:r>
                <a:r>
                  <a:rPr lang="en-US" altLang="zh-CN" dirty="0" smtClean="0"/>
                  <a:t/>
                </a:r>
                <a:r>
                  <a:rPr lang="zh-CN" altLang="en-US" dirty="0" smtClean="0"/>
                  <a:t>上的投影长度。</a:t>
                </a:r>
                <a:endParaRPr lang="en-US" altLang="zh-CN" dirty="0" smtClean="0"/>
              </a:p>
              <a:p>
                <a14:m>
                  <m:oMath xmlns:m="http://schemas.openxmlformats.org/officeDocument/2006/math">
                    <m:r>
                      <a:rPr lang="en-US" altLang="zh-CN" b="0" i="1" smtClean="0">
                        <a:latin typeface="Cambria Math"/>
                      </a:rPr>
                      <m:t>𝑃</m:t>
                    </m:r>
                    <m:r>
                      <a:rPr lang="en-US" altLang="zh-CN" b="0" i="1" smtClean="0">
                        <a:latin typeface="Cambria Math"/>
                      </a:rPr>
                      <m:t>−</m:t>
                    </m:r>
                    <m:r>
                      <a:rPr lang="en-US" altLang="zh-CN" b="0" i="1" smtClean="0">
                        <a:latin typeface="Cambria Math"/>
                      </a:rPr>
                      <m:t>𝐴</m:t>
                    </m:r>
                  </m:oMath>
                </a14:m>
                <a:r>
                  <a:rPr lang="zh-CN" altLang="en-US" dirty="0" smtClean="0"/>
                  <a:t> 在 </a:t>
                </a:r>
                <a:r>
                  <a:rPr lang="en-US" altLang="zh-CN" b="1" i="1" dirty="0" smtClean="0">
                    <a:latin typeface="Times New Roman" pitchFamily="18" charset="0"/>
                    <a:cs typeface="Times New Roman" pitchFamily="18" charset="0"/>
                  </a:rPr>
                  <a:t>v</a:t>
                </a:r>
                <a:r>
                  <a:rPr lang="en-US" altLang="zh-CN" dirty="0" smtClean="0"/>
                  <a:t/>
                </a:r>
                <a:r>
                  <a:rPr lang="zh-CN" altLang="en-US" dirty="0" smtClean="0"/>
                  <a:t>上的投影我们也称做</a:t>
                </a:r>
                <a:r>
                  <a:rPr lang="zh-CN" altLang="en-US" b="1" dirty="0" smtClean="0">
                    <a:solidFill>
                      <a:schemeClr val="accent2">
                        <a:lumMod val="60000"/>
                        <a:lumOff val="40000"/>
                      </a:schemeClr>
                    </a:solidFill>
                  </a:rPr>
                  <a:t>垂直矢量</a:t>
                </a:r>
                <a:r>
                  <a:rPr lang="zh-CN" altLang="en-US" dirty="0" smtClean="0"/>
                  <a:t>。注意，我自己起的名字。</a:t>
                </a: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1200" r="-6667"/>
                </a:stretch>
              </a:blipFill>
            </p:spPr>
            <p:txBody>
              <a:bodyPr/>
              <a:lstStyle/>
              <a:p>
                <a:r>
                  <a:rPr lang="zh-CN" altLang="en-US">
                    <a:noFill/>
                  </a:rPr>
                  <a:t> </a:t>
                </a:r>
              </a:p>
            </p:txBody>
          </p:sp>
        </mc:Fallback>
      </mc:AlternateContent>
      <p:pic>
        <p:nvPicPr>
          <p:cNvPr id="4" name="图片 3"/>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2627784" y="4149080"/>
            <a:ext cx="4252912" cy="2454324"/>
          </a:xfrm>
          <a:prstGeom prst="rect">
            <a:avLst/>
          </a:prstGeom>
        </p:spPr>
      </p:pic>
    </p:spTree>
    <p:extLst>
      <p:ext uri="{BB962C8B-B14F-4D97-AF65-F5344CB8AC3E}">
        <p14:creationId xmlns:p14="http://schemas.microsoft.com/office/powerpoint/2010/main" xmlns="" val="2620397225"/>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直线与平面的交点</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smtClean="0"/>
                  <a:t>设直线经过点 </a:t>
                </a:r>
                <a:r>
                  <a:rPr lang="en-US" altLang="zh-CN" i="1">
                    <a:latin typeface="Times New Roman" pitchFamily="18" charset="0"/>
                    <a:cs typeface="Times New Roman" pitchFamily="18" charset="0"/>
                  </a:rPr>
                  <a:t>A</a:t>
                </a:r>
                <a:r>
                  <a:rPr lang="zh-CN" altLang="en-US"/>
                  <a:t>，方向矢量为 </a:t>
                </a:r>
                <a:r>
                  <a:rPr lang="en-US" altLang="zh-CN" b="1" i="1">
                    <a:latin typeface="Times New Roman" pitchFamily="18" charset="0"/>
                    <a:cs typeface="Times New Roman" pitchFamily="18" charset="0"/>
                  </a:rPr>
                  <a:t>v</a:t>
                </a:r>
                <a:r>
                  <a:rPr lang="en-US" altLang="zh-CN"/>
                  <a:t>.  </a:t>
                </a:r>
                <a:r>
                  <a:rPr lang="zh-CN" altLang="en-US"/>
                  <a:t>记 </a:t>
                </a:r>
                <a:r>
                  <a:rPr lang="en-US" altLang="zh-CN" i="1">
                    <a:latin typeface="Times New Roman" pitchFamily="18" charset="0"/>
                    <a:cs typeface="Times New Roman" pitchFamily="18" charset="0"/>
                  </a:rPr>
                  <a:t>A</a:t>
                </a:r>
                <a:r>
                  <a:rPr lang="en-US" altLang="zh-CN"/>
                  <a:t/>
                </a:r>
                <a:r>
                  <a:rPr lang="zh-CN" altLang="en-US"/>
                  <a:t>到平面的垂直矢量为 </a:t>
                </a:r>
                <a:r>
                  <a:rPr lang="en-US" altLang="zh-CN" b="1" i="1">
                    <a:latin typeface="Times New Roman" pitchFamily="18" charset="0"/>
                    <a:cs typeface="Times New Roman" pitchFamily="18" charset="0"/>
                  </a:rPr>
                  <a:t>h</a:t>
                </a:r>
                <a:r>
                  <a:rPr lang="zh-CN" altLang="en-US"/>
                  <a:t>。</a:t>
                </a:r>
                <a:endParaRPr lang="en-US" altLang="zh-CN"/>
              </a:p>
              <a:p>
                <a:r>
                  <a:rPr lang="zh-CN" altLang="en-US" smtClean="0"/>
                  <a:t>若 </a:t>
                </a:r>
                <a14:m>
                  <m:oMath xmlns:m="http://schemas.openxmlformats.org/officeDocument/2006/math">
                    <m:r>
                      <a:rPr lang="en-US" altLang="zh-CN" b="1" i="1" smtClean="0">
                        <a:latin typeface="Cambria Math"/>
                      </a:rPr>
                      <m:t>𝒗</m:t>
                    </m:r>
                    <m:r>
                      <a:rPr lang="en-US" altLang="zh-CN" b="0" i="1" smtClean="0">
                        <a:latin typeface="Cambria Math"/>
                      </a:rPr>
                      <m:t>⋅</m:t>
                    </m:r>
                    <m:r>
                      <a:rPr lang="en-US" altLang="zh-CN" b="1" i="1" smtClean="0">
                        <a:latin typeface="Cambria Math"/>
                      </a:rPr>
                      <m:t>𝒉</m:t>
                    </m:r>
                    <m:r>
                      <a:rPr lang="en-US" altLang="zh-CN" b="0" i="1" smtClean="0">
                        <a:latin typeface="Cambria Math"/>
                      </a:rPr>
                      <m:t>=0</m:t>
                    </m:r>
                  </m:oMath>
                </a14:m>
                <a:r>
                  <a:rPr lang="zh-CN" altLang="en-US" smtClean="0"/>
                  <a:t>，则直线与平面平行。直线可能落在平面上，也可能与平面没有重合部分。</a:t>
                </a:r>
                <a:endParaRPr lang="en-US" altLang="zh-CN" smtClean="0"/>
              </a:p>
              <a:p>
                <a:r>
                  <a:rPr lang="zh-CN" altLang="en-US" smtClean="0"/>
                  <a:t>否则</a:t>
                </a:r>
                <a:r>
                  <a:rPr lang="en-US" altLang="zh-CN" smtClean="0"/>
                  <a:t>……</a:t>
                </a:r>
                <a:endParaRPr lang="zh-CN" altLang="en-US"/>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2121744966"/>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直线与平面的交点</a:t>
            </a:r>
          </a:p>
        </p:txBody>
      </p:sp>
      <mc:AlternateContent xmlns:mc="http://schemas.openxmlformats.org/markup-compatibility/2006">
        <mc:Choice xmlns:a14="http://schemas.microsoft.com/office/drawing/2010/main" xmlns="" Requires="a14">
          <p:sp>
            <p:nvSpPr>
              <p:cNvPr id="3" name="内容占位符 2"/>
              <p:cNvSpPr>
                <a:spLocks noGrp="1"/>
              </p:cNvSpPr>
              <p:nvPr>
                <p:ph sz="half" idx="1"/>
              </p:nvPr>
            </p:nvSpPr>
            <p:spPr/>
            <p:txBody>
              <a:bodyPr>
                <a:normAutofit/>
              </a:bodyPr>
              <a:lstStyle/>
              <a:p>
                <a:r>
                  <a:rPr lang="zh-CN" altLang="en-US" dirty="0" smtClean="0"/>
                  <a:t>目的是通过缩放 </a:t>
                </a:r>
                <a:r>
                  <a:rPr lang="en-US" altLang="zh-CN" b="1" i="1" dirty="0" smtClean="0">
                    <a:latin typeface="Times New Roman" pitchFamily="18" charset="0"/>
                    <a:cs typeface="Times New Roman" pitchFamily="18" charset="0"/>
                  </a:rPr>
                  <a:t>v </a:t>
                </a:r>
                <a:r>
                  <a:rPr lang="zh-CN" altLang="en-US" dirty="0" smtClean="0">
                    <a:latin typeface="Times New Roman" pitchFamily="18" charset="0"/>
                    <a:cs typeface="Times New Roman" pitchFamily="18" charset="0"/>
                  </a:rPr>
                  <a:t>得到 </a:t>
                </a:r>
                <a:r>
                  <a:rPr lang="en-US" altLang="zh-CN" b="1" i="1" dirty="0" smtClean="0">
                    <a:latin typeface="Times New Roman" pitchFamily="18" charset="0"/>
                    <a:cs typeface="Times New Roman" pitchFamily="18" charset="0"/>
                  </a:rPr>
                  <a:t>v</a:t>
                </a:r>
                <a:r>
                  <a:rPr lang="en-US" altLang="zh-CN" baseline="-25000" dirty="0" smtClean="0">
                    <a:latin typeface="Times New Roman" pitchFamily="18" charset="0"/>
                    <a:cs typeface="Times New Roman" pitchFamily="18" charset="0"/>
                  </a:rPr>
                  <a:t>0</a:t>
                </a:r>
                <a:r>
                  <a:rPr lang="zh-CN" altLang="en-US" dirty="0" smtClean="0"/>
                  <a:t>，使得 </a:t>
                </a:r>
                <a:r>
                  <a:rPr lang="en-US" altLang="zh-CN" b="1" i="1" dirty="0" smtClean="0">
                    <a:latin typeface="Times New Roman" pitchFamily="18" charset="0"/>
                    <a:cs typeface="Times New Roman" pitchFamily="18" charset="0"/>
                  </a:rPr>
                  <a:t>v</a:t>
                </a:r>
                <a:r>
                  <a:rPr lang="en-US" altLang="zh-CN" baseline="-25000" dirty="0" smtClean="0">
                    <a:latin typeface="Times New Roman" pitchFamily="18" charset="0"/>
                    <a:cs typeface="Times New Roman" pitchFamily="18" charset="0"/>
                  </a:rPr>
                  <a:t>0</a:t>
                </a:r>
                <a:r>
                  <a:rPr lang="en-US" altLang="zh-CN" dirty="0" smtClean="0"/>
                  <a:t/>
                </a:r>
                <a:r>
                  <a:rPr lang="zh-CN" altLang="en-US" dirty="0" smtClean="0"/>
                  <a:t>到 </a:t>
                </a:r>
                <a:r>
                  <a:rPr lang="en-US" altLang="zh-CN" b="1" i="1" dirty="0" smtClean="0">
                    <a:latin typeface="Times New Roman" pitchFamily="18" charset="0"/>
                    <a:cs typeface="Times New Roman" pitchFamily="18" charset="0"/>
                  </a:rPr>
                  <a:t>h</a:t>
                </a:r>
                <a:r>
                  <a:rPr lang="en-US" altLang="zh-CN" dirty="0" smtClean="0"/>
                  <a:t/>
                </a:r>
                <a:r>
                  <a:rPr lang="zh-CN" altLang="en-US" dirty="0" smtClean="0"/>
                  <a:t>的投影等于 </a:t>
                </a:r>
                <a:r>
                  <a:rPr lang="en-US" altLang="zh-CN" b="1" i="1" dirty="0" smtClean="0">
                    <a:latin typeface="Times New Roman" pitchFamily="18" charset="0"/>
                    <a:cs typeface="Times New Roman" pitchFamily="18" charset="0"/>
                  </a:rPr>
                  <a:t>h</a:t>
                </a:r>
                <a:r>
                  <a:rPr lang="zh-CN" altLang="en-US" dirty="0" smtClean="0"/>
                  <a:t>。即 </a:t>
                </a:r>
                <a14:m>
                  <m:oMath xmlns:m="http://schemas.openxmlformats.org/officeDocument/2006/math">
                    <m:sSub>
                      <m:sSubPr>
                        <m:ctrlPr>
                          <a:rPr lang="en-US" altLang="zh-CN" b="0" i="1" smtClean="0">
                            <a:latin typeface="Cambria Math"/>
                          </a:rPr>
                        </m:ctrlPr>
                      </m:sSubPr>
                      <m:e>
                        <m:r>
                          <a:rPr lang="en-US" altLang="zh-CN" b="1" i="1">
                            <a:latin typeface="Cambria Math"/>
                          </a:rPr>
                          <m:t>𝒗</m:t>
                        </m:r>
                      </m:e>
                      <m:sub>
                        <m:r>
                          <a:rPr lang="en-US" altLang="zh-CN" b="0" i="1" smtClean="0">
                            <a:latin typeface="Cambria Math"/>
                          </a:rPr>
                          <m:t>0</m:t>
                        </m:r>
                      </m:sub>
                    </m:sSub>
                    <m:r>
                      <a:rPr lang="en-US" altLang="zh-CN" b="0" i="1" smtClean="0">
                        <a:latin typeface="Cambria Math"/>
                      </a:rPr>
                      <m:t>⋅</m:t>
                    </m:r>
                    <m:r>
                      <a:rPr lang="en-US" altLang="zh-CN" b="1" i="1" smtClean="0">
                        <a:latin typeface="Cambria Math"/>
                      </a:rPr>
                      <m:t>𝒉</m:t>
                    </m:r>
                    <m:r>
                      <a:rPr lang="en-US" altLang="zh-CN" b="0" i="1" smtClean="0">
                        <a:latin typeface="Cambria Math"/>
                      </a:rPr>
                      <m:t>=</m:t>
                    </m:r>
                    <m:sSup>
                      <m:sSupPr>
                        <m:ctrlPr>
                          <a:rPr lang="en-US" altLang="zh-CN" b="0" i="1" smtClean="0">
                            <a:latin typeface="Cambria Math"/>
                          </a:rPr>
                        </m:ctrlPr>
                      </m:sSupPr>
                      <m:e>
                        <m:r>
                          <a:rPr lang="en-US" altLang="zh-CN" b="1" i="1" smtClean="0">
                            <a:latin typeface="Cambria Math"/>
                          </a:rPr>
                          <m:t>𝒉</m:t>
                        </m:r>
                      </m:e>
                      <m:sup>
                        <m:r>
                          <a:rPr lang="en-US" altLang="zh-CN" b="0" i="1" smtClean="0">
                            <a:latin typeface="Cambria Math"/>
                          </a:rPr>
                          <m:t>2</m:t>
                        </m:r>
                      </m:sup>
                    </m:sSup>
                  </m:oMath>
                </a14:m>
                <a:r>
                  <a:rPr lang="en-US" altLang="zh-CN" dirty="0" smtClean="0"/>
                  <a:t>.</a:t>
                </a:r>
              </a:p>
              <a:p>
                <a:r>
                  <a:rPr lang="zh-CN" altLang="en-US" dirty="0" smtClean="0"/>
                  <a:t>故 </a:t>
                </a:r>
                <a14:m>
                  <m:oMath xmlns:m="http://schemas.openxmlformats.org/officeDocument/2006/math">
                    <m:sSub>
                      <m:sSubPr>
                        <m:ctrlPr>
                          <a:rPr lang="en-US" altLang="zh-CN" b="0" i="1" smtClean="0">
                            <a:latin typeface="Cambria Math"/>
                          </a:rPr>
                        </m:ctrlPr>
                      </m:sSubPr>
                      <m:e>
                        <m:r>
                          <a:rPr lang="en-US" altLang="zh-CN" b="1" i="1" smtClean="0">
                            <a:latin typeface="Cambria Math"/>
                          </a:rPr>
                          <m:t>𝒗</m:t>
                        </m:r>
                      </m:e>
                      <m:sub>
                        <m:r>
                          <a:rPr lang="en-US" altLang="zh-CN" b="0" i="1" smtClean="0">
                            <a:latin typeface="Cambria Math"/>
                          </a:rPr>
                          <m:t>0</m:t>
                        </m:r>
                      </m:sub>
                    </m:sSub>
                    <m:r>
                      <a:rPr lang="en-US" altLang="zh-CN" b="0" i="1" smtClean="0">
                        <a:latin typeface="Cambria Math"/>
                      </a:rPr>
                      <m:t>=</m:t>
                    </m:r>
                    <m:r>
                      <a:rPr lang="en-US" altLang="zh-CN" b="1" i="1" smtClean="0">
                        <a:latin typeface="Cambria Math"/>
                      </a:rPr>
                      <m:t>𝒗</m:t>
                    </m:r>
                    <m:f>
                      <m:fPr>
                        <m:ctrlPr>
                          <a:rPr lang="en-US" altLang="zh-CN" b="0" i="1" smtClean="0">
                            <a:latin typeface="Cambria Math"/>
                          </a:rPr>
                        </m:ctrlPr>
                      </m:fPr>
                      <m:num>
                        <m:sSup>
                          <m:sSupPr>
                            <m:ctrlPr>
                              <a:rPr lang="en-US" altLang="zh-CN" b="0" i="1" smtClean="0">
                                <a:latin typeface="Cambria Math"/>
                              </a:rPr>
                            </m:ctrlPr>
                          </m:sSupPr>
                          <m:e>
                            <m:r>
                              <a:rPr lang="en-US" altLang="zh-CN" b="1" i="1" smtClean="0">
                                <a:latin typeface="Cambria Math"/>
                              </a:rPr>
                              <m:t>𝒉</m:t>
                            </m:r>
                          </m:e>
                          <m:sup>
                            <m:r>
                              <a:rPr lang="en-US" altLang="zh-CN" b="0" i="1" smtClean="0">
                                <a:latin typeface="Cambria Math"/>
                              </a:rPr>
                              <m:t>2</m:t>
                            </m:r>
                          </m:sup>
                        </m:sSup>
                      </m:num>
                      <m:den>
                        <m:r>
                          <a:rPr lang="en-US" altLang="zh-CN" b="1" i="1" smtClean="0">
                            <a:latin typeface="Cambria Math"/>
                          </a:rPr>
                          <m:t>𝒗</m:t>
                        </m:r>
                        <m:r>
                          <a:rPr lang="en-US" altLang="zh-CN" b="0" i="1" smtClean="0">
                            <a:latin typeface="Cambria Math"/>
                          </a:rPr>
                          <m:t>⋅</m:t>
                        </m:r>
                        <m:r>
                          <a:rPr lang="en-US" altLang="zh-CN" b="1" i="1" smtClean="0">
                            <a:latin typeface="Cambria Math"/>
                          </a:rPr>
                          <m:t>𝒉</m:t>
                        </m:r>
                      </m:den>
                    </m:f>
                  </m:oMath>
                </a14:m>
                <a:r>
                  <a:rPr lang="zh-CN" altLang="en-US" dirty="0" smtClean="0"/>
                  <a:t>，</a:t>
                </a:r>
                <a14:m>
                  <m:oMath xmlns:m="http://schemas.openxmlformats.org/officeDocument/2006/math">
                    <m:r>
                      <a:rPr lang="en-US" altLang="zh-CN" i="1">
                        <a:latin typeface="Cambria Math"/>
                      </a:rPr>
                      <m:t>𝐴</m:t>
                    </m:r>
                    <m:r>
                      <a:rPr lang="en-US" altLang="zh-CN" b="0" i="1" smtClean="0">
                        <a:latin typeface="Cambria Math"/>
                      </a:rPr>
                      <m:t>+</m:t>
                    </m:r>
                    <m:sSub>
                      <m:sSubPr>
                        <m:ctrlPr>
                          <a:rPr lang="en-US" altLang="zh-CN" b="0" i="1" smtClean="0">
                            <a:latin typeface="Cambria Math"/>
                          </a:rPr>
                        </m:ctrlPr>
                      </m:sSubPr>
                      <m:e>
                        <m:r>
                          <a:rPr lang="en-US" altLang="zh-CN" b="1" i="1" smtClean="0">
                            <a:latin typeface="Cambria Math"/>
                          </a:rPr>
                          <m:t>𝒗</m:t>
                        </m:r>
                      </m:e>
                      <m:sub>
                        <m:r>
                          <a:rPr lang="en-US" altLang="zh-CN" b="0" i="1" smtClean="0">
                            <a:latin typeface="Cambria Math"/>
                          </a:rPr>
                          <m:t>0</m:t>
                        </m:r>
                      </m:sub>
                    </m:sSub>
                    <m:r>
                      <a:rPr lang="en-US" altLang="zh-CN" b="0" i="1" smtClean="0">
                        <a:latin typeface="Cambria Math"/>
                      </a:rPr>
                      <m:t> </m:t>
                    </m:r>
                  </m:oMath>
                </a14:m>
                <a:r>
                  <a:rPr lang="zh-CN" altLang="en-US" dirty="0" smtClean="0"/>
                  <a:t> 即为所求交点。</a:t>
                </a: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sz="half" idx="1"/>
              </p:nvPr>
            </p:nvSpPr>
            <p:spPr>
              <a:blipFill rotWithShape="1">
                <a:blip r:embed="rId2"/>
                <a:stretch>
                  <a:fillRect l="-770" t="-942" r="-770"/>
                </a:stretch>
              </a:blipFill>
            </p:spPr>
            <p:txBody>
              <a:bodyPr/>
              <a:lstStyle/>
              <a:p>
                <a:r>
                  <a:rPr lang="zh-CN" altLang="en-US">
                    <a:noFill/>
                  </a:rPr>
                  <a:t> </a:t>
                </a:r>
              </a:p>
            </p:txBody>
          </p:sp>
        </mc:Fallback>
      </mc:AlternateContent>
      <p:pic>
        <p:nvPicPr>
          <p:cNvPr id="5" name="内容占位符 4"/>
          <p:cNvPicPr>
            <a:picLocks noGrp="1" noChangeAspect="1"/>
          </p:cNvPicPr>
          <p:nvPr>
            <p:ph sz="half" idx="2"/>
          </p:nvPr>
        </p:nvPicPr>
        <p:blipFill>
          <a:blip r:embed="rId3">
            <a:extLst>
              <a:ext uri="{28A0092B-C50C-407E-A947-70E740481C1C}">
                <a14:useLocalDpi xmlns:a14="http://schemas.microsoft.com/office/drawing/2010/main" xmlns="" val="0"/>
              </a:ext>
            </a:extLst>
          </a:blip>
          <a:stretch>
            <a:fillRect/>
          </a:stretch>
        </p:blipFill>
        <p:spPr>
          <a:xfrm>
            <a:off x="5003801" y="2802229"/>
            <a:ext cx="3889373" cy="2461629"/>
          </a:xfrm>
        </p:spPr>
      </p:pic>
    </p:spTree>
    <p:extLst>
      <p:ext uri="{BB962C8B-B14F-4D97-AF65-F5344CB8AC3E}">
        <p14:creationId xmlns:p14="http://schemas.microsoft.com/office/powerpoint/2010/main" xmlns="" val="2032648515"/>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平面与平面的交线</a:t>
            </a:r>
            <a:endParaRPr lang="zh-CN" altLang="en-US"/>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normAutofit lnSpcReduction="10000"/>
              </a:bodyPr>
              <a:lstStyle/>
              <a:p>
                <a:r>
                  <a:rPr lang="zh-CN" altLang="en-US" dirty="0" smtClean="0"/>
                  <a:t>设两个平面的法矢量为 </a:t>
                </a:r>
                <a:r>
                  <a:rPr lang="en-US" altLang="zh-CN" b="1" i="1" dirty="0" smtClean="0">
                    <a:latin typeface="Times New Roman" pitchFamily="18" charset="0"/>
                    <a:cs typeface="Times New Roman" pitchFamily="18" charset="0"/>
                  </a:rPr>
                  <a:t>h</a:t>
                </a:r>
                <a:r>
                  <a:rPr lang="en-US" altLang="zh-CN" baseline="-25000" dirty="0" smtClean="0">
                    <a:latin typeface="Times New Roman" pitchFamily="18" charset="0"/>
                    <a:cs typeface="Times New Roman" pitchFamily="18" charset="0"/>
                  </a:rPr>
                  <a:t>1</a:t>
                </a:r>
                <a:r>
                  <a:rPr lang="en-US" altLang="zh-CN" dirty="0" smtClean="0">
                    <a:latin typeface="Times New Roman" pitchFamily="18" charset="0"/>
                    <a:cs typeface="Times New Roman" pitchFamily="18" charset="0"/>
                  </a:rPr>
                  <a:t>, </a:t>
                </a:r>
                <a:r>
                  <a:rPr lang="en-US" altLang="zh-CN" b="1" i="1" dirty="0" smtClean="0">
                    <a:latin typeface="Times New Roman" pitchFamily="18" charset="0"/>
                    <a:cs typeface="Times New Roman" pitchFamily="18" charset="0"/>
                  </a:rPr>
                  <a:t>h</a:t>
                </a:r>
                <a:r>
                  <a:rPr lang="en-US" altLang="zh-CN" baseline="-25000" dirty="0" smtClean="0">
                    <a:latin typeface="Times New Roman" pitchFamily="18" charset="0"/>
                    <a:cs typeface="Times New Roman" pitchFamily="18" charset="0"/>
                  </a:rPr>
                  <a:t>2.  </a:t>
                </a:r>
                <a:r>
                  <a:rPr lang="zh-CN" altLang="en-US" dirty="0" smtClean="0"/>
                  <a:t>若它们平行，则两平面平行。它们可能重合，或者没有公共点。</a:t>
                </a:r>
                <a:endParaRPr lang="en-US" altLang="zh-CN" dirty="0" smtClean="0"/>
              </a:p>
              <a:p>
                <a:r>
                  <a:rPr lang="zh-CN" altLang="en-US" dirty="0" smtClean="0"/>
                  <a:t>否则，交线的方向矢量与 </a:t>
                </a:r>
                <a:r>
                  <a:rPr lang="en-US" altLang="zh-CN" b="1" i="1" dirty="0">
                    <a:latin typeface="Times New Roman" pitchFamily="18" charset="0"/>
                    <a:cs typeface="Times New Roman" pitchFamily="18" charset="0"/>
                  </a:rPr>
                  <a:t>h</a:t>
                </a:r>
                <a:r>
                  <a:rPr lang="en-US" altLang="zh-CN" baseline="-25000" dirty="0">
                    <a:latin typeface="Times New Roman" pitchFamily="18" charset="0"/>
                    <a:cs typeface="Times New Roman" pitchFamily="18" charset="0"/>
                  </a:rPr>
                  <a:t>1</a:t>
                </a:r>
                <a:r>
                  <a:rPr lang="en-US" altLang="zh-CN" dirty="0">
                    <a:latin typeface="Times New Roman" pitchFamily="18" charset="0"/>
                    <a:cs typeface="Times New Roman" pitchFamily="18" charset="0"/>
                  </a:rPr>
                  <a:t>, </a:t>
                </a:r>
                <a:r>
                  <a:rPr lang="en-US" altLang="zh-CN" b="1" i="1" dirty="0" smtClean="0">
                    <a:latin typeface="Times New Roman" pitchFamily="18" charset="0"/>
                    <a:cs typeface="Times New Roman" pitchFamily="18" charset="0"/>
                  </a:rPr>
                  <a:t>h</a:t>
                </a:r>
                <a:r>
                  <a:rPr lang="en-US" altLang="zh-CN" baseline="-25000" dirty="0" smtClean="0">
                    <a:latin typeface="Times New Roman" pitchFamily="18" charset="0"/>
                    <a:cs typeface="Times New Roman" pitchFamily="18" charset="0"/>
                  </a:rPr>
                  <a:t>2 </a:t>
                </a:r>
                <a:r>
                  <a:rPr lang="zh-CN" altLang="en-US" dirty="0">
                    <a:latin typeface="Times New Roman" pitchFamily="18" charset="0"/>
                    <a:cs typeface="Times New Roman" pitchFamily="18" charset="0"/>
                  </a:rPr>
                  <a:t>垂直</a:t>
                </a:r>
                <a:r>
                  <a:rPr lang="zh-CN" altLang="en-US" dirty="0" smtClean="0">
                    <a:latin typeface="Times New Roman" pitchFamily="18" charset="0"/>
                    <a:cs typeface="Times New Roman" pitchFamily="18" charset="0"/>
                  </a:rPr>
                  <a:t>，即为 </a:t>
                </a:r>
                <a14:m>
                  <m:oMath xmlns:m="http://schemas.openxmlformats.org/officeDocument/2006/math">
                    <m:sSub>
                      <m:sSubPr>
                        <m:ctrlPr>
                          <a:rPr lang="en-US" altLang="zh-CN" b="0" i="1" smtClean="0">
                            <a:latin typeface="Cambria Math"/>
                            <a:cs typeface="Times New Roman" pitchFamily="18" charset="0"/>
                          </a:rPr>
                        </m:ctrlPr>
                      </m:sSubPr>
                      <m:e>
                        <m:r>
                          <a:rPr lang="en-US" altLang="zh-CN" b="1" i="1" smtClean="0">
                            <a:latin typeface="Cambria Math"/>
                            <a:cs typeface="Times New Roman" pitchFamily="18" charset="0"/>
                          </a:rPr>
                          <m:t>𝒉</m:t>
                        </m:r>
                      </m:e>
                      <m:sub>
                        <m:r>
                          <a:rPr lang="en-US" altLang="zh-CN" b="0" i="1" smtClean="0">
                            <a:latin typeface="Cambria Math"/>
                            <a:cs typeface="Times New Roman" pitchFamily="18" charset="0"/>
                          </a:rPr>
                          <m:t>1</m:t>
                        </m:r>
                      </m:sub>
                    </m:sSub>
                    <m:r>
                      <a:rPr lang="en-US" altLang="zh-CN" b="0" i="1" smtClean="0">
                        <a:latin typeface="Cambria Math"/>
                        <a:cs typeface="Times New Roman" pitchFamily="18" charset="0"/>
                      </a:rPr>
                      <m:t>×</m:t>
                    </m:r>
                    <m:sSub>
                      <m:sSubPr>
                        <m:ctrlPr>
                          <a:rPr lang="en-US" altLang="zh-CN" b="0" i="1" smtClean="0">
                            <a:latin typeface="Cambria Math"/>
                            <a:cs typeface="Times New Roman" pitchFamily="18" charset="0"/>
                          </a:rPr>
                        </m:ctrlPr>
                      </m:sSubPr>
                      <m:e>
                        <m:r>
                          <a:rPr lang="en-US" altLang="zh-CN" b="1" i="1" smtClean="0">
                            <a:latin typeface="Cambria Math"/>
                            <a:cs typeface="Times New Roman" pitchFamily="18" charset="0"/>
                          </a:rPr>
                          <m:t>𝒉</m:t>
                        </m:r>
                      </m:e>
                      <m:sub>
                        <m:r>
                          <a:rPr lang="en-US" altLang="zh-CN" b="0" i="1" smtClean="0">
                            <a:latin typeface="Cambria Math"/>
                            <a:cs typeface="Times New Roman" pitchFamily="18" charset="0"/>
                          </a:rPr>
                          <m:t>2</m:t>
                        </m:r>
                      </m:sub>
                    </m:sSub>
                  </m:oMath>
                </a14:m>
                <a:r>
                  <a:rPr lang="en-US" altLang="zh-CN" dirty="0" smtClean="0"/>
                  <a:t>.  </a:t>
                </a:r>
                <a:r>
                  <a:rPr lang="zh-CN" altLang="en-US" dirty="0" smtClean="0"/>
                  <a:t>剩下的工作就是求交线上一点。</a:t>
                </a:r>
                <a:endParaRPr lang="en-US" altLang="zh-CN" dirty="0" smtClean="0"/>
              </a:p>
              <a:p>
                <a:r>
                  <a:rPr lang="zh-CN" altLang="en-US" dirty="0" smtClean="0"/>
                  <a:t>可以随机生成一条在第一个平面上的，且不与第二个平面平行的直线与第二个平面求交来确定此点。</a:t>
                </a: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314" t="-933" r="-392"/>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3278554006"/>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二面角</a:t>
            </a:r>
            <a:endParaRPr lang="zh-CN" altLang="en-US"/>
          </a:p>
        </p:txBody>
      </p:sp>
      <p:sp>
        <p:nvSpPr>
          <p:cNvPr id="3" name="内容占位符 2"/>
          <p:cNvSpPr>
            <a:spLocks noGrp="1"/>
          </p:cNvSpPr>
          <p:nvPr>
            <p:ph idx="1"/>
          </p:nvPr>
        </p:nvSpPr>
        <p:spPr/>
        <p:txBody>
          <a:bodyPr/>
          <a:lstStyle/>
          <a:p>
            <a:r>
              <a:rPr lang="zh-CN" altLang="en-US" smtClean="0"/>
              <a:t>就是两个平面的法矢量的夹角啦。</a:t>
            </a:r>
            <a:endParaRPr lang="zh-CN" altLang="en-US"/>
          </a:p>
        </p:txBody>
      </p:sp>
    </p:spTree>
    <p:extLst>
      <p:ext uri="{BB962C8B-B14F-4D97-AF65-F5344CB8AC3E}">
        <p14:creationId xmlns:p14="http://schemas.microsoft.com/office/powerpoint/2010/main" xmlns="" val="122107020"/>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平面上点的二维投影</a:t>
            </a:r>
            <a:endParaRPr lang="zh-CN" altLang="en-US" dirty="0"/>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dirty="0" smtClean="0"/>
                  <a:t>有时一些几何对象出现在同一个平面上。我们希望给予平面上每一个点一个</a:t>
                </a:r>
                <a:r>
                  <a:rPr lang="zh-CN" altLang="en-US" b="1" dirty="0" smtClean="0">
                    <a:solidFill>
                      <a:schemeClr val="accent4">
                        <a:lumMod val="60000"/>
                        <a:lumOff val="40000"/>
                      </a:schemeClr>
                    </a:solidFill>
                  </a:rPr>
                  <a:t>二维坐标</a:t>
                </a:r>
                <a:r>
                  <a:rPr lang="zh-CN" altLang="en-US" dirty="0" smtClean="0"/>
                  <a:t>，</a:t>
                </a:r>
                <a:r>
                  <a:rPr lang="zh-CN" altLang="en-US" b="1" dirty="0" smtClean="0">
                    <a:solidFill>
                      <a:schemeClr val="accent2">
                        <a:lumMod val="60000"/>
                        <a:lumOff val="40000"/>
                      </a:schemeClr>
                    </a:solidFill>
                  </a:rPr>
                  <a:t>从而把问题转化为一个二维问题加以解决</a:t>
                </a:r>
                <a:r>
                  <a:rPr lang="zh-CN" altLang="en-US" dirty="0" smtClean="0"/>
                  <a:t>。</a:t>
                </a:r>
                <a:endParaRPr lang="en-US" altLang="zh-CN" dirty="0" smtClean="0"/>
              </a:p>
              <a:p>
                <a:r>
                  <a:rPr lang="zh-CN" altLang="en-US" dirty="0"/>
                  <a:t>我们</a:t>
                </a:r>
                <a:r>
                  <a:rPr lang="zh-CN" altLang="en-US" dirty="0" smtClean="0"/>
                  <a:t>需要在平面上指定一个点 </a:t>
                </a:r>
                <a:r>
                  <a:rPr lang="en-US" altLang="zh-CN" i="1" dirty="0" smtClean="0">
                    <a:latin typeface="Times New Roman" pitchFamily="18" charset="0"/>
                    <a:cs typeface="Times New Roman" pitchFamily="18" charset="0"/>
                  </a:rPr>
                  <a:t>O</a:t>
                </a:r>
                <a:r>
                  <a:rPr lang="en-US" altLang="zh-CN" dirty="0" smtClean="0"/>
                  <a:t/>
                </a:r>
                <a:r>
                  <a:rPr lang="zh-CN" altLang="en-US" dirty="0" smtClean="0"/>
                  <a:t>作为原点，以及一个矢量 </a:t>
                </a:r>
                <a:r>
                  <a:rPr lang="en-US" altLang="zh-CN" b="1" i="1" dirty="0" smtClean="0">
                    <a:latin typeface="Times New Roman" pitchFamily="18" charset="0"/>
                    <a:cs typeface="Times New Roman" pitchFamily="18" charset="0"/>
                  </a:rPr>
                  <a:t>x</a:t>
                </a:r>
                <a:r>
                  <a:rPr lang="en-US" altLang="zh-CN" dirty="0" smtClean="0"/>
                  <a:t/>
                </a:r>
                <a:r>
                  <a:rPr lang="zh-CN" altLang="en-US" dirty="0" smtClean="0"/>
                  <a:t>作为横轴。即 </a:t>
                </a:r>
                <a14:m>
                  <m:oMath xmlns:m="http://schemas.openxmlformats.org/officeDocument/2006/math">
                    <m:r>
                      <a:rPr lang="en-US" altLang="zh-CN" b="1" i="1" smtClean="0">
                        <a:latin typeface="Cambria Math"/>
                      </a:rPr>
                      <m:t>𝒗</m:t>
                    </m:r>
                    <m:r>
                      <a:rPr lang="en-US" altLang="zh-CN" b="0" i="1" smtClean="0">
                        <a:latin typeface="Cambria Math"/>
                      </a:rPr>
                      <m:t>⋅</m:t>
                    </m:r>
                    <m:r>
                      <a:rPr lang="en-US" altLang="zh-CN" b="1" i="1" smtClean="0">
                        <a:latin typeface="Cambria Math"/>
                      </a:rPr>
                      <m:t>𝒙</m:t>
                    </m:r>
                    <m:r>
                      <a:rPr lang="en-US" altLang="zh-CN" b="0" i="1" smtClean="0">
                        <a:latin typeface="Cambria Math"/>
                      </a:rPr>
                      <m:t>=0</m:t>
                    </m:r>
                  </m:oMath>
                </a14:m>
                <a:r>
                  <a:rPr lang="en-US" altLang="zh-CN" dirty="0" smtClean="0"/>
                  <a:t>.  </a:t>
                </a: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400" r="-3294"/>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61465839"/>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平面上点的二维投影</a:t>
            </a:r>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dirty="0" smtClean="0"/>
                  <a:t>此时，取 </a:t>
                </a:r>
                <a14:m>
                  <m:oMath xmlns:m="http://schemas.openxmlformats.org/officeDocument/2006/math">
                    <m:r>
                      <a:rPr lang="en-US" altLang="zh-CN" b="1" i="1" smtClean="0">
                        <a:latin typeface="Cambria Math"/>
                      </a:rPr>
                      <m:t>𝒚</m:t>
                    </m:r>
                    <m:r>
                      <a:rPr lang="en-US" altLang="zh-CN" b="0" i="1" smtClean="0">
                        <a:latin typeface="Cambria Math"/>
                      </a:rPr>
                      <m:t>=</m:t>
                    </m:r>
                    <m:r>
                      <a:rPr lang="en-US" altLang="zh-CN" b="1" i="1" smtClean="0">
                        <a:latin typeface="Cambria Math"/>
                      </a:rPr>
                      <m:t>𝒗</m:t>
                    </m:r>
                    <m:r>
                      <a:rPr lang="en-US" altLang="zh-CN" b="0" i="1" smtClean="0">
                        <a:latin typeface="Cambria Math"/>
                      </a:rPr>
                      <m:t>×</m:t>
                    </m:r>
                    <m:r>
                      <a:rPr lang="en-US" altLang="zh-CN" b="1" i="1" smtClean="0">
                        <a:latin typeface="Cambria Math"/>
                      </a:rPr>
                      <m:t>𝒙</m:t>
                    </m:r>
                  </m:oMath>
                </a14:m>
                <a:r>
                  <a:rPr lang="zh-CN" altLang="en-US" dirty="0" smtClean="0"/>
                  <a:t> 作为纵轴，即可保证 </a:t>
                </a:r>
                <a:r>
                  <a:rPr lang="en-US" altLang="zh-CN" b="1" i="1" dirty="0" smtClean="0">
                    <a:latin typeface="Times New Roman" pitchFamily="18" charset="0"/>
                    <a:cs typeface="Times New Roman" pitchFamily="18" charset="0"/>
                  </a:rPr>
                  <a:t>x</a:t>
                </a:r>
                <a:r>
                  <a:rPr lang="en-US" altLang="zh-CN" dirty="0" smtClean="0"/>
                  <a:t>, </a:t>
                </a:r>
                <a:r>
                  <a:rPr lang="en-US" altLang="zh-CN" b="1" i="1" dirty="0" smtClean="0">
                    <a:latin typeface="Times New Roman" pitchFamily="18" charset="0"/>
                    <a:cs typeface="Times New Roman" pitchFamily="18" charset="0"/>
                  </a:rPr>
                  <a:t>y</a:t>
                </a:r>
                <a:r>
                  <a:rPr lang="en-US" altLang="zh-CN" dirty="0" smtClean="0"/>
                  <a:t>, </a:t>
                </a:r>
                <a:r>
                  <a:rPr lang="en-US" altLang="zh-CN" b="1" i="1" dirty="0" smtClean="0">
                    <a:latin typeface="Times New Roman" pitchFamily="18" charset="0"/>
                    <a:cs typeface="Times New Roman" pitchFamily="18" charset="0"/>
                  </a:rPr>
                  <a:t>v</a:t>
                </a:r>
                <a:r>
                  <a:rPr lang="en-US" altLang="zh-CN" dirty="0" smtClean="0"/>
                  <a:t/>
                </a:r>
                <a:r>
                  <a:rPr lang="zh-CN" altLang="en-US" dirty="0" smtClean="0"/>
                  <a:t>成右手系。</a:t>
                </a:r>
                <a:endParaRPr lang="en-US" altLang="zh-CN" dirty="0" smtClean="0"/>
              </a:p>
              <a:p>
                <a:r>
                  <a:rPr lang="zh-CN" altLang="en-US" dirty="0" smtClean="0"/>
                  <a:t>对于平面上的每一个点 </a:t>
                </a:r>
                <a:r>
                  <a:rPr lang="en-US" altLang="zh-CN" i="1" dirty="0" smtClean="0">
                    <a:latin typeface="Times New Roman" pitchFamily="18" charset="0"/>
                    <a:cs typeface="Times New Roman" pitchFamily="18" charset="0"/>
                  </a:rPr>
                  <a:t>A</a:t>
                </a:r>
                <a:r>
                  <a:rPr lang="zh-CN" altLang="en-US" dirty="0" smtClean="0"/>
                  <a:t>，在这套坐标系下其横坐标即为 </a:t>
                </a:r>
                <a14:m>
                  <m:oMath xmlns:m="http://schemas.openxmlformats.org/officeDocument/2006/math">
                    <m:r>
                      <a:rPr lang="en-US" altLang="zh-CN" b="0" i="1" smtClean="0">
                        <a:latin typeface="Cambria Math"/>
                      </a:rPr>
                      <m:t>𝐴</m:t>
                    </m:r>
                    <m:r>
                      <a:rPr lang="en-US" altLang="zh-CN" b="0" i="1" smtClean="0">
                        <a:latin typeface="Cambria Math"/>
                      </a:rPr>
                      <m:t>−</m:t>
                    </m:r>
                    <m:r>
                      <a:rPr lang="en-US" altLang="zh-CN" b="0" i="1" smtClean="0">
                        <a:latin typeface="Cambria Math"/>
                      </a:rPr>
                      <m:t>𝑂</m:t>
                    </m:r>
                  </m:oMath>
                </a14:m>
                <a:r>
                  <a:rPr lang="zh-CN" altLang="en-US" dirty="0" smtClean="0"/>
                  <a:t> 在 </a:t>
                </a:r>
                <a:r>
                  <a:rPr lang="en-US" altLang="zh-CN" b="1" i="1" dirty="0" smtClean="0">
                    <a:latin typeface="Times New Roman" pitchFamily="18" charset="0"/>
                    <a:cs typeface="Times New Roman" pitchFamily="18" charset="0"/>
                  </a:rPr>
                  <a:t>x</a:t>
                </a:r>
                <a:r>
                  <a:rPr lang="en-US" altLang="zh-CN" dirty="0" smtClean="0"/>
                  <a:t/>
                </a:r>
                <a:r>
                  <a:rPr lang="zh-CN" altLang="en-US" dirty="0" smtClean="0"/>
                  <a:t>上的投影长度 </a:t>
                </a:r>
                <a14:m>
                  <m:oMath xmlns:m="http://schemas.openxmlformats.org/officeDocument/2006/math">
                    <m:f>
                      <m:fPr>
                        <m:ctrlPr>
                          <a:rPr lang="en-US" altLang="zh-CN" i="1" smtClean="0">
                            <a:latin typeface="Cambria Math"/>
                          </a:rPr>
                        </m:ctrlPr>
                      </m:fPr>
                      <m:num>
                        <m:d>
                          <m:dPr>
                            <m:ctrlPr>
                              <a:rPr lang="en-US" altLang="zh-CN" b="0" i="1" smtClean="0">
                                <a:latin typeface="Cambria Math"/>
                              </a:rPr>
                            </m:ctrlPr>
                          </m:dPr>
                          <m:e>
                            <m:r>
                              <a:rPr lang="en-US" altLang="zh-CN" b="0" i="1" smtClean="0">
                                <a:latin typeface="Cambria Math"/>
                              </a:rPr>
                              <m:t>𝐴</m:t>
                            </m:r>
                            <m:r>
                              <a:rPr lang="en-US" altLang="zh-CN" b="0" i="1" smtClean="0">
                                <a:latin typeface="Cambria Math"/>
                              </a:rPr>
                              <m:t>−</m:t>
                            </m:r>
                            <m:r>
                              <a:rPr lang="en-US" altLang="zh-CN" b="0" i="1" smtClean="0">
                                <a:latin typeface="Cambria Math"/>
                              </a:rPr>
                              <m:t>𝑂</m:t>
                            </m:r>
                          </m:e>
                        </m:d>
                        <m:r>
                          <a:rPr lang="en-US" altLang="zh-CN" b="0" i="1" smtClean="0">
                            <a:latin typeface="Cambria Math"/>
                          </a:rPr>
                          <m:t>⋅</m:t>
                        </m:r>
                        <m:r>
                          <a:rPr lang="en-US" altLang="zh-CN" b="0" i="1" smtClean="0">
                            <a:latin typeface="Cambria Math"/>
                          </a:rPr>
                          <m:t>𝑥</m:t>
                        </m:r>
                      </m:num>
                      <m:den>
                        <m:d>
                          <m:dPr>
                            <m:begChr m:val="|"/>
                            <m:endChr m:val="|"/>
                            <m:ctrlPr>
                              <a:rPr lang="en-US" altLang="zh-CN" i="1" smtClean="0">
                                <a:latin typeface="Cambria Math"/>
                              </a:rPr>
                            </m:ctrlPr>
                          </m:dPr>
                          <m:e>
                            <m:r>
                              <a:rPr lang="en-US" altLang="zh-CN" b="0" i="1" smtClean="0">
                                <a:latin typeface="Cambria Math"/>
                              </a:rPr>
                              <m:t>𝑥</m:t>
                            </m:r>
                          </m:e>
                        </m:d>
                      </m:den>
                    </m:f>
                  </m:oMath>
                </a14:m>
                <a:r>
                  <a:rPr lang="zh-CN" altLang="en-US" dirty="0" smtClean="0"/>
                  <a:t>，纵坐标亦然。</a:t>
                </a: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667" r="-1804"/>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391618429"/>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平面上点的二维投影</a:t>
            </a:r>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dirty="0" smtClean="0"/>
                  <a:t>为了避免每次计算 </a:t>
                </a:r>
                <a14:m>
                  <m:oMath xmlns:m="http://schemas.openxmlformats.org/officeDocument/2006/math">
                    <m:d>
                      <m:dPr>
                        <m:begChr m:val="|"/>
                        <m:endChr m:val="|"/>
                        <m:ctrlPr>
                          <a:rPr lang="en-US" altLang="zh-CN" i="1" smtClean="0">
                            <a:latin typeface="Cambria Math"/>
                          </a:rPr>
                        </m:ctrlPr>
                      </m:dPr>
                      <m:e>
                        <m:r>
                          <a:rPr lang="en-US" altLang="zh-CN" b="1" i="1" smtClean="0">
                            <a:latin typeface="Cambria Math"/>
                          </a:rPr>
                          <m:t>𝒙</m:t>
                        </m:r>
                      </m:e>
                    </m:d>
                    <m:r>
                      <a:rPr lang="en-US" altLang="zh-CN" b="0" i="1" smtClean="0">
                        <a:latin typeface="Cambria Math"/>
                      </a:rPr>
                      <m:t>,</m:t>
                    </m:r>
                    <m:d>
                      <m:dPr>
                        <m:begChr m:val="|"/>
                        <m:endChr m:val="|"/>
                        <m:ctrlPr>
                          <a:rPr lang="en-US" altLang="zh-CN" b="0" i="1" smtClean="0">
                            <a:latin typeface="Cambria Math"/>
                          </a:rPr>
                        </m:ctrlPr>
                      </m:dPr>
                      <m:e>
                        <m:r>
                          <a:rPr lang="en-US" altLang="zh-CN" b="1" i="1" smtClean="0">
                            <a:latin typeface="Cambria Math"/>
                          </a:rPr>
                          <m:t>𝒚</m:t>
                        </m:r>
                      </m:e>
                    </m:d>
                  </m:oMath>
                </a14:m>
                <a:r>
                  <a:rPr lang="zh-CN" altLang="en-US" dirty="0" smtClean="0"/>
                  <a:t>，我们可以将 </a:t>
                </a:r>
                <a:r>
                  <a:rPr lang="en-US" altLang="zh-CN" b="1" i="1" dirty="0" smtClean="0">
                    <a:latin typeface="Times New Roman" pitchFamily="18" charset="0"/>
                    <a:cs typeface="Times New Roman" pitchFamily="18" charset="0"/>
                  </a:rPr>
                  <a:t>x</a:t>
                </a:r>
                <a:r>
                  <a:rPr lang="en-US" altLang="zh-CN" dirty="0" smtClean="0">
                    <a:latin typeface="Times New Roman" pitchFamily="18" charset="0"/>
                    <a:cs typeface="Times New Roman" pitchFamily="18" charset="0"/>
                  </a:rPr>
                  <a:t>, </a:t>
                </a:r>
                <a:r>
                  <a:rPr lang="en-US" altLang="zh-CN" b="1" i="1" dirty="0" smtClean="0">
                    <a:latin typeface="Times New Roman" pitchFamily="18" charset="0"/>
                    <a:cs typeface="Times New Roman" pitchFamily="18" charset="0"/>
                  </a:rPr>
                  <a:t>y</a:t>
                </a:r>
                <a:r>
                  <a:rPr lang="en-US" altLang="zh-CN" dirty="0" smtClean="0">
                    <a:latin typeface="Times New Roman" pitchFamily="18" charset="0"/>
                    <a:cs typeface="Times New Roman" pitchFamily="18" charset="0"/>
                  </a:rPr>
                  <a:t/>
                </a:r>
                <a:r>
                  <a:rPr lang="zh-CN" altLang="en-US" dirty="0" smtClean="0"/>
                  <a:t>的模缩放为 </a:t>
                </a:r>
                <a:r>
                  <a:rPr lang="en-US" altLang="zh-CN" dirty="0" smtClean="0"/>
                  <a:t>1</a:t>
                </a:r>
                <a:r>
                  <a:rPr lang="zh-CN" altLang="en-US" dirty="0" smtClean="0"/>
                  <a:t>。</a:t>
                </a:r>
                <a:endParaRPr lang="en-US" altLang="zh-CN" dirty="0" smtClean="0"/>
              </a:p>
              <a:p>
                <a:r>
                  <a:rPr lang="zh-CN" altLang="en-US" dirty="0" smtClean="0"/>
                  <a:t>这样 </a:t>
                </a:r>
                <a:r>
                  <a:rPr lang="en-US" altLang="zh-CN" i="1" dirty="0" smtClean="0">
                    <a:latin typeface="Times New Roman" pitchFamily="18" charset="0"/>
                    <a:cs typeface="Times New Roman" pitchFamily="18" charset="0"/>
                  </a:rPr>
                  <a:t>A</a:t>
                </a:r>
                <a:r>
                  <a:rPr lang="en-US" altLang="zh-CN" dirty="0" smtClean="0"/>
                  <a:t/>
                </a:r>
                <a:r>
                  <a:rPr lang="zh-CN" altLang="en-US" dirty="0" smtClean="0"/>
                  <a:t>的坐标即为 </a:t>
                </a:r>
                <a14:m>
                  <m:oMath xmlns:m="http://schemas.openxmlformats.org/officeDocument/2006/math">
                    <m:r>
                      <a:rPr lang="en-US" altLang="zh-CN" b="0" i="1" smtClean="0">
                        <a:latin typeface="Cambria Math"/>
                      </a:rPr>
                      <m:t>(</m:t>
                    </m:r>
                    <m:d>
                      <m:dPr>
                        <m:ctrlPr>
                          <a:rPr lang="en-US" altLang="zh-CN" b="0" i="1" smtClean="0">
                            <a:latin typeface="Cambria Math"/>
                          </a:rPr>
                        </m:ctrlPr>
                      </m:dPr>
                      <m:e>
                        <m:r>
                          <a:rPr lang="en-US" altLang="zh-CN" b="0" i="1" smtClean="0">
                            <a:latin typeface="Cambria Math"/>
                          </a:rPr>
                          <m:t>𝐴</m:t>
                        </m:r>
                        <m:r>
                          <a:rPr lang="en-US" altLang="zh-CN" b="0" i="1" smtClean="0">
                            <a:latin typeface="Cambria Math"/>
                          </a:rPr>
                          <m:t>−</m:t>
                        </m:r>
                        <m:r>
                          <a:rPr lang="en-US" altLang="zh-CN" b="0" i="1" smtClean="0">
                            <a:latin typeface="Cambria Math"/>
                          </a:rPr>
                          <m:t>𝑂</m:t>
                        </m:r>
                      </m:e>
                    </m:d>
                    <m:r>
                      <a:rPr lang="en-US" altLang="zh-CN" b="0" i="1" smtClean="0">
                        <a:latin typeface="Cambria Math"/>
                      </a:rPr>
                      <m:t>⋅</m:t>
                    </m:r>
                    <m:r>
                      <a:rPr lang="en-US" altLang="zh-CN" b="1" i="1" smtClean="0">
                        <a:latin typeface="Cambria Math"/>
                      </a:rPr>
                      <m:t>𝒙</m:t>
                    </m:r>
                    <m:r>
                      <a:rPr lang="en-US" altLang="zh-CN" b="0" i="1" smtClean="0">
                        <a:latin typeface="Cambria Math"/>
                      </a:rPr>
                      <m:t>,</m:t>
                    </m:r>
                    <m:d>
                      <m:dPr>
                        <m:ctrlPr>
                          <a:rPr lang="en-US" altLang="zh-CN" b="0" i="1" smtClean="0">
                            <a:latin typeface="Cambria Math"/>
                          </a:rPr>
                        </m:ctrlPr>
                      </m:dPr>
                      <m:e>
                        <m:r>
                          <a:rPr lang="en-US" altLang="zh-CN" b="0" i="1" smtClean="0">
                            <a:latin typeface="Cambria Math"/>
                          </a:rPr>
                          <m:t>𝐴</m:t>
                        </m:r>
                        <m:r>
                          <a:rPr lang="en-US" altLang="zh-CN" b="0" i="1" smtClean="0">
                            <a:latin typeface="Cambria Math"/>
                          </a:rPr>
                          <m:t>−</m:t>
                        </m:r>
                        <m:r>
                          <a:rPr lang="en-US" altLang="zh-CN" b="0" i="1" smtClean="0">
                            <a:latin typeface="Cambria Math"/>
                          </a:rPr>
                          <m:t>𝑂</m:t>
                        </m:r>
                      </m:e>
                    </m:d>
                    <m:r>
                      <a:rPr lang="en-US" altLang="zh-CN" b="0" i="1" smtClean="0">
                        <a:latin typeface="Cambria Math"/>
                      </a:rPr>
                      <m:t>⋅</m:t>
                    </m:r>
                    <m:r>
                      <a:rPr lang="en-US" altLang="zh-CN" b="1" i="1" smtClean="0">
                        <a:latin typeface="Cambria Math"/>
                      </a:rPr>
                      <m:t>𝒚</m:t>
                    </m:r>
                    <m:r>
                      <a:rPr lang="en-US" altLang="zh-CN" b="0" i="1" smtClean="0">
                        <a:latin typeface="Cambria Math"/>
                      </a:rPr>
                      <m:t>)</m:t>
                    </m:r>
                  </m:oMath>
                </a14:m>
                <a:r>
                  <a:rPr lang="en-US" altLang="zh-CN" dirty="0" smtClean="0"/>
                  <a:t>.</a:t>
                </a:r>
              </a:p>
              <a:p>
                <a:r>
                  <a:rPr lang="zh-CN" altLang="en-US" dirty="0" smtClean="0"/>
                  <a:t>若已知平面上一点以此坐标系投影的坐标 </a:t>
                </a:r>
                <a14:m>
                  <m:oMath xmlns:m="http://schemas.openxmlformats.org/officeDocument/2006/math">
                    <m:r>
                      <a:rPr lang="en-US" altLang="zh-CN" b="0" i="1" smtClean="0">
                        <a:latin typeface="Cambria Math"/>
                      </a:rPr>
                      <m:t>(</m:t>
                    </m:r>
                    <m:r>
                      <a:rPr lang="en-US" altLang="zh-CN" b="0" i="1" smtClean="0">
                        <a:latin typeface="Cambria Math"/>
                      </a:rPr>
                      <m:t>𝑎</m:t>
                    </m:r>
                    <m:r>
                      <a:rPr lang="en-US" altLang="zh-CN" b="0" i="1" smtClean="0">
                        <a:latin typeface="Cambria Math"/>
                      </a:rPr>
                      <m:t>,</m:t>
                    </m:r>
                    <m:r>
                      <a:rPr lang="en-US" altLang="zh-CN" b="0" i="1" smtClean="0">
                        <a:latin typeface="Cambria Math"/>
                      </a:rPr>
                      <m:t>𝑏</m:t>
                    </m:r>
                    <m:r>
                      <a:rPr lang="en-US" altLang="zh-CN" b="0" i="1" smtClean="0">
                        <a:latin typeface="Cambria Math"/>
                      </a:rPr>
                      <m:t>)</m:t>
                    </m:r>
                  </m:oMath>
                </a14:m>
                <a:r>
                  <a:rPr lang="zh-CN" altLang="en-US" dirty="0" smtClean="0"/>
                  <a:t>，则其三维坐标即为 </a:t>
                </a:r>
                <a14:m>
                  <m:oMath xmlns:m="http://schemas.openxmlformats.org/officeDocument/2006/math">
                    <m:r>
                      <a:rPr lang="en-US" altLang="zh-CN" b="0" i="1" smtClean="0">
                        <a:latin typeface="Cambria Math"/>
                      </a:rPr>
                      <m:t>𝑂</m:t>
                    </m:r>
                    <m:r>
                      <a:rPr lang="en-US" altLang="zh-CN" b="0" i="1" smtClean="0">
                        <a:latin typeface="Cambria Math"/>
                      </a:rPr>
                      <m:t>+</m:t>
                    </m:r>
                    <m:r>
                      <a:rPr lang="en-US" altLang="zh-CN" b="0" i="1" smtClean="0">
                        <a:latin typeface="Cambria Math"/>
                      </a:rPr>
                      <m:t>𝑎</m:t>
                    </m:r>
                    <m:r>
                      <a:rPr lang="en-US" altLang="zh-CN" b="1" i="1" smtClean="0">
                        <a:latin typeface="Cambria Math"/>
                      </a:rPr>
                      <m:t>𝒙</m:t>
                    </m:r>
                    <m:r>
                      <a:rPr lang="en-US" altLang="zh-CN" b="0" i="1" smtClean="0">
                        <a:latin typeface="Cambria Math"/>
                      </a:rPr>
                      <m:t>+</m:t>
                    </m:r>
                    <m:r>
                      <a:rPr lang="en-US" altLang="zh-CN" b="0" i="1" smtClean="0">
                        <a:latin typeface="Cambria Math"/>
                      </a:rPr>
                      <m:t>𝑏</m:t>
                    </m:r>
                    <m:r>
                      <a:rPr lang="en-US" altLang="zh-CN" b="1" i="1" smtClean="0">
                        <a:latin typeface="Cambria Math"/>
                      </a:rPr>
                      <m:t>𝒚</m:t>
                    </m:r>
                  </m:oMath>
                </a14:m>
                <a:r>
                  <a:rPr lang="en-US" altLang="zh-CN" dirty="0" smtClean="0"/>
                  <a:t>.</a:t>
                </a: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667" r="-2980"/>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2911889109"/>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多面体</a:t>
            </a:r>
            <a:endParaRPr lang="zh-CN" altLang="en-US" dirty="0"/>
          </a:p>
        </p:txBody>
      </p:sp>
      <p:sp>
        <p:nvSpPr>
          <p:cNvPr id="3" name="内容占位符 2"/>
          <p:cNvSpPr>
            <a:spLocks noGrp="1"/>
          </p:cNvSpPr>
          <p:nvPr>
            <p:ph idx="1"/>
          </p:nvPr>
        </p:nvSpPr>
        <p:spPr/>
        <p:txBody>
          <a:bodyPr/>
          <a:lstStyle/>
          <a:p>
            <a:r>
              <a:rPr lang="zh-CN" altLang="en-US" dirty="0"/>
              <a:t>多面体是指三维空间中由平面和直边组成的几何形体</a:t>
            </a:r>
            <a:r>
              <a:rPr lang="zh-CN" altLang="en-US" dirty="0" smtClean="0"/>
              <a:t>。</a:t>
            </a:r>
            <a:endParaRPr lang="en-US" altLang="zh-CN" dirty="0" smtClean="0"/>
          </a:p>
          <a:p>
            <a:r>
              <a:rPr lang="en-US" altLang="zh-CN" dirty="0" smtClean="0"/>
              <a:t>……</a:t>
            </a:r>
            <a:r>
              <a:rPr lang="zh-CN" altLang="en-US" dirty="0" smtClean="0"/>
              <a:t>以上是科学定义。我不觉得这么一句废话有什么用。</a:t>
            </a:r>
            <a:endParaRPr lang="en-US" altLang="zh-CN" dirty="0" smtClean="0"/>
          </a:p>
          <a:p>
            <a:r>
              <a:rPr lang="zh-CN" altLang="en-US" dirty="0" smtClean="0"/>
              <a:t>我们假定多面体的每个面都是</a:t>
            </a:r>
            <a:r>
              <a:rPr lang="zh-CN" altLang="en-US" b="1" dirty="0" smtClean="0">
                <a:solidFill>
                  <a:schemeClr val="accent4">
                    <a:lumMod val="60000"/>
                    <a:lumOff val="40000"/>
                  </a:schemeClr>
                </a:solidFill>
              </a:rPr>
              <a:t>三角形</a:t>
            </a:r>
            <a:r>
              <a:rPr lang="zh-CN" altLang="en-US" dirty="0" smtClean="0"/>
              <a:t>的。</a:t>
            </a:r>
            <a:endParaRPr lang="zh-CN" altLang="en-US" dirty="0"/>
          </a:p>
        </p:txBody>
      </p:sp>
    </p:spTree>
    <p:extLst>
      <p:ext uri="{BB962C8B-B14F-4D97-AF65-F5344CB8AC3E}">
        <p14:creationId xmlns:p14="http://schemas.microsoft.com/office/powerpoint/2010/main" xmlns="" val="4196808920"/>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凸多面体</a:t>
            </a:r>
            <a:endParaRPr lang="zh-CN" altLang="en-US" dirty="0"/>
          </a:p>
        </p:txBody>
      </p:sp>
      <p:sp>
        <p:nvSpPr>
          <p:cNvPr id="3" name="内容占位符 2"/>
          <p:cNvSpPr>
            <a:spLocks noGrp="1"/>
          </p:cNvSpPr>
          <p:nvPr>
            <p:ph idx="1"/>
          </p:nvPr>
        </p:nvSpPr>
        <p:spPr/>
        <p:txBody>
          <a:bodyPr/>
          <a:lstStyle/>
          <a:p>
            <a:r>
              <a:rPr lang="zh-CN" altLang="en-US" dirty="0" smtClean="0"/>
              <a:t>若一个多面体是凸集，则它是凸多面体。</a:t>
            </a:r>
            <a:endParaRPr lang="en-US" altLang="zh-CN" dirty="0" smtClean="0"/>
          </a:p>
          <a:p>
            <a:r>
              <a:rPr lang="zh-CN" altLang="en-US" dirty="0" smtClean="0"/>
              <a:t>如同凸多边形是半平面的交一样，凸</a:t>
            </a:r>
            <a:r>
              <a:rPr lang="zh-CN" altLang="en-US" dirty="0"/>
              <a:t>多面体</a:t>
            </a:r>
            <a:r>
              <a:rPr lang="zh-CN" altLang="en-US" dirty="0" smtClean="0"/>
              <a:t>也可以看做</a:t>
            </a:r>
            <a:r>
              <a:rPr lang="zh-CN" altLang="en-US" b="1" dirty="0" smtClean="0">
                <a:solidFill>
                  <a:schemeClr val="accent4">
                    <a:lumMod val="60000"/>
                    <a:lumOff val="40000"/>
                  </a:schemeClr>
                </a:solidFill>
              </a:rPr>
              <a:t>半空间</a:t>
            </a:r>
            <a:r>
              <a:rPr lang="zh-CN" altLang="en-US" dirty="0" smtClean="0"/>
              <a:t>的交。</a:t>
            </a:r>
            <a:endParaRPr lang="en-US" altLang="zh-CN" dirty="0" smtClean="0"/>
          </a:p>
          <a:p>
            <a:r>
              <a:rPr lang="zh-CN" altLang="en-US" dirty="0" smtClean="0"/>
              <a:t>求半空间的交非常复杂，在此不多做介绍。不过有关于半空间的基本知识仍要加以讲解。</a:t>
            </a:r>
            <a:endParaRPr lang="en-US" altLang="zh-CN" dirty="0" smtClean="0"/>
          </a:p>
        </p:txBody>
      </p:sp>
    </p:spTree>
    <p:extLst>
      <p:ext uri="{BB962C8B-B14F-4D97-AF65-F5344CB8AC3E}">
        <p14:creationId xmlns:p14="http://schemas.microsoft.com/office/powerpoint/2010/main" xmlns="" val="2605982701"/>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半空间的表示</a:t>
            </a:r>
          </a:p>
        </p:txBody>
      </p:sp>
      <p:sp>
        <p:nvSpPr>
          <p:cNvPr id="3" name="内容占位符 2"/>
          <p:cNvSpPr>
            <a:spLocks noGrp="1"/>
          </p:cNvSpPr>
          <p:nvPr>
            <p:ph sz="half" idx="1"/>
          </p:nvPr>
        </p:nvSpPr>
        <p:spPr/>
        <p:txBody>
          <a:bodyPr/>
          <a:lstStyle/>
          <a:p>
            <a:r>
              <a:rPr lang="zh-CN" altLang="en-US" dirty="0" smtClean="0"/>
              <a:t>如同半平面可以用</a:t>
            </a:r>
            <a:r>
              <a:rPr lang="zh-CN" altLang="en-US" b="1" dirty="0" smtClean="0">
                <a:solidFill>
                  <a:schemeClr val="accent4">
                    <a:lumMod val="60000"/>
                    <a:lumOff val="40000"/>
                  </a:schemeClr>
                </a:solidFill>
              </a:rPr>
              <a:t>两个互异的有序点</a:t>
            </a:r>
            <a:r>
              <a:rPr lang="zh-CN" altLang="en-US" dirty="0" smtClean="0"/>
              <a:t>来表示一样，半空间可以用</a:t>
            </a:r>
            <a:r>
              <a:rPr lang="zh-CN" altLang="en-US" b="1" dirty="0" smtClean="0">
                <a:solidFill>
                  <a:schemeClr val="accent4">
                    <a:lumMod val="60000"/>
                    <a:lumOff val="40000"/>
                  </a:schemeClr>
                </a:solidFill>
              </a:rPr>
              <a:t>三个不共线的有序点</a:t>
            </a:r>
            <a:r>
              <a:rPr lang="zh-CN" altLang="en-US" dirty="0" smtClean="0"/>
              <a:t>来表示。</a:t>
            </a:r>
            <a:endParaRPr lang="en-US" altLang="zh-CN" dirty="0" smtClean="0"/>
          </a:p>
        </p:txBody>
      </p:sp>
      <p:pic>
        <p:nvPicPr>
          <p:cNvPr id="5" name="内容占位符 4"/>
          <p:cNvPicPr>
            <a:picLocks noGrp="1" noChangeAspect="1"/>
          </p:cNvPicPr>
          <p:nvPr>
            <p:ph sz="half" idx="2"/>
          </p:nvPr>
        </p:nvPicPr>
        <p:blipFill>
          <a:blip r:embed="rId2">
            <a:extLst>
              <a:ext uri="{28A0092B-C50C-407E-A947-70E740481C1C}">
                <a14:useLocalDpi xmlns:a14="http://schemas.microsoft.com/office/drawing/2010/main" xmlns="" val="0"/>
              </a:ext>
            </a:extLst>
          </a:blip>
          <a:stretch>
            <a:fillRect/>
          </a:stretch>
        </p:blipFill>
        <p:spPr>
          <a:xfrm>
            <a:off x="5003800" y="1928883"/>
            <a:ext cx="3889374" cy="4208321"/>
          </a:xfrm>
        </p:spPr>
      </p:pic>
    </p:spTree>
    <p:extLst>
      <p:ext uri="{BB962C8B-B14F-4D97-AF65-F5344CB8AC3E}">
        <p14:creationId xmlns:p14="http://schemas.microsoft.com/office/powerpoint/2010/main" xmlns="" val="1735756587"/>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半空间的表示</a:t>
            </a:r>
            <a:endParaRPr lang="zh-CN" altLang="en-US" dirty="0"/>
          </a:p>
        </p:txBody>
      </p:sp>
      <mc:AlternateContent xmlns:mc="http://schemas.openxmlformats.org/markup-compatibility/2006">
        <mc:Choice xmlns:a14="http://schemas.microsoft.com/office/drawing/2010/main" xmlns="" Requires="a14">
          <p:sp>
            <p:nvSpPr>
              <p:cNvPr id="3" name="内容占位符 2"/>
              <p:cNvSpPr>
                <a:spLocks noGrp="1"/>
              </p:cNvSpPr>
              <p:nvPr>
                <p:ph sz="half" idx="1"/>
              </p:nvPr>
            </p:nvSpPr>
            <p:spPr/>
            <p:txBody>
              <a:bodyPr/>
              <a:lstStyle/>
              <a:p>
                <a:r>
                  <a:rPr lang="zh-CN" altLang="en-US" dirty="0" smtClean="0"/>
                  <a:t>如图，在点 </a:t>
                </a:r>
                <a:r>
                  <a:rPr lang="en-US" altLang="zh-CN" i="1" dirty="0">
                    <a:latin typeface="Times New Roman" pitchFamily="18" charset="0"/>
                    <a:cs typeface="Times New Roman" pitchFamily="18" charset="0"/>
                  </a:rPr>
                  <a:t>A</a:t>
                </a:r>
                <a:r>
                  <a:rPr lang="en-US" altLang="zh-CN" dirty="0"/>
                  <a:t/>
                </a:r>
                <a:r>
                  <a:rPr lang="zh-CN" altLang="en-US" dirty="0"/>
                  <a:t>的一侧</a:t>
                </a:r>
                <a:r>
                  <a:rPr lang="zh-CN" altLang="en-US" dirty="0" smtClean="0"/>
                  <a:t>，矢量 </a:t>
                </a:r>
                <a14:m>
                  <m:oMath xmlns:m="http://schemas.openxmlformats.org/officeDocument/2006/math">
                    <m:acc>
                      <m:accPr>
                        <m:chr m:val="⃑"/>
                        <m:ctrlPr>
                          <a:rPr lang="zh-CN" altLang="en-US" i="1" smtClean="0">
                            <a:latin typeface="Cambria Math"/>
                          </a:rPr>
                        </m:ctrlPr>
                      </m:accPr>
                      <m:e>
                        <m:r>
                          <a:rPr lang="en-US" altLang="zh-CN" b="0" i="1">
                            <a:latin typeface="Cambria Math"/>
                          </a:rPr>
                          <m:t>𝐴𝑋</m:t>
                        </m:r>
                      </m:e>
                    </m:acc>
                    <m:r>
                      <a:rPr lang="en-US" altLang="zh-CN" b="0" i="1" smtClean="0">
                        <a:latin typeface="Cambria Math"/>
                      </a:rPr>
                      <m:t>,</m:t>
                    </m:r>
                    <m:acc>
                      <m:accPr>
                        <m:chr m:val="⃑"/>
                        <m:ctrlPr>
                          <a:rPr lang="en-US" altLang="zh-CN" b="0" i="1" smtClean="0">
                            <a:latin typeface="Cambria Math"/>
                          </a:rPr>
                        </m:ctrlPr>
                      </m:accPr>
                      <m:e>
                        <m:r>
                          <a:rPr lang="en-US" altLang="zh-CN" b="0" i="1" smtClean="0">
                            <a:latin typeface="Cambria Math"/>
                          </a:rPr>
                          <m:t>𝐴𝑌</m:t>
                        </m:r>
                      </m:e>
                    </m:acc>
                    <m:r>
                      <a:rPr lang="en-US" altLang="zh-CN" b="0" i="1" smtClean="0">
                        <a:latin typeface="Cambria Math"/>
                      </a:rPr>
                      <m:t>,</m:t>
                    </m:r>
                    <m:acc>
                      <m:accPr>
                        <m:chr m:val="⃑"/>
                        <m:ctrlPr>
                          <a:rPr lang="en-US" altLang="zh-CN" b="0" i="1" smtClean="0">
                            <a:latin typeface="Cambria Math"/>
                          </a:rPr>
                        </m:ctrlPr>
                      </m:accPr>
                      <m:e>
                        <m:r>
                          <a:rPr lang="en-US" altLang="zh-CN" b="0" i="1" smtClean="0">
                            <a:latin typeface="Cambria Math"/>
                          </a:rPr>
                          <m:t>𝐴𝑍</m:t>
                        </m:r>
                      </m:e>
                    </m:acc>
                  </m:oMath>
                </a14:m>
                <a:r>
                  <a:rPr lang="en-US" altLang="zh-CN" dirty="0" smtClean="0"/>
                  <a:t/>
                </a:r>
                <a:r>
                  <a:rPr lang="zh-CN" altLang="en-US" dirty="0" smtClean="0"/>
                  <a:t>成左手系，我们称这一侧为半空间的</a:t>
                </a:r>
                <a:r>
                  <a:rPr lang="zh-CN" altLang="en-US" b="1" dirty="0" smtClean="0">
                    <a:solidFill>
                      <a:schemeClr val="accent4">
                        <a:lumMod val="60000"/>
                        <a:lumOff val="40000"/>
                      </a:schemeClr>
                    </a:solidFill>
                  </a:rPr>
                  <a:t>外侧</a:t>
                </a:r>
                <a:r>
                  <a:rPr lang="zh-CN" altLang="en-US" dirty="0" smtClean="0"/>
                  <a:t>。</a:t>
                </a:r>
                <a:endParaRPr lang="en-US" altLang="zh-CN" dirty="0" smtClean="0"/>
              </a:p>
              <a:p>
                <a:r>
                  <a:rPr lang="zh-CN" altLang="en-US" dirty="0"/>
                  <a:t>类似</a:t>
                </a:r>
                <a:r>
                  <a:rPr lang="zh-CN" altLang="en-US" dirty="0" smtClean="0"/>
                  <a:t>地，在 </a:t>
                </a:r>
                <a:r>
                  <a:rPr lang="en-US" altLang="zh-CN" i="1" dirty="0" smtClean="0">
                    <a:latin typeface="Times New Roman" pitchFamily="18" charset="0"/>
                    <a:cs typeface="Times New Roman" pitchFamily="18" charset="0"/>
                  </a:rPr>
                  <a:t>B</a:t>
                </a:r>
                <a:r>
                  <a:rPr lang="en-US" altLang="zh-CN" dirty="0" smtClean="0"/>
                  <a:t/>
                </a:r>
                <a:r>
                  <a:rPr lang="zh-CN" altLang="en-US" dirty="0" smtClean="0"/>
                  <a:t>的一侧三个矢量成右手系，这一侧即为半空间的</a:t>
                </a:r>
                <a:r>
                  <a:rPr lang="zh-CN" altLang="en-US" b="1" dirty="0" smtClean="0">
                    <a:solidFill>
                      <a:schemeClr val="accent4">
                        <a:lumMod val="60000"/>
                        <a:lumOff val="40000"/>
                      </a:schemeClr>
                    </a:solidFill>
                  </a:rPr>
                  <a:t>内侧</a:t>
                </a:r>
                <a:r>
                  <a:rPr lang="zh-CN" altLang="en-US" dirty="0" smtClean="0"/>
                  <a:t>。</a:t>
                </a:r>
                <a:endParaRPr lang="en-US" altLang="zh-CN" dirty="0"/>
              </a:p>
            </p:txBody>
          </p:sp>
        </mc:Choice>
        <mc:Fallback>
          <p:sp>
            <p:nvSpPr>
              <p:cNvPr id="3" name="内容占位符 2"/>
              <p:cNvSpPr>
                <a:spLocks noGrp="1" noRot="1" noChangeAspect="1" noMove="1" noResize="1" noEditPoints="1" noAdjustHandles="1" noChangeArrowheads="1" noChangeShapeType="1" noTextEdit="1"/>
              </p:cNvSpPr>
              <p:nvPr>
                <p:ph sz="half" idx="1"/>
              </p:nvPr>
            </p:nvSpPr>
            <p:spPr>
              <a:blipFill rotWithShape="1">
                <a:blip r:embed="rId2"/>
                <a:stretch>
                  <a:fillRect l="-770" t="-404" r="-8320"/>
                </a:stretch>
              </a:blipFill>
            </p:spPr>
            <p:txBody>
              <a:bodyPr/>
              <a:lstStyle/>
              <a:p>
                <a:r>
                  <a:rPr lang="zh-CN" altLang="en-US">
                    <a:noFill/>
                  </a:rPr>
                  <a:t> </a:t>
                </a:r>
              </a:p>
            </p:txBody>
          </p:sp>
        </mc:Fallback>
      </mc:AlternateContent>
      <p:pic>
        <p:nvPicPr>
          <p:cNvPr id="5" name="内容占位符 4"/>
          <p:cNvPicPr>
            <a:picLocks noGrp="1" noChangeAspect="1"/>
          </p:cNvPicPr>
          <p:nvPr>
            <p:ph sz="half" idx="2"/>
          </p:nvPr>
        </p:nvPicPr>
        <p:blipFill>
          <a:blip r:embed="rId3">
            <a:extLst>
              <a:ext uri="{28A0092B-C50C-407E-A947-70E740481C1C}">
                <a14:useLocalDpi xmlns:a14="http://schemas.microsoft.com/office/drawing/2010/main" xmlns="" val="0"/>
              </a:ext>
            </a:extLst>
          </a:blip>
          <a:stretch>
            <a:fillRect/>
          </a:stretch>
        </p:blipFill>
        <p:spPr>
          <a:xfrm>
            <a:off x="5003800" y="1928883"/>
            <a:ext cx="3889375" cy="4208321"/>
          </a:xfrm>
        </p:spPr>
      </p:pic>
    </p:spTree>
    <p:extLst>
      <p:ext uri="{BB962C8B-B14F-4D97-AF65-F5344CB8AC3E}">
        <p14:creationId xmlns:p14="http://schemas.microsoft.com/office/powerpoint/2010/main" xmlns="" val="580321458"/>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简单判别法</a:t>
            </a:r>
            <a:endParaRPr lang="zh-CN" altLang="en-US" dirty="0"/>
          </a:p>
        </p:txBody>
      </p:sp>
      <p:sp>
        <p:nvSpPr>
          <p:cNvPr id="3" name="内容占位符 2"/>
          <p:cNvSpPr>
            <a:spLocks noGrp="1"/>
          </p:cNvSpPr>
          <p:nvPr>
            <p:ph sz="half" idx="1"/>
          </p:nvPr>
        </p:nvSpPr>
        <p:spPr/>
        <p:txBody>
          <a:bodyPr/>
          <a:lstStyle/>
          <a:p>
            <a:r>
              <a:rPr lang="zh-CN" altLang="en-US" dirty="0" smtClean="0"/>
              <a:t>若要判断点 </a:t>
            </a:r>
            <a:r>
              <a:rPr lang="en-US" altLang="zh-CN" i="1" dirty="0" smtClean="0">
                <a:latin typeface="Times New Roman" pitchFamily="18" charset="0"/>
                <a:cs typeface="Times New Roman" pitchFamily="18" charset="0"/>
              </a:rPr>
              <a:t>P</a:t>
            </a:r>
            <a:r>
              <a:rPr lang="en-US" altLang="zh-CN" dirty="0" smtClean="0"/>
              <a:t> </a:t>
            </a:r>
            <a:r>
              <a:rPr lang="zh-CN" altLang="en-US" dirty="0" smtClean="0"/>
              <a:t>在内侧还是外侧，则从点 </a:t>
            </a:r>
            <a:r>
              <a:rPr lang="en-US" altLang="zh-CN" i="1" dirty="0" smtClean="0">
                <a:latin typeface="Times New Roman" pitchFamily="18" charset="0"/>
                <a:cs typeface="Times New Roman" pitchFamily="18" charset="0"/>
              </a:rPr>
              <a:t>P</a:t>
            </a:r>
            <a:r>
              <a:rPr lang="en-US" altLang="zh-CN" dirty="0" smtClean="0"/>
              <a:t> </a:t>
            </a:r>
            <a:r>
              <a:rPr lang="zh-CN" altLang="en-US" dirty="0" smtClean="0"/>
              <a:t>向平面看去。</a:t>
            </a:r>
            <a:endParaRPr lang="en-US" altLang="zh-CN" dirty="0" smtClean="0"/>
          </a:p>
          <a:p>
            <a:r>
              <a:rPr lang="zh-CN" altLang="en-US" dirty="0" smtClean="0"/>
              <a:t>若半空间的三个有序点成</a:t>
            </a:r>
            <a:r>
              <a:rPr lang="zh-CN" altLang="en-US" b="1" dirty="0" smtClean="0">
                <a:solidFill>
                  <a:schemeClr val="accent4">
                    <a:lumMod val="60000"/>
                    <a:lumOff val="40000"/>
                  </a:schemeClr>
                </a:solidFill>
              </a:rPr>
              <a:t>逆时针</a:t>
            </a:r>
            <a:r>
              <a:rPr lang="zh-CN" altLang="en-US" dirty="0" smtClean="0"/>
              <a:t>，则点 </a:t>
            </a:r>
            <a:r>
              <a:rPr lang="en-US" altLang="zh-CN" i="1" dirty="0" smtClean="0">
                <a:latin typeface="Times New Roman" pitchFamily="18" charset="0"/>
                <a:cs typeface="Times New Roman" pitchFamily="18" charset="0"/>
              </a:rPr>
              <a:t>P</a:t>
            </a:r>
            <a:r>
              <a:rPr lang="en-US" altLang="zh-CN" dirty="0" smtClean="0"/>
              <a:t> </a:t>
            </a:r>
            <a:r>
              <a:rPr lang="zh-CN" altLang="en-US" dirty="0" smtClean="0"/>
              <a:t>在</a:t>
            </a:r>
            <a:r>
              <a:rPr lang="zh-CN" altLang="en-US" b="1" dirty="0" smtClean="0">
                <a:solidFill>
                  <a:schemeClr val="accent4">
                    <a:lumMod val="60000"/>
                    <a:lumOff val="40000"/>
                  </a:schemeClr>
                </a:solidFill>
              </a:rPr>
              <a:t>外侧</a:t>
            </a:r>
            <a:r>
              <a:rPr lang="zh-CN" altLang="en-US" dirty="0" smtClean="0"/>
              <a:t>；否则点 </a:t>
            </a:r>
            <a:r>
              <a:rPr lang="en-US" altLang="zh-CN" i="1" dirty="0" smtClean="0">
                <a:latin typeface="Times New Roman" pitchFamily="18" charset="0"/>
                <a:cs typeface="Times New Roman" pitchFamily="18" charset="0"/>
              </a:rPr>
              <a:t>P</a:t>
            </a:r>
            <a:r>
              <a:rPr lang="en-US" altLang="zh-CN" dirty="0" smtClean="0"/>
              <a:t> </a:t>
            </a:r>
            <a:r>
              <a:rPr lang="zh-CN" altLang="en-US" dirty="0" smtClean="0"/>
              <a:t>就在</a:t>
            </a:r>
            <a:r>
              <a:rPr lang="zh-CN" altLang="en-US" b="1" dirty="0" smtClean="0">
                <a:solidFill>
                  <a:schemeClr val="accent2">
                    <a:lumMod val="60000"/>
                    <a:lumOff val="40000"/>
                  </a:schemeClr>
                </a:solidFill>
              </a:rPr>
              <a:t>内侧</a:t>
            </a:r>
            <a:r>
              <a:rPr lang="zh-CN" altLang="en-US" dirty="0" smtClean="0"/>
              <a:t>。</a:t>
            </a:r>
            <a:endParaRPr lang="en-US" altLang="zh-CN" dirty="0" smtClean="0"/>
          </a:p>
        </p:txBody>
      </p:sp>
      <p:pic>
        <p:nvPicPr>
          <p:cNvPr id="5" name="内容占位符 4"/>
          <p:cNvPicPr>
            <a:picLocks noGrp="1" noChangeAspect="1"/>
          </p:cNvPicPr>
          <p:nvPr>
            <p:ph sz="half" idx="2"/>
          </p:nvPr>
        </p:nvPicPr>
        <p:blipFill>
          <a:blip r:embed="rId2">
            <a:extLst>
              <a:ext uri="{28A0092B-C50C-407E-A947-70E740481C1C}">
                <a14:useLocalDpi xmlns:a14="http://schemas.microsoft.com/office/drawing/2010/main" xmlns="" val="0"/>
              </a:ext>
            </a:extLst>
          </a:blip>
          <a:stretch>
            <a:fillRect/>
          </a:stretch>
        </p:blipFill>
        <p:spPr>
          <a:xfrm>
            <a:off x="5003800" y="1928883"/>
            <a:ext cx="3889375" cy="4208321"/>
          </a:xfrm>
        </p:spPr>
      </p:pic>
    </p:spTree>
    <p:extLst>
      <p:ext uri="{BB962C8B-B14F-4D97-AF65-F5344CB8AC3E}">
        <p14:creationId xmlns:p14="http://schemas.microsoft.com/office/powerpoint/2010/main" xmlns="" val="527985227"/>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凸多面体的表示</a:t>
            </a:r>
            <a:endParaRPr lang="zh-CN" altLang="en-US" dirty="0"/>
          </a:p>
        </p:txBody>
      </p:sp>
      <p:sp>
        <p:nvSpPr>
          <p:cNvPr id="3" name="内容占位符 2"/>
          <p:cNvSpPr>
            <a:spLocks noGrp="1"/>
          </p:cNvSpPr>
          <p:nvPr>
            <p:ph idx="1"/>
          </p:nvPr>
        </p:nvSpPr>
        <p:spPr/>
        <p:txBody>
          <a:bodyPr/>
          <a:lstStyle/>
          <a:p>
            <a:r>
              <a:rPr lang="zh-CN" altLang="en-US" dirty="0" smtClean="0"/>
              <a:t>表示一个凸多面体需要记录其所有的面。对于所有的面，要正确记录这个面上点的顺序。</a:t>
            </a:r>
            <a:endParaRPr lang="en-US" altLang="zh-CN" dirty="0" smtClean="0"/>
          </a:p>
          <a:p>
            <a:r>
              <a:rPr lang="zh-CN" altLang="en-US" dirty="0" smtClean="0"/>
              <a:t>根据假设，每个面都是三角形的，即包含三个点，所以每个面都表示了一个半空间。</a:t>
            </a:r>
            <a:endParaRPr lang="en-US" altLang="zh-CN" dirty="0" smtClean="0"/>
          </a:p>
          <a:p>
            <a:r>
              <a:rPr lang="zh-CN" altLang="en-US" dirty="0" smtClean="0"/>
              <a:t>凸多面体</a:t>
            </a:r>
            <a:r>
              <a:rPr lang="zh-CN" altLang="en-US" dirty="0"/>
              <a:t>应</a:t>
            </a:r>
            <a:r>
              <a:rPr lang="zh-CN" altLang="en-US" dirty="0" smtClean="0"/>
              <a:t>为这些半空间</a:t>
            </a:r>
            <a:r>
              <a:rPr lang="zh-CN" altLang="en-US" b="1" dirty="0" smtClean="0">
                <a:solidFill>
                  <a:schemeClr val="accent4">
                    <a:lumMod val="60000"/>
                    <a:lumOff val="40000"/>
                  </a:schemeClr>
                </a:solidFill>
              </a:rPr>
              <a:t>内侧</a:t>
            </a:r>
            <a:r>
              <a:rPr lang="zh-CN" altLang="en-US" dirty="0" smtClean="0"/>
              <a:t>的交。</a:t>
            </a:r>
            <a:endParaRPr lang="en-US" altLang="zh-CN" dirty="0" smtClean="0"/>
          </a:p>
        </p:txBody>
      </p:sp>
    </p:spTree>
    <p:extLst>
      <p:ext uri="{BB962C8B-B14F-4D97-AF65-F5344CB8AC3E}">
        <p14:creationId xmlns:p14="http://schemas.microsoft.com/office/powerpoint/2010/main" xmlns="" val="619690345"/>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可视</a:t>
            </a:r>
          </a:p>
        </p:txBody>
      </p:sp>
      <p:sp>
        <p:nvSpPr>
          <p:cNvPr id="3" name="内容占位符 2"/>
          <p:cNvSpPr>
            <a:spLocks noGrp="1"/>
          </p:cNvSpPr>
          <p:nvPr>
            <p:ph idx="1"/>
          </p:nvPr>
        </p:nvSpPr>
        <p:spPr/>
        <p:txBody>
          <a:bodyPr>
            <a:normAutofit fontScale="92500"/>
          </a:bodyPr>
          <a:lstStyle/>
          <a:p>
            <a:r>
              <a:rPr lang="zh-CN" altLang="en-US" dirty="0" smtClean="0"/>
              <a:t>若 </a:t>
            </a:r>
            <a:r>
              <a:rPr lang="en-US" altLang="zh-CN" i="1" dirty="0" smtClean="0">
                <a:latin typeface="Times New Roman" pitchFamily="18" charset="0"/>
                <a:cs typeface="Times New Roman" pitchFamily="18" charset="0"/>
              </a:rPr>
              <a:t>P</a:t>
            </a:r>
            <a:r>
              <a:rPr lang="en-US" altLang="zh-CN" dirty="0" smtClean="0"/>
              <a:t> </a:t>
            </a:r>
            <a:r>
              <a:rPr lang="zh-CN" altLang="en-US" dirty="0" smtClean="0"/>
              <a:t>在半空间 </a:t>
            </a:r>
            <a:r>
              <a:rPr lang="en-US" altLang="zh-CN" i="1" dirty="0" smtClean="0">
                <a:latin typeface="Times New Roman" pitchFamily="18" charset="0"/>
                <a:cs typeface="Times New Roman" pitchFamily="18" charset="0"/>
              </a:rPr>
              <a:t>A</a:t>
            </a:r>
            <a:r>
              <a:rPr lang="en-US" altLang="zh-CN" dirty="0" smtClean="0"/>
              <a:t> </a:t>
            </a:r>
            <a:r>
              <a:rPr lang="zh-CN" altLang="en-US" dirty="0" smtClean="0"/>
              <a:t>的外侧，则称半空间 </a:t>
            </a:r>
            <a:r>
              <a:rPr lang="en-US" altLang="zh-CN" i="1" dirty="0" smtClean="0">
                <a:latin typeface="Times New Roman" pitchFamily="18" charset="0"/>
                <a:cs typeface="Times New Roman" pitchFamily="18" charset="0"/>
              </a:rPr>
              <a:t>A</a:t>
            </a:r>
            <a:r>
              <a:rPr lang="zh-CN" altLang="en-US" dirty="0" smtClean="0">
                <a:latin typeface="Times New Roman" pitchFamily="18" charset="0"/>
                <a:cs typeface="Times New Roman" pitchFamily="18" charset="0"/>
              </a:rPr>
              <a:t>，或 </a:t>
            </a:r>
            <a:r>
              <a:rPr lang="en-US" altLang="zh-CN" i="1" dirty="0" smtClean="0">
                <a:latin typeface="Times New Roman" pitchFamily="18" charset="0"/>
                <a:cs typeface="Times New Roman" pitchFamily="18" charset="0"/>
              </a:rPr>
              <a:t>A</a:t>
            </a:r>
            <a:r>
              <a:rPr lang="en-US" altLang="zh-CN" dirty="0" smtClean="0">
                <a:latin typeface="Times New Roman" pitchFamily="18" charset="0"/>
                <a:cs typeface="Times New Roman" pitchFamily="18" charset="0"/>
              </a:rPr>
              <a:t> </a:t>
            </a:r>
            <a:r>
              <a:rPr lang="zh-CN" altLang="en-US" dirty="0" smtClean="0">
                <a:latin typeface="Times New Roman" pitchFamily="18" charset="0"/>
                <a:cs typeface="Times New Roman" pitchFamily="18" charset="0"/>
              </a:rPr>
              <a:t>所代表的平面</a:t>
            </a:r>
            <a:r>
              <a:rPr lang="zh-CN" altLang="en-US" dirty="0" smtClean="0"/>
              <a:t>对 </a:t>
            </a:r>
            <a:r>
              <a:rPr lang="en-US" altLang="zh-CN" i="1" dirty="0" smtClean="0">
                <a:latin typeface="Times New Roman" pitchFamily="18" charset="0"/>
                <a:cs typeface="Times New Roman" pitchFamily="18" charset="0"/>
              </a:rPr>
              <a:t>P</a:t>
            </a:r>
            <a:r>
              <a:rPr lang="en-US" altLang="zh-CN" dirty="0" smtClean="0"/>
              <a:t> </a:t>
            </a:r>
            <a:r>
              <a:rPr lang="zh-CN" altLang="en-US" dirty="0" smtClean="0"/>
              <a:t>是</a:t>
            </a:r>
            <a:r>
              <a:rPr lang="zh-CN" altLang="en-US" b="1" dirty="0" smtClean="0">
                <a:solidFill>
                  <a:schemeClr val="accent4">
                    <a:lumMod val="60000"/>
                    <a:lumOff val="40000"/>
                  </a:schemeClr>
                </a:solidFill>
              </a:rPr>
              <a:t>可视</a:t>
            </a:r>
            <a:r>
              <a:rPr lang="zh-CN" altLang="en-US" dirty="0" smtClean="0"/>
              <a:t>的。</a:t>
            </a:r>
            <a:endParaRPr lang="en-US" altLang="zh-CN" dirty="0" smtClean="0"/>
          </a:p>
          <a:p>
            <a:r>
              <a:rPr lang="zh-CN" altLang="en-US" dirty="0"/>
              <a:t>我们在</a:t>
            </a:r>
            <a:r>
              <a:rPr lang="zh-CN" altLang="en-US" dirty="0" smtClean="0"/>
              <a:t>观察一个凸多面体的时候，看到的面即为视点的可视面。</a:t>
            </a:r>
            <a:endParaRPr lang="en-US" altLang="zh-CN" dirty="0" smtClean="0"/>
          </a:p>
          <a:p>
            <a:r>
              <a:rPr lang="zh-CN" altLang="en-US" dirty="0" smtClean="0"/>
              <a:t>凸多面体各个面的点的顺序应该保证，从多面体内部的任意一点看去，所有的面都不可视。</a:t>
            </a:r>
            <a:endParaRPr lang="en-US" altLang="zh-CN" dirty="0" smtClean="0"/>
          </a:p>
          <a:p>
            <a:r>
              <a:rPr lang="zh-CN" altLang="en-US" dirty="0" smtClean="0"/>
              <a:t>若将左右手系用行列式的符号替代，则可视的概念能推广到高维。</a:t>
            </a:r>
            <a:endParaRPr lang="zh-CN" altLang="en-US" dirty="0"/>
          </a:p>
        </p:txBody>
      </p:sp>
    </p:spTree>
    <p:extLst>
      <p:ext uri="{BB962C8B-B14F-4D97-AF65-F5344CB8AC3E}">
        <p14:creationId xmlns:p14="http://schemas.microsoft.com/office/powerpoint/2010/main" xmlns="" val="3302917185"/>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若多面体有非三角面</a:t>
            </a:r>
            <a:endParaRPr lang="zh-CN" altLang="en-US" dirty="0"/>
          </a:p>
        </p:txBody>
      </p:sp>
      <p:sp>
        <p:nvSpPr>
          <p:cNvPr id="3" name="内容占位符 2"/>
          <p:cNvSpPr>
            <a:spLocks noGrp="1"/>
          </p:cNvSpPr>
          <p:nvPr>
            <p:ph idx="1"/>
          </p:nvPr>
        </p:nvSpPr>
        <p:spPr/>
        <p:txBody>
          <a:bodyPr/>
          <a:lstStyle/>
          <a:p>
            <a:r>
              <a:rPr lang="zh-CN" altLang="en-US" dirty="0" smtClean="0"/>
              <a:t>这样的面记录的时候要保证，其上所有点从多面体的内部看去成</a:t>
            </a:r>
            <a:r>
              <a:rPr lang="zh-CN" altLang="en-US" b="1" dirty="0" smtClean="0">
                <a:solidFill>
                  <a:schemeClr val="accent4">
                    <a:lumMod val="60000"/>
                    <a:lumOff val="40000"/>
                  </a:schemeClr>
                </a:solidFill>
              </a:rPr>
              <a:t>顺时针</a:t>
            </a:r>
            <a:r>
              <a:rPr lang="zh-CN" altLang="en-US" dirty="0" smtClean="0"/>
              <a:t>排列。</a:t>
            </a:r>
            <a:endParaRPr lang="en-US" altLang="zh-CN" dirty="0" smtClean="0"/>
          </a:p>
          <a:p>
            <a:r>
              <a:rPr lang="zh-CN" altLang="en-US" dirty="0" smtClean="0"/>
              <a:t>此时这个面仍然能有效地表示一个半空间。</a:t>
            </a:r>
            <a:endParaRPr lang="zh-CN" altLang="en-US" dirty="0"/>
          </a:p>
        </p:txBody>
      </p:sp>
    </p:spTree>
    <p:extLst>
      <p:ext uri="{BB962C8B-B14F-4D97-AF65-F5344CB8AC3E}">
        <p14:creationId xmlns:p14="http://schemas.microsoft.com/office/powerpoint/2010/main" xmlns="" val="162710430"/>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三维凸包</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从凸包的定义出发推断，一坨三维空间中的点的凸包是一个凸多面体。</a:t>
            </a:r>
            <a:endParaRPr lang="en-US" altLang="zh-CN" dirty="0" smtClean="0"/>
          </a:p>
          <a:p>
            <a:r>
              <a:rPr lang="zh-CN" altLang="en-US" dirty="0"/>
              <a:t>事已</a:t>
            </a:r>
            <a:r>
              <a:rPr lang="zh-CN" altLang="en-US" dirty="0" smtClean="0"/>
              <a:t>至此我们只好想办法求它了。</a:t>
            </a:r>
            <a:r>
              <a:rPr lang="zh-CN" altLang="en-US" dirty="0"/>
              <a:t>但是</a:t>
            </a:r>
            <a:r>
              <a:rPr lang="zh-CN" altLang="en-US" dirty="0" smtClean="0"/>
              <a:t>不难发现由于失去了左右这一概念，</a:t>
            </a:r>
            <a:r>
              <a:rPr lang="en-US" altLang="zh-CN" dirty="0" smtClean="0"/>
              <a:t>Graham </a:t>
            </a:r>
            <a:r>
              <a:rPr lang="zh-CN" altLang="en-US" dirty="0" smtClean="0"/>
              <a:t>扫描法彻底报废了。</a:t>
            </a:r>
            <a:endParaRPr lang="en-US" altLang="zh-CN" dirty="0" smtClean="0"/>
          </a:p>
          <a:p>
            <a:r>
              <a:rPr lang="zh-CN" altLang="en-US" dirty="0" smtClean="0"/>
              <a:t>那怎么办？</a:t>
            </a:r>
            <a:endParaRPr lang="en-US" altLang="zh-CN" dirty="0" smtClean="0"/>
          </a:p>
          <a:p>
            <a:r>
              <a:rPr lang="zh-CN" altLang="en-US" dirty="0" smtClean="0"/>
              <a:t>为了方便起见，我们假定没有四点共面的情况。</a:t>
            </a:r>
            <a:endParaRPr lang="en-US" altLang="zh-CN" dirty="0" smtClean="0"/>
          </a:p>
        </p:txBody>
      </p:sp>
    </p:spTree>
    <p:extLst>
      <p:ext uri="{BB962C8B-B14F-4D97-AF65-F5344CB8AC3E}">
        <p14:creationId xmlns:p14="http://schemas.microsoft.com/office/powerpoint/2010/main" xmlns="" val="1555188492"/>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暴力方法</a:t>
            </a:r>
            <a:endParaRPr lang="zh-CN" altLang="en-US" dirty="0"/>
          </a:p>
        </p:txBody>
      </p:sp>
      <p:sp>
        <p:nvSpPr>
          <p:cNvPr id="3" name="内容占位符 2"/>
          <p:cNvSpPr>
            <a:spLocks noGrp="1"/>
          </p:cNvSpPr>
          <p:nvPr>
            <p:ph idx="1"/>
          </p:nvPr>
        </p:nvSpPr>
        <p:spPr/>
        <p:txBody>
          <a:bodyPr/>
          <a:lstStyle/>
          <a:p>
            <a:r>
              <a:rPr lang="en-US" altLang="zh-CN" dirty="0" smtClean="0">
                <a:latin typeface="Times New Roman" pitchFamily="18" charset="0"/>
                <a:cs typeface="Times New Roman" pitchFamily="18" charset="0"/>
              </a:rPr>
              <a:t>O(</a:t>
            </a:r>
            <a:r>
              <a:rPr lang="en-US" altLang="zh-CN" i="1" dirty="0" smtClean="0">
                <a:latin typeface="Times New Roman" pitchFamily="18" charset="0"/>
                <a:cs typeface="Times New Roman" pitchFamily="18" charset="0"/>
              </a:rPr>
              <a:t>N</a:t>
            </a:r>
            <a:r>
              <a:rPr lang="en-US" altLang="zh-CN" baseline="30000" dirty="0" smtClean="0">
                <a:latin typeface="Times New Roman" pitchFamily="18" charset="0"/>
                <a:cs typeface="Times New Roman" pitchFamily="18" charset="0"/>
              </a:rPr>
              <a:t>3</a:t>
            </a:r>
            <a:r>
              <a:rPr lang="en-US" altLang="zh-CN" dirty="0" smtClean="0">
                <a:latin typeface="Times New Roman" pitchFamily="18" charset="0"/>
                <a:cs typeface="Times New Roman" pitchFamily="18" charset="0"/>
              </a:rPr>
              <a:t>) </a:t>
            </a:r>
            <a:r>
              <a:rPr lang="zh-CN" altLang="en-US" dirty="0" smtClean="0"/>
              <a:t>枚举所有的点的三元组，将其看做半空间。若所有其它的点都在这个半空间的内侧，则这个面是凸包的一个面。</a:t>
            </a:r>
            <a:endParaRPr lang="en-US" altLang="zh-CN" dirty="0" smtClean="0"/>
          </a:p>
          <a:p>
            <a:r>
              <a:rPr lang="zh-CN" altLang="en-US" dirty="0"/>
              <a:t>时间复杂</a:t>
            </a:r>
            <a:r>
              <a:rPr lang="zh-CN" altLang="en-US" dirty="0" smtClean="0"/>
              <a:t>度 </a:t>
            </a:r>
            <a:r>
              <a:rPr lang="en-US" altLang="zh-CN" dirty="0" smtClean="0">
                <a:latin typeface="Times New Roman" pitchFamily="18" charset="0"/>
                <a:cs typeface="Times New Roman" pitchFamily="18" charset="0"/>
              </a:rPr>
              <a:t>O(</a:t>
            </a:r>
            <a:r>
              <a:rPr lang="en-US" altLang="zh-CN" i="1" dirty="0" smtClean="0">
                <a:latin typeface="Times New Roman" pitchFamily="18" charset="0"/>
                <a:cs typeface="Times New Roman" pitchFamily="18" charset="0"/>
              </a:rPr>
              <a:t>N</a:t>
            </a:r>
            <a:r>
              <a:rPr lang="en-US" altLang="zh-CN" baseline="30000" dirty="0" smtClean="0">
                <a:latin typeface="Times New Roman" pitchFamily="18" charset="0"/>
                <a:cs typeface="Times New Roman" pitchFamily="18" charset="0"/>
              </a:rPr>
              <a:t>4</a:t>
            </a:r>
            <a:r>
              <a:rPr lang="en-US" altLang="zh-CN" dirty="0" smtClean="0">
                <a:latin typeface="Times New Roman" pitchFamily="18" charset="0"/>
                <a:cs typeface="Times New Roman" pitchFamily="18" charset="0"/>
              </a:rPr>
              <a:t>)</a:t>
            </a:r>
            <a:r>
              <a:rPr lang="zh-CN" altLang="en-US" dirty="0" smtClean="0">
                <a:latin typeface="Times New Roman" pitchFamily="18" charset="0"/>
                <a:cs typeface="Times New Roman" pitchFamily="18" charset="0"/>
              </a:rPr>
              <a:t>。非常好写！</a:t>
            </a:r>
            <a:r>
              <a:rPr lang="en-US" altLang="zh-CN" dirty="0" smtClean="0">
                <a:latin typeface="Times New Roman" pitchFamily="18" charset="0"/>
                <a:cs typeface="Times New Roman" pitchFamily="18" charset="0"/>
              </a:rPr>
              <a:t> </a:t>
            </a:r>
            <a:endParaRPr lang="zh-CN" altLang="en-US" dirty="0"/>
          </a:p>
        </p:txBody>
      </p:sp>
    </p:spTree>
    <p:extLst>
      <p:ext uri="{BB962C8B-B14F-4D97-AF65-F5344CB8AC3E}">
        <p14:creationId xmlns:p14="http://schemas.microsoft.com/office/powerpoint/2010/main" xmlns="" val="636864234"/>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增量法</a:t>
            </a:r>
            <a:endParaRPr lang="zh-CN" altLang="en-US" dirty="0"/>
          </a:p>
        </p:txBody>
      </p:sp>
      <p:sp>
        <p:nvSpPr>
          <p:cNvPr id="3" name="内容占位符 2"/>
          <p:cNvSpPr>
            <a:spLocks noGrp="1"/>
          </p:cNvSpPr>
          <p:nvPr>
            <p:ph idx="1"/>
          </p:nvPr>
        </p:nvSpPr>
        <p:spPr/>
        <p:txBody>
          <a:bodyPr/>
          <a:lstStyle/>
          <a:p>
            <a:r>
              <a:rPr lang="zh-CN" altLang="en-US" dirty="0" smtClean="0"/>
              <a:t>增量法作为求凸包的有力算法，可以解决任意维度的凸包问题。</a:t>
            </a:r>
            <a:endParaRPr lang="en-US" altLang="zh-CN" dirty="0" smtClean="0"/>
          </a:p>
          <a:p>
            <a:r>
              <a:rPr lang="zh-CN" altLang="en-US" dirty="0" smtClean="0"/>
              <a:t>最坏情况下其时间复杂度为 </a:t>
            </a:r>
            <a:r>
              <a:rPr lang="en-US" altLang="zh-CN" dirty="0" smtClean="0">
                <a:latin typeface="Times New Roman" pitchFamily="18" charset="0"/>
                <a:cs typeface="Times New Roman" pitchFamily="18" charset="0"/>
              </a:rPr>
              <a:t>O(</a:t>
            </a:r>
            <a:r>
              <a:rPr lang="en-US" altLang="zh-CN" i="1" dirty="0" smtClean="0">
                <a:latin typeface="Times New Roman" pitchFamily="18" charset="0"/>
                <a:cs typeface="Times New Roman" pitchFamily="18" charset="0"/>
              </a:rPr>
              <a:t>N</a:t>
            </a:r>
            <a:r>
              <a:rPr lang="en-US" altLang="zh-CN" baseline="30000" dirty="0" smtClean="0">
                <a:latin typeface="Times New Roman" pitchFamily="18" charset="0"/>
                <a:cs typeface="Times New Roman" pitchFamily="18" charset="0"/>
              </a:rPr>
              <a:t>2</a:t>
            </a:r>
            <a:r>
              <a:rPr lang="en-US" altLang="zh-CN" dirty="0" smtClean="0">
                <a:latin typeface="Times New Roman" pitchFamily="18" charset="0"/>
                <a:cs typeface="Times New Roman" pitchFamily="18" charset="0"/>
              </a:rPr>
              <a:t>)</a:t>
            </a:r>
            <a:r>
              <a:rPr lang="zh-CN" altLang="en-US" dirty="0" smtClean="0"/>
              <a:t>。</a:t>
            </a:r>
            <a:endParaRPr lang="en-US" altLang="zh-CN" dirty="0" smtClean="0"/>
          </a:p>
          <a:p>
            <a:endParaRPr lang="zh-CN" altLang="en-US" dirty="0"/>
          </a:p>
        </p:txBody>
      </p:sp>
    </p:spTree>
    <p:extLst>
      <p:ext uri="{BB962C8B-B14F-4D97-AF65-F5344CB8AC3E}">
        <p14:creationId xmlns:p14="http://schemas.microsoft.com/office/powerpoint/2010/main" xmlns="" val="2771238520"/>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算法流程</a:t>
            </a:r>
            <a:endParaRPr lang="zh-CN" altLang="en-US" dirty="0"/>
          </a:p>
        </p:txBody>
      </p:sp>
      <p:sp>
        <p:nvSpPr>
          <p:cNvPr id="3" name="内容占位符 2"/>
          <p:cNvSpPr>
            <a:spLocks noGrp="1"/>
          </p:cNvSpPr>
          <p:nvPr>
            <p:ph idx="1"/>
          </p:nvPr>
        </p:nvSpPr>
        <p:spPr/>
        <p:txBody>
          <a:bodyPr/>
          <a:lstStyle/>
          <a:p>
            <a:r>
              <a:rPr lang="zh-CN" altLang="en-US" dirty="0" smtClean="0"/>
              <a:t>取出点集中的四个点，这四个点组成的四个面都是初始凸包的面。调整各个面上点的顺序使得从内部看去各个面均不可视。</a:t>
            </a:r>
            <a:endParaRPr lang="en-US" altLang="zh-CN" dirty="0" smtClean="0"/>
          </a:p>
          <a:p>
            <a:r>
              <a:rPr lang="zh-CN" altLang="en-US" dirty="0" smtClean="0"/>
              <a:t>之后添加其它各点。如果从这个点看去，所有的面均不可视，则此点在凸包内部。什么都不做，跳过该点。</a:t>
            </a:r>
            <a:endParaRPr lang="en-US" altLang="zh-CN" dirty="0" smtClean="0"/>
          </a:p>
          <a:p>
            <a:r>
              <a:rPr lang="zh-CN" altLang="en-US" dirty="0" smtClean="0"/>
              <a:t>否则</a:t>
            </a:r>
            <a:r>
              <a:rPr lang="en-US" altLang="zh-CN" dirty="0" smtClean="0"/>
              <a:t>……</a:t>
            </a:r>
            <a:endParaRPr lang="zh-CN" altLang="en-US" dirty="0"/>
          </a:p>
        </p:txBody>
      </p:sp>
    </p:spTree>
    <p:extLst>
      <p:ext uri="{BB962C8B-B14F-4D97-AF65-F5344CB8AC3E}">
        <p14:creationId xmlns:p14="http://schemas.microsoft.com/office/powerpoint/2010/main" xmlns="" val="1705663357"/>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算法流程</a:t>
            </a:r>
            <a:endParaRPr lang="zh-CN" altLang="en-US" dirty="0"/>
          </a:p>
        </p:txBody>
      </p:sp>
      <mc:AlternateContent xmlns:mc="http://schemas.openxmlformats.org/markup-compatibility/2006">
        <mc:Choice xmlns:a14="http://schemas.microsoft.com/office/drawing/2010/main" xmlns="" Requires="a14">
          <p:sp>
            <p:nvSpPr>
              <p:cNvPr id="3" name="内容占位符 2"/>
              <p:cNvSpPr>
                <a:spLocks noGrp="1"/>
              </p:cNvSpPr>
              <p:nvPr>
                <p:ph sz="half" idx="1"/>
              </p:nvPr>
            </p:nvSpPr>
            <p:spPr/>
            <p:txBody>
              <a:bodyPr>
                <a:normAutofit/>
              </a:bodyPr>
              <a:lstStyle/>
              <a:p>
                <a:r>
                  <a:rPr lang="zh-CN" altLang="en-US" dirty="0" smtClean="0"/>
                  <a:t>设当前点是 </a:t>
                </a:r>
                <a:r>
                  <a:rPr lang="en-US" altLang="zh-CN" i="1" dirty="0" smtClean="0"/>
                  <a:t>P</a:t>
                </a:r>
                <a:r>
                  <a:rPr lang="zh-CN" altLang="en-US" dirty="0" smtClean="0"/>
                  <a:t>。</a:t>
                </a:r>
                <a:endParaRPr lang="en-US" altLang="zh-CN" dirty="0"/>
              </a:p>
              <a:p>
                <a:r>
                  <a:rPr lang="zh-CN" altLang="en-US" dirty="0" smtClean="0"/>
                  <a:t>找到可视面和不可视面的分界线。删除掉所有的可视面，对于</a:t>
                </a:r>
                <a:r>
                  <a:rPr lang="zh-CN" altLang="en-US" b="1" dirty="0" smtClean="0">
                    <a:solidFill>
                      <a:schemeClr val="accent4">
                        <a:lumMod val="60000"/>
                        <a:lumOff val="40000"/>
                      </a:schemeClr>
                    </a:solidFill>
                  </a:rPr>
                  <a:t>不可视境界线</a:t>
                </a:r>
                <a:r>
                  <a:rPr lang="zh-CN" altLang="en-US" dirty="0" smtClean="0"/>
                  <a:t>上的每条边 </a:t>
                </a:r>
                <a14:m>
                  <m:oMath xmlns:m="http://schemas.openxmlformats.org/officeDocument/2006/math">
                    <m:r>
                      <a:rPr lang="en-US" altLang="zh-CN" b="0" i="1" smtClean="0">
                        <a:latin typeface="Cambria Math"/>
                      </a:rPr>
                      <m:t>𝐴</m:t>
                    </m:r>
                    <m:r>
                      <a:rPr lang="en-US" altLang="zh-CN" b="0" i="1" smtClean="0">
                        <a:latin typeface="Cambria Math"/>
                      </a:rPr>
                      <m:t>→</m:t>
                    </m:r>
                    <m:r>
                      <a:rPr lang="en-US" altLang="zh-CN" b="0" i="1" smtClean="0">
                        <a:latin typeface="Cambria Math"/>
                      </a:rPr>
                      <m:t>𝐵</m:t>
                    </m:r>
                  </m:oMath>
                </a14:m>
                <a:r>
                  <a:rPr lang="zh-CN" altLang="en-US" dirty="0" smtClean="0"/>
                  <a:t>，建立过此边和当前点的面 </a:t>
                </a:r>
                <a14:m>
                  <m:oMath xmlns:m="http://schemas.openxmlformats.org/officeDocument/2006/math">
                    <m:r>
                      <a:rPr lang="en-US" altLang="zh-CN" b="0" i="1" smtClean="0">
                        <a:latin typeface="Cambria Math"/>
                      </a:rPr>
                      <m:t>𝐴</m:t>
                    </m:r>
                    <m:r>
                      <a:rPr lang="en-US" altLang="zh-CN" b="0" i="1" smtClean="0">
                        <a:latin typeface="Cambria Math"/>
                      </a:rPr>
                      <m:t>→</m:t>
                    </m:r>
                    <m:r>
                      <a:rPr lang="en-US" altLang="zh-CN" b="0" i="1" smtClean="0">
                        <a:latin typeface="Cambria Math"/>
                      </a:rPr>
                      <m:t>𝐵</m:t>
                    </m:r>
                    <m:r>
                      <a:rPr lang="en-US" altLang="zh-CN" b="0" i="1" smtClean="0">
                        <a:latin typeface="Cambria Math"/>
                      </a:rPr>
                      <m:t>→</m:t>
                    </m:r>
                    <m:r>
                      <a:rPr lang="en-US" altLang="zh-CN" b="0" i="1" smtClean="0">
                        <a:latin typeface="Cambria Math"/>
                      </a:rPr>
                      <m:t>𝑃</m:t>
                    </m:r>
                  </m:oMath>
                </a14:m>
                <a:r>
                  <a:rPr lang="en-US" altLang="zh-CN" dirty="0" smtClean="0"/>
                  <a:t>.</a:t>
                </a: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sz="half" idx="1"/>
              </p:nvPr>
            </p:nvSpPr>
            <p:spPr>
              <a:blipFill rotWithShape="1">
                <a:blip r:embed="rId2"/>
                <a:stretch>
                  <a:fillRect l="-770" t="-135" r="-462"/>
                </a:stretch>
              </a:blipFill>
            </p:spPr>
            <p:txBody>
              <a:bodyPr/>
              <a:lstStyle/>
              <a:p>
                <a:r>
                  <a:rPr lang="zh-CN" altLang="en-US">
                    <a:noFill/>
                  </a:rPr>
                  <a:t> </a:t>
                </a:r>
              </a:p>
            </p:txBody>
          </p:sp>
        </mc:Fallback>
      </mc:AlternateContent>
      <p:pic>
        <p:nvPicPr>
          <p:cNvPr id="5" name="内容占位符 4"/>
          <p:cNvPicPr>
            <a:picLocks noGrp="1" noChangeAspect="1"/>
          </p:cNvPicPr>
          <p:nvPr>
            <p:ph sz="half" idx="2"/>
          </p:nvPr>
        </p:nvPicPr>
        <p:blipFill>
          <a:blip r:embed="rId3">
            <a:extLst>
              <a:ext uri="{28A0092B-C50C-407E-A947-70E740481C1C}">
                <a14:useLocalDpi xmlns:a14="http://schemas.microsoft.com/office/drawing/2010/main" xmlns="" val="0"/>
              </a:ext>
            </a:extLst>
          </a:blip>
          <a:stretch>
            <a:fillRect/>
          </a:stretch>
        </p:blipFill>
        <p:spPr>
          <a:xfrm>
            <a:off x="5075113" y="258314"/>
            <a:ext cx="3889375" cy="3170686"/>
          </a:xfrm>
        </p:spPr>
      </p:pic>
      <p:pic>
        <p:nvPicPr>
          <p:cNvPr id="6" name="内容占位符 4"/>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5075113" y="3429000"/>
            <a:ext cx="3889374" cy="3170686"/>
          </a:xfrm>
          <a:prstGeom prst="rect">
            <a:avLst/>
          </a:prstGeom>
        </p:spPr>
      </p:pic>
    </p:spTree>
    <p:extLst>
      <p:ext uri="{BB962C8B-B14F-4D97-AF65-F5344CB8AC3E}">
        <p14:creationId xmlns:p14="http://schemas.microsoft.com/office/powerpoint/2010/main" xmlns="" val="343540864"/>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sp>
        <p:nvSpPr>
          <p:cNvPr id="5" name="TextBox 4"/>
          <p:cNvSpPr txBox="1"/>
          <p:nvPr/>
        </p:nvSpPr>
        <p:spPr>
          <a:xfrm>
            <a:off x="1187624" y="1609636"/>
            <a:ext cx="7416824" cy="523220"/>
          </a:xfrm>
          <a:prstGeom prst="rect">
            <a:avLst/>
          </a:prstGeom>
          <a:noFill/>
        </p:spPr>
        <p:txBody>
          <a:bodyPr wrap="square" rtlCol="0">
            <a:spAutoFit/>
          </a:bodyPr>
          <a:lstStyle/>
          <a:p>
            <a:pPr algn="ctr"/>
            <a:r>
              <a:rPr lang="zh-CN" altLang="en-US" sz="2800" dirty="0" smtClean="0">
                <a:latin typeface="Adobe 宋体 Std L" pitchFamily="18" charset="-122"/>
                <a:ea typeface="Adobe 宋体 Std L" pitchFamily="18" charset="-122"/>
              </a:rPr>
              <a:t>建立初始凸包，并试图添加第一个点。</a:t>
            </a:r>
            <a:endParaRPr lang="zh-CN" altLang="en-US" sz="2800" dirty="0">
              <a:latin typeface="Adobe 宋体 Std L" pitchFamily="18" charset="-122"/>
              <a:ea typeface="Adobe 宋体 Std L" pitchFamily="18" charset="-122"/>
            </a:endParaRPr>
          </a:p>
        </p:txBody>
      </p:sp>
      <p:pic>
        <p:nvPicPr>
          <p:cNvPr id="6" name="图片 5"/>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411760" y="2375302"/>
            <a:ext cx="4737399" cy="3862010"/>
          </a:xfrm>
          <a:prstGeom prst="rect">
            <a:avLst/>
          </a:prstGeom>
        </p:spPr>
      </p:pic>
    </p:spTree>
    <p:extLst>
      <p:ext uri="{BB962C8B-B14F-4D97-AF65-F5344CB8AC3E}">
        <p14:creationId xmlns:p14="http://schemas.microsoft.com/office/powerpoint/2010/main" xmlns="" val="2125899514"/>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sp>
        <p:nvSpPr>
          <p:cNvPr id="5" name="TextBox 4"/>
          <p:cNvSpPr txBox="1"/>
          <p:nvPr/>
        </p:nvSpPr>
        <p:spPr>
          <a:xfrm>
            <a:off x="1187624" y="1609636"/>
            <a:ext cx="7416824" cy="523220"/>
          </a:xfrm>
          <a:prstGeom prst="rect">
            <a:avLst/>
          </a:prstGeom>
          <a:noFill/>
        </p:spPr>
        <p:txBody>
          <a:bodyPr wrap="square" rtlCol="0">
            <a:spAutoFit/>
          </a:bodyPr>
          <a:lstStyle/>
          <a:p>
            <a:pPr algn="ctr"/>
            <a:r>
              <a:rPr lang="zh-CN" altLang="en-US" sz="2800" dirty="0" smtClean="0">
                <a:latin typeface="Adobe 宋体 Std L" pitchFamily="18" charset="-122"/>
                <a:ea typeface="Adobe 宋体 Std L" pitchFamily="18" charset="-122"/>
              </a:rPr>
              <a:t>添加第一个点完毕。</a:t>
            </a:r>
            <a:endParaRPr lang="zh-CN" altLang="en-US" sz="2800" dirty="0">
              <a:latin typeface="Adobe 宋体 Std L" pitchFamily="18" charset="-122"/>
              <a:ea typeface="Adobe 宋体 Std L" pitchFamily="18" charset="-122"/>
            </a:endParaRPr>
          </a:p>
        </p:txBody>
      </p:sp>
      <p:pic>
        <p:nvPicPr>
          <p:cNvPr id="6" name="图片 5"/>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411760" y="2375302"/>
            <a:ext cx="4737398" cy="3862010"/>
          </a:xfrm>
          <a:prstGeom prst="rect">
            <a:avLst/>
          </a:prstGeom>
        </p:spPr>
      </p:pic>
    </p:spTree>
    <p:extLst>
      <p:ext uri="{BB962C8B-B14F-4D97-AF65-F5344CB8AC3E}">
        <p14:creationId xmlns:p14="http://schemas.microsoft.com/office/powerpoint/2010/main" xmlns="" val="3788885340"/>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sp>
        <p:nvSpPr>
          <p:cNvPr id="5" name="TextBox 4"/>
          <p:cNvSpPr txBox="1"/>
          <p:nvPr/>
        </p:nvSpPr>
        <p:spPr>
          <a:xfrm>
            <a:off x="1187624" y="1609636"/>
            <a:ext cx="7416824" cy="523220"/>
          </a:xfrm>
          <a:prstGeom prst="rect">
            <a:avLst/>
          </a:prstGeom>
          <a:noFill/>
        </p:spPr>
        <p:txBody>
          <a:bodyPr wrap="square" rtlCol="0">
            <a:spAutoFit/>
          </a:bodyPr>
          <a:lstStyle/>
          <a:p>
            <a:pPr algn="ctr"/>
            <a:r>
              <a:rPr lang="zh-CN" altLang="en-US" sz="2800" dirty="0" smtClean="0">
                <a:latin typeface="Adobe 宋体 Std L" pitchFamily="18" charset="-122"/>
                <a:ea typeface="Adobe 宋体 Std L" pitchFamily="18" charset="-122"/>
              </a:rPr>
              <a:t>试图添加第二个点。</a:t>
            </a:r>
            <a:endParaRPr lang="zh-CN" altLang="en-US" sz="2800" dirty="0">
              <a:latin typeface="Adobe 宋体 Std L" pitchFamily="18" charset="-122"/>
              <a:ea typeface="Adobe 宋体 Std L" pitchFamily="18" charset="-122"/>
            </a:endParaRPr>
          </a:p>
        </p:txBody>
      </p:sp>
      <p:pic>
        <p:nvPicPr>
          <p:cNvPr id="6" name="图片 5"/>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411760" y="2375302"/>
            <a:ext cx="4737398" cy="3862009"/>
          </a:xfrm>
          <a:prstGeom prst="rect">
            <a:avLst/>
          </a:prstGeom>
        </p:spPr>
      </p:pic>
    </p:spTree>
    <p:extLst>
      <p:ext uri="{BB962C8B-B14F-4D97-AF65-F5344CB8AC3E}">
        <p14:creationId xmlns:p14="http://schemas.microsoft.com/office/powerpoint/2010/main" xmlns="" val="4086925504"/>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算法演示</a:t>
            </a:r>
            <a:endParaRPr lang="zh-CN" altLang="en-US"/>
          </a:p>
        </p:txBody>
      </p:sp>
      <p:sp>
        <p:nvSpPr>
          <p:cNvPr id="5" name="TextBox 4"/>
          <p:cNvSpPr txBox="1"/>
          <p:nvPr/>
        </p:nvSpPr>
        <p:spPr>
          <a:xfrm>
            <a:off x="1187624" y="1609636"/>
            <a:ext cx="7416824" cy="523220"/>
          </a:xfrm>
          <a:prstGeom prst="rect">
            <a:avLst/>
          </a:prstGeom>
          <a:noFill/>
        </p:spPr>
        <p:txBody>
          <a:bodyPr wrap="square" rtlCol="0">
            <a:spAutoFit/>
          </a:bodyPr>
          <a:lstStyle/>
          <a:p>
            <a:pPr algn="ctr"/>
            <a:r>
              <a:rPr lang="zh-CN" altLang="en-US" sz="2800" dirty="0" smtClean="0">
                <a:latin typeface="Adobe 宋体 Std L" pitchFamily="18" charset="-122"/>
                <a:ea typeface="Adobe 宋体 Std L" pitchFamily="18" charset="-122"/>
              </a:rPr>
              <a:t>添加第二个点完毕。如此添加所有点即可。</a:t>
            </a:r>
            <a:endParaRPr lang="zh-CN" altLang="en-US" sz="2800" dirty="0">
              <a:latin typeface="Adobe 宋体 Std L" pitchFamily="18" charset="-122"/>
              <a:ea typeface="Adobe 宋体 Std L" pitchFamily="18" charset="-122"/>
            </a:endParaRPr>
          </a:p>
        </p:txBody>
      </p:sp>
      <p:pic>
        <p:nvPicPr>
          <p:cNvPr id="6" name="图片 5"/>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411760" y="2375302"/>
            <a:ext cx="4737397" cy="3862009"/>
          </a:xfrm>
          <a:prstGeom prst="rect">
            <a:avLst/>
          </a:prstGeom>
        </p:spPr>
      </p:pic>
    </p:spTree>
    <p:extLst>
      <p:ext uri="{BB962C8B-B14F-4D97-AF65-F5344CB8AC3E}">
        <p14:creationId xmlns:p14="http://schemas.microsoft.com/office/powerpoint/2010/main" xmlns="" val="2863549457"/>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随机增量</a:t>
            </a:r>
            <a:endParaRPr lang="zh-CN" altLang="en-US" dirty="0"/>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dirty="0" smtClean="0"/>
                  <a:t>可以证明，在平均情况下算法的期望时间复杂度是 </a:t>
                </a:r>
                <a14:m>
                  <m:oMath xmlns:m="http://schemas.openxmlformats.org/officeDocument/2006/math">
                    <m:r>
                      <a:rPr lang="en-US" altLang="zh-CN" b="0" i="1" smtClean="0">
                        <a:latin typeface="Cambria Math"/>
                      </a:rPr>
                      <m:t>𝑂</m:t>
                    </m:r>
                    <m:r>
                      <a:rPr lang="en-US" altLang="zh-CN" b="0" i="1" smtClean="0">
                        <a:latin typeface="Cambria Math"/>
                      </a:rPr>
                      <m:t>(</m:t>
                    </m:r>
                    <m:r>
                      <a:rPr lang="en-US" altLang="zh-CN" b="0" i="1" smtClean="0">
                        <a:latin typeface="Cambria Math"/>
                      </a:rPr>
                      <m:t>𝑁</m:t>
                    </m:r>
                    <m:rad>
                      <m:radPr>
                        <m:degHide m:val="on"/>
                        <m:ctrlPr>
                          <a:rPr lang="en-US" altLang="zh-CN" b="0" i="1" smtClean="0">
                            <a:latin typeface="Cambria Math"/>
                          </a:rPr>
                        </m:ctrlPr>
                      </m:radPr>
                      <m:deg/>
                      <m:e>
                        <m:r>
                          <a:rPr lang="en-US" altLang="zh-CN" b="0" i="1" smtClean="0">
                            <a:latin typeface="Cambria Math"/>
                          </a:rPr>
                          <m:t>𝑁</m:t>
                        </m:r>
                      </m:e>
                    </m:rad>
                    <m:r>
                      <a:rPr lang="en-US" altLang="zh-CN" b="0" i="1" smtClean="0">
                        <a:latin typeface="Cambria Math"/>
                      </a:rPr>
                      <m:t>)</m:t>
                    </m:r>
                  </m:oMath>
                </a14:m>
                <a:r>
                  <a:rPr lang="en-US" altLang="zh-CN" dirty="0" smtClean="0"/>
                  <a:t>.</a:t>
                </a:r>
              </a:p>
              <a:p>
                <a:r>
                  <a:rPr lang="zh-CN" altLang="en-US" dirty="0" smtClean="0"/>
                  <a:t>所以可以先随即打乱初始点集中点的顺序来得到期望复杂度。</a:t>
                </a:r>
                <a:endParaRPr lang="en-US" altLang="zh-CN" dirty="0" smtClean="0"/>
              </a:p>
              <a:p>
                <a:r>
                  <a:rPr lang="zh-CN" altLang="en-US" dirty="0"/>
                  <a:t>这即</a:t>
                </a:r>
                <a:r>
                  <a:rPr lang="zh-CN" altLang="en-US" dirty="0" smtClean="0"/>
                  <a:t>为</a:t>
                </a:r>
                <a:r>
                  <a:rPr lang="zh-CN" altLang="en-US" b="1" dirty="0" smtClean="0">
                    <a:solidFill>
                      <a:schemeClr val="accent4">
                        <a:lumMod val="60000"/>
                        <a:lumOff val="40000"/>
                      </a:schemeClr>
                    </a:solidFill>
                  </a:rPr>
                  <a:t>随机增量算法</a:t>
                </a:r>
                <a:r>
                  <a:rPr lang="zh-CN" altLang="en-US" dirty="0" smtClean="0"/>
                  <a:t>。</a:t>
                </a: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4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1217860291"/>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三维凸包练习题</a:t>
            </a:r>
            <a:endParaRPr lang="zh-CN" altLang="en-US" dirty="0"/>
          </a:p>
        </p:txBody>
      </p:sp>
      <p:sp>
        <p:nvSpPr>
          <p:cNvPr id="3" name="内容占位符 2"/>
          <p:cNvSpPr>
            <a:spLocks noGrp="1"/>
          </p:cNvSpPr>
          <p:nvPr>
            <p:ph idx="1"/>
          </p:nvPr>
        </p:nvSpPr>
        <p:spPr/>
        <p:txBody>
          <a:bodyPr/>
          <a:lstStyle/>
          <a:p>
            <a:r>
              <a:rPr lang="en-US" altLang="zh-CN" b="1" dirty="0" smtClean="0">
                <a:solidFill>
                  <a:schemeClr val="accent4">
                    <a:lumMod val="60000"/>
                    <a:lumOff val="40000"/>
                  </a:schemeClr>
                </a:solidFill>
              </a:rPr>
              <a:t>POJ 3528  </a:t>
            </a:r>
            <a:r>
              <a:rPr lang="zh-CN" altLang="en-US" dirty="0" smtClean="0"/>
              <a:t>裸的三维凸包，且不含四点共面。</a:t>
            </a:r>
            <a:endParaRPr lang="en-US" altLang="zh-CN" dirty="0" smtClean="0"/>
          </a:p>
          <a:p>
            <a:r>
              <a:rPr lang="zh-CN" altLang="en-US" dirty="0" smtClean="0"/>
              <a:t>三维凸包的出题概率很低，就不提供更多的练习题了。</a:t>
            </a:r>
            <a:endParaRPr lang="zh-CN" altLang="en-US" dirty="0"/>
          </a:p>
        </p:txBody>
      </p:sp>
    </p:spTree>
    <p:extLst>
      <p:ext uri="{BB962C8B-B14F-4D97-AF65-F5344CB8AC3E}">
        <p14:creationId xmlns:p14="http://schemas.microsoft.com/office/powerpoint/2010/main" xmlns="" val="3843694844"/>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球</a:t>
            </a:r>
            <a:endParaRPr lang="zh-CN" altLang="en-US" dirty="0"/>
          </a:p>
        </p:txBody>
      </p:sp>
      <p:sp>
        <p:nvSpPr>
          <p:cNvPr id="3" name="内容占位符 2"/>
          <p:cNvSpPr>
            <a:spLocks noGrp="1"/>
          </p:cNvSpPr>
          <p:nvPr>
            <p:ph idx="1"/>
          </p:nvPr>
        </p:nvSpPr>
        <p:spPr/>
        <p:txBody>
          <a:bodyPr/>
          <a:lstStyle/>
          <a:p>
            <a:r>
              <a:rPr lang="zh-CN" altLang="en-US" dirty="0" smtClean="0"/>
              <a:t>在三维空间中，到定点距离等于定值的点的轨迹即为球。</a:t>
            </a:r>
            <a:endParaRPr lang="en-US" altLang="zh-CN" dirty="0" smtClean="0"/>
          </a:p>
          <a:p>
            <a:r>
              <a:rPr lang="zh-CN" altLang="en-US" dirty="0" smtClean="0"/>
              <a:t>球可以用球心 </a:t>
            </a:r>
            <a:r>
              <a:rPr lang="en-US" altLang="zh-CN" i="1" dirty="0" smtClean="0">
                <a:latin typeface="Times New Roman" pitchFamily="18" charset="0"/>
                <a:cs typeface="Times New Roman" pitchFamily="18" charset="0"/>
              </a:rPr>
              <a:t>O</a:t>
            </a:r>
            <a:r>
              <a:rPr lang="en-US" altLang="zh-CN" dirty="0" smtClean="0"/>
              <a:t> </a:t>
            </a:r>
            <a:r>
              <a:rPr lang="zh-CN" altLang="en-US" dirty="0" smtClean="0"/>
              <a:t>和半径 </a:t>
            </a:r>
            <a:r>
              <a:rPr lang="en-US" altLang="zh-CN" i="1" dirty="0" smtClean="0">
                <a:latin typeface="Times New Roman" pitchFamily="18" charset="0"/>
                <a:cs typeface="Times New Roman" pitchFamily="18" charset="0"/>
              </a:rPr>
              <a:t>r</a:t>
            </a:r>
            <a:r>
              <a:rPr lang="en-US" altLang="zh-CN" dirty="0" smtClean="0"/>
              <a:t> </a:t>
            </a:r>
            <a:r>
              <a:rPr lang="zh-CN" altLang="en-US" dirty="0" smtClean="0"/>
              <a:t>来表示。</a:t>
            </a:r>
            <a:endParaRPr lang="en-US" altLang="zh-CN" dirty="0" smtClean="0"/>
          </a:p>
          <a:p>
            <a:r>
              <a:rPr lang="zh-CN" altLang="en-US" b="1" dirty="0" smtClean="0">
                <a:solidFill>
                  <a:schemeClr val="accent4">
                    <a:lumMod val="60000"/>
                    <a:lumOff val="40000"/>
                  </a:schemeClr>
                </a:solidFill>
              </a:rPr>
              <a:t>二维球面</a:t>
            </a:r>
            <a:r>
              <a:rPr lang="zh-CN" altLang="en-US" dirty="0" smtClean="0"/>
              <a:t>上的几何学称为球面几何，是非欧几何的一种。自然我们不会研究如此高深的问题。</a:t>
            </a:r>
            <a:endParaRPr lang="en-US" altLang="zh-CN" dirty="0" smtClean="0"/>
          </a:p>
          <a:p>
            <a:endParaRPr lang="en-US" altLang="zh-CN" dirty="0" smtClean="0"/>
          </a:p>
          <a:p>
            <a:endParaRPr lang="zh-CN" altLang="en-US" dirty="0"/>
          </a:p>
        </p:txBody>
      </p:sp>
    </p:spTree>
    <p:extLst>
      <p:ext uri="{BB962C8B-B14F-4D97-AF65-F5344CB8AC3E}">
        <p14:creationId xmlns:p14="http://schemas.microsoft.com/office/powerpoint/2010/main" xmlns="" val="81027546"/>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球与直线的交点</a:t>
            </a:r>
            <a:endParaRPr lang="zh-CN" altLang="en-US" dirty="0"/>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dirty="0" smtClean="0"/>
                  <a:t>首先求球心到直线的距离 </a:t>
                </a:r>
                <a:r>
                  <a:rPr lang="en-US" altLang="zh-CN" i="1" dirty="0" smtClean="0">
                    <a:latin typeface="Times New Roman" pitchFamily="18" charset="0"/>
                    <a:cs typeface="Times New Roman" pitchFamily="18" charset="0"/>
                  </a:rPr>
                  <a:t>h</a:t>
                </a:r>
                <a:r>
                  <a:rPr lang="en-US" altLang="zh-CN" dirty="0" smtClean="0"/>
                  <a:t/>
                </a:r>
                <a:r>
                  <a:rPr lang="zh-CN" altLang="en-US" dirty="0" smtClean="0"/>
                  <a:t>和垂足。</a:t>
                </a:r>
                <a:endParaRPr lang="en-US" altLang="zh-CN" dirty="0" smtClean="0"/>
              </a:p>
              <a:p>
                <a:r>
                  <a:rPr lang="zh-CN" altLang="en-US" dirty="0" smtClean="0"/>
                  <a:t>若 </a:t>
                </a:r>
                <a14:m>
                  <m:oMath xmlns:m="http://schemas.openxmlformats.org/officeDocument/2006/math">
                    <m:r>
                      <a:rPr lang="en-US" altLang="zh-CN" b="0" i="1" smtClean="0">
                        <a:latin typeface="Cambria Math"/>
                      </a:rPr>
                      <m:t>h</m:t>
                    </m:r>
                    <m:r>
                      <a:rPr lang="en-US" altLang="zh-CN" b="0" i="1" smtClean="0">
                        <a:latin typeface="Cambria Math"/>
                      </a:rPr>
                      <m:t>&gt;</m:t>
                    </m:r>
                    <m:r>
                      <a:rPr lang="en-US" altLang="zh-CN" b="0" i="1" smtClean="0">
                        <a:latin typeface="Cambria Math"/>
                      </a:rPr>
                      <m:t>𝑟</m:t>
                    </m:r>
                  </m:oMath>
                </a14:m>
                <a:r>
                  <a:rPr lang="zh-CN" altLang="en-US" dirty="0" smtClean="0"/>
                  <a:t>，则直线与球相离。</a:t>
                </a:r>
                <a:endParaRPr lang="en-US" altLang="zh-CN" dirty="0" smtClean="0"/>
              </a:p>
              <a:p>
                <a:r>
                  <a:rPr lang="zh-CN" altLang="en-US" dirty="0" smtClean="0"/>
                  <a:t>否则在直线上垂足到交点的距离为 </a:t>
                </a:r>
                <a14:m>
                  <m:oMath xmlns:m="http://schemas.openxmlformats.org/officeDocument/2006/math">
                    <m:rad>
                      <m:radPr>
                        <m:degHide m:val="on"/>
                        <m:ctrlPr>
                          <a:rPr lang="zh-CN" altLang="en-US" i="1" smtClean="0">
                            <a:latin typeface="Cambria Math"/>
                          </a:rPr>
                        </m:ctrlPr>
                      </m:radPr>
                      <m:deg/>
                      <m:e>
                        <m:sSup>
                          <m:sSupPr>
                            <m:ctrlPr>
                              <a:rPr lang="en-US" altLang="zh-CN" b="0" i="1" smtClean="0">
                                <a:latin typeface="Cambria Math"/>
                              </a:rPr>
                            </m:ctrlPr>
                          </m:sSupPr>
                          <m:e>
                            <m:r>
                              <a:rPr lang="en-US" altLang="zh-CN" b="0" i="1" smtClean="0">
                                <a:latin typeface="Cambria Math"/>
                              </a:rPr>
                              <m:t>𝑟</m:t>
                            </m:r>
                          </m:e>
                          <m:sup>
                            <m:r>
                              <a:rPr lang="en-US" altLang="zh-CN" b="0" i="1" smtClean="0">
                                <a:latin typeface="Cambria Math"/>
                              </a:rPr>
                              <m:t>2</m:t>
                            </m:r>
                          </m:sup>
                        </m:sSup>
                        <m:r>
                          <a:rPr lang="en-US" altLang="zh-CN" b="0" i="1" smtClean="0">
                            <a:latin typeface="Cambria Math"/>
                          </a:rPr>
                          <m:t>−</m:t>
                        </m:r>
                        <m:sSup>
                          <m:sSupPr>
                            <m:ctrlPr>
                              <a:rPr lang="en-US" altLang="zh-CN" b="0" i="1" smtClean="0">
                                <a:latin typeface="Cambria Math"/>
                              </a:rPr>
                            </m:ctrlPr>
                          </m:sSupPr>
                          <m:e>
                            <m:r>
                              <a:rPr lang="en-US" altLang="zh-CN" b="0" i="1" smtClean="0">
                                <a:latin typeface="Cambria Math"/>
                              </a:rPr>
                              <m:t>h</m:t>
                            </m:r>
                          </m:e>
                          <m:sup>
                            <m:r>
                              <a:rPr lang="en-US" altLang="zh-CN" b="0" i="1" smtClean="0">
                                <a:latin typeface="Cambria Math"/>
                              </a:rPr>
                              <m:t>2</m:t>
                            </m:r>
                          </m:sup>
                        </m:sSup>
                      </m:e>
                    </m:rad>
                  </m:oMath>
                </a14:m>
                <a:r>
                  <a:rPr lang="zh-CN" altLang="en-US" dirty="0" smtClean="0"/>
                  <a:t>，缩放直线的方向矢量计算这两个点即可。</a:t>
                </a: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2280305247"/>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球与平面或球的交圆</a:t>
            </a:r>
            <a:endParaRPr lang="zh-CN" altLang="en-US" dirty="0"/>
          </a:p>
        </p:txBody>
      </p:sp>
      <p:sp>
        <p:nvSpPr>
          <p:cNvPr id="3" name="内容占位符 2"/>
          <p:cNvSpPr>
            <a:spLocks noGrp="1"/>
          </p:cNvSpPr>
          <p:nvPr>
            <p:ph idx="1"/>
          </p:nvPr>
        </p:nvSpPr>
        <p:spPr/>
        <p:txBody>
          <a:bodyPr/>
          <a:lstStyle/>
          <a:p>
            <a:r>
              <a:rPr lang="zh-CN" altLang="en-US" dirty="0" smtClean="0"/>
              <a:t>既然已经到了如此程度，想必大家已经可以自己来求了吧。</a:t>
            </a:r>
            <a:endParaRPr lang="en-US" altLang="zh-CN" dirty="0" smtClean="0"/>
          </a:p>
          <a:p>
            <a:r>
              <a:rPr lang="zh-CN" altLang="en-US" dirty="0"/>
              <a:t>先</a:t>
            </a:r>
            <a:r>
              <a:rPr lang="zh-CN" altLang="en-US" dirty="0" smtClean="0"/>
              <a:t>求交圆的圆心，再求交圆的半径。由于这个圆是在三维空间中的，需要标明其在哪个平面上</a:t>
            </a:r>
            <a:r>
              <a:rPr lang="zh-CN" altLang="en-US" dirty="0"/>
              <a:t>。</a:t>
            </a:r>
          </a:p>
        </p:txBody>
      </p:sp>
    </p:spTree>
    <p:extLst>
      <p:ext uri="{BB962C8B-B14F-4D97-AF65-F5344CB8AC3E}">
        <p14:creationId xmlns:p14="http://schemas.microsoft.com/office/powerpoint/2010/main" xmlns="" val="2712749457"/>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经纬度</a:t>
            </a:r>
            <a:endParaRPr lang="zh-CN" altLang="en-US" dirty="0"/>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dirty="0" smtClean="0"/>
                  <a:t>大家参考地理课所学。</a:t>
                </a:r>
                <a:endParaRPr lang="en-US" altLang="zh-CN" dirty="0" smtClean="0"/>
              </a:p>
              <a:p>
                <a:r>
                  <a:rPr lang="zh-CN" altLang="en-US" dirty="0" smtClean="0"/>
                  <a:t>在球面上，一点的纬度范围为 </a:t>
                </a:r>
                <a14:m>
                  <m:oMath xmlns:m="http://schemas.openxmlformats.org/officeDocument/2006/math">
                    <m:d>
                      <m:dPr>
                        <m:begChr m:val="["/>
                        <m:endChr m:val="]"/>
                        <m:ctrlPr>
                          <a:rPr lang="en-US" altLang="zh-CN" i="1" smtClean="0">
                            <a:latin typeface="Cambria Math"/>
                          </a:rPr>
                        </m:ctrlPr>
                      </m:dPr>
                      <m:e>
                        <m:r>
                          <a:rPr lang="en-US" altLang="zh-CN" b="0" i="1" smtClean="0">
                            <a:latin typeface="Cambria Math"/>
                          </a:rPr>
                          <m:t>0,</m:t>
                        </m:r>
                        <m:r>
                          <a:rPr lang="en-US" altLang="zh-CN" b="0" i="1" smtClean="0">
                            <a:latin typeface="Cambria Math"/>
                          </a:rPr>
                          <m:t>𝜋</m:t>
                        </m:r>
                      </m:e>
                    </m:d>
                  </m:oMath>
                </a14:m>
                <a:r>
                  <a:rPr lang="zh-CN" altLang="en-US" dirty="0" smtClean="0"/>
                  <a:t>，经度范围为 </a:t>
                </a:r>
                <a14:m>
                  <m:oMath xmlns:m="http://schemas.openxmlformats.org/officeDocument/2006/math">
                    <m:d>
                      <m:dPr>
                        <m:begChr m:val="["/>
                        <m:endChr m:val="]"/>
                        <m:ctrlPr>
                          <a:rPr lang="en-US" altLang="zh-CN" i="1" smtClean="0">
                            <a:latin typeface="Cambria Math"/>
                          </a:rPr>
                        </m:ctrlPr>
                      </m:dPr>
                      <m:e>
                        <m:r>
                          <a:rPr lang="en-US" altLang="zh-CN" b="0" i="1" smtClean="0">
                            <a:latin typeface="Cambria Math"/>
                          </a:rPr>
                          <m:t>−</m:t>
                        </m:r>
                        <m:r>
                          <a:rPr lang="en-US" altLang="zh-CN" b="0" i="1" smtClean="0">
                            <a:latin typeface="Cambria Math"/>
                          </a:rPr>
                          <m:t>𝜋</m:t>
                        </m:r>
                        <m:r>
                          <a:rPr lang="en-US" altLang="zh-CN" b="0" i="1" smtClean="0">
                            <a:latin typeface="Cambria Math"/>
                          </a:rPr>
                          <m:t>,</m:t>
                        </m:r>
                        <m:r>
                          <a:rPr lang="en-US" altLang="zh-CN" b="0" i="1" smtClean="0">
                            <a:latin typeface="Cambria Math"/>
                          </a:rPr>
                          <m:t>𝜋</m:t>
                        </m:r>
                      </m:e>
                    </m:d>
                  </m:oMath>
                </a14:m>
                <a:r>
                  <a:rPr lang="en-US" altLang="zh-CN" dirty="0" smtClean="0"/>
                  <a:t>.</a:t>
                </a:r>
              </a:p>
              <a:p>
                <a:r>
                  <a:rPr lang="zh-CN" altLang="en-US" dirty="0" smtClean="0"/>
                  <a:t>北极的纬度是 </a:t>
                </a:r>
                <a:r>
                  <a:rPr lang="en-US" altLang="zh-CN" dirty="0" smtClean="0">
                    <a:latin typeface="Times New Roman" pitchFamily="18" charset="0"/>
                    <a:cs typeface="Times New Roman" pitchFamily="18" charset="0"/>
                  </a:rPr>
                  <a:t>0</a:t>
                </a:r>
                <a:r>
                  <a:rPr lang="zh-CN" altLang="en-US" dirty="0" smtClean="0"/>
                  <a:t>，赤道的纬度是 </a:t>
                </a:r>
                <a:r>
                  <a:rPr lang="en-US" altLang="zh-CN" dirty="0" smtClean="0">
                    <a:latin typeface="Times New Roman" pitchFamily="18" charset="0"/>
                    <a:cs typeface="Times New Roman" pitchFamily="18" charset="0"/>
                  </a:rPr>
                  <a:t>π / 2.</a:t>
                </a:r>
              </a:p>
              <a:p>
                <a:r>
                  <a:rPr lang="zh-CN" altLang="en-US" dirty="0" smtClean="0">
                    <a:latin typeface="Times New Roman" pitchFamily="18" charset="0"/>
                    <a:cs typeface="Times New Roman" pitchFamily="18" charset="0"/>
                  </a:rPr>
                  <a:t>本初子午线的经度是 </a:t>
                </a:r>
                <a:r>
                  <a:rPr lang="en-US" altLang="zh-CN" dirty="0" smtClean="0">
                    <a:latin typeface="Times New Roman" pitchFamily="18" charset="0"/>
                    <a:cs typeface="Times New Roman" pitchFamily="18" charset="0"/>
                  </a:rPr>
                  <a:t>0.</a:t>
                </a:r>
              </a:p>
              <a:p>
                <a:endParaRPr lang="zh-CN" altLang="en-US" dirty="0">
                  <a:latin typeface="Times New Roman" pitchFamily="18" charset="0"/>
                  <a:cs typeface="Times New Roman" pitchFamily="18" charset="0"/>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400" r="-1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2603269361"/>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经纬度到三维坐标的转换</a:t>
            </a:r>
            <a:endParaRPr lang="zh-CN" altLang="en-US" dirty="0"/>
          </a:p>
        </p:txBody>
      </p:sp>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dirty="0" smtClean="0"/>
                  <a:t>若球心在原点，则 </a:t>
                </a:r>
                <a:r>
                  <a:rPr lang="en-US" altLang="zh-CN" i="1" dirty="0" smtClean="0">
                    <a:latin typeface="Times New Roman" pitchFamily="18" charset="0"/>
                    <a:cs typeface="Times New Roman" pitchFamily="18" charset="0"/>
                  </a:rPr>
                  <a:t>z</a:t>
                </a:r>
                <a:r>
                  <a:rPr lang="en-US" altLang="zh-CN" dirty="0" smtClean="0"/>
                  <a:t/>
                </a:r>
                <a:r>
                  <a:rPr lang="zh-CN" altLang="en-US" dirty="0" smtClean="0"/>
                  <a:t>轴指向北极，</a:t>
                </a:r>
                <a:r>
                  <a:rPr lang="en-US" altLang="zh-CN" i="1" dirty="0" smtClean="0">
                    <a:latin typeface="Times New Roman" pitchFamily="18" charset="0"/>
                    <a:cs typeface="Times New Roman" pitchFamily="18" charset="0"/>
                  </a:rPr>
                  <a:t>x</a:t>
                </a:r>
                <a:r>
                  <a:rPr lang="en-US" altLang="zh-CN" dirty="0" smtClean="0"/>
                  <a:t/>
                </a:r>
                <a:r>
                  <a:rPr lang="zh-CN" altLang="en-US" dirty="0" smtClean="0"/>
                  <a:t>轴指向本初子午线的话，则球上经度为 </a:t>
                </a:r>
                <a14:m>
                  <m:oMath xmlns:m="http://schemas.openxmlformats.org/officeDocument/2006/math">
                    <m:r>
                      <a:rPr lang="en-US" altLang="zh-CN" b="0" i="1" smtClean="0">
                        <a:latin typeface="Cambria Math"/>
                      </a:rPr>
                      <m:t>𝜙</m:t>
                    </m:r>
                  </m:oMath>
                </a14:m>
                <a:r>
                  <a:rPr lang="zh-CN" altLang="en-US" dirty="0" smtClean="0"/>
                  <a:t>，纬度为 </a:t>
                </a:r>
                <a14:m>
                  <m:oMath xmlns:m="http://schemas.openxmlformats.org/officeDocument/2006/math">
                    <m:r>
                      <a:rPr lang="en-US" altLang="zh-CN" b="0" i="1" smtClean="0">
                        <a:latin typeface="Cambria Math"/>
                      </a:rPr>
                      <m:t>𝜃</m:t>
                    </m:r>
                  </m:oMath>
                </a14:m>
                <a:r>
                  <a:rPr lang="zh-CN" altLang="en-US" dirty="0" smtClean="0"/>
                  <a:t> 的一点的三维坐标</a:t>
                </a:r>
                <a:r>
                  <a:rPr lang="zh-CN" altLang="en-US" dirty="0"/>
                  <a:t>为</a:t>
                </a:r>
                <a:endParaRPr lang="en-US" altLang="zh-CN" dirty="0" smtClean="0"/>
              </a:p>
              <a:p>
                <a:pPr marL="68580" indent="0">
                  <a:buNone/>
                </a:pPr>
                <a14:m>
                  <m:oMathPara xmlns:m="http://schemas.openxmlformats.org/officeDocument/2006/math">
                    <m:oMathParaPr>
                      <m:jc m:val="centerGroup"/>
                    </m:oMathParaPr>
                    <m:oMath xmlns:m="http://schemas.openxmlformats.org/officeDocument/2006/math">
                      <m:r>
                        <a:rPr lang="en-US" altLang="zh-CN" b="0" i="1" smtClean="0">
                          <a:latin typeface="Cambria Math"/>
                        </a:rPr>
                        <m:t>𝑂</m:t>
                      </m:r>
                      <m:r>
                        <a:rPr lang="en-US" altLang="zh-CN" b="0" i="0" smtClean="0">
                          <a:latin typeface="Cambria Math"/>
                        </a:rPr>
                        <m:t>+</m:t>
                      </m:r>
                      <m:r>
                        <a:rPr lang="en-US" altLang="zh-CN" b="0" i="1" smtClean="0">
                          <a:latin typeface="Cambria Math"/>
                        </a:rPr>
                        <m:t>𝑟</m:t>
                      </m:r>
                      <m:d>
                        <m:dPr>
                          <m:ctrlPr>
                            <a:rPr lang="en-US" altLang="zh-CN" b="0" i="1" smtClean="0">
                              <a:latin typeface="Cambria Math"/>
                            </a:rPr>
                          </m:ctrlPr>
                        </m:dPr>
                        <m:e>
                          <m:func>
                            <m:funcPr>
                              <m:ctrlPr>
                                <a:rPr lang="en-US" altLang="zh-CN" b="0" i="1" smtClean="0">
                                  <a:latin typeface="Cambria Math"/>
                                </a:rPr>
                              </m:ctrlPr>
                            </m:funcPr>
                            <m:fName>
                              <m:r>
                                <m:rPr>
                                  <m:sty m:val="p"/>
                                </m:rPr>
                                <a:rPr lang="en-US" altLang="zh-CN" b="0" i="0" smtClean="0">
                                  <a:latin typeface="Cambria Math"/>
                                </a:rPr>
                                <m:t>sin</m:t>
                              </m:r>
                            </m:fName>
                            <m:e>
                              <m:r>
                                <a:rPr lang="en-US" altLang="zh-CN" b="0" i="1" smtClean="0">
                                  <a:latin typeface="Cambria Math"/>
                                </a:rPr>
                                <m:t>𝜃</m:t>
                              </m:r>
                            </m:e>
                          </m:func>
                          <m:func>
                            <m:funcPr>
                              <m:ctrlPr>
                                <a:rPr lang="en-US" altLang="zh-CN" b="0" i="1" smtClean="0">
                                  <a:latin typeface="Cambria Math"/>
                                </a:rPr>
                              </m:ctrlPr>
                            </m:funcPr>
                            <m:fName>
                              <m:r>
                                <m:rPr>
                                  <m:sty m:val="p"/>
                                </m:rPr>
                                <a:rPr lang="en-US" altLang="zh-CN" b="0" i="0" smtClean="0">
                                  <a:latin typeface="Cambria Math"/>
                                </a:rPr>
                                <m:t>cos</m:t>
                              </m:r>
                            </m:fName>
                            <m:e>
                              <m:r>
                                <a:rPr lang="en-US" altLang="zh-CN" b="0" i="1" smtClean="0">
                                  <a:latin typeface="Cambria Math"/>
                                </a:rPr>
                                <m:t>𝜙</m:t>
                              </m:r>
                            </m:e>
                          </m:func>
                          <m:r>
                            <a:rPr lang="en-US" altLang="zh-CN" b="0" i="1" smtClean="0">
                              <a:latin typeface="Cambria Math"/>
                            </a:rPr>
                            <m:t>,</m:t>
                          </m:r>
                          <m:func>
                            <m:funcPr>
                              <m:ctrlPr>
                                <a:rPr lang="en-US" altLang="zh-CN" b="0" i="1" smtClean="0">
                                  <a:latin typeface="Cambria Math"/>
                                </a:rPr>
                              </m:ctrlPr>
                            </m:funcPr>
                            <m:fName>
                              <m:r>
                                <m:rPr>
                                  <m:sty m:val="p"/>
                                </m:rPr>
                                <a:rPr lang="en-US" altLang="zh-CN" b="0" i="0" smtClean="0">
                                  <a:latin typeface="Cambria Math"/>
                                </a:rPr>
                                <m:t>sin</m:t>
                              </m:r>
                            </m:fName>
                            <m:e>
                              <m:r>
                                <a:rPr lang="en-US" altLang="zh-CN" b="0" i="1" smtClean="0">
                                  <a:latin typeface="Cambria Math"/>
                                </a:rPr>
                                <m:t>𝜃</m:t>
                              </m:r>
                            </m:e>
                          </m:func>
                          <m:func>
                            <m:funcPr>
                              <m:ctrlPr>
                                <a:rPr lang="en-US" altLang="zh-CN" b="0" i="1" smtClean="0">
                                  <a:latin typeface="Cambria Math"/>
                                </a:rPr>
                              </m:ctrlPr>
                            </m:funcPr>
                            <m:fName>
                              <m:r>
                                <m:rPr>
                                  <m:sty m:val="p"/>
                                </m:rPr>
                                <a:rPr lang="en-US" altLang="zh-CN" b="0" i="0" smtClean="0">
                                  <a:latin typeface="Cambria Math"/>
                                </a:rPr>
                                <m:t>sin</m:t>
                              </m:r>
                            </m:fName>
                            <m:e>
                              <m:r>
                                <a:rPr lang="en-US" altLang="zh-CN" b="0" i="1" smtClean="0">
                                  <a:latin typeface="Cambria Math"/>
                                </a:rPr>
                                <m:t>𝜙</m:t>
                              </m:r>
                            </m:e>
                          </m:func>
                          <m:r>
                            <a:rPr lang="en-US" altLang="zh-CN" b="0" i="1" smtClean="0">
                              <a:latin typeface="Cambria Math"/>
                            </a:rPr>
                            <m:t>,</m:t>
                          </m:r>
                          <m:func>
                            <m:funcPr>
                              <m:ctrlPr>
                                <a:rPr lang="en-US" altLang="zh-CN" b="0" i="1" smtClean="0">
                                  <a:latin typeface="Cambria Math"/>
                                </a:rPr>
                              </m:ctrlPr>
                            </m:funcPr>
                            <m:fName>
                              <m:r>
                                <m:rPr>
                                  <m:sty m:val="p"/>
                                </m:rPr>
                                <a:rPr lang="en-US" altLang="zh-CN" b="0" i="0" smtClean="0">
                                  <a:latin typeface="Cambria Math"/>
                                </a:rPr>
                                <m:t>cos</m:t>
                              </m:r>
                            </m:fName>
                            <m:e>
                              <m:r>
                                <a:rPr lang="en-US" altLang="zh-CN" b="0" i="1" smtClean="0">
                                  <a:latin typeface="Cambria Math"/>
                                </a:rPr>
                                <m:t>𝜃</m:t>
                              </m:r>
                            </m:e>
                          </m:func>
                        </m:e>
                      </m:d>
                    </m:oMath>
                  </m:oMathPara>
                </a14:m>
                <a:endParaRPr lang="en-US" altLang="zh-CN" b="0" dirty="0" smtClean="0"/>
              </a:p>
              <a:p>
                <a:r>
                  <a:rPr lang="zh-CN" altLang="en-US" dirty="0" smtClean="0"/>
                  <a:t>若非如此，需要进行</a:t>
                </a:r>
                <a:r>
                  <a:rPr lang="zh-CN" altLang="en-US" b="1" dirty="0" smtClean="0">
                    <a:solidFill>
                      <a:schemeClr val="accent4">
                        <a:lumMod val="60000"/>
                        <a:lumOff val="40000"/>
                      </a:schemeClr>
                    </a:solidFill>
                  </a:rPr>
                  <a:t>三维旋转</a:t>
                </a:r>
                <a:r>
                  <a:rPr lang="zh-CN" altLang="en-US" dirty="0" smtClean="0"/>
                  <a:t>。</a:t>
                </a:r>
                <a:endParaRPr lang="en-US" altLang="zh-CN" dirty="0" smtClean="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471" t="-667" r="-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2077132372"/>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三维旋转</a:t>
            </a:r>
            <a:endParaRPr lang="zh-CN" altLang="en-US" dirty="0"/>
          </a:p>
        </p:txBody>
      </p:sp>
      <p:sp>
        <p:nvSpPr>
          <p:cNvPr id="3" name="内容占位符 2"/>
          <p:cNvSpPr>
            <a:spLocks noGrp="1"/>
          </p:cNvSpPr>
          <p:nvPr>
            <p:ph idx="1"/>
          </p:nvPr>
        </p:nvSpPr>
        <p:spPr/>
        <p:txBody>
          <a:bodyPr/>
          <a:lstStyle/>
          <a:p>
            <a:r>
              <a:rPr lang="zh-CN" altLang="en-US" dirty="0" smtClean="0"/>
              <a:t>确认旋转之后坐标轴的位置，利用旋转矩阵求解即可。</a:t>
            </a:r>
            <a:endParaRPr lang="zh-CN" altLang="en-US" dirty="0"/>
          </a:p>
        </p:txBody>
      </p:sp>
    </p:spTree>
    <p:extLst>
      <p:ext uri="{BB962C8B-B14F-4D97-AF65-F5344CB8AC3E}">
        <p14:creationId xmlns:p14="http://schemas.microsoft.com/office/powerpoint/2010/main" xmlns="" val="135857689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穿越">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穿越">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穿越">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Metro</Template>
  <TotalTime>3194</TotalTime>
  <Words>3647</Words>
  <Application>Microsoft Office PowerPoint</Application>
  <PresentationFormat>全屏显示(4:3)</PresentationFormat>
  <Paragraphs>392</Paragraphs>
  <Slides>156</Slides>
  <Notes>1</Notes>
  <HiddenSlides>0</HiddenSlides>
  <MMClips>0</MMClips>
  <ScaleCrop>false</ScaleCrop>
  <HeadingPairs>
    <vt:vector size="4" baseType="variant">
      <vt:variant>
        <vt:lpstr>主题</vt:lpstr>
      </vt:variant>
      <vt:variant>
        <vt:i4>1</vt:i4>
      </vt:variant>
      <vt:variant>
        <vt:lpstr>幻灯片标题</vt:lpstr>
      </vt:variant>
      <vt:variant>
        <vt:i4>156</vt:i4>
      </vt:variant>
    </vt:vector>
  </HeadingPairs>
  <TitlesOfParts>
    <vt:vector size="157" baseType="lpstr">
      <vt:lpstr>穿越</vt:lpstr>
      <vt:lpstr>计算几何教程</vt:lpstr>
      <vt:lpstr>计算几何的恶心之处</vt:lpstr>
      <vt:lpstr>精度误差</vt:lpstr>
      <vt:lpstr>二维矢量</vt:lpstr>
      <vt:lpstr>矢量</vt:lpstr>
      <vt:lpstr>矢量的表示</vt:lpstr>
      <vt:lpstr>点积</vt:lpstr>
      <vt:lpstr>夹角</vt:lpstr>
      <vt:lpstr>矢量的垂直</vt:lpstr>
      <vt:lpstr>矢量的缩放</vt:lpstr>
      <vt:lpstr>矢量的投影</vt:lpstr>
      <vt:lpstr>矢量的对称</vt:lpstr>
      <vt:lpstr>二维叉积</vt:lpstr>
      <vt:lpstr>有向面积</vt:lpstr>
      <vt:lpstr>有向面积的符号</vt:lpstr>
      <vt:lpstr>点积和二维叉积的方向性</vt:lpstr>
      <vt:lpstr>二维矢量的旋转</vt:lpstr>
      <vt:lpstr>二维矢量的极角</vt:lpstr>
      <vt:lpstr>二维计算几何</vt:lpstr>
      <vt:lpstr>约定</vt:lpstr>
      <vt:lpstr>直线</vt:lpstr>
      <vt:lpstr>点到直线的距离</vt:lpstr>
      <vt:lpstr>分点</vt:lpstr>
      <vt:lpstr>三角形的面积</vt:lpstr>
      <vt:lpstr>两直线交点</vt:lpstr>
      <vt:lpstr>两线段交点</vt:lpstr>
      <vt:lpstr>三角形的重心</vt:lpstr>
      <vt:lpstr>多边形</vt:lpstr>
      <vt:lpstr>判断点在多边形内外</vt:lpstr>
      <vt:lpstr>求多边形的面积</vt:lpstr>
      <vt:lpstr>求多边形的面积</vt:lpstr>
      <vt:lpstr>算法</vt:lpstr>
      <vt:lpstr>算法演示</vt:lpstr>
      <vt:lpstr>算法演示</vt:lpstr>
      <vt:lpstr>算法演示</vt:lpstr>
      <vt:lpstr>算法演示</vt:lpstr>
      <vt:lpstr>算法演示</vt:lpstr>
      <vt:lpstr>算法演示</vt:lpstr>
      <vt:lpstr>算法演示</vt:lpstr>
      <vt:lpstr>算法演示</vt:lpstr>
      <vt:lpstr>算法演示</vt:lpstr>
      <vt:lpstr>三角剖分</vt:lpstr>
      <vt:lpstr>例题：求多边形的重心</vt:lpstr>
      <vt:lpstr>预备知识：求质点组的重心</vt:lpstr>
      <vt:lpstr>解答</vt:lpstr>
      <vt:lpstr>凸集</vt:lpstr>
      <vt:lpstr>凸集举例</vt:lpstr>
      <vt:lpstr>凸包</vt:lpstr>
      <vt:lpstr>凸包</vt:lpstr>
      <vt:lpstr>水平序 Graham 扫描算法</vt:lpstr>
      <vt:lpstr>算法流程</vt:lpstr>
      <vt:lpstr>算法演示</vt:lpstr>
      <vt:lpstr>算法演示</vt:lpstr>
      <vt:lpstr>算法演示</vt:lpstr>
      <vt:lpstr>算法演示</vt:lpstr>
      <vt:lpstr>算法演示</vt:lpstr>
      <vt:lpstr>算法演示</vt:lpstr>
      <vt:lpstr>算法演示</vt:lpstr>
      <vt:lpstr>算法演示</vt:lpstr>
      <vt:lpstr>算法演示</vt:lpstr>
      <vt:lpstr>Graham 扫描的时间复杂度</vt:lpstr>
      <vt:lpstr>旋转卡壳算法</vt:lpstr>
      <vt:lpstr>对踵点</vt:lpstr>
      <vt:lpstr>对踵点的枚举</vt:lpstr>
      <vt:lpstr>算法</vt:lpstr>
      <vt:lpstr>旋转卡壳练习题</vt:lpstr>
      <vt:lpstr>半平面</vt:lpstr>
      <vt:lpstr>半平面的表示</vt:lpstr>
      <vt:lpstr>半平面的交</vt:lpstr>
      <vt:lpstr>朴素的每次 O(N) 算法</vt:lpstr>
      <vt:lpstr>算法演示</vt:lpstr>
      <vt:lpstr>值得注意的边界情况 1</vt:lpstr>
      <vt:lpstr>值得注意的边界情况 2</vt:lpstr>
      <vt:lpstr>值得注意的边界情况 3</vt:lpstr>
      <vt:lpstr>合计 O(NlogN) 的算法</vt:lpstr>
      <vt:lpstr>下凸壳与上凸壳</vt:lpstr>
      <vt:lpstr>分别排序</vt:lpstr>
      <vt:lpstr>扫清障碍</vt:lpstr>
      <vt:lpstr>处理下凸壳</vt:lpstr>
      <vt:lpstr>算法演示</vt:lpstr>
      <vt:lpstr>算法演示</vt:lpstr>
      <vt:lpstr>算法演示</vt:lpstr>
      <vt:lpstr>算法演示</vt:lpstr>
      <vt:lpstr>处理上凸壳</vt:lpstr>
      <vt:lpstr>上下凸壳的合并</vt:lpstr>
      <vt:lpstr>滤除没有用的半平面</vt:lpstr>
      <vt:lpstr>实际上……</vt:lpstr>
      <vt:lpstr>算法演示</vt:lpstr>
      <vt:lpstr>算法演示</vt:lpstr>
      <vt:lpstr>算法演示</vt:lpstr>
      <vt:lpstr>总结</vt:lpstr>
      <vt:lpstr>半平面交练习题</vt:lpstr>
      <vt:lpstr>圆</vt:lpstr>
      <vt:lpstr>圆与直线的交点</vt:lpstr>
      <vt:lpstr>圆与直线的交点</vt:lpstr>
      <vt:lpstr>圆与圆的交点</vt:lpstr>
      <vt:lpstr>圆与圆的交点</vt:lpstr>
      <vt:lpstr>圆与圆的交点</vt:lpstr>
      <vt:lpstr>圆的面积并</vt:lpstr>
      <vt:lpstr>分析</vt:lpstr>
      <vt:lpstr>每个圆的情形</vt:lpstr>
      <vt:lpstr>不连通？</vt:lpstr>
      <vt:lpstr>有“洞”？</vt:lpstr>
      <vt:lpstr>时间复杂度</vt:lpstr>
      <vt:lpstr>算法扩展</vt:lpstr>
      <vt:lpstr>三维矢量</vt:lpstr>
      <vt:lpstr>第三维度</vt:lpstr>
      <vt:lpstr>三维叉积</vt:lpstr>
      <vt:lpstr>左手系与右手系</vt:lpstr>
      <vt:lpstr>文字游戏</vt:lpstr>
      <vt:lpstr>三维叉积的性质</vt:lpstr>
      <vt:lpstr>在三维空间我们失去的</vt:lpstr>
      <vt:lpstr>混合积</vt:lpstr>
      <vt:lpstr>有向体积</vt:lpstr>
      <vt:lpstr>一切的本质：行列式</vt:lpstr>
      <vt:lpstr>三维计算几何</vt:lpstr>
      <vt:lpstr>三维直线</vt:lpstr>
      <vt:lpstr>异面直线</vt:lpstr>
      <vt:lpstr>异面直线的距离</vt:lpstr>
      <vt:lpstr>异面直线的距离</vt:lpstr>
      <vt:lpstr>两直线的交点</vt:lpstr>
      <vt:lpstr>平面</vt:lpstr>
      <vt:lpstr>点法式</vt:lpstr>
      <vt:lpstr>点到平面的距离</vt:lpstr>
      <vt:lpstr>直线与平面的交点</vt:lpstr>
      <vt:lpstr>直线与平面的交点</vt:lpstr>
      <vt:lpstr>平面与平面的交线</vt:lpstr>
      <vt:lpstr>二面角</vt:lpstr>
      <vt:lpstr>平面上点的二维投影</vt:lpstr>
      <vt:lpstr>平面上点的二维投影</vt:lpstr>
      <vt:lpstr>平面上点的二维投影</vt:lpstr>
      <vt:lpstr>多面体</vt:lpstr>
      <vt:lpstr>凸多面体</vt:lpstr>
      <vt:lpstr>半空间的表示</vt:lpstr>
      <vt:lpstr>半空间的表示</vt:lpstr>
      <vt:lpstr>简单判别法</vt:lpstr>
      <vt:lpstr>凸多面体的表示</vt:lpstr>
      <vt:lpstr>可视</vt:lpstr>
      <vt:lpstr>若多面体有非三角面</vt:lpstr>
      <vt:lpstr>三维凸包</vt:lpstr>
      <vt:lpstr>暴力方法</vt:lpstr>
      <vt:lpstr>增量法</vt:lpstr>
      <vt:lpstr>算法流程</vt:lpstr>
      <vt:lpstr>算法流程</vt:lpstr>
      <vt:lpstr>算法演示</vt:lpstr>
      <vt:lpstr>算法演示</vt:lpstr>
      <vt:lpstr>算法演示</vt:lpstr>
      <vt:lpstr>算法演示</vt:lpstr>
      <vt:lpstr>随机增量</vt:lpstr>
      <vt:lpstr>三维凸包练习题</vt:lpstr>
      <vt:lpstr>球</vt:lpstr>
      <vt:lpstr>球与直线的交点</vt:lpstr>
      <vt:lpstr>球与平面或球的交圆</vt:lpstr>
      <vt:lpstr>经纬度</vt:lpstr>
      <vt:lpstr>经纬度到三维坐标的转换</vt:lpstr>
      <vt:lpstr>三维旋转</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计算几何教程</dc:title>
  <dc:creator>Garfield</dc:creator>
  <cp:lastModifiedBy>guowei</cp:lastModifiedBy>
  <cp:revision>372</cp:revision>
  <dcterms:created xsi:type="dcterms:W3CDTF">2013-02-07T09:31:21Z</dcterms:created>
  <dcterms:modified xsi:type="dcterms:W3CDTF">2014-07-23T01:01:13Z</dcterms:modified>
</cp:coreProperties>
</file>
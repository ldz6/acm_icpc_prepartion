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4"/>
  </p:sldMasterIdLst>
  <p:notesMasterIdLst>
    <p:notesMasterId r:id="rId117"/>
  </p:notesMasterIdLst>
  <p:handoutMasterIdLst>
    <p:handoutMasterId r:id="rId118"/>
  </p:handoutMasterIdLst>
  <p:sldIdLst>
    <p:sldId id="256" r:id="rId5"/>
    <p:sldId id="737" r:id="rId6"/>
    <p:sldId id="503" r:id="rId7"/>
    <p:sldId id="261" r:id="rId8"/>
    <p:sldId id="257" r:id="rId9"/>
    <p:sldId id="279" r:id="rId10"/>
    <p:sldId id="470" r:id="rId11"/>
    <p:sldId id="677" r:id="rId12"/>
    <p:sldId id="471" r:id="rId13"/>
    <p:sldId id="287" r:id="rId14"/>
    <p:sldId id="453" r:id="rId15"/>
    <p:sldId id="373" r:id="rId16"/>
    <p:sldId id="461" r:id="rId17"/>
    <p:sldId id="460" r:id="rId18"/>
    <p:sldId id="678" r:id="rId19"/>
    <p:sldId id="375" r:id="rId20"/>
    <p:sldId id="462" r:id="rId21"/>
    <p:sldId id="463" r:id="rId22"/>
    <p:sldId id="683" r:id="rId23"/>
    <p:sldId id="686" r:id="rId24"/>
    <p:sldId id="687" r:id="rId25"/>
    <p:sldId id="689" r:id="rId26"/>
    <p:sldId id="688" r:id="rId27"/>
    <p:sldId id="690" r:id="rId28"/>
    <p:sldId id="693" r:id="rId29"/>
    <p:sldId id="692" r:id="rId30"/>
    <p:sldId id="285" r:id="rId31"/>
    <p:sldId id="286" r:id="rId32"/>
    <p:sldId id="475" r:id="rId33"/>
    <p:sldId id="290" r:id="rId34"/>
    <p:sldId id="298" r:id="rId35"/>
    <p:sldId id="481" r:id="rId36"/>
    <p:sldId id="302" r:id="rId37"/>
    <p:sldId id="303" r:id="rId38"/>
    <p:sldId id="697" r:id="rId39"/>
    <p:sldId id="696" r:id="rId40"/>
    <p:sldId id="305" r:id="rId41"/>
    <p:sldId id="341" r:id="rId42"/>
    <p:sldId id="347" r:id="rId43"/>
    <p:sldId id="349" r:id="rId44"/>
    <p:sldId id="350" r:id="rId45"/>
    <p:sldId id="351" r:id="rId46"/>
    <p:sldId id="352" r:id="rId47"/>
    <p:sldId id="357" r:id="rId48"/>
    <p:sldId id="359" r:id="rId49"/>
    <p:sldId id="358" r:id="rId50"/>
    <p:sldId id="452" r:id="rId51"/>
    <p:sldId id="360" r:id="rId52"/>
    <p:sldId id="363" r:id="rId53"/>
    <p:sldId id="451" r:id="rId54"/>
    <p:sldId id="701" r:id="rId55"/>
    <p:sldId id="703" r:id="rId56"/>
    <p:sldId id="704" r:id="rId57"/>
    <p:sldId id="705" r:id="rId58"/>
    <p:sldId id="711" r:id="rId59"/>
    <p:sldId id="307" r:id="rId60"/>
    <p:sldId id="313" r:id="rId61"/>
    <p:sldId id="315" r:id="rId62"/>
    <p:sldId id="316" r:id="rId63"/>
    <p:sldId id="317" r:id="rId64"/>
    <p:sldId id="482" r:id="rId65"/>
    <p:sldId id="483" r:id="rId66"/>
    <p:sldId id="671" r:id="rId67"/>
    <p:sldId id="672" r:id="rId68"/>
    <p:sldId id="673" r:id="rId69"/>
    <p:sldId id="394" r:id="rId70"/>
    <p:sldId id="508" r:id="rId71"/>
    <p:sldId id="505" r:id="rId72"/>
    <p:sldId id="397" r:id="rId73"/>
    <p:sldId id="712" r:id="rId74"/>
    <p:sldId id="713" r:id="rId75"/>
    <p:sldId id="744" r:id="rId76"/>
    <p:sldId id="312" r:id="rId77"/>
    <p:sldId id="320" r:id="rId78"/>
    <p:sldId id="484" r:id="rId79"/>
    <p:sldId id="328" r:id="rId80"/>
    <p:sldId id="329" r:id="rId81"/>
    <p:sldId id="330" r:id="rId82"/>
    <p:sldId id="721" r:id="rId83"/>
    <p:sldId id="727" r:id="rId84"/>
    <p:sldId id="455" r:id="rId85"/>
    <p:sldId id="467" r:id="rId86"/>
    <p:sldId id="468" r:id="rId87"/>
    <p:sldId id="715" r:id="rId88"/>
    <p:sldId id="469" r:id="rId89"/>
    <p:sldId id="422" r:id="rId90"/>
    <p:sldId id="423" r:id="rId91"/>
    <p:sldId id="716" r:id="rId92"/>
    <p:sldId id="457" r:id="rId93"/>
    <p:sldId id="724" r:id="rId94"/>
    <p:sldId id="611" r:id="rId95"/>
    <p:sldId id="564" r:id="rId96"/>
    <p:sldId id="568" r:id="rId97"/>
    <p:sldId id="728" r:id="rId98"/>
    <p:sldId id="569" r:id="rId99"/>
    <p:sldId id="444" r:id="rId100"/>
    <p:sldId id="429" r:id="rId101"/>
    <p:sldId id="431" r:id="rId102"/>
    <p:sldId id="432" r:id="rId103"/>
    <p:sldId id="730" r:id="rId104"/>
    <p:sldId id="731" r:id="rId105"/>
    <p:sldId id="732" r:id="rId106"/>
    <p:sldId id="733" r:id="rId107"/>
    <p:sldId id="615" r:id="rId108"/>
    <p:sldId id="616" r:id="rId109"/>
    <p:sldId id="734" r:id="rId110"/>
    <p:sldId id="736" r:id="rId111"/>
    <p:sldId id="735" r:id="rId112"/>
    <p:sldId id="619" r:id="rId113"/>
    <p:sldId id="506" r:id="rId114"/>
    <p:sldId id="501" r:id="rId115"/>
    <p:sldId id="502" r:id="rId116"/>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目录" id="{7F861A52-0C8C-4F47-9CC3-F8C47FEB2ED5}">
          <p14:sldIdLst>
            <p14:sldId id="256"/>
            <p14:sldId id="737"/>
            <p14:sldId id="503"/>
          </p14:sldIdLst>
        </p14:section>
        <p14:section name="素数" id="{F25C44D4-C1F4-4B04-8386-A2DBB7E4322E}">
          <p14:sldIdLst>
            <p14:sldId id="261"/>
            <p14:sldId id="257"/>
            <p14:sldId id="279"/>
            <p14:sldId id="470"/>
          </p14:sldIdLst>
        </p14:section>
        <p14:section name="素因数分解" id="{877D7511-6DFE-1C4D-A4A4-415B0762A740}">
          <p14:sldIdLst>
            <p14:sldId id="677"/>
            <p14:sldId id="471"/>
            <p14:sldId id="287"/>
          </p14:sldIdLst>
        </p14:section>
        <p14:section name="素数筛法" id="{5D80AA42-4C4C-2A42-A6A9-42CA21B421B3}">
          <p14:sldIdLst>
            <p14:sldId id="453"/>
            <p14:sldId id="373"/>
            <p14:sldId id="461"/>
            <p14:sldId id="460"/>
            <p14:sldId id="678"/>
            <p14:sldId id="375"/>
            <p14:sldId id="462"/>
            <p14:sldId id="463"/>
            <p14:sldId id="683"/>
            <p14:sldId id="686"/>
            <p14:sldId id="687"/>
            <p14:sldId id="689"/>
            <p14:sldId id="688"/>
          </p14:sldIdLst>
        </p14:section>
        <p14:section name="约数" id="{147DB910-850F-419A-BF1A-979B6D81A3D0}">
          <p14:sldIdLst>
            <p14:sldId id="690"/>
            <p14:sldId id="693"/>
            <p14:sldId id="692"/>
            <p14:sldId id="285"/>
            <p14:sldId id="286"/>
            <p14:sldId id="475"/>
            <p14:sldId id="290"/>
            <p14:sldId id="298"/>
            <p14:sldId id="481"/>
            <p14:sldId id="302"/>
            <p14:sldId id="303"/>
            <p14:sldId id="697"/>
            <p14:sldId id="696"/>
            <p14:sldId id="305"/>
          </p14:sldIdLst>
        </p14:section>
        <p14:section name="容斥原理" id="{07F8DF94-AADD-42F2-B5D7-6C30829C6274}">
          <p14:sldIdLst>
            <p14:sldId id="341"/>
            <p14:sldId id="347"/>
            <p14:sldId id="349"/>
            <p14:sldId id="350"/>
            <p14:sldId id="351"/>
            <p14:sldId id="352"/>
            <p14:sldId id="357"/>
          </p14:sldIdLst>
        </p14:section>
        <p14:section name="欧拉函数" id="{8A4EC9CC-BEC3-4BA7-9AEF-7E6D3D336BC2}">
          <p14:sldIdLst>
            <p14:sldId id="359"/>
            <p14:sldId id="358"/>
            <p14:sldId id="452"/>
            <p14:sldId id="360"/>
            <p14:sldId id="363"/>
            <p14:sldId id="451"/>
            <p14:sldId id="701"/>
            <p14:sldId id="703"/>
            <p14:sldId id="704"/>
            <p14:sldId id="705"/>
          </p14:sldIdLst>
        </p14:section>
        <p14:section name="同余" id="{F5B39329-0934-FC4F-8EF4-601C467E7837}">
          <p14:sldIdLst>
            <p14:sldId id="711"/>
            <p14:sldId id="307"/>
            <p14:sldId id="313"/>
            <p14:sldId id="315"/>
            <p14:sldId id="316"/>
            <p14:sldId id="317"/>
            <p14:sldId id="482"/>
            <p14:sldId id="483"/>
            <p14:sldId id="671"/>
            <p14:sldId id="672"/>
            <p14:sldId id="673"/>
            <p14:sldId id="394"/>
            <p14:sldId id="508"/>
            <p14:sldId id="505"/>
            <p14:sldId id="397"/>
            <p14:sldId id="712"/>
            <p14:sldId id="713"/>
            <p14:sldId id="744"/>
          </p14:sldIdLst>
        </p14:section>
        <p14:section name="扩展欧几里得" id="{B74717EE-83DF-4FFA-A983-C74605219EB1}">
          <p14:sldIdLst>
            <p14:sldId id="312"/>
            <p14:sldId id="320"/>
            <p14:sldId id="484"/>
            <p14:sldId id="328"/>
            <p14:sldId id="329"/>
            <p14:sldId id="330"/>
            <p14:sldId id="721"/>
            <p14:sldId id="727"/>
          </p14:sldIdLst>
        </p14:section>
        <p14:section name="逆元" id="{C6E85069-3B87-D34D-B15A-7DD0A83917E2}">
          <p14:sldIdLst>
            <p14:sldId id="455"/>
            <p14:sldId id="467"/>
            <p14:sldId id="468"/>
            <p14:sldId id="715"/>
            <p14:sldId id="469"/>
            <p14:sldId id="422"/>
            <p14:sldId id="423"/>
            <p14:sldId id="716"/>
          </p14:sldIdLst>
        </p14:section>
        <p14:section name="线性同余方程" id="{F6EC25A5-9219-D44B-A3CD-CF55DA858DA4}">
          <p14:sldIdLst>
            <p14:sldId id="457"/>
            <p14:sldId id="724"/>
            <p14:sldId id="611"/>
            <p14:sldId id="564"/>
            <p14:sldId id="568"/>
            <p14:sldId id="728"/>
            <p14:sldId id="569"/>
            <p14:sldId id="444"/>
            <p14:sldId id="429"/>
            <p14:sldId id="431"/>
            <p14:sldId id="432"/>
            <p14:sldId id="730"/>
            <p14:sldId id="731"/>
            <p14:sldId id="732"/>
          </p14:sldIdLst>
        </p14:section>
        <p14:section name="高次同余方程" id="{664C25C5-0A51-884A-9895-F73F713DBBFE}">
          <p14:sldIdLst>
            <p14:sldId id="733"/>
            <p14:sldId id="615"/>
            <p14:sldId id="616"/>
            <p14:sldId id="734"/>
            <p14:sldId id="736"/>
            <p14:sldId id="735"/>
            <p14:sldId id="619"/>
          </p14:sldIdLst>
        </p14:section>
        <p14:section name="致谢" id="{E211A3A4-2CC4-124D-B4A1-0F93BF9A1C82}">
          <p14:sldIdLst>
            <p14:sldId id="506"/>
            <p14:sldId id="501"/>
            <p14:sldId id="50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725" autoAdjust="0"/>
    <p:restoredTop sz="94660" autoAdjust="0"/>
  </p:normalViewPr>
  <p:slideViewPr>
    <p:cSldViewPr snapToGrid="0" showGuides="1">
      <p:cViewPr varScale="1">
        <p:scale>
          <a:sx n="109" d="100"/>
          <a:sy n="109" d="100"/>
        </p:scale>
        <p:origin x="256"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0"/>
    </p:cViewPr>
  </p:sorter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presProps" Target="presProp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2018/4/10</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2018/4/10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rtl="0"/>
            <a:r>
              <a:rPr lang="zh-CN" altLang="en-US" sz="12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22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3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58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9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104900" y="2292094"/>
            <a:ext cx="5734050" cy="2219691"/>
          </a:xfrm>
        </p:spPr>
        <p:txBody>
          <a:bodyPr rtlCol="0" anchor="ctr"/>
          <a:lstStyle/>
          <a:p>
            <a:pPr algn="ctr" rtl="0"/>
            <a:r>
              <a:rPr lang="zh-Hans" altLang="en-US" dirty="0">
                <a:latin typeface="微软雅黑" panose="020B0503020204020204" pitchFamily="34" charset="-122"/>
                <a:ea typeface="微软雅黑" panose="020B0503020204020204" pitchFamily="34" charset="-122"/>
              </a:rPr>
              <a:t>信息学竞赛中的数学</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p:txBody>
          <a:bodyPr rtlCol="0"/>
          <a:lstStyle/>
          <a:p>
            <a:pPr algn="ctr" rtl="0"/>
            <a:r>
              <a:rPr lang="zh-CN" altLang="en-US" dirty="0">
                <a:latin typeface="微软雅黑" panose="020B0503020204020204" pitchFamily="34" charset="-122"/>
                <a:ea typeface="微软雅黑" panose="020B0503020204020204" pitchFamily="34" charset="-122"/>
              </a:rPr>
              <a:t>金靖</a:t>
            </a:r>
            <a:endParaRPr lang="en-US" altLang="zh-CN" dirty="0">
              <a:latin typeface="微软雅黑" panose="020B0503020204020204" pitchFamily="34" charset="-122"/>
              <a:ea typeface="微软雅黑" panose="020B0503020204020204" pitchFamily="34" charset="-122"/>
            </a:endParaRPr>
          </a:p>
          <a:p>
            <a:pPr algn="ctr" rtl="0"/>
            <a:endParaRPr lang="en-US" altLang="zh-CN" dirty="0">
              <a:latin typeface="微软雅黑" panose="020B0503020204020204" pitchFamily="34" charset="-122"/>
              <a:ea typeface="微软雅黑" panose="020B0503020204020204" pitchFamily="34" charset="-122"/>
            </a:endParaRPr>
          </a:p>
          <a:p>
            <a:pPr algn="ctr"/>
            <a:r>
              <a:rPr lang="zh-Hans" altLang="en-US" dirty="0"/>
              <a:t>上海</a:t>
            </a:r>
            <a:r>
              <a:rPr lang="zh-CN" altLang="en-US" dirty="0"/>
              <a:t>华东师大二附中</a:t>
            </a:r>
            <a:endParaRPr lang="en-US"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title="示例图片"/>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Hans" altLang="en-US" dirty="0"/>
              <a:t>目录</a:t>
            </a:r>
            <a:endParaRPr lang="en-US"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a:xfrm>
            <a:off x="1104900" y="1600199"/>
            <a:ext cx="9982200" cy="5072450"/>
          </a:xfrm>
        </p:spPr>
        <p:txBody>
          <a:bodyPr numCol="2" rtlCol="0">
            <a:normAutofit/>
          </a:bodyPr>
          <a:lstStyle/>
          <a:p>
            <a:pPr marL="457200" indent="-457200">
              <a:lnSpc>
                <a:spcPct val="100000"/>
              </a:lnSpc>
              <a:buFont typeface="+mj-lt"/>
              <a:buAutoNum type="arabicPeriod"/>
            </a:pPr>
            <a:r>
              <a:rPr lang="zh-Hans" altLang="en-US" dirty="0"/>
              <a:t>素数</a:t>
            </a:r>
            <a:endParaRPr lang="en-US" altLang="zh-Hans" dirty="0"/>
          </a:p>
          <a:p>
            <a:pPr marL="457200" indent="-457200">
              <a:lnSpc>
                <a:spcPct val="100000"/>
              </a:lnSpc>
              <a:buFont typeface="+mj-lt"/>
              <a:buAutoNum type="arabicPeriod"/>
            </a:pPr>
            <a:r>
              <a:rPr lang="zh-Hans" altLang="en-US" dirty="0"/>
              <a:t>素因数分解</a:t>
            </a:r>
            <a:endParaRPr lang="en-US" altLang="zh-Hans" dirty="0"/>
          </a:p>
          <a:p>
            <a:pPr marL="457200" indent="-457200">
              <a:lnSpc>
                <a:spcPct val="100000"/>
              </a:lnSpc>
              <a:buFont typeface="+mj-lt"/>
              <a:buAutoNum type="arabicPeriod"/>
            </a:pPr>
            <a:r>
              <a:rPr lang="zh-Hans" altLang="en-US" dirty="0"/>
              <a:t>素数筛法</a:t>
            </a:r>
            <a:endParaRPr lang="en-US" altLang="zh-Hans" dirty="0"/>
          </a:p>
          <a:p>
            <a:pPr marL="457200" indent="-457200">
              <a:lnSpc>
                <a:spcPct val="100000"/>
              </a:lnSpc>
              <a:buFont typeface="+mj-lt"/>
              <a:buAutoNum type="arabicPeriod"/>
            </a:pPr>
            <a:r>
              <a:rPr lang="zh-Hans" altLang="en-US" dirty="0"/>
              <a:t>约数</a:t>
            </a:r>
            <a:endParaRPr lang="en-US" altLang="zh-Hans" dirty="0"/>
          </a:p>
          <a:p>
            <a:pPr marL="457200" indent="-457200">
              <a:lnSpc>
                <a:spcPct val="100000"/>
              </a:lnSpc>
              <a:buFont typeface="+mj-lt"/>
              <a:buAutoNum type="arabicPeriod"/>
            </a:pPr>
            <a:r>
              <a:rPr lang="zh-Hans" altLang="en-US" dirty="0"/>
              <a:t>容斥原理</a:t>
            </a:r>
            <a:endParaRPr lang="en-US" altLang="zh-Hans" dirty="0"/>
          </a:p>
          <a:p>
            <a:pPr marL="457200" indent="-457200">
              <a:lnSpc>
                <a:spcPct val="100000"/>
              </a:lnSpc>
              <a:buFont typeface="+mj-lt"/>
              <a:buAutoNum type="arabicPeriod"/>
            </a:pPr>
            <a:r>
              <a:rPr lang="zh-Hans" altLang="en-US" dirty="0"/>
              <a:t>欧拉函数</a:t>
            </a:r>
            <a:endParaRPr lang="en-US" altLang="zh-Hans" dirty="0"/>
          </a:p>
          <a:p>
            <a:pPr marL="457200" indent="-457200">
              <a:lnSpc>
                <a:spcPct val="100000"/>
              </a:lnSpc>
              <a:buFont typeface="+mj-lt"/>
              <a:buAutoNum type="arabicPeriod"/>
            </a:pPr>
            <a:r>
              <a:rPr lang="zh-Hans" altLang="en-US" dirty="0"/>
              <a:t>同余</a:t>
            </a:r>
            <a:endParaRPr lang="en-US" altLang="zh-Hans" dirty="0"/>
          </a:p>
          <a:p>
            <a:pPr marL="457200" indent="-457200">
              <a:lnSpc>
                <a:spcPct val="100000"/>
              </a:lnSpc>
              <a:buFont typeface="+mj-lt"/>
              <a:buAutoNum type="arabicPeriod"/>
            </a:pPr>
            <a:r>
              <a:rPr lang="zh-Hans" altLang="en-US" dirty="0"/>
              <a:t>扩展欧几里得</a:t>
            </a:r>
            <a:endParaRPr lang="en-US" altLang="zh-Hans" dirty="0"/>
          </a:p>
          <a:p>
            <a:pPr marL="457200" indent="-457200">
              <a:lnSpc>
                <a:spcPct val="100000"/>
              </a:lnSpc>
              <a:buFont typeface="+mj-lt"/>
              <a:buAutoNum type="arabicPeriod"/>
            </a:pPr>
            <a:r>
              <a:rPr lang="zh-Hans" altLang="en-US" dirty="0"/>
              <a:t>逆元</a:t>
            </a:r>
            <a:endParaRPr lang="en-US" altLang="zh-Hans" dirty="0"/>
          </a:p>
          <a:p>
            <a:pPr marL="457200" indent="-457200">
              <a:lnSpc>
                <a:spcPct val="100000"/>
              </a:lnSpc>
              <a:buFont typeface="+mj-lt"/>
              <a:buAutoNum type="arabicPeriod"/>
            </a:pPr>
            <a:r>
              <a:rPr lang="zh-Hans" altLang="en-US" dirty="0"/>
              <a:t>线性同余方程</a:t>
            </a:r>
            <a:endParaRPr lang="en-US" altLang="zh-Hans" dirty="0"/>
          </a:p>
          <a:p>
            <a:pPr marL="457200" indent="-457200">
              <a:lnSpc>
                <a:spcPct val="100000"/>
              </a:lnSpc>
              <a:buFont typeface="+mj-lt"/>
              <a:buAutoNum type="arabicPeriod"/>
            </a:pPr>
            <a:r>
              <a:rPr lang="zh-Hans" altLang="en-US" dirty="0"/>
              <a:t>高次同余方程</a:t>
            </a:r>
            <a:endParaRPr lang="en-US" altLang="zh-Hans" dirty="0"/>
          </a:p>
        </p:txBody>
      </p:sp>
      <p:sp>
        <p:nvSpPr>
          <p:cNvPr id="2" name="幻灯片编号占位符 1">
            <a:extLst>
              <a:ext uri="{FF2B5EF4-FFF2-40B4-BE49-F238E27FC236}">
                <a16:creationId xmlns:a16="http://schemas.microsoft.com/office/drawing/2014/main" id="{5F82E9FE-A8F1-164A-A5C0-364FB48DD81C}"/>
              </a:ext>
            </a:extLst>
          </p:cNvPr>
          <p:cNvSpPr>
            <a:spLocks noGrp="1"/>
          </p:cNvSpPr>
          <p:nvPr>
            <p:ph type="sldNum" sz="quarter" idx="12"/>
          </p:nvPr>
        </p:nvSpPr>
        <p:spPr/>
        <p:txBody>
          <a:bodyPr/>
          <a:lstStyle/>
          <a:p>
            <a:fld id="{0FF54DE5-C571-48E8-A5BC-B369434E2F44}" type="slidenum">
              <a:rPr lang="en-US" altLang="zh-CN" smtClean="0"/>
              <a:pPr/>
              <a:t>2</a:t>
            </a:fld>
            <a:endParaRPr lang="zh-CN" altLang="en-US" dirty="0"/>
          </a:p>
        </p:txBody>
      </p:sp>
    </p:spTree>
    <p:extLst>
      <p:ext uri="{BB962C8B-B14F-4D97-AF65-F5344CB8AC3E}">
        <p14:creationId xmlns:p14="http://schemas.microsoft.com/office/powerpoint/2010/main" val="1683026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Hans" altLang="en-US" dirty="0"/>
              <a:t>数论</a:t>
            </a:r>
            <a:endParaRPr lang="en-US"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a:xfrm>
            <a:off x="1104900" y="1600199"/>
            <a:ext cx="9982200" cy="4898571"/>
          </a:xfrm>
        </p:spPr>
        <p:txBody>
          <a:bodyPr rtlCol="0">
            <a:normAutofit/>
          </a:bodyPr>
          <a:lstStyle/>
          <a:p>
            <a:pPr>
              <a:lnSpc>
                <a:spcPct val="150000"/>
              </a:lnSpc>
            </a:pPr>
            <a:r>
              <a:rPr lang="zh-CN" altLang="en-US" dirty="0"/>
              <a:t>数论，是专门研究整数的纯数学的分支，而整数的基本元素是素数（也称质数），所以数论的本质是对素数性质的研究。</a:t>
            </a:r>
            <a:endParaRPr lang="en-US" altLang="zh-CN" dirty="0"/>
          </a:p>
          <a:p>
            <a:pPr>
              <a:lnSpc>
                <a:spcPct val="150000"/>
              </a:lnSpc>
            </a:pPr>
            <a:r>
              <a:rPr lang="zh-CN" altLang="en-US" dirty="0"/>
              <a:t>数论被高斯誉为“数学中的皇冠”。按研究方法来看，数论大致可分为初等数论和高等数论。</a:t>
            </a:r>
            <a:r>
              <a:rPr lang="zh-Hans" altLang="en-US" dirty="0"/>
              <a:t>而</a:t>
            </a:r>
            <a:r>
              <a:rPr lang="zh-CN" altLang="en-US" dirty="0"/>
              <a:t>初等数论是用初等方法研究的数论，它的研究方法本质上说，就是利用整除性质，主要包括整除理论、同余理论、连分数理论。</a:t>
            </a:r>
            <a:endParaRPr lang="en-US" altLang="zh-CN" dirty="0"/>
          </a:p>
          <a:p>
            <a:pPr>
              <a:lnSpc>
                <a:spcPct val="150000"/>
              </a:lnSpc>
            </a:pPr>
            <a:r>
              <a:rPr lang="zh-Hans" altLang="en-US" dirty="0"/>
              <a:t>信息学竞赛中的数论主要涉及素数、约数、同余和数论函数等相关知识。</a:t>
            </a:r>
            <a:endParaRPr lang="en-US" altLang="zh-CN" dirty="0"/>
          </a:p>
          <a:p>
            <a:pPr marL="0" indent="0">
              <a:lnSpc>
                <a:spcPct val="150000"/>
              </a:lnSpc>
              <a:buNone/>
            </a:pPr>
            <a:endParaRPr lang="en-US" altLang="zh-CN" dirty="0"/>
          </a:p>
          <a:p>
            <a:pPr>
              <a:lnSpc>
                <a:spcPct val="150000"/>
              </a:lnSpc>
            </a:pPr>
            <a:endParaRPr lang="en-US" altLang="zh-CN" dirty="0"/>
          </a:p>
        </p:txBody>
      </p:sp>
      <p:sp>
        <p:nvSpPr>
          <p:cNvPr id="2" name="幻灯片编号占位符 1">
            <a:extLst>
              <a:ext uri="{FF2B5EF4-FFF2-40B4-BE49-F238E27FC236}">
                <a16:creationId xmlns:a16="http://schemas.microsoft.com/office/drawing/2014/main" id="{6AC46202-D881-B141-944C-19585DB2CC95}"/>
              </a:ext>
            </a:extLst>
          </p:cNvPr>
          <p:cNvSpPr>
            <a:spLocks noGrp="1"/>
          </p:cNvSpPr>
          <p:nvPr>
            <p:ph type="sldNum" sz="quarter" idx="12"/>
          </p:nvPr>
        </p:nvSpPr>
        <p:spPr/>
        <p:txBody>
          <a:bodyPr/>
          <a:lstStyle/>
          <a:p>
            <a:fld id="{0FF54DE5-C571-48E8-A5BC-B369434E2F44}" type="slidenum">
              <a:rPr lang="en-US" altLang="zh-CN" smtClean="0"/>
              <a:pPr/>
              <a:t>3</a:t>
            </a:fld>
            <a:endParaRPr lang="zh-CN" altLang="en-US" dirty="0"/>
          </a:p>
        </p:txBody>
      </p:sp>
    </p:spTree>
    <p:extLst>
      <p:ext uri="{BB962C8B-B14F-4D97-AF65-F5344CB8AC3E}">
        <p14:creationId xmlns:p14="http://schemas.microsoft.com/office/powerpoint/2010/main" val="229195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Hans" altLang="en-US" dirty="0"/>
              <a:t>素数</a:t>
            </a:r>
            <a:endParaRPr lang="en-US" dirty="0"/>
          </a:p>
        </p:txBody>
      </p:sp>
      <p:sp>
        <p:nvSpPr>
          <p:cNvPr id="3" name="幻灯片编号占位符 2">
            <a:extLst>
              <a:ext uri="{FF2B5EF4-FFF2-40B4-BE49-F238E27FC236}">
                <a16:creationId xmlns:a16="http://schemas.microsoft.com/office/drawing/2014/main" id="{937CA626-E430-504E-BF81-3FC74464B90B}"/>
              </a:ext>
            </a:extLst>
          </p:cNvPr>
          <p:cNvSpPr>
            <a:spLocks noGrp="1"/>
          </p:cNvSpPr>
          <p:nvPr>
            <p:ph type="sldNum" sz="quarter" idx="12"/>
          </p:nvPr>
        </p:nvSpPr>
        <p:spPr/>
        <p:txBody>
          <a:bodyPr/>
          <a:lstStyle/>
          <a:p>
            <a:fld id="{0FF54DE5-C571-48E8-A5BC-B369434E2F44}" type="slidenum">
              <a:rPr lang="en-US" altLang="zh-CN" smtClean="0"/>
              <a:pPr/>
              <a:t>4</a:t>
            </a:fld>
            <a:endParaRPr lang="zh-CN" altLang="en-US" dirty="0"/>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基本概念</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5257801"/>
              </a:xfrm>
            </p:spPr>
            <p:txBody>
              <a:bodyPr rtlCol="0">
                <a:normAutofit lnSpcReduction="10000"/>
              </a:bodyPr>
              <a:lstStyle/>
              <a:p>
                <a:pPr>
                  <a:lnSpc>
                    <a:spcPct val="150000"/>
                  </a:lnSpc>
                  <a:spcBef>
                    <a:spcPts val="600"/>
                  </a:spcBef>
                </a:pPr>
                <a:r>
                  <a:rPr lang="zh-CN" altLang="en-US" b="1" dirty="0">
                    <a:latin typeface="微软雅黑" panose="020B0503020204020204" pitchFamily="34" charset="-122"/>
                    <a:ea typeface="微软雅黑" panose="020B0503020204020204" pitchFamily="34" charset="-122"/>
                  </a:rPr>
                  <a:t>整数集合：</a:t>
                </a:r>
                <a14:m>
                  <m:oMath xmlns:m="http://schemas.openxmlformats.org/officeDocument/2006/math">
                    <m:r>
                      <a:rPr lang="en-US" altLang="zh-CN" i="1" dirty="0" smtClean="0">
                        <a:latin typeface="Cambria Math" panose="02040503050406030204" pitchFamily="18" charset="0"/>
                      </a:rPr>
                      <m:t>𝑍</m:t>
                    </m:r>
                    <m:r>
                      <a:rPr lang="en-US" altLang="zh-CN" i="1" dirty="0" smtClean="0">
                        <a:latin typeface="Cambria Math" panose="02040503050406030204" pitchFamily="18" charset="0"/>
                      </a:rPr>
                      <m:t>={…,−2,−1,0,1,2,…}</m:t>
                    </m:r>
                  </m:oMath>
                </a14:m>
                <a:endParaRPr lang="en-US" altLang="zh-CN" dirty="0">
                  <a:latin typeface="微软雅黑" panose="020B0503020204020204" pitchFamily="34" charset="-122"/>
                  <a:ea typeface="微软雅黑" panose="020B0503020204020204" pitchFamily="34" charset="-122"/>
                </a:endParaRPr>
              </a:p>
              <a:p>
                <a:pPr>
                  <a:lnSpc>
                    <a:spcPct val="150000"/>
                  </a:lnSpc>
                  <a:spcBef>
                    <a:spcPts val="600"/>
                  </a:spcBef>
                </a:pPr>
                <a:r>
                  <a:rPr lang="zh-CN" altLang="en-US" b="1" dirty="0"/>
                  <a:t>自然数集合：</a:t>
                </a:r>
                <a14:m>
                  <m:oMath xmlns:m="http://schemas.openxmlformats.org/officeDocument/2006/math">
                    <m:r>
                      <a:rPr lang="en-US" altLang="zh-CN" i="1" dirty="0" smtClean="0">
                        <a:latin typeface="Cambria Math" panose="02040503050406030204" pitchFamily="18" charset="0"/>
                      </a:rPr>
                      <m:t>𝑁</m:t>
                    </m:r>
                    <m:r>
                      <a:rPr lang="en-US" altLang="zh-CN" i="1" dirty="0" smtClean="0">
                        <a:latin typeface="Cambria Math" panose="02040503050406030204" pitchFamily="18" charset="0"/>
                      </a:rPr>
                      <m:t>={0,1,2,…}</m:t>
                    </m:r>
                  </m:oMath>
                </a14:m>
                <a:endParaRPr lang="en-US" altLang="zh-CN" dirty="0"/>
              </a:p>
              <a:p>
                <a:pPr>
                  <a:lnSpc>
                    <a:spcPct val="150000"/>
                  </a:lnSpc>
                  <a:spcBef>
                    <a:spcPts val="600"/>
                  </a:spcBef>
                </a:pPr>
                <a:r>
                  <a:rPr lang="zh-CN" altLang="en-US" b="1" dirty="0"/>
                  <a:t>整除：</a:t>
                </a:r>
                <a:r>
                  <a:rPr lang="zh-CN" altLang="en-US" dirty="0"/>
                  <a:t>若</a:t>
                </a:r>
                <a:r>
                  <a:rPr lang="zh-Hans" altLang="en-US" dirty="0"/>
                  <a:t> </a:t>
                </a:r>
                <a14:m>
                  <m:oMath xmlns:m="http://schemas.openxmlformats.org/officeDocument/2006/math">
                    <m:r>
                      <a:rPr lang="zh-CN" altLang="en-US" i="1" dirty="0">
                        <a:latin typeface="Cambria Math" panose="02040503050406030204" pitchFamily="18" charset="0"/>
                      </a:rPr>
                      <m:t>𝑎</m:t>
                    </m:r>
                    <m:r>
                      <a:rPr lang="en-US" altLang="zh-CN" i="1" dirty="0">
                        <a:latin typeface="Cambria Math" panose="02040503050406030204" pitchFamily="18" charset="0"/>
                      </a:rPr>
                      <m:t>=</m:t>
                    </m:r>
                    <m:r>
                      <a:rPr lang="zh-CN" altLang="en-US" i="1" dirty="0">
                        <a:latin typeface="Cambria Math" panose="02040503050406030204" pitchFamily="18" charset="0"/>
                      </a:rPr>
                      <m:t>𝑏𝑘</m:t>
                    </m:r>
                  </m:oMath>
                </a14:m>
                <a:r>
                  <a:rPr lang="zh-CN" altLang="en-US" dirty="0"/>
                  <a:t>，其中</a:t>
                </a:r>
                <a:r>
                  <a:rPr lang="zh-Hans" altLang="en-US" dirty="0"/>
                  <a:t> </a:t>
                </a:r>
                <a14:m>
                  <m:oMath xmlns:m="http://schemas.openxmlformats.org/officeDocument/2006/math">
                    <m:r>
                      <a:rPr lang="zh-CN" altLang="en-US" i="1" dirty="0">
                        <a:latin typeface="Cambria Math" panose="02040503050406030204" pitchFamily="18" charset="0"/>
                      </a:rPr>
                      <m:t>𝑎</m:t>
                    </m:r>
                    <m:r>
                      <a:rPr lang="en-US" altLang="zh-CN" i="1" dirty="0">
                        <a:latin typeface="Cambria Math" panose="02040503050406030204" pitchFamily="18" charset="0"/>
                      </a:rPr>
                      <m:t>,</m:t>
                    </m:r>
                    <m:r>
                      <a:rPr lang="zh-CN" altLang="en-US" i="1" dirty="0">
                        <a:latin typeface="Cambria Math" panose="02040503050406030204" pitchFamily="18" charset="0"/>
                      </a:rPr>
                      <m:t>𝑏</m:t>
                    </m:r>
                    <m:r>
                      <a:rPr lang="en-US" altLang="zh-CN" i="1" dirty="0">
                        <a:latin typeface="Cambria Math" panose="02040503050406030204" pitchFamily="18" charset="0"/>
                      </a:rPr>
                      <m:t>,</m:t>
                    </m:r>
                    <m:r>
                      <a:rPr lang="zh-CN" altLang="en-US" i="1" dirty="0">
                        <a:latin typeface="Cambria Math" panose="02040503050406030204" pitchFamily="18" charset="0"/>
                      </a:rPr>
                      <m:t>𝑘</m:t>
                    </m:r>
                  </m:oMath>
                </a14:m>
                <a:r>
                  <a:rPr lang="zh-Hans" altLang="en-US" dirty="0"/>
                  <a:t> </a:t>
                </a:r>
                <a:r>
                  <a:rPr lang="zh-CN" altLang="en-US" dirty="0"/>
                  <a:t>都是整数，则</a:t>
                </a:r>
                <a:r>
                  <a:rPr lang="zh-Hans" altLang="en-US" dirty="0"/>
                  <a:t> </a:t>
                </a:r>
                <a14:m>
                  <m:oMath xmlns:m="http://schemas.openxmlformats.org/officeDocument/2006/math">
                    <m:r>
                      <a:rPr lang="zh-CN" altLang="en-US" i="1" dirty="0">
                        <a:latin typeface="Cambria Math" panose="02040503050406030204" pitchFamily="18" charset="0"/>
                      </a:rPr>
                      <m:t>𝑏</m:t>
                    </m:r>
                  </m:oMath>
                </a14:m>
                <a:r>
                  <a:rPr lang="zh-Hans" altLang="en-US" dirty="0"/>
                  <a:t> </a:t>
                </a:r>
                <a:r>
                  <a:rPr lang="zh-CN" altLang="en-US" dirty="0"/>
                  <a:t>整除</a:t>
                </a:r>
                <a:r>
                  <a:rPr lang="zh-Hans" altLang="en-US" dirty="0"/>
                  <a:t> </a:t>
                </a:r>
                <a14:m>
                  <m:oMath xmlns:m="http://schemas.openxmlformats.org/officeDocument/2006/math">
                    <m:r>
                      <a:rPr lang="zh-CN" altLang="en-US" i="1" dirty="0">
                        <a:latin typeface="Cambria Math" panose="02040503050406030204" pitchFamily="18" charset="0"/>
                      </a:rPr>
                      <m:t>𝑎</m:t>
                    </m:r>
                  </m:oMath>
                </a14:m>
                <a:r>
                  <a:rPr lang="zh-CN" altLang="en-US" dirty="0"/>
                  <a:t>，记做</a:t>
                </a:r>
                <a:r>
                  <a:rPr lang="zh-Hans" altLang="en-US" dirty="0"/>
                  <a:t> </a:t>
                </a:r>
                <a14:m>
                  <m:oMath xmlns:m="http://schemas.openxmlformats.org/officeDocument/2006/math">
                    <m:r>
                      <a:rPr lang="zh-CN" altLang="en-US" i="1" dirty="0">
                        <a:latin typeface="Cambria Math" panose="02040503050406030204" pitchFamily="18" charset="0"/>
                      </a:rPr>
                      <m:t>𝑏</m:t>
                    </m:r>
                    <m:r>
                      <a:rPr lang="en-US" altLang="zh-CN" i="1" dirty="0">
                        <a:latin typeface="Cambria Math" panose="02040503050406030204" pitchFamily="18" charset="0"/>
                      </a:rPr>
                      <m:t>|</m:t>
                    </m:r>
                    <m:r>
                      <a:rPr lang="zh-CN" altLang="en-US" i="1" dirty="0">
                        <a:latin typeface="Cambria Math" panose="02040503050406030204" pitchFamily="18" charset="0"/>
                      </a:rPr>
                      <m:t>𝑎</m:t>
                    </m:r>
                  </m:oMath>
                </a14:m>
                <a:r>
                  <a:rPr lang="zh-CN" altLang="en-US" dirty="0">
                    <a:latin typeface="微软雅黑" panose="020B0503020204020204" pitchFamily="34" charset="-122"/>
                    <a:ea typeface="微软雅黑" panose="020B0503020204020204" pitchFamily="34" charset="-122"/>
                  </a:rPr>
                  <a:t>，</a:t>
                </a:r>
                <a:r>
                  <a:rPr lang="zh-Hans" altLang="en-US" dirty="0">
                    <a:latin typeface="微软雅黑" panose="020B0503020204020204" pitchFamily="34" charset="-122"/>
                    <a:ea typeface="微软雅黑" panose="020B0503020204020204" pitchFamily="34" charset="-122"/>
                  </a:rPr>
                  <a:t>否则记做 </a:t>
                </a:r>
                <a14:m>
                  <m:oMath xmlns:m="http://schemas.openxmlformats.org/officeDocument/2006/math">
                    <m:r>
                      <a:rPr lang="zh-CN" altLang="en-US" i="1" dirty="0">
                        <a:latin typeface="Cambria Math" panose="02040503050406030204" pitchFamily="18" charset="0"/>
                      </a:rPr>
                      <m:t>𝑏</m:t>
                    </m:r>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rPr>
                      <m:t>𝑎</m:t>
                    </m:r>
                  </m:oMath>
                </a14:m>
                <a:r>
                  <a:rPr lang="zh-Han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endParaRPr lang="zh-CN" dirty="0">
                  <a:latin typeface="微软雅黑" panose="020B0503020204020204" pitchFamily="34" charset="-122"/>
                  <a:ea typeface="微软雅黑" panose="020B0503020204020204" pitchFamily="34" charset="-122"/>
                </a:endParaRPr>
              </a:p>
              <a:p>
                <a:pPr>
                  <a:lnSpc>
                    <a:spcPct val="150000"/>
                  </a:lnSpc>
                  <a:spcBef>
                    <a:spcPts val="600"/>
                  </a:spcBef>
                </a:pPr>
                <a:r>
                  <a:rPr lang="zh-CN" altLang="en-US" b="1" dirty="0"/>
                  <a:t>约数：</a:t>
                </a:r>
                <a:r>
                  <a:rPr lang="zh-CN" altLang="zh-CN" dirty="0"/>
                  <a:t>如</a:t>
                </a:r>
                <a:r>
                  <a:rPr lang="zh-CN" altLang="en-US" dirty="0"/>
                  <a:t> </a:t>
                </a:r>
                <a14:m>
                  <m:oMath xmlns:m="http://schemas.openxmlformats.org/officeDocument/2006/math">
                    <m:r>
                      <a:rPr lang="zh-CN" altLang="en-US" i="1" dirty="0">
                        <a:latin typeface="Cambria Math" panose="02040503050406030204" pitchFamily="18" charset="0"/>
                      </a:rPr>
                      <m:t>𝑏</m:t>
                    </m:r>
                    <m:r>
                      <a:rPr lang="en-US" altLang="zh-CN" i="1" dirty="0">
                        <a:latin typeface="Cambria Math" panose="02040503050406030204" pitchFamily="18" charset="0"/>
                      </a:rPr>
                      <m:t>|</m:t>
                    </m:r>
                    <m:r>
                      <a:rPr lang="zh-CN" altLang="en-US" i="1" dirty="0">
                        <a:latin typeface="Cambria Math" panose="02040503050406030204" pitchFamily="18" charset="0"/>
                      </a:rPr>
                      <m:t>𝑎</m:t>
                    </m:r>
                  </m:oMath>
                </a14:m>
                <a:r>
                  <a:rPr lang="zh-CN" altLang="en-US" dirty="0"/>
                  <a:t> </a:t>
                </a:r>
                <a:r>
                  <a:rPr lang="zh-CN" altLang="zh-CN" dirty="0"/>
                  <a:t>且</a:t>
                </a:r>
                <a:r>
                  <a:rPr lang="zh-CN" altLang="en-US" dirty="0"/>
                  <a:t> </a:t>
                </a:r>
                <a14:m>
                  <m:oMath xmlns:m="http://schemas.openxmlformats.org/officeDocument/2006/math">
                    <m:r>
                      <a:rPr lang="en-US" altLang="zh-CN" i="1" dirty="0" smtClean="0">
                        <a:latin typeface="Cambria Math" panose="02040503050406030204" pitchFamily="18" charset="0"/>
                      </a:rPr>
                      <m:t>𝑏</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0</m:t>
                    </m:r>
                  </m:oMath>
                </a14:m>
                <a:r>
                  <a:rPr lang="zh-CN" altLang="en-US" dirty="0"/>
                  <a:t>，</a:t>
                </a:r>
                <a:r>
                  <a:rPr lang="zh-CN" altLang="zh-CN" dirty="0"/>
                  <a:t>则</a:t>
                </a:r>
                <a:r>
                  <a:rPr lang="zh-CN" altLang="en-US" dirty="0"/>
                  <a:t>称</a:t>
                </a:r>
                <a:r>
                  <a:rPr lang="zh-Hans" altLang="en-US" dirty="0"/>
                  <a:t> </a:t>
                </a:r>
                <a14:m>
                  <m:oMath xmlns:m="http://schemas.openxmlformats.org/officeDocument/2006/math">
                    <m:r>
                      <a:rPr lang="en-US" altLang="zh-CN" i="1" dirty="0" smtClean="0">
                        <a:latin typeface="Cambria Math" panose="02040503050406030204" pitchFamily="18" charset="0"/>
                      </a:rPr>
                      <m:t>𝑏</m:t>
                    </m:r>
                  </m:oMath>
                </a14:m>
                <a:r>
                  <a:rPr lang="zh-Hans" altLang="en-US" dirty="0"/>
                  <a:t> </a:t>
                </a:r>
                <a:r>
                  <a:rPr lang="zh-CN" altLang="en-US" dirty="0"/>
                  <a:t>是</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i="0" dirty="0">
                    <a:latin typeface="+mj-lt"/>
                  </a:rPr>
                  <a:t> </a:t>
                </a:r>
                <a:r>
                  <a:rPr lang="zh-CN" altLang="en-US" dirty="0"/>
                  <a:t>的约数（因数），</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是</a:t>
                </a:r>
                <a:r>
                  <a:rPr lang="zh-Hans" altLang="en-US" dirty="0"/>
                  <a:t> </a:t>
                </a:r>
                <a14:m>
                  <m:oMath xmlns:m="http://schemas.openxmlformats.org/officeDocument/2006/math">
                    <m:r>
                      <a:rPr lang="en-US" altLang="zh-CN" i="1" dirty="0" smtClean="0">
                        <a:latin typeface="Cambria Math" panose="02040503050406030204" pitchFamily="18" charset="0"/>
                      </a:rPr>
                      <m:t>𝑏</m:t>
                    </m:r>
                  </m:oMath>
                </a14:m>
                <a:r>
                  <a:rPr lang="zh-Hans" altLang="en-US" dirty="0"/>
                  <a:t> </a:t>
                </a:r>
                <a:r>
                  <a:rPr lang="zh-CN" altLang="en-US" dirty="0"/>
                  <a:t>的倍数。</a:t>
                </a:r>
                <a:endParaRPr lang="en-US" altLang="zh-CN" dirty="0"/>
              </a:p>
              <a:p>
                <a:pPr lvl="1">
                  <a:lnSpc>
                    <a:spcPct val="150000"/>
                  </a:lnSpc>
                </a:pPr>
                <a14:m>
                  <m:oMath xmlns:m="http://schemas.openxmlformats.org/officeDocument/2006/math">
                    <m:r>
                      <a:rPr lang="en-US" altLang="zh-CN" sz="2000" i="1" dirty="0" smtClean="0">
                        <a:latin typeface="Cambria Math" panose="02040503050406030204" pitchFamily="18" charset="0"/>
                      </a:rPr>
                      <m:t>1</m:t>
                    </m:r>
                  </m:oMath>
                </a14:m>
                <a:r>
                  <a:rPr lang="zh-Hans" altLang="en-US" sz="2000" dirty="0"/>
                  <a:t> </a:t>
                </a:r>
                <a:r>
                  <a:rPr lang="zh-CN" altLang="en-US" sz="2000" dirty="0"/>
                  <a:t>整除任何数，任何数都整除</a:t>
                </a:r>
                <a:r>
                  <a:rPr lang="zh-Hans" altLang="en-US" sz="2000" dirty="0"/>
                  <a:t> </a:t>
                </a:r>
                <a14:m>
                  <m:oMath xmlns:m="http://schemas.openxmlformats.org/officeDocument/2006/math">
                    <m:r>
                      <a:rPr lang="en-US" altLang="zh-CN" sz="2000" i="1" dirty="0" smtClean="0">
                        <a:latin typeface="Cambria Math" panose="02040503050406030204" pitchFamily="18" charset="0"/>
                      </a:rPr>
                      <m:t>0</m:t>
                    </m:r>
                  </m:oMath>
                </a14:m>
                <a:r>
                  <a:rPr lang="zh-Hans" altLang="en-US" sz="2000" dirty="0"/>
                  <a:t> 。</a:t>
                </a:r>
                <a:endParaRPr lang="en-US" altLang="zh-CN" sz="2000" dirty="0"/>
              </a:p>
              <a:p>
                <a:pPr lvl="1">
                  <a:lnSpc>
                    <a:spcPct val="150000"/>
                  </a:lnSpc>
                </a:pPr>
                <a:r>
                  <a:rPr lang="zh-CN" altLang="en-US" sz="2000" dirty="0"/>
                  <a:t>若</a:t>
                </a:r>
                <a:r>
                  <a:rPr lang="zh-Hans" altLang="en-US" sz="2000" dirty="0"/>
                  <a:t> </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oMath>
                </a14:m>
                <a:r>
                  <a:rPr lang="zh-CN" altLang="en-US" sz="2000" dirty="0"/>
                  <a:t>，则</a:t>
                </a:r>
                <a:r>
                  <a:rPr lang="zh-Hans" altLang="en-US" sz="2000" dirty="0"/>
                  <a:t> </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r>
                      <a:rPr lang="en-US" altLang="zh-CN" sz="2000" b="0" i="1" dirty="0" smtClean="0">
                        <a:latin typeface="Cambria Math" panose="02040503050406030204" pitchFamily="18" charset="0"/>
                      </a:rPr>
                      <m:t>)</m:t>
                    </m:r>
                    <m:r>
                      <a:rPr lang="en-US" altLang="zh-CN" sz="2000" i="1" dirty="0">
                        <a:latin typeface="Cambria Math" panose="02040503050406030204" pitchFamily="18" charset="0"/>
                      </a:rPr>
                      <m:t>, </m:t>
                    </m:r>
                    <m:r>
                      <a:rPr lang="en-US" altLang="zh-CN" sz="2000" i="1" dirty="0" err="1">
                        <a:latin typeface="Cambria Math" panose="02040503050406030204" pitchFamily="18" charset="0"/>
                      </a:rPr>
                      <m:t>𝑎</m:t>
                    </m:r>
                    <m:r>
                      <a:rPr lang="en-US" altLang="zh-CN" sz="2000" i="1" dirty="0" err="1">
                        <a:latin typeface="Cambria Math" panose="02040503050406030204" pitchFamily="18" charset="0"/>
                      </a:rPr>
                      <m:t>|(</m:t>
                    </m:r>
                    <m:r>
                      <a:rPr lang="en-US" altLang="zh-CN" sz="2000" i="1" dirty="0" err="1">
                        <a:latin typeface="Cambria Math" panose="02040503050406030204" pitchFamily="18" charset="0"/>
                      </a:rPr>
                      <m:t>𝑏</m:t>
                    </m:r>
                    <m:r>
                      <a:rPr lang="en-US" altLang="zh-CN" sz="2000" i="1" dirty="0" err="1">
                        <a:latin typeface="Cambria Math" panose="02040503050406030204" pitchFamily="18" charset="0"/>
                      </a:rPr>
                      <m:t>−</m:t>
                    </m:r>
                    <m:r>
                      <a:rPr lang="en-US" altLang="zh-CN" sz="2000" i="1" dirty="0" err="1">
                        <a:latin typeface="Cambria Math" panose="02040503050406030204" pitchFamily="18" charset="0"/>
                      </a:rPr>
                      <m:t>𝑐</m:t>
                    </m:r>
                    <m:r>
                      <a:rPr lang="en-US" altLang="zh-CN" sz="2000" b="0" i="1" dirty="0" smtClean="0">
                        <a:latin typeface="Cambria Math" panose="02040503050406030204" pitchFamily="18" charset="0"/>
                      </a:rPr>
                      <m:t>)</m:t>
                    </m:r>
                  </m:oMath>
                </a14:m>
                <a:r>
                  <a:rPr lang="zh-Hans" altLang="en-US" sz="2000" dirty="0"/>
                  <a:t> 。</a:t>
                </a:r>
                <a:endParaRPr lang="en-US" altLang="zh-CN" sz="2000" dirty="0"/>
              </a:p>
              <a:p>
                <a:pPr lvl="1">
                  <a:lnSpc>
                    <a:spcPct val="150000"/>
                  </a:lnSpc>
                </a:pPr>
                <a:r>
                  <a:rPr lang="zh-CN" altLang="en-US" sz="2000" dirty="0"/>
                  <a:t>若</a:t>
                </a:r>
                <a:r>
                  <a:rPr lang="zh-Hans" altLang="en-US" sz="2000" dirty="0"/>
                  <a:t> </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oMath>
                </a14:m>
                <a:r>
                  <a:rPr lang="zh-CN" altLang="en-US" sz="2000" dirty="0"/>
                  <a:t>，则对任意整数</a:t>
                </a:r>
                <a:r>
                  <a:rPr lang="zh-Hans" altLang="en-US" sz="2000" dirty="0"/>
                  <a:t> </a:t>
                </a:r>
                <a14:m>
                  <m:oMath xmlns:m="http://schemas.openxmlformats.org/officeDocument/2006/math">
                    <m:r>
                      <a:rPr lang="en-US" altLang="zh-CN" sz="2000" i="1" dirty="0" smtClean="0">
                        <a:latin typeface="Cambria Math" panose="02040503050406030204" pitchFamily="18" charset="0"/>
                      </a:rPr>
                      <m:t>𝑐</m:t>
                    </m:r>
                    <m:r>
                      <a:rPr lang="zh-CN" altLang="en-US" sz="2000" i="1" dirty="0">
                        <a:latin typeface="Cambria Math" panose="02040503050406030204" pitchFamily="18" charset="0"/>
                      </a:rPr>
                      <m:t>，</m:t>
                    </m:r>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𝑏𝑐</m:t>
                    </m:r>
                    <m:r>
                      <a:rPr lang="en-US" altLang="zh-CN" sz="2000" b="0" i="1" dirty="0" smtClean="0">
                        <a:latin typeface="Cambria Math" panose="02040503050406030204" pitchFamily="18" charset="0"/>
                      </a:rPr>
                      <m:t>)</m:t>
                    </m:r>
                  </m:oMath>
                </a14:m>
                <a:r>
                  <a:rPr lang="zh-Hans" altLang="en-US" sz="2000" dirty="0"/>
                  <a:t> 。</a:t>
                </a:r>
                <a:endParaRPr lang="en-US" altLang="zh-CN" sz="2000" dirty="0"/>
              </a:p>
              <a:p>
                <a:pPr lvl="1">
                  <a:lnSpc>
                    <a:spcPct val="150000"/>
                  </a:lnSpc>
                </a:pPr>
                <a:r>
                  <a:rPr lang="zh-CN" altLang="en-US" sz="2000" dirty="0"/>
                  <a:t>传递性：若</a:t>
                </a:r>
                <a:r>
                  <a:rPr lang="zh-Hans" altLang="en-US" sz="2000" dirty="0"/>
                  <a:t> </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oMath>
                </a14:m>
                <a:r>
                  <a:rPr lang="zh-CN" altLang="en-US" sz="2000" dirty="0"/>
                  <a:t>，则</a:t>
                </a:r>
                <a:r>
                  <a:rPr lang="zh-Hans" altLang="en-US" sz="2000" dirty="0"/>
                  <a:t> </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oMath>
                </a14:m>
                <a:r>
                  <a:rPr lang="zh-Hans" altLang="en-US" sz="2000" dirty="0"/>
                  <a:t> 。</a:t>
                </a:r>
                <a:endParaRPr lang="en-US" altLang="zh-CN" sz="2000" dirty="0"/>
              </a:p>
              <a:p>
                <a:pPr>
                  <a:lnSpc>
                    <a:spcPct val="150000"/>
                  </a:lnSpc>
                  <a:spcBef>
                    <a:spcPts val="600"/>
                  </a:spcBef>
                </a:pPr>
                <a:r>
                  <a:rPr lang="zh-CN" altLang="en-US" b="1" dirty="0"/>
                  <a:t>因子：</a:t>
                </a:r>
                <a:r>
                  <a:rPr lang="zh-CN" altLang="en-US" dirty="0"/>
                  <a:t>正整数</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的平凡约数为</a:t>
                </a:r>
                <a:r>
                  <a:rPr lang="zh-Hans" altLang="en-US" dirty="0"/>
                  <a:t> </a:t>
                </a:r>
                <a14:m>
                  <m:oMath xmlns:m="http://schemas.openxmlformats.org/officeDocument/2006/math">
                    <m:r>
                      <a:rPr lang="en-US" altLang="zh-CN" i="1" dirty="0" smtClean="0">
                        <a:latin typeface="Cambria Math" panose="02040503050406030204" pitchFamily="18" charset="0"/>
                      </a:rPr>
                      <m:t>1</m:t>
                    </m:r>
                  </m:oMath>
                </a14:m>
                <a:r>
                  <a:rPr lang="zh-Hans" altLang="en-US" dirty="0"/>
                  <a:t> </a:t>
                </a:r>
                <a:r>
                  <a:rPr lang="zh-CN" altLang="en-US" dirty="0"/>
                  <a:t>和</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本身，</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的非平凡约数称为</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的因子。如</a:t>
                </a:r>
                <a:r>
                  <a:rPr lang="zh-Hans" altLang="en-US" dirty="0"/>
                  <a:t> </a:t>
                </a:r>
                <a14:m>
                  <m:oMath xmlns:m="http://schemas.openxmlformats.org/officeDocument/2006/math">
                    <m:r>
                      <a:rPr lang="en-US" altLang="zh-CN" i="1" dirty="0" smtClean="0">
                        <a:latin typeface="Cambria Math" panose="02040503050406030204" pitchFamily="18" charset="0"/>
                      </a:rPr>
                      <m:t>20</m:t>
                    </m:r>
                  </m:oMath>
                </a14:m>
                <a:r>
                  <a:rPr lang="zh-Hans" altLang="en-US" dirty="0"/>
                  <a:t> </a:t>
                </a:r>
                <a:r>
                  <a:rPr lang="zh-CN" altLang="en-US" dirty="0"/>
                  <a:t>的因子有</a:t>
                </a:r>
                <a:r>
                  <a:rPr lang="zh-Hans" altLang="en-US" dirty="0"/>
                  <a:t> </a:t>
                </a:r>
                <a14:m>
                  <m:oMath xmlns:m="http://schemas.openxmlformats.org/officeDocument/2006/math">
                    <m:r>
                      <a:rPr lang="en-US" altLang="zh-CN" i="1" dirty="0" smtClean="0">
                        <a:latin typeface="Cambria Math" panose="02040503050406030204" pitchFamily="18" charset="0"/>
                      </a:rPr>
                      <m:t>2</m:t>
                    </m:r>
                    <m:r>
                      <a:rPr lang="zh-CN" altLang="en-US" i="1" dirty="0">
                        <a:latin typeface="Cambria Math" panose="02040503050406030204" pitchFamily="18" charset="0"/>
                      </a:rPr>
                      <m:t>、</m:t>
                    </m:r>
                    <m:r>
                      <a:rPr lang="en-US" altLang="zh-CN" i="1" dirty="0">
                        <a:latin typeface="Cambria Math" panose="02040503050406030204" pitchFamily="18" charset="0"/>
                      </a:rPr>
                      <m:t>4</m:t>
                    </m:r>
                    <m:r>
                      <a:rPr lang="zh-CN" altLang="en-US" i="1" dirty="0">
                        <a:latin typeface="Cambria Math" panose="02040503050406030204" pitchFamily="18" charset="0"/>
                      </a:rPr>
                      <m:t>、</m:t>
                    </m:r>
                    <m:r>
                      <a:rPr lang="en-US" altLang="zh-CN" i="1" dirty="0">
                        <a:latin typeface="Cambria Math" panose="02040503050406030204" pitchFamily="18" charset="0"/>
                      </a:rPr>
                      <m:t>5</m:t>
                    </m:r>
                    <m:r>
                      <a:rPr lang="zh-CN" altLang="en-US" i="1" dirty="0">
                        <a:latin typeface="Cambria Math" panose="02040503050406030204" pitchFamily="18" charset="0"/>
                      </a:rPr>
                      <m:t>、</m:t>
                    </m:r>
                    <m:r>
                      <a:rPr lang="en-US" altLang="zh-CN" i="1" dirty="0">
                        <a:latin typeface="Cambria Math" panose="02040503050406030204" pitchFamily="18" charset="0"/>
                      </a:rPr>
                      <m:t>1</m:t>
                    </m:r>
                    <m:r>
                      <a:rPr lang="en-US" altLang="zh-CN" i="1" dirty="0" smtClean="0">
                        <a:latin typeface="Cambria Math" panose="02040503050406030204" pitchFamily="18" charset="0"/>
                      </a:rPr>
                      <m:t>0</m:t>
                    </m:r>
                  </m:oMath>
                </a14:m>
                <a:r>
                  <a:rPr lang="zh-Hans" altLang="en-US" dirty="0"/>
                  <a:t> 。</a:t>
                </a:r>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257801"/>
              </a:xfrm>
              <a:blipFill>
                <a:blip r:embed="rId2"/>
                <a:stretch>
                  <a:fillRect l="-1398" r="-101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D62A8925-F3D0-8241-A02F-79E890C4EC46}"/>
              </a:ext>
            </a:extLst>
          </p:cNvPr>
          <p:cNvSpPr>
            <a:spLocks noGrp="1"/>
          </p:cNvSpPr>
          <p:nvPr>
            <p:ph type="sldNum" sz="quarter" idx="12"/>
          </p:nvPr>
        </p:nvSpPr>
        <p:spPr/>
        <p:txBody>
          <a:bodyPr/>
          <a:lstStyle/>
          <a:p>
            <a:fld id="{0FF54DE5-C571-48E8-A5BC-B369434E2F44}" type="slidenum">
              <a:rPr lang="en-US" altLang="zh-CN" smtClean="0"/>
              <a:pPr/>
              <a:t>5</a:t>
            </a:fld>
            <a:endParaRPr lang="zh-CN" altLang="en-US"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t>素数与合数</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4934883"/>
              </a:xfrm>
            </p:spPr>
            <p:txBody>
              <a:bodyPr rtlCol="0">
                <a:normAutofit/>
              </a:bodyPr>
              <a:lstStyle/>
              <a:p>
                <a:pPr>
                  <a:lnSpc>
                    <a:spcPct val="150000"/>
                  </a:lnSpc>
                  <a:spcBef>
                    <a:spcPts val="1200"/>
                  </a:spcBef>
                </a:pPr>
                <a:r>
                  <a:rPr lang="zh-CN" altLang="en-US" b="1" dirty="0"/>
                  <a:t>素数：</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&gt;1</m:t>
                    </m:r>
                  </m:oMath>
                </a14:m>
                <a:r>
                  <a:rPr lang="zh-Hans" altLang="en-US" dirty="0"/>
                  <a:t> </a:t>
                </a:r>
                <a:r>
                  <a:rPr lang="zh-CN" altLang="en-US" dirty="0"/>
                  <a:t>且只能被平凡约数整除的数。</a:t>
                </a:r>
                <a:endParaRPr lang="en-US" altLang="zh-CN" dirty="0"/>
              </a:p>
              <a:p>
                <a:pPr>
                  <a:lnSpc>
                    <a:spcPct val="150000"/>
                  </a:lnSpc>
                  <a:spcBef>
                    <a:spcPts val="1200"/>
                  </a:spcBef>
                </a:pPr>
                <a:r>
                  <a:rPr lang="zh-CN" altLang="en-US" b="1" dirty="0"/>
                  <a:t>合数：</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&gt;1</m:t>
                    </m:r>
                  </m:oMath>
                </a14:m>
                <a:r>
                  <a:rPr lang="zh-Hans" altLang="en-US" dirty="0"/>
                  <a:t> </a:t>
                </a:r>
                <a:r>
                  <a:rPr lang="zh-CN" altLang="en-US" dirty="0"/>
                  <a:t>且不是素数的数称为合数。</a:t>
                </a:r>
                <a:endParaRPr lang="en-US" altLang="zh-CN" dirty="0"/>
              </a:p>
              <a:p>
                <a:pPr>
                  <a:lnSpc>
                    <a:spcPct val="150000"/>
                  </a:lnSpc>
                  <a:spcBef>
                    <a:spcPts val="1200"/>
                  </a:spcBef>
                </a:pPr>
                <a:r>
                  <a:rPr lang="zh-CN" altLang="en-US" dirty="0"/>
                  <a:t>其他整数（</a:t>
                </a:r>
                <a14:m>
                  <m:oMath xmlns:m="http://schemas.openxmlformats.org/officeDocument/2006/math">
                    <m:r>
                      <a:rPr lang="en-US" altLang="zh-CN" i="1" dirty="0">
                        <a:latin typeface="Cambria Math" panose="02040503050406030204" pitchFamily="18" charset="0"/>
                      </a:rPr>
                      <m:t>0,1,</m:t>
                    </m:r>
                  </m:oMath>
                </a14:m>
                <a:r>
                  <a:rPr lang="zh-CN" altLang="en-US" dirty="0"/>
                  <a:t>负整数）既不是素数也不是合数。</a:t>
                </a:r>
                <a:endParaRPr lang="en-US" altLang="zh-CN" dirty="0"/>
              </a:p>
              <a:p>
                <a:pPr>
                  <a:lnSpc>
                    <a:spcPct val="150000"/>
                  </a:lnSpc>
                  <a:spcBef>
                    <a:spcPts val="1200"/>
                  </a:spcBef>
                </a:pPr>
                <a:r>
                  <a:rPr lang="zh-CN" altLang="en-US" dirty="0"/>
                  <a:t>素数有无穷多个，</a:t>
                </a:r>
                <a:r>
                  <a:rPr lang="zh-Hans" altLang="en-US" dirty="0"/>
                  <a:t>但分布比较稀疏</a:t>
                </a:r>
                <a:r>
                  <a:rPr lang="zh-CN" altLang="en-US" dirty="0"/>
                  <a:t>，不大于</a:t>
                </a:r>
                <a:r>
                  <a:rPr lang="zh-Hans" altLang="en-US" dirty="0"/>
                  <a:t> </a:t>
                </a:r>
                <a14:m>
                  <m:oMath xmlns:m="http://schemas.openxmlformats.org/officeDocument/2006/math">
                    <m:r>
                      <a:rPr lang="en-US" altLang="zh-CN" i="1" dirty="0" smtClean="0">
                        <a:latin typeface="Cambria Math" panose="02040503050406030204" pitchFamily="18" charset="0"/>
                      </a:rPr>
                      <m:t>𝑛</m:t>
                    </m:r>
                  </m:oMath>
                </a14:m>
                <a:r>
                  <a:rPr lang="zh-Hans" altLang="en-US" dirty="0"/>
                  <a:t> </a:t>
                </a:r>
                <a:r>
                  <a:rPr lang="zh-CN" altLang="en-US" dirty="0"/>
                  <a:t>的素数约有</a:t>
                </a:r>
                <a:r>
                  <a:rPr lang="zh-Hans" altLang="en-US" dirty="0"/>
                  <a:t> </a:t>
                </a:r>
                <a14:m>
                  <m:oMath xmlns:m="http://schemas.openxmlformats.org/officeDocument/2006/math">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𝑛</m:t>
                        </m:r>
                      </m:num>
                      <m:den>
                        <m:func>
                          <m:funcPr>
                            <m:ctrlPr>
                              <a:rPr lang="en-US" altLang="zh-CN" i="1" dirty="0" smtClean="0">
                                <a:latin typeface="Cambria Math" panose="02040503050406030204" pitchFamily="18" charset="0"/>
                              </a:rPr>
                            </m:ctrlPr>
                          </m:funcPr>
                          <m:fName>
                            <m:r>
                              <m:rPr>
                                <m:sty m:val="p"/>
                              </m:rPr>
                              <a:rPr lang="en-US" altLang="zh-CN" i="0" dirty="0" smtClean="0">
                                <a:latin typeface="Cambria Math" panose="02040503050406030204" pitchFamily="18" charset="0"/>
                              </a:rPr>
                              <m:t>ln</m:t>
                            </m:r>
                          </m:fName>
                          <m:e>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𝑛</m:t>
                                </m:r>
                              </m:e>
                            </m:d>
                          </m:e>
                        </m:func>
                      </m:den>
                    </m:f>
                  </m:oMath>
                </a14:m>
                <a:r>
                  <a:rPr lang="zh-Hans" altLang="en-US" dirty="0"/>
                  <a:t> </a:t>
                </a:r>
                <a:r>
                  <a:rPr lang="zh-CN" altLang="en-US" dirty="0"/>
                  <a:t>个。</a:t>
                </a:r>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4934883"/>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756F4CFC-78A4-6D4E-A44C-746686EEDF45}"/>
              </a:ext>
            </a:extLst>
          </p:cNvPr>
          <p:cNvSpPr>
            <a:spLocks noGrp="1"/>
          </p:cNvSpPr>
          <p:nvPr>
            <p:ph type="sldNum" sz="quarter" idx="12"/>
          </p:nvPr>
        </p:nvSpPr>
        <p:spPr/>
        <p:txBody>
          <a:bodyPr/>
          <a:lstStyle/>
          <a:p>
            <a:fld id="{0FF54DE5-C571-48E8-A5BC-B369434E2F44}" type="slidenum">
              <a:rPr lang="en-US" altLang="zh-CN" smtClean="0"/>
              <a:pPr/>
              <a:t>6</a:t>
            </a:fld>
            <a:endParaRPr lang="zh-CN" altLang="en-US" dirty="0"/>
          </a:p>
        </p:txBody>
      </p:sp>
    </p:spTree>
    <p:extLst>
      <p:ext uri="{BB962C8B-B14F-4D97-AF65-F5344CB8AC3E}">
        <p14:creationId xmlns:p14="http://schemas.microsoft.com/office/powerpoint/2010/main" val="192539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素数判定</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2458844"/>
              </a:xfrm>
            </p:spPr>
            <p:txBody>
              <a:bodyPr>
                <a:normAutofit/>
              </a:bodyPr>
              <a:lstStyle/>
              <a:p>
                <a:pPr>
                  <a:lnSpc>
                    <a:spcPct val="150000"/>
                  </a:lnSpc>
                  <a:spcBef>
                    <a:spcPts val="1200"/>
                  </a:spcBef>
                </a:pPr>
                <a:r>
                  <a:rPr lang="zh-CN" altLang="en-US" dirty="0"/>
                  <a:t>若</a:t>
                </a:r>
                <a:r>
                  <a:rPr lang="zh-Hans" altLang="en-US" dirty="0"/>
                  <a:t> </a:t>
                </a:r>
                <a14:m>
                  <m:oMath xmlns:m="http://schemas.openxmlformats.org/officeDocument/2006/math">
                    <m:r>
                      <a:rPr lang="en-US" altLang="zh-CN" i="1" dirty="0">
                        <a:latin typeface="Cambria Math" panose="02040503050406030204" pitchFamily="18" charset="0"/>
                      </a:rPr>
                      <m:t>𝑛</m:t>
                    </m:r>
                  </m:oMath>
                </a14:m>
                <a:r>
                  <a:rPr lang="zh-Hans" altLang="en-US" dirty="0"/>
                  <a:t> </a:t>
                </a:r>
                <a:r>
                  <a:rPr lang="zh-CN" altLang="en-US" dirty="0"/>
                  <a:t>是一个合数，则</a:t>
                </a:r>
                <a:r>
                  <a:rPr lang="zh-Hans" altLang="en-US" dirty="0"/>
                  <a:t> </a:t>
                </a:r>
                <a14:m>
                  <m:oMath xmlns:m="http://schemas.openxmlformats.org/officeDocument/2006/math">
                    <m:r>
                      <a:rPr lang="en-US" altLang="zh-CN" i="1" dirty="0">
                        <a:latin typeface="Cambria Math" panose="02040503050406030204" pitchFamily="18" charset="0"/>
                      </a:rPr>
                      <m:t>𝑛</m:t>
                    </m:r>
                  </m:oMath>
                </a14:m>
                <a:r>
                  <a:rPr lang="zh-Hans" altLang="en-US" dirty="0"/>
                  <a:t> </a:t>
                </a:r>
                <a:r>
                  <a:rPr lang="zh-CN" altLang="en-US" dirty="0"/>
                  <a:t>至少有</a:t>
                </a:r>
                <a:r>
                  <a:rPr lang="zh-Hans" altLang="en-US" dirty="0"/>
                  <a:t> </a:t>
                </a:r>
                <a14:m>
                  <m:oMath xmlns:m="http://schemas.openxmlformats.org/officeDocument/2006/math">
                    <m:r>
                      <a:rPr lang="en-US" altLang="zh-CN" i="1" dirty="0">
                        <a:latin typeface="Cambria Math" panose="02040503050406030204" pitchFamily="18" charset="0"/>
                      </a:rPr>
                      <m:t>1</m:t>
                    </m:r>
                  </m:oMath>
                </a14:m>
                <a:r>
                  <a:rPr lang="zh-Hans" altLang="en-US" dirty="0"/>
                  <a:t> </a:t>
                </a:r>
                <a:r>
                  <a:rPr lang="zh-CN" altLang="en-US" dirty="0"/>
                  <a:t>个素因子。因此其中最小的素因子一定不大于</a:t>
                </a:r>
                <a:r>
                  <a:rPr lang="zh-Hans" altLang="en-US" dirty="0"/>
                  <a:t> </a:t>
                </a:r>
                <a14:m>
                  <m:oMath xmlns:m="http://schemas.openxmlformats.org/officeDocument/2006/math">
                    <m:rad>
                      <m:radPr>
                        <m:degHide m:val="on"/>
                        <m:ctrlPr>
                          <a:rPr lang="zh-CN" altLang="en-US" i="1">
                            <a:latin typeface="Cambria Math" panose="02040503050406030204" pitchFamily="18" charset="0"/>
                          </a:rPr>
                        </m:ctrlPr>
                      </m:radPr>
                      <m:deg/>
                      <m:e>
                        <m:r>
                          <m:rPr>
                            <m:sty m:val="p"/>
                          </m:rPr>
                          <a:rPr lang="en-US" altLang="zh-CN" i="1">
                            <a:latin typeface="Cambria Math" panose="02040503050406030204" pitchFamily="18" charset="0"/>
                          </a:rPr>
                          <m:t>n</m:t>
                        </m:r>
                      </m:e>
                    </m:rad>
                  </m:oMath>
                </a14:m>
                <a:r>
                  <a:rPr lang="zh-CN" altLang="en-US" dirty="0"/>
                  <a:t> 。</a:t>
                </a:r>
                <a:endParaRPr lang="en-US" altLang="zh-CN" dirty="0"/>
              </a:p>
              <a:p>
                <a:pPr>
                  <a:lnSpc>
                    <a:spcPct val="150000"/>
                  </a:lnSpc>
                  <a:spcBef>
                    <a:spcPts val="1200"/>
                  </a:spcBef>
                </a:pPr>
                <a:r>
                  <a:rPr lang="zh-CN" altLang="en-US" dirty="0"/>
                  <a:t>如果</a:t>
                </a:r>
                <a:r>
                  <a:rPr lang="zh-Hans" altLang="en-US" dirty="0"/>
                  <a:t> </a:t>
                </a:r>
                <a14:m>
                  <m:oMath xmlns:m="http://schemas.openxmlformats.org/officeDocument/2006/math">
                    <m:r>
                      <a:rPr lang="en-US" altLang="zh-CN" i="1" dirty="0">
                        <a:latin typeface="Cambria Math" panose="02040503050406030204" pitchFamily="18" charset="0"/>
                      </a:rPr>
                      <m:t>𝑛</m:t>
                    </m:r>
                  </m:oMath>
                </a14:m>
                <a:r>
                  <a:rPr lang="zh-Hans" altLang="en-US" dirty="0"/>
                  <a:t> </a:t>
                </a:r>
                <a:r>
                  <a:rPr lang="zh-CN" altLang="en-US" dirty="0"/>
                  <a:t>是合数，则一定可以为分解</a:t>
                </a:r>
                <a:r>
                  <a:rPr lang="zh-Hans" altLang="en-US" dirty="0"/>
                  <a:t> </a:t>
                </a:r>
                <a14:m>
                  <m:oMath xmlns:m="http://schemas.openxmlformats.org/officeDocument/2006/math">
                    <m:r>
                      <a:rPr lang="en-US" altLang="zh-CN" i="1" dirty="0">
                        <a:latin typeface="Cambria Math" panose="02040503050406030204" pitchFamily="18" charset="0"/>
                      </a:rPr>
                      <m:t>𝑎</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𝑏</m:t>
                    </m:r>
                  </m:oMath>
                </a14:m>
                <a:r>
                  <a:rPr lang="zh-Hans" altLang="en-US" dirty="0"/>
                  <a:t> </a:t>
                </a:r>
                <a:r>
                  <a:rPr lang="zh-CN" altLang="en-US" dirty="0"/>
                  <a:t>的形式，其中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𝑏</m:t>
                    </m:r>
                    <m:r>
                      <a:rPr lang="en-US" altLang="zh-CN" i="1" dirty="0" err="1">
                        <a:latin typeface="Cambria Math" panose="02040503050406030204" pitchFamily="18" charset="0"/>
                      </a:rPr>
                      <m:t>,</m:t>
                    </m:r>
                    <m:r>
                      <a:rPr lang="en-US" altLang="zh-CN" i="1" dirty="0" err="1">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𝑏</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𝑛</m:t>
                    </m:r>
                  </m:oMath>
                </a14:m>
                <a:r>
                  <a:rPr lang="zh-CN" altLang="en-US" dirty="0"/>
                  <a:t>，如</a:t>
                </a:r>
                <a:r>
                  <a:rPr lang="zh-Hans" altLang="en-US" dirty="0"/>
                  <a:t> </a:t>
                </a:r>
                <a14:m>
                  <m:oMath xmlns:m="http://schemas.openxmlformats.org/officeDocument/2006/math">
                    <m:r>
                      <a:rPr lang="en-US" altLang="zh-CN" i="1" dirty="0">
                        <a:latin typeface="Cambria Math" panose="02040503050406030204" pitchFamily="18" charset="0"/>
                      </a:rPr>
                      <m:t>18=2</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9,18=3</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6</m:t>
                    </m:r>
                  </m:oMath>
                </a14:m>
                <a:r>
                  <a:rPr lang="zh-CN" altLang="en-US" dirty="0"/>
                  <a:t>。因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𝑏</m:t>
                    </m:r>
                    <m:r>
                      <a:rPr lang="en-US" altLang="zh-CN" i="1" dirty="0">
                        <a:latin typeface="Cambria Math" panose="02040503050406030204" pitchFamily="18" charset="0"/>
                      </a:rPr>
                      <m:t>=</m:t>
                    </m:r>
                    <m:r>
                      <a:rPr lang="en-US" altLang="zh-CN" i="1" dirty="0">
                        <a:latin typeface="Cambria Math" panose="02040503050406030204" pitchFamily="18" charset="0"/>
                      </a:rPr>
                      <m:t>𝑛</m:t>
                    </m:r>
                    <m:r>
                      <a:rPr lang="en-US" altLang="zh-CN" i="1" dirty="0">
                        <a:latin typeface="Cambria Math" panose="02040503050406030204" pitchFamily="18" charset="0"/>
                      </a:rPr>
                      <m:t>  </m:t>
                    </m:r>
                  </m:oMath>
                </a14:m>
                <a:r>
                  <a:rPr lang="zh-CN" altLang="en-US" dirty="0"/>
                  <a:t>，则可得：</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ad>
                      <m:radPr>
                        <m:degHide m:val="on"/>
                        <m:ctrlPr>
                          <a:rPr lang="en-US" altLang="zh-CN" i="1" dirty="0">
                            <a:latin typeface="Cambria Math" panose="02040503050406030204" pitchFamily="18" charset="0"/>
                            <a:ea typeface="Cambria Math" panose="02040503050406030204" pitchFamily="18" charset="0"/>
                          </a:rPr>
                        </m:ctrlPr>
                      </m:radPr>
                      <m:deg/>
                      <m:e>
                        <m:r>
                          <a:rPr lang="en-US" altLang="zh-CN" i="1" dirty="0">
                            <a:latin typeface="Cambria Math" panose="02040503050406030204" pitchFamily="18" charset="0"/>
                            <a:ea typeface="Cambria Math" panose="02040503050406030204" pitchFamily="18" charset="0"/>
                          </a:rPr>
                          <m:t>𝑛</m:t>
                        </m:r>
                      </m:e>
                    </m:rad>
                  </m:oMath>
                </a14:m>
                <a:r>
                  <a:rPr lang="en-US" altLang="zh-CN" dirty="0"/>
                  <a:t> </a:t>
                </a:r>
                <a:r>
                  <a:rPr lang="zh-CN" altLang="en-US" dirty="0"/>
                  <a:t>。</a:t>
                </a:r>
                <a:endParaRPr lang="en-US" altLang="zh-CN" dirty="0"/>
              </a:p>
              <a:p>
                <a:pPr>
                  <a:lnSpc>
                    <a:spcPct val="150000"/>
                  </a:lnSpc>
                  <a:spcBef>
                    <a:spcPts val="1200"/>
                  </a:spcBef>
                </a:pPr>
                <a:r>
                  <a:rPr lang="zh-Hans" altLang="en-US" dirty="0"/>
                  <a:t>可得</a:t>
                </a:r>
                <a:r>
                  <a:rPr lang="zh-CN" altLang="en-US" dirty="0"/>
                  <a:t>判断依据：如果</a:t>
                </a:r>
                <a:r>
                  <a:rPr lang="zh-Hans" altLang="en-US" dirty="0"/>
                  <a:t> </a:t>
                </a:r>
                <a14:m>
                  <m:oMath xmlns:m="http://schemas.openxmlformats.org/officeDocument/2006/math">
                    <m:r>
                      <a:rPr lang="en-US" altLang="zh-CN" i="1" dirty="0" smtClean="0">
                        <a:latin typeface="Cambria Math" panose="02040503050406030204" pitchFamily="18" charset="0"/>
                      </a:rPr>
                      <m:t>2</m:t>
                    </m:r>
                  </m:oMath>
                </a14:m>
                <a:r>
                  <a:rPr lang="en-US" altLang="zh-CN" dirty="0"/>
                  <a:t>~</a:t>
                </a:r>
                <a14:m>
                  <m:oMath xmlns:m="http://schemas.openxmlformats.org/officeDocument/2006/math">
                    <m:rad>
                      <m:radPr>
                        <m:degHide m:val="on"/>
                        <m:ctrlPr>
                          <a:rPr lang="en-US" altLang="zh-CN" i="1" dirty="0" smtClean="0">
                            <a:latin typeface="Cambria Math" panose="02040503050406030204" pitchFamily="18" charset="0"/>
                          </a:rPr>
                        </m:ctrlPr>
                      </m:radPr>
                      <m:deg/>
                      <m:e>
                        <m:r>
                          <a:rPr lang="en-US" altLang="zh-CN" b="0" i="1" dirty="0" smtClean="0">
                            <a:latin typeface="Cambria Math" panose="02040503050406030204" pitchFamily="18" charset="0"/>
                          </a:rPr>
                          <m:t>𝑛</m:t>
                        </m:r>
                      </m:e>
                    </m:rad>
                  </m:oMath>
                </a14:m>
                <a:r>
                  <a:rPr lang="zh-Hans" altLang="en-US" dirty="0"/>
                  <a:t> </a:t>
                </a:r>
                <a:r>
                  <a:rPr lang="zh-CN" altLang="en-US" dirty="0"/>
                  <a:t>中有</a:t>
                </a:r>
                <a:r>
                  <a:rPr lang="zh-Hans" altLang="en-US" dirty="0"/>
                  <a:t> </a:t>
                </a:r>
                <a14:m>
                  <m:oMath xmlns:m="http://schemas.openxmlformats.org/officeDocument/2006/math">
                    <m:r>
                      <a:rPr lang="en-US" altLang="zh-CN" i="1" dirty="0" smtClean="0">
                        <a:latin typeface="Cambria Math" panose="02040503050406030204" pitchFamily="18" charset="0"/>
                      </a:rPr>
                      <m:t>𝑛</m:t>
                    </m:r>
                  </m:oMath>
                </a14:m>
                <a:r>
                  <a:rPr lang="zh-Hans" altLang="en-US" dirty="0"/>
                  <a:t> </a:t>
                </a:r>
                <a:r>
                  <a:rPr lang="zh-CN" altLang="en-US" dirty="0"/>
                  <a:t>的约数，则</a:t>
                </a:r>
                <a:r>
                  <a:rPr lang="zh-Hans" altLang="en-US" dirty="0"/>
                  <a:t> </a:t>
                </a:r>
                <a14:m>
                  <m:oMath xmlns:m="http://schemas.openxmlformats.org/officeDocument/2006/math">
                    <m:r>
                      <a:rPr lang="en-US" altLang="zh-CN" i="1" dirty="0" smtClean="0">
                        <a:latin typeface="Cambria Math" panose="02040503050406030204" pitchFamily="18" charset="0"/>
                      </a:rPr>
                      <m:t>𝑛</m:t>
                    </m:r>
                  </m:oMath>
                </a14:m>
                <a:r>
                  <a:rPr lang="zh-Hans" altLang="en-US" dirty="0"/>
                  <a:t> </a:t>
                </a:r>
                <a:r>
                  <a:rPr lang="zh-CN" altLang="en-US" dirty="0"/>
                  <a:t>是合数，否则</a:t>
                </a:r>
                <a:r>
                  <a:rPr lang="zh-Hans" altLang="en-US" dirty="0"/>
                  <a:t> </a:t>
                </a:r>
                <a14:m>
                  <m:oMath xmlns:m="http://schemas.openxmlformats.org/officeDocument/2006/math">
                    <m:r>
                      <a:rPr lang="en-US" altLang="zh-CN" i="1" dirty="0" smtClean="0">
                        <a:latin typeface="Cambria Math" panose="02040503050406030204" pitchFamily="18" charset="0"/>
                      </a:rPr>
                      <m:t>𝑛</m:t>
                    </m:r>
                  </m:oMath>
                </a14:m>
                <a:r>
                  <a:rPr lang="zh-Hans" altLang="en-US" dirty="0"/>
                  <a:t> </a:t>
                </a:r>
                <a:r>
                  <a:rPr lang="zh-CN" altLang="en-US" dirty="0"/>
                  <a:t>是素数。</a:t>
                </a:r>
              </a:p>
              <a:p>
                <a:pPr marL="0" indent="0">
                  <a:lnSpc>
                    <a:spcPct val="150000"/>
                  </a:lnSpc>
                  <a:spcBef>
                    <a:spcPts val="1200"/>
                  </a:spcBef>
                  <a:buNone/>
                </a:pP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2458844"/>
              </a:xfrm>
              <a:blipFill>
                <a:blip r:embed="rId2"/>
                <a:stretch>
                  <a:fillRect l="-1398"/>
                </a:stretch>
              </a:blipFill>
            </p:spPr>
            <p:txBody>
              <a:bodyPr/>
              <a:lstStyle/>
              <a:p>
                <a:r>
                  <a:rPr lang="zh-CN" altLang="en-US">
                    <a:noFill/>
                  </a:rPr>
                  <a:t> </a:t>
                </a:r>
              </a:p>
            </p:txBody>
          </p:sp>
        </mc:Fallback>
      </mc:AlternateContent>
      <p:sp>
        <p:nvSpPr>
          <p:cNvPr id="5" name="矩形 4"/>
          <p:cNvSpPr/>
          <p:nvPr/>
        </p:nvSpPr>
        <p:spPr>
          <a:xfrm>
            <a:off x="1104900" y="3972417"/>
            <a:ext cx="9980682" cy="2554545"/>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bool</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else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n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true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4" name="幻灯片编号占位符 3">
            <a:extLst>
              <a:ext uri="{FF2B5EF4-FFF2-40B4-BE49-F238E27FC236}">
                <a16:creationId xmlns:a16="http://schemas.microsoft.com/office/drawing/2014/main" id="{EB7B1E8F-0162-4D4E-96F6-E75C64F8BA54}"/>
              </a:ext>
            </a:extLst>
          </p:cNvPr>
          <p:cNvSpPr>
            <a:spLocks noGrp="1"/>
          </p:cNvSpPr>
          <p:nvPr>
            <p:ph type="sldNum" sz="quarter" idx="12"/>
          </p:nvPr>
        </p:nvSpPr>
        <p:spPr/>
        <p:txBody>
          <a:bodyPr/>
          <a:lstStyle/>
          <a:p>
            <a:fld id="{0FF54DE5-C571-48E8-A5BC-B369434E2F44}" type="slidenum">
              <a:rPr lang="en-US" altLang="zh-CN" smtClean="0"/>
              <a:pPr/>
              <a:t>7</a:t>
            </a:fld>
            <a:endParaRPr lang="zh-CN" altLang="en-US" dirty="0"/>
          </a:p>
        </p:txBody>
      </p:sp>
    </p:spTree>
    <p:extLst>
      <p:ext uri="{BB962C8B-B14F-4D97-AF65-F5344CB8AC3E}">
        <p14:creationId xmlns:p14="http://schemas.microsoft.com/office/powerpoint/2010/main" val="14483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Hans" altLang="en-US" dirty="0"/>
              <a:t>素因数分解</a:t>
            </a:r>
            <a:endParaRPr lang="en-US" dirty="0"/>
          </a:p>
        </p:txBody>
      </p:sp>
      <p:sp>
        <p:nvSpPr>
          <p:cNvPr id="3" name="幻灯片编号占位符 2">
            <a:extLst>
              <a:ext uri="{FF2B5EF4-FFF2-40B4-BE49-F238E27FC236}">
                <a16:creationId xmlns:a16="http://schemas.microsoft.com/office/drawing/2014/main" id="{0D98F013-97BC-114D-9298-E7857F5710AD}"/>
              </a:ext>
            </a:extLst>
          </p:cNvPr>
          <p:cNvSpPr>
            <a:spLocks noGrp="1"/>
          </p:cNvSpPr>
          <p:nvPr>
            <p:ph type="sldNum" sz="quarter" idx="12"/>
          </p:nvPr>
        </p:nvSpPr>
        <p:spPr/>
        <p:txBody>
          <a:bodyPr/>
          <a:lstStyle/>
          <a:p>
            <a:fld id="{0FF54DE5-C571-48E8-A5BC-B369434E2F44}" type="slidenum">
              <a:rPr lang="en-US" altLang="zh-CN" smtClean="0"/>
              <a:pPr/>
              <a:t>8</a:t>
            </a:fld>
            <a:endParaRPr lang="zh-CN" altLang="en-US" dirty="0"/>
          </a:p>
        </p:txBody>
      </p:sp>
    </p:spTree>
    <p:extLst>
      <p:ext uri="{BB962C8B-B14F-4D97-AF65-F5344CB8AC3E}">
        <p14:creationId xmlns:p14="http://schemas.microsoft.com/office/powerpoint/2010/main" val="367502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t>例题：</a:t>
            </a:r>
            <a:r>
              <a:rPr lang="en-US" altLang="zh-CN" dirty="0"/>
              <a:t>[NOIP 2012] </a:t>
            </a:r>
            <a:r>
              <a:rPr lang="zh-CN" altLang="en-US" dirty="0"/>
              <a:t>素因数分解</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2786363"/>
              </a:xfrm>
            </p:spPr>
            <p:txBody>
              <a:bodyPr rtlCol="0">
                <a:normAutofit/>
              </a:bodyPr>
              <a:lstStyle/>
              <a:p>
                <a:pPr>
                  <a:lnSpc>
                    <a:spcPct val="150000"/>
                  </a:lnSpc>
                </a:pPr>
                <a:r>
                  <a:rPr lang="zh-CN" altLang="en-US" dirty="0"/>
                  <a:t>已知正整数</a:t>
                </a:r>
                <a:r>
                  <a:rPr lang="zh-Hans" altLang="en-US" dirty="0"/>
                  <a:t> </a:t>
                </a:r>
                <a14:m>
                  <m:oMath xmlns:m="http://schemas.openxmlformats.org/officeDocument/2006/math">
                    <m:r>
                      <a:rPr lang="en-US" altLang="zh-CN" i="1" dirty="0" smtClean="0">
                        <a:latin typeface="Cambria Math" panose="02040503050406030204" pitchFamily="18" charset="0"/>
                      </a:rPr>
                      <m:t>𝑛</m:t>
                    </m:r>
                  </m:oMath>
                </a14:m>
                <a:r>
                  <a:rPr lang="zh-Hans" altLang="en-US" dirty="0"/>
                  <a:t> </a:t>
                </a:r>
                <a:r>
                  <a:rPr lang="zh-CN" altLang="en-US" dirty="0"/>
                  <a:t>是两个不同素因数的乘积，试求出较大的那个素数。比如</a:t>
                </a:r>
                <a:r>
                  <a:rPr lang="zh-Hans" altLang="en-US" dirty="0"/>
                  <a:t> </a:t>
                </a:r>
                <a14:m>
                  <m:oMath xmlns:m="http://schemas.openxmlformats.org/officeDocument/2006/math">
                    <m:r>
                      <a:rPr lang="en-US" altLang="zh-CN" i="1" dirty="0" smtClean="0">
                        <a:latin typeface="Cambria Math" panose="02040503050406030204" pitchFamily="18" charset="0"/>
                      </a:rPr>
                      <m:t>21</m:t>
                    </m:r>
                  </m:oMath>
                </a14:m>
                <a:r>
                  <a:rPr lang="zh-CN" altLang="en-US" dirty="0"/>
                  <a:t>，较大的素因数是</a:t>
                </a:r>
                <a14:m>
                  <m:oMath xmlns:m="http://schemas.openxmlformats.org/officeDocument/2006/math">
                    <m:r>
                      <a:rPr lang="zh-Hans" altLang="en-US" b="0" i="0" dirty="0" smtClean="0">
                        <a:latin typeface="Cambria Math" panose="02040503050406030204" pitchFamily="18" charset="0"/>
                      </a:rPr>
                      <m:t> </m:t>
                    </m:r>
                    <m:r>
                      <a:rPr lang="en-US" altLang="zh-CN" i="1" dirty="0" smtClean="0">
                        <a:latin typeface="Cambria Math" panose="02040503050406030204" pitchFamily="18" charset="0"/>
                      </a:rPr>
                      <m:t>7</m:t>
                    </m:r>
                  </m:oMath>
                </a14:m>
                <a:r>
                  <a:rPr lang="zh-CN" altLang="en-US" dirty="0"/>
                  <a:t>。对于</a:t>
                </a:r>
                <a:r>
                  <a:rPr lang="zh-Hans" altLang="en-US" dirty="0"/>
                  <a:t> </a:t>
                </a:r>
                <a14:m>
                  <m:oMath xmlns:m="http://schemas.openxmlformats.org/officeDocument/2006/math">
                    <m:r>
                      <a:rPr lang="en-US" altLang="zh-CN" i="1" dirty="0" smtClean="0">
                        <a:latin typeface="Cambria Math" panose="02040503050406030204" pitchFamily="18" charset="0"/>
                      </a:rPr>
                      <m:t>60%</m:t>
                    </m:r>
                  </m:oMath>
                </a14:m>
                <a:r>
                  <a:rPr lang="zh-Hans" altLang="en-US" dirty="0"/>
                  <a:t> </a:t>
                </a:r>
                <a:r>
                  <a:rPr lang="zh-CN" altLang="en-US" dirty="0"/>
                  <a:t>的数据，</a:t>
                </a:r>
                <a14:m>
                  <m:oMath xmlns:m="http://schemas.openxmlformats.org/officeDocument/2006/math">
                    <m:r>
                      <a:rPr lang="en-US" altLang="zh-CN" i="1" dirty="0" smtClean="0">
                        <a:latin typeface="Cambria Math" panose="02040503050406030204" pitchFamily="18" charset="0"/>
                      </a:rPr>
                      <m:t>6</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≤1000，</m:t>
                    </m:r>
                  </m:oMath>
                </a14:m>
                <a:r>
                  <a:rPr lang="zh-CN" altLang="en-US" dirty="0"/>
                  <a:t>对于</a:t>
                </a:r>
                <a:r>
                  <a:rPr lang="zh-Hans" altLang="en-US" dirty="0"/>
                  <a:t> </a:t>
                </a:r>
                <a14:m>
                  <m:oMath xmlns:m="http://schemas.openxmlformats.org/officeDocument/2006/math">
                    <m:r>
                      <a:rPr lang="en-US" altLang="zh-CN" i="1" dirty="0" smtClean="0">
                        <a:latin typeface="Cambria Math" panose="02040503050406030204" pitchFamily="18" charset="0"/>
                      </a:rPr>
                      <m:t>100</m:t>
                    </m:r>
                    <m:r>
                      <a:rPr lang="en-US" altLang="zh-CN" i="1" dirty="0">
                        <a:latin typeface="Cambria Math" panose="02040503050406030204" pitchFamily="18" charset="0"/>
                      </a:rPr>
                      <m:t>%</m:t>
                    </m:r>
                  </m:oMath>
                </a14:m>
                <a:r>
                  <a:rPr lang="zh-Hans" altLang="en-US" dirty="0"/>
                  <a:t> </a:t>
                </a:r>
                <a:r>
                  <a:rPr lang="zh-CN" altLang="en-US" dirty="0"/>
                  <a:t>的数据，</a:t>
                </a:r>
                <a14:m>
                  <m:oMath xmlns:m="http://schemas.openxmlformats.org/officeDocument/2006/math">
                    <m:r>
                      <a:rPr lang="en-US" altLang="zh-CN" i="1" dirty="0" smtClean="0">
                        <a:latin typeface="Cambria Math" panose="02040503050406030204" pitchFamily="18" charset="0"/>
                      </a:rPr>
                      <m:t>6</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≤2×</m:t>
                    </m:r>
                    <m:sSup>
                      <m:sSupPr>
                        <m:ctrlPr>
                          <a:rPr lang="en-US"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1</m:t>
                        </m:r>
                        <m:r>
                          <a:rPr lang="en-US" altLang="zh-CN" i="1" smtClean="0">
                            <a:latin typeface="Cambria Math" panose="02040503050406030204" pitchFamily="18" charset="0"/>
                            <a:ea typeface="Cambria Math" panose="02040503050406030204" pitchFamily="18" charset="0"/>
                          </a:rPr>
                          <m:t>0</m:t>
                        </m:r>
                      </m:e>
                      <m:sup>
                        <m:r>
                          <a:rPr lang="en-US" altLang="zh-CN" i="1">
                            <a:latin typeface="Cambria Math" panose="02040503050406030204" pitchFamily="18" charset="0"/>
                            <a:ea typeface="Cambria Math" panose="02040503050406030204" pitchFamily="18" charset="0"/>
                          </a:rPr>
                          <m:t>9</m:t>
                        </m:r>
                      </m:sup>
                    </m:sSup>
                  </m:oMath>
                </a14:m>
                <a:r>
                  <a:rPr lang="zh-CN" altLang="en-US" dirty="0"/>
                  <a:t>。</a:t>
                </a:r>
                <a:endParaRPr lang="en-US" altLang="zh-CN" dirty="0"/>
              </a:p>
              <a:p>
                <a:pPr>
                  <a:lnSpc>
                    <a:spcPct val="150000"/>
                  </a:lnSpc>
                </a:pPr>
                <a:r>
                  <a:rPr lang="zh-Hans" altLang="en-US" dirty="0"/>
                  <a:t>分析</a:t>
                </a:r>
                <a:r>
                  <a:rPr lang="zh-CN" altLang="en-US" dirty="0"/>
                  <a:t>：</a:t>
                </a:r>
                <a:endParaRPr lang="en-US" altLang="zh-CN" dirty="0"/>
              </a:p>
              <a:p>
                <a:pPr>
                  <a:lnSpc>
                    <a:spcPct val="150000"/>
                  </a:lnSpc>
                </a:pPr>
                <a:r>
                  <a:rPr lang="zh-CN" altLang="en-US" dirty="0"/>
                  <a:t>既然已经明确此合数为两个素数的乘积，即可以得出</a:t>
                </a:r>
                <a:r>
                  <a:rPr lang="zh-Hans" altLang="en-US" dirty="0"/>
                  <a:t> </a:t>
                </a:r>
                <a14:m>
                  <m:oMath xmlns:m="http://schemas.openxmlformats.org/officeDocument/2006/math">
                    <m:r>
                      <m:rPr>
                        <m:sty m:val="p"/>
                      </m:rPr>
                      <a:rPr lang="en-US" altLang="zh-CN" dirty="0">
                        <a:latin typeface="Cambria Math" panose="02040503050406030204" pitchFamily="18" charset="0"/>
                      </a:rPr>
                      <m:t>O</m:t>
                    </m:r>
                    <m:r>
                      <a:rPr lang="en-US" altLang="zh-CN" i="1" dirty="0">
                        <a:latin typeface="Cambria Math" panose="02040503050406030204" pitchFamily="18" charset="0"/>
                      </a:rPr>
                      <m:t>(</m:t>
                    </m:r>
                    <m:rad>
                      <m:radPr>
                        <m:degHide m:val="on"/>
                        <m:ctrlPr>
                          <a:rPr lang="en-US" altLang="zh-CN" i="1" dirty="0">
                            <a:latin typeface="Cambria Math" panose="02040503050406030204" pitchFamily="18" charset="0"/>
                          </a:rPr>
                        </m:ctrlPr>
                      </m:radPr>
                      <m:deg/>
                      <m:e>
                        <m:r>
                          <a:rPr lang="en-US" altLang="zh-CN" i="1" dirty="0">
                            <a:latin typeface="Cambria Math" panose="02040503050406030204" pitchFamily="18" charset="0"/>
                          </a:rPr>
                          <m:t>𝑛</m:t>
                        </m:r>
                      </m:e>
                    </m:rad>
                    <m:r>
                      <a:rPr lang="en-US" altLang="zh-CN" i="1" dirty="0">
                        <a:latin typeface="Cambria Math" panose="02040503050406030204" pitchFamily="18" charset="0"/>
                      </a:rPr>
                      <m:t>)</m:t>
                    </m:r>
                  </m:oMath>
                </a14:m>
                <a:r>
                  <a:rPr lang="zh-Hans" altLang="en-US" dirty="0"/>
                  <a:t> </a:t>
                </a:r>
                <a:r>
                  <a:rPr lang="zh-CN" altLang="en-US" dirty="0"/>
                  <a:t>的算法</a:t>
                </a:r>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2786363"/>
              </a:xfrm>
              <a:blipFill>
                <a:blip r:embed="rId2"/>
                <a:stretch>
                  <a:fillRect l="-1398"/>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2E15553A-7444-9546-8D4E-E71261489316}"/>
              </a:ext>
            </a:extLst>
          </p:cNvPr>
          <p:cNvSpPr/>
          <p:nvPr/>
        </p:nvSpPr>
        <p:spPr>
          <a:xfrm>
            <a:off x="1104900" y="4349865"/>
            <a:ext cx="8697724" cy="1631216"/>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cout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endl</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break</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176D8D35-F3A8-564D-8AA1-6F02319AAC36}"/>
              </a:ext>
            </a:extLst>
          </p:cNvPr>
          <p:cNvSpPr>
            <a:spLocks noGrp="1"/>
          </p:cNvSpPr>
          <p:nvPr>
            <p:ph type="sldNum" sz="quarter" idx="12"/>
          </p:nvPr>
        </p:nvSpPr>
        <p:spPr/>
        <p:txBody>
          <a:bodyPr/>
          <a:lstStyle/>
          <a:p>
            <a:fld id="{0FF54DE5-C571-48E8-A5BC-B369434E2F44}" type="slidenum">
              <a:rPr lang="en-US" altLang="zh-CN" smtClean="0"/>
              <a:pPr/>
              <a:t>9</a:t>
            </a:fld>
            <a:endParaRPr lang="zh-CN" altLang="en-US" dirty="0"/>
          </a:p>
        </p:txBody>
      </p:sp>
    </p:spTree>
    <p:extLst>
      <p:ext uri="{BB962C8B-B14F-4D97-AF65-F5344CB8AC3E}">
        <p14:creationId xmlns:p14="http://schemas.microsoft.com/office/powerpoint/2010/main" val="35570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r>
              <a:rPr lang="zh-CN" altLang="en-US" dirty="0"/>
              <a:t>整数</a:t>
            </a:r>
            <a:r>
              <a:rPr lang="zh-Hans" altLang="en-US" dirty="0"/>
              <a:t>惟一</a:t>
            </a:r>
            <a:r>
              <a:rPr lang="zh-CN" altLang="en-US" dirty="0"/>
              <a:t>分解定理</a:t>
            </a:r>
            <a:endParaRPr lang="en-US" dirty="0"/>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200"/>
                <a:ext cx="9982200" cy="1273629"/>
              </a:xfrm>
            </p:spPr>
            <p:txBody>
              <a:bodyPr rtlCol="0">
                <a:normAutofit/>
              </a:bodyPr>
              <a:lstStyle/>
              <a:p>
                <a:pPr>
                  <a:lnSpc>
                    <a:spcPct val="150000"/>
                  </a:lnSpc>
                </a:pPr>
                <a:r>
                  <a:rPr lang="zh-Hans" altLang="en-US" dirty="0"/>
                  <a:t>表述：</a:t>
                </a:r>
                <a:r>
                  <a:rPr lang="zh-CN" altLang="en-US" dirty="0"/>
                  <a:t>若整数</a:t>
                </a:r>
                <a:r>
                  <a:rPr lang="zh-Hans" altLang="en-US" dirty="0"/>
                  <a:t> </a:t>
                </a:r>
                <a14:m>
                  <m:oMath xmlns:m="http://schemas.openxmlformats.org/officeDocument/2006/math">
                    <m:r>
                      <a:rPr lang="en-US" altLang="zh-CN" i="1" dirty="0">
                        <a:latin typeface="Cambria Math" panose="02040503050406030204" pitchFamily="18" charset="0"/>
                      </a:rPr>
                      <m:t>𝑁</m:t>
                    </m:r>
                    <m:r>
                      <a:rPr lang="en-US" altLang="zh-CN" i="1" dirty="0" smtClean="0">
                        <a:latin typeface="Cambria Math" panose="02040503050406030204" pitchFamily="18" charset="0"/>
                      </a:rPr>
                      <m:t>≥2</m:t>
                    </m:r>
                  </m:oMath>
                </a14:m>
                <a:r>
                  <a:rPr lang="zh-CN" altLang="en-US" dirty="0"/>
                  <a:t>，那么</a:t>
                </a:r>
                <a:r>
                  <a:rPr lang="zh-Hans" altLang="en-US" dirty="0"/>
                  <a:t> </a:t>
                </a:r>
                <a14:m>
                  <m:oMath xmlns:m="http://schemas.openxmlformats.org/officeDocument/2006/math">
                    <m:r>
                      <a:rPr lang="en-US" altLang="zh-Hans" b="0" i="1" smtClean="0">
                        <a:latin typeface="Cambria Math" panose="02040503050406030204" pitchFamily="18" charset="0"/>
                      </a:rPr>
                      <m:t>𝑁</m:t>
                    </m:r>
                  </m:oMath>
                </a14:m>
                <a:r>
                  <a:rPr lang="zh-Hans" altLang="en-US" dirty="0"/>
                  <a:t> </a:t>
                </a:r>
                <a:r>
                  <a:rPr lang="zh-CN" altLang="en-US" dirty="0"/>
                  <a:t>一定可以</a:t>
                </a:r>
                <a:r>
                  <a:rPr lang="zh-Hans" altLang="en-US" dirty="0"/>
                  <a:t>惟一</a:t>
                </a:r>
                <a:r>
                  <a:rPr lang="zh-CN" altLang="en-US" dirty="0"/>
                  <a:t>地表示为若干素数的乘积。</a:t>
                </a:r>
                <a:r>
                  <a:rPr lang="zh-Hans" altLang="en-US" dirty="0"/>
                  <a:t>形如</a:t>
                </a:r>
                <a:endParaRPr lang="en-US" altLang="zh-Hans"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 </m:t>
                      </m:r>
                      <m:r>
                        <a:rPr lang="en-US" altLang="zh-CN" b="0" i="1" smtClean="0">
                          <a:latin typeface="Cambria Math" panose="02040503050406030204" pitchFamily="18" charset="0"/>
                        </a:rPr>
                        <m:t>𝑁</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2</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𝑘</m:t>
                              </m:r>
                            </m:sub>
                          </m:sSub>
                        </m:sup>
                      </m:sSubSup>
                      <m:r>
                        <a:rPr lang="en-US" altLang="zh-CN">
                          <a:latin typeface="Cambria Math" panose="02040503050406030204" pitchFamily="18" charset="0"/>
                        </a:rPr>
                        <m:t> </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m:t>
                      </m:r>
                      <m:sSub>
                        <m:sSubPr>
                          <m:ctrlPr>
                            <a:rPr lang="en-US" altLang="zh-CN" i="1" dirty="0" smtClean="0">
                              <a:latin typeface="Cambria Math" panose="02040503050406030204" pitchFamily="18" charset="0"/>
                              <a:ea typeface="新宋体" panose="02010609030101010101" pitchFamily="49" charset="-122"/>
                              <a:sym typeface="宋体" panose="02010600030101010101" pitchFamily="2" charset="-122"/>
                            </a:rPr>
                          </m:ctrlPr>
                        </m:sSubPr>
                        <m:e>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𝑝</m:t>
                          </m:r>
                        </m:e>
                        <m:sub>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𝑖</m:t>
                          </m:r>
                        </m:sub>
                      </m:sSub>
                      <m:r>
                        <a:rPr lang="zh-Hans" altLang="en-US" i="1" dirty="0">
                          <a:latin typeface="Cambria Math" panose="02040503050406030204" pitchFamily="18" charset="0"/>
                          <a:ea typeface="新宋体" panose="02010609030101010101" pitchFamily="49" charset="-122"/>
                          <a:sym typeface="宋体" panose="02010600030101010101" pitchFamily="2" charset="-122"/>
                        </a:rPr>
                        <m:t>为</m:t>
                      </m:r>
                      <m:r>
                        <a:rPr lang="zh-Hans" altLang="en-US" i="1" dirty="0" smtClean="0">
                          <a:latin typeface="Cambria Math" panose="02040503050406030204" pitchFamily="18" charset="0"/>
                          <a:ea typeface="新宋体" panose="02010609030101010101" pitchFamily="49" charset="-122"/>
                          <a:sym typeface="宋体" panose="02010600030101010101" pitchFamily="2" charset="-122"/>
                        </a:rPr>
                        <m:t>素数</m:t>
                      </m:r>
                      <m:r>
                        <a:rPr lang="zh-Hans" altLang="en-US" b="0" i="1" dirty="0" smtClean="0">
                          <a:latin typeface="Cambria Math" panose="02040503050406030204" pitchFamily="18" charset="0"/>
                          <a:ea typeface="新宋体" panose="02010609030101010101" pitchFamily="49" charset="-122"/>
                          <a:sym typeface="宋体" panose="02010600030101010101" pitchFamily="2" charset="-122"/>
                        </a:rPr>
                        <m:t> </m:t>
                      </m:r>
                      <m:r>
                        <a:rPr lang="en-US" altLang="zh-CN" i="1">
                          <a:latin typeface="Cambria Math" panose="02040503050406030204" pitchFamily="18" charset="0"/>
                        </a:rPr>
                        <m:t>,</m:t>
                      </m:r>
                      <m:r>
                        <a:rPr lang="zh-Hans" altLang="en-US" b="0" i="1" smtClean="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𝑖</m:t>
                          </m:r>
                        </m:sub>
                      </m:sSub>
                      <m:r>
                        <a:rPr lang="en-US" altLang="zh-CN" i="1" dirty="0">
                          <a:latin typeface="Cambria Math" panose="02040503050406030204" pitchFamily="18" charset="0"/>
                          <a:ea typeface="新宋体" panose="02010609030101010101" pitchFamily="49" charset="-122"/>
                          <a:sym typeface="宋体" panose="02010600030101010101" pitchFamily="2" charset="-122"/>
                        </a:rPr>
                        <m:t>≥0</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m:t>
                      </m:r>
                    </m:oMath>
                  </m:oMathPara>
                </a14:m>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200"/>
                <a:ext cx="9982200" cy="1273629"/>
              </a:xfrm>
              <a:blipFill>
                <a:blip r:embed="rId2"/>
                <a:stretch>
                  <a:fillRect l="-1398"/>
                </a:stretch>
              </a:blipFill>
            </p:spPr>
            <p:txBody>
              <a:bodyPr/>
              <a:lstStyle/>
              <a:p>
                <a:r>
                  <a:rPr lang="zh-CN" altLang="en-US">
                    <a:noFill/>
                  </a:rPr>
                  <a:t> </a:t>
                </a:r>
              </a:p>
            </p:txBody>
          </p:sp>
        </mc:Fallback>
      </mc:AlternateContent>
      <p:sp>
        <p:nvSpPr>
          <p:cNvPr id="4" name="内容占位符 13"/>
          <p:cNvSpPr txBox="1">
            <a:spLocks/>
          </p:cNvSpPr>
          <p:nvPr/>
        </p:nvSpPr>
        <p:spPr>
          <a:xfrm>
            <a:off x="1104900" y="2873829"/>
            <a:ext cx="9982200" cy="3266811"/>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vector</a:t>
            </a:r>
            <a:r>
              <a:rPr lang="en-US" altLang="zh-CN" b="1" dirty="0">
                <a:solidFill>
                  <a:srgbClr val="000080"/>
                </a:solidFill>
                <a:highlight>
                  <a:srgbClr val="FFFFF3"/>
                </a:highlight>
                <a:latin typeface="Courier New" panose="02070309020205020404" pitchFamily="49" charset="0"/>
              </a:rPr>
              <a:t>&lt;</a:t>
            </a:r>
            <a:r>
              <a:rPr lang="en-US" altLang="zh-CN" dirty="0" err="1">
                <a:solidFill>
                  <a:srgbClr val="8000FF"/>
                </a:solidFill>
                <a:highlight>
                  <a:srgbClr val="FFFFF3"/>
                </a:highlight>
                <a:latin typeface="Courier New" panose="02070309020205020404" pitchFamily="49" charset="0"/>
              </a:rPr>
              <a:t>int</a:t>
            </a:r>
            <a:r>
              <a:rPr lang="en-US" altLang="zh-CN" b="1" dirty="0">
                <a:solidFill>
                  <a:srgbClr val="000080"/>
                </a:solidFill>
                <a:highlight>
                  <a:srgbClr val="FFFFF3"/>
                </a:highlight>
                <a:latin typeface="Courier New" panose="02070309020205020404" pitchFamily="49" charset="0"/>
              </a:rPr>
              <a:t>&gt;</a:t>
            </a:r>
            <a:r>
              <a:rPr lang="en-US" altLang="zh-CN" dirty="0">
                <a:solidFill>
                  <a:srgbClr val="000000"/>
                </a:solidFill>
                <a:highlight>
                  <a:srgbClr val="FFFFF3"/>
                </a:highlight>
                <a:latin typeface="Courier New" panose="02070309020205020404" pitchFamily="49" charset="0"/>
              </a:rPr>
              <a:t> factor</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x</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vector</a:t>
            </a:r>
            <a:r>
              <a:rPr lang="en-US" altLang="zh-CN" b="1" dirty="0">
                <a:solidFill>
                  <a:srgbClr val="000080"/>
                </a:solidFill>
                <a:highlight>
                  <a:srgbClr val="FFFFF3"/>
                </a:highlight>
                <a:latin typeface="Courier New" panose="02070309020205020404" pitchFamily="49" charset="0"/>
              </a:rPr>
              <a:t>&lt;</a:t>
            </a:r>
            <a:r>
              <a:rPr lang="en-US" altLang="zh-CN" dirty="0" err="1">
                <a:solidFill>
                  <a:srgbClr val="8000FF"/>
                </a:solidFill>
                <a:highlight>
                  <a:srgbClr val="FFFFF3"/>
                </a:highlight>
                <a:latin typeface="Courier New" panose="02070309020205020404" pitchFamily="49" charset="0"/>
              </a:rPr>
              <a:t>int</a:t>
            </a:r>
            <a:r>
              <a:rPr lang="en-US" altLang="zh-CN" b="1" dirty="0">
                <a:solidFill>
                  <a:srgbClr val="000080"/>
                </a:solidFill>
                <a:highlight>
                  <a:srgbClr val="FFFFF3"/>
                </a:highlight>
                <a:latin typeface="Courier New" panose="02070309020205020404" pitchFamily="49" charset="0"/>
              </a:rPr>
              <a:t>&gt;</a:t>
            </a:r>
            <a:r>
              <a:rPr lang="en-US" altLang="zh-CN" dirty="0">
                <a:solidFill>
                  <a:srgbClr val="000000"/>
                </a:solidFill>
                <a:highlight>
                  <a:srgbClr val="FFFFF3"/>
                </a:highlight>
                <a:latin typeface="Courier New" panose="02070309020205020404" pitchFamily="49" charset="0"/>
              </a:rPr>
              <a:t> ret</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nn-NO" altLang="zh-CN" dirty="0">
                <a:solidFill>
                  <a:srgbClr val="FF8000"/>
                </a:solidFill>
                <a:highlight>
                  <a:srgbClr val="FFFFF3"/>
                </a:highlight>
                <a:latin typeface="Courier New" panose="02070309020205020404" pitchFamily="49" charset="0"/>
              </a:rPr>
              <a:t>3</a:t>
            </a:r>
            <a:r>
              <a:rPr lang="nn-NO" altLang="zh-CN" dirty="0">
                <a:solidFill>
                  <a:srgbClr val="000000"/>
                </a:solidFill>
                <a:highlight>
                  <a:srgbClr val="FFFFF3"/>
                </a:highlight>
                <a:latin typeface="Courier New" panose="02070309020205020404" pitchFamily="49" charset="0"/>
              </a:rPr>
              <a:t>	</a:t>
            </a:r>
            <a:r>
              <a:rPr lang="nn-NO" altLang="zh-CN" b="1" dirty="0">
                <a:solidFill>
                  <a:srgbClr val="0000FF"/>
                </a:solidFill>
                <a:highlight>
                  <a:srgbClr val="FFFFF3"/>
                </a:highlight>
                <a:latin typeface="Courier New" panose="02070309020205020404" pitchFamily="49" charset="0"/>
              </a:rPr>
              <a:t>for</a:t>
            </a:r>
            <a:r>
              <a:rPr lang="nn-NO" altLang="zh-CN" dirty="0">
                <a:solidFill>
                  <a:srgbClr val="000000"/>
                </a:solidFill>
                <a:highlight>
                  <a:srgbClr val="FFFFF3"/>
                </a:highlight>
                <a:latin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rPr>
              <a:t>(</a:t>
            </a:r>
            <a:r>
              <a:rPr lang="nn-NO" altLang="zh-CN" dirty="0">
                <a:solidFill>
                  <a:srgbClr val="8000FF"/>
                </a:solidFill>
                <a:highlight>
                  <a:srgbClr val="FFFFF3"/>
                </a:highlight>
                <a:latin typeface="Courier New" panose="02070309020205020404" pitchFamily="49" charset="0"/>
              </a:rPr>
              <a:t>int</a:t>
            </a:r>
            <a:r>
              <a:rPr lang="nn-NO" altLang="zh-CN" dirty="0">
                <a:solidFill>
                  <a:srgbClr val="000000"/>
                </a:solidFill>
                <a:highlight>
                  <a:srgbClr val="FFFFF3"/>
                </a:highlight>
                <a:latin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rPr>
              <a:t> </a:t>
            </a:r>
            <a:r>
              <a:rPr lang="nn-NO" altLang="zh-CN" dirty="0">
                <a:solidFill>
                  <a:srgbClr val="FF8000"/>
                </a:solidFill>
                <a:highlight>
                  <a:srgbClr val="FFFFF3"/>
                </a:highlight>
                <a:latin typeface="Courier New" panose="02070309020205020404" pitchFamily="49" charset="0"/>
              </a:rPr>
              <a:t>2</a:t>
            </a:r>
            <a:r>
              <a:rPr lang="nn-NO" altLang="zh-CN" b="1" dirty="0">
                <a:solidFill>
                  <a:srgbClr val="000080"/>
                </a:solidFill>
                <a:highlight>
                  <a:srgbClr val="FFFFF3"/>
                </a:highlight>
                <a:latin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rPr>
              <a:t>&lt;=</a:t>
            </a:r>
            <a:r>
              <a:rPr lang="nn-NO" altLang="zh-CN" dirty="0">
                <a:solidFill>
                  <a:srgbClr val="000000"/>
                </a:solidFill>
                <a:highlight>
                  <a:srgbClr val="FFFFF3"/>
                </a:highlight>
                <a:latin typeface="Courier New" panose="02070309020205020404" pitchFamily="49" charset="0"/>
              </a:rPr>
              <a:t> x</a:t>
            </a:r>
            <a:r>
              <a:rPr lang="nn-NO" altLang="zh-CN" b="1" dirty="0">
                <a:solidFill>
                  <a:srgbClr val="000080"/>
                </a:solidFill>
                <a:highlight>
                  <a:srgbClr val="FFFFF3"/>
                </a:highlight>
                <a:latin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rPr>
              <a:t>i</a:t>
            </a:r>
            <a:r>
              <a:rPr lang="nn-NO" altLang="zh-CN" b="1" dirty="0">
                <a:solidFill>
                  <a:srgbClr val="000080"/>
                </a:solidFill>
                <a:highlight>
                  <a:srgbClr val="FFFFF3"/>
                </a:highlight>
                <a:latin typeface="Courier New" panose="02070309020205020404" pitchFamily="49" charset="0"/>
              </a:rPr>
              <a:t>)</a:t>
            </a:r>
            <a:endParaRPr lang="nn-NO"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4</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while</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5</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ret</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push_back</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6</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7</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8</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x </a:t>
            </a:r>
            <a:r>
              <a:rPr lang="en-US" altLang="zh-CN" b="1" dirty="0">
                <a:solidFill>
                  <a:srgbClr val="000080"/>
                </a:solidFill>
                <a:highlight>
                  <a:srgbClr val="FFFFF3"/>
                </a:highlight>
                <a:latin typeface="Courier New" panose="02070309020205020404" pitchFamily="49" charset="0"/>
              </a:rPr>
              <a:t>&gt;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ret</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push_back</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x</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9</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ret</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10</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dirty="0"/>
          </a:p>
        </p:txBody>
      </p:sp>
      <p:sp>
        <p:nvSpPr>
          <p:cNvPr id="2" name="幻灯片编号占位符 1">
            <a:extLst>
              <a:ext uri="{FF2B5EF4-FFF2-40B4-BE49-F238E27FC236}">
                <a16:creationId xmlns:a16="http://schemas.microsoft.com/office/drawing/2014/main" id="{9447F6C2-86D1-E346-A0A6-3EBFB80DF7D8}"/>
              </a:ext>
            </a:extLst>
          </p:cNvPr>
          <p:cNvSpPr>
            <a:spLocks noGrp="1"/>
          </p:cNvSpPr>
          <p:nvPr>
            <p:ph type="sldNum" sz="quarter" idx="12"/>
          </p:nvPr>
        </p:nvSpPr>
        <p:spPr/>
        <p:txBody>
          <a:bodyPr/>
          <a:lstStyle/>
          <a:p>
            <a:fld id="{0FF54DE5-C571-48E8-A5BC-B369434E2F44}" type="slidenum">
              <a:rPr lang="en-US" altLang="zh-CN" smtClean="0"/>
              <a:pPr/>
              <a:t>10</a:t>
            </a:fld>
            <a:endParaRPr lang="zh-CN" altLang="en-US" dirty="0"/>
          </a:p>
        </p:txBody>
      </p:sp>
    </p:spTree>
    <p:extLst>
      <p:ext uri="{BB962C8B-B14F-4D97-AF65-F5344CB8AC3E}">
        <p14:creationId xmlns:p14="http://schemas.microsoft.com/office/powerpoint/2010/main" val="333742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r>
              <a:rPr lang="zh-Hans" altLang="en-US" dirty="0"/>
              <a:t>素数</a:t>
            </a:r>
            <a:r>
              <a:rPr lang="zh-CN" altLang="en-US" dirty="0"/>
              <a:t>筛法</a:t>
            </a:r>
            <a:endParaRPr lang="en-US" dirty="0"/>
          </a:p>
        </p:txBody>
      </p:sp>
      <p:sp>
        <p:nvSpPr>
          <p:cNvPr id="3" name="幻灯片编号占位符 2">
            <a:extLst>
              <a:ext uri="{FF2B5EF4-FFF2-40B4-BE49-F238E27FC236}">
                <a16:creationId xmlns:a16="http://schemas.microsoft.com/office/drawing/2014/main" id="{810F03B3-9BB9-BB4F-98D1-E15B390C13C6}"/>
              </a:ext>
            </a:extLst>
          </p:cNvPr>
          <p:cNvSpPr>
            <a:spLocks noGrp="1"/>
          </p:cNvSpPr>
          <p:nvPr>
            <p:ph type="sldNum" sz="quarter" idx="12"/>
          </p:nvPr>
        </p:nvSpPr>
        <p:spPr/>
        <p:txBody>
          <a:bodyPr/>
          <a:lstStyle/>
          <a:p>
            <a:fld id="{0FF54DE5-C571-48E8-A5BC-B369434E2F44}" type="slidenum">
              <a:rPr lang="en-US" altLang="zh-CN" smtClean="0"/>
              <a:pPr/>
              <a:t>11</a:t>
            </a:fld>
            <a:endParaRPr lang="zh-CN" altLang="en-US" dirty="0"/>
          </a:p>
        </p:txBody>
      </p:sp>
    </p:spTree>
    <p:extLst>
      <p:ext uri="{BB962C8B-B14F-4D97-AF65-F5344CB8AC3E}">
        <p14:creationId xmlns:p14="http://schemas.microsoft.com/office/powerpoint/2010/main" val="116309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en-US" altLang="zh-Hans" dirty="0"/>
              <a:t>Eratosthenes</a:t>
            </a:r>
            <a:r>
              <a:rPr lang="zh-CN" altLang="en-US" dirty="0"/>
              <a:t>筛法</a:t>
            </a:r>
          </a:p>
        </p:txBody>
      </p:sp>
      <p:pic>
        <p:nvPicPr>
          <p:cNvPr id="9219"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95386" y="1600200"/>
            <a:ext cx="5883767" cy="4878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11F0040F-0E86-B045-A2ED-C32E57EC64DD}"/>
                  </a:ext>
                </a:extLst>
              </p:cNvPr>
              <p:cNvSpPr>
                <a:spLocks noGrp="1"/>
              </p:cNvSpPr>
              <p:nvPr>
                <p:ph idx="1"/>
              </p:nvPr>
            </p:nvSpPr>
            <p:spPr>
              <a:xfrm>
                <a:off x="1104900" y="1600200"/>
                <a:ext cx="3500554" cy="4878659"/>
              </a:xfrm>
            </p:spPr>
            <p:txBody>
              <a:bodyPr>
                <a:normAutofit/>
              </a:bodyPr>
              <a:lstStyle/>
              <a:p>
                <a:pPr>
                  <a:lnSpc>
                    <a:spcPct val="150000"/>
                  </a:lnSpc>
                  <a:spcBef>
                    <a:spcPts val="600"/>
                  </a:spcBef>
                </a:pPr>
                <a:r>
                  <a:rPr lang="zh-CN" altLang="en-US" dirty="0"/>
                  <a:t>除了能够检验给定整数</a:t>
                </a:r>
                <a:r>
                  <a:rPr lang="zh-Hans" altLang="en-US" dirty="0"/>
                  <a:t> </a:t>
                </a:r>
                <a14:m>
                  <m:oMath xmlns:m="http://schemas.openxmlformats.org/officeDocument/2006/math">
                    <m:r>
                      <a:rPr lang="zh-CN" altLang="en-US" i="1" dirty="0" smtClean="0">
                        <a:latin typeface="Cambria Math" panose="02040503050406030204" pitchFamily="18" charset="0"/>
                      </a:rPr>
                      <m:t>𝑥</m:t>
                    </m:r>
                  </m:oMath>
                </a14:m>
                <a:r>
                  <a:rPr lang="zh-Hans" altLang="en-US" dirty="0"/>
                  <a:t> </a:t>
                </a:r>
                <a:r>
                  <a:rPr lang="zh-CN" altLang="en-US" dirty="0"/>
                  <a:t>是否为素数的函数之外，如果能够事先准备好素数表就可以帮助我们更有效地求解素数的相关问题。埃拉托色尼筛选法（</a:t>
                </a:r>
                <a:r>
                  <a:rPr lang="en-US" altLang="zh-CN" dirty="0">
                    <a:latin typeface="Times New Roman" panose="02020603050405020304" pitchFamily="18" charset="0"/>
                    <a:cs typeface="Times New Roman" panose="02020603050405020304" pitchFamily="18" charset="0"/>
                  </a:rPr>
                  <a:t>Sieve of Eratosthenes</a:t>
                </a:r>
                <a:r>
                  <a:rPr lang="zh-CN" altLang="en-US" dirty="0"/>
                  <a:t>）可以快速列举出给定范围内的所有素数。</a:t>
                </a:r>
              </a:p>
            </p:txBody>
          </p:sp>
        </mc:Choice>
        <mc:Fallback xmlns="">
          <p:sp>
            <p:nvSpPr>
              <p:cNvPr id="4" name="内容占位符 2">
                <a:extLst>
                  <a:ext uri="{FF2B5EF4-FFF2-40B4-BE49-F238E27FC236}">
                    <a16:creationId xmlns:a16="http://schemas.microsoft.com/office/drawing/2014/main" id="{11F0040F-0E86-B045-A2ED-C32E57EC64DD}"/>
                  </a:ext>
                </a:extLst>
              </p:cNvPr>
              <p:cNvSpPr>
                <a:spLocks noGrp="1" noRot="1" noChangeAspect="1" noMove="1" noResize="1" noEditPoints="1" noAdjustHandles="1" noChangeArrowheads="1" noChangeShapeType="1" noTextEdit="1"/>
              </p:cNvSpPr>
              <p:nvPr>
                <p:ph idx="1"/>
              </p:nvPr>
            </p:nvSpPr>
            <p:spPr>
              <a:xfrm>
                <a:off x="1104900" y="1600200"/>
                <a:ext cx="3500554" cy="4878659"/>
              </a:xfrm>
              <a:blipFill>
                <a:blip r:embed="rId3"/>
                <a:stretch>
                  <a:fillRect l="-3971" r="-974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B4263F2C-4E96-4346-9F84-D3E5926B64EE}"/>
              </a:ext>
            </a:extLst>
          </p:cNvPr>
          <p:cNvSpPr>
            <a:spLocks noGrp="1"/>
          </p:cNvSpPr>
          <p:nvPr>
            <p:ph type="sldNum" sz="quarter" idx="12"/>
          </p:nvPr>
        </p:nvSpPr>
        <p:spPr/>
        <p:txBody>
          <a:bodyPr/>
          <a:lstStyle/>
          <a:p>
            <a:fld id="{0FF54DE5-C571-48E8-A5BC-B369434E2F44}" type="slidenum">
              <a:rPr lang="en-US" altLang="zh-CN" smtClean="0"/>
              <a:pPr/>
              <a:t>12</a:t>
            </a:fld>
            <a:endParaRPr lang="zh-CN" altLang="en-US" dirty="0"/>
          </a:p>
        </p:txBody>
      </p:sp>
    </p:spTree>
    <p:extLst>
      <p:ext uri="{BB962C8B-B14F-4D97-AF65-F5344CB8AC3E}">
        <p14:creationId xmlns:p14="http://schemas.microsoft.com/office/powerpoint/2010/main" val="270211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埃</a:t>
            </a:r>
            <a:r>
              <a:rPr lang="zh-Hans" altLang="en-US" dirty="0"/>
              <a:t>氏</a:t>
            </a:r>
            <a:r>
              <a:rPr lang="zh-CN" altLang="en-US" dirty="0"/>
              <a:t>筛法</a:t>
            </a:r>
            <a:r>
              <a:rPr lang="zh-Hans" altLang="en-US" dirty="0"/>
              <a:t>思想</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4031974"/>
              </a:xfrm>
            </p:spPr>
            <p:txBody>
              <a:bodyPr>
                <a:noAutofit/>
              </a:bodyPr>
              <a:lstStyle/>
              <a:p>
                <a:pPr>
                  <a:lnSpc>
                    <a:spcPct val="150000"/>
                  </a:lnSpc>
                  <a:spcBef>
                    <a:spcPts val="1200"/>
                  </a:spcBef>
                </a:pPr>
                <a:r>
                  <a:rPr lang="zh-CN" altLang="en-US" dirty="0"/>
                  <a:t>每个合数</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一定可以写成</a:t>
                </a:r>
                <a:r>
                  <a:rPr lang="zh-Hans" altLang="en-US" dirty="0"/>
                  <a:t> </a:t>
                </a:r>
                <a14:m>
                  <m:oMath xmlns:m="http://schemas.openxmlformats.org/officeDocument/2006/math">
                    <m:r>
                      <a:rPr lang="en-US" altLang="zh-CN" i="1" dirty="0" smtClean="0">
                        <a:latin typeface="Cambria Math" panose="02040503050406030204" pitchFamily="18" charset="0"/>
                      </a:rPr>
                      <m:t>𝑝</m:t>
                    </m:r>
                    <m:r>
                      <a:rPr lang="zh-Hans" altLang="en-US" b="0" i="1" dirty="0" smtClean="0">
                        <a:latin typeface="Cambria Math" panose="02040503050406030204" pitchFamily="18" charset="0"/>
                      </a:rPr>
                      <m:t>∗</m:t>
                    </m:r>
                    <m:r>
                      <a:rPr lang="en-US" altLang="zh-CN" i="1" dirty="0" smtClean="0">
                        <a:latin typeface="Cambria Math" panose="02040503050406030204" pitchFamily="18" charset="0"/>
                      </a:rPr>
                      <m:t>𝑥</m:t>
                    </m:r>
                  </m:oMath>
                </a14:m>
                <a:r>
                  <a:rPr lang="zh-Hans" altLang="en-US" dirty="0"/>
                  <a:t> </a:t>
                </a:r>
                <a:r>
                  <a:rPr lang="zh-CN" altLang="en-US" dirty="0"/>
                  <a:t>的形式，其中</a:t>
                </a:r>
                <a14:m>
                  <m:oMath xmlns:m="http://schemas.openxmlformats.org/officeDocument/2006/math">
                    <m:r>
                      <a:rPr lang="zh-Hans" altLang="en-US" b="0" i="0" dirty="0" smtClean="0">
                        <a:latin typeface="Cambria Math" panose="02040503050406030204" pitchFamily="18" charset="0"/>
                      </a:rPr>
                      <m:t> </m:t>
                    </m:r>
                    <m:r>
                      <a:rPr lang="en-US" altLang="zh-CN" i="1" dirty="0" smtClean="0">
                        <a:latin typeface="Cambria Math" panose="02040503050406030204" pitchFamily="18" charset="0"/>
                      </a:rPr>
                      <m:t>𝑝</m:t>
                    </m:r>
                  </m:oMath>
                </a14:m>
                <a:r>
                  <a:rPr lang="zh-Hans" altLang="en-US" dirty="0"/>
                  <a:t> </a:t>
                </a:r>
                <a:r>
                  <a:rPr lang="zh-CN" altLang="en-US" dirty="0"/>
                  <a:t>是素数，</a:t>
                </a:r>
                <a14:m>
                  <m:oMath xmlns:m="http://schemas.openxmlformats.org/officeDocument/2006/math">
                    <m:r>
                      <a:rPr lang="en-US" altLang="zh-CN" i="1" dirty="0" smtClean="0">
                        <a:latin typeface="Cambria Math" panose="02040503050406030204" pitchFamily="18" charset="0"/>
                      </a:rPr>
                      <m:t>𝑥</m:t>
                    </m:r>
                  </m:oMath>
                </a14:m>
                <a:r>
                  <a:rPr lang="zh-Hans" altLang="en-US" dirty="0"/>
                  <a:t> </a:t>
                </a:r>
                <a:r>
                  <a:rPr lang="zh-CN" altLang="en-US" dirty="0"/>
                  <a:t>是倍数</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1)</m:t>
                    </m:r>
                  </m:oMath>
                </a14:m>
                <a:r>
                  <a:rPr lang="zh-CN" altLang="en-US" dirty="0"/>
                  <a:t>，对于每一个</a:t>
                </a:r>
                <a:r>
                  <a:rPr lang="zh-Hans" altLang="en-US" dirty="0"/>
                  <a:t> </a:t>
                </a:r>
                <a14:m>
                  <m:oMath xmlns:m="http://schemas.openxmlformats.org/officeDocument/2006/math">
                    <m:r>
                      <a:rPr lang="en-US" altLang="zh-CN" i="1" dirty="0" smtClean="0">
                        <a:latin typeface="Cambria Math" panose="02040503050406030204" pitchFamily="18" charset="0"/>
                      </a:rPr>
                      <m:t>1~</m:t>
                    </m:r>
                    <m:r>
                      <a:rPr lang="en-US" altLang="zh-CN" i="1" dirty="0" smtClean="0">
                        <a:latin typeface="Cambria Math" panose="02040503050406030204" pitchFamily="18" charset="0"/>
                      </a:rPr>
                      <m:t>𝑛</m:t>
                    </m:r>
                  </m:oMath>
                </a14:m>
                <a:r>
                  <a:rPr lang="zh-Hans" altLang="en-US" dirty="0"/>
                  <a:t> </a:t>
                </a:r>
                <a:r>
                  <a:rPr lang="zh-CN" altLang="en-US" dirty="0"/>
                  <a:t>内的素数</a:t>
                </a:r>
                <a:r>
                  <a:rPr lang="zh-Hans" altLang="en-US" dirty="0"/>
                  <a:t> </a:t>
                </a:r>
                <a14:m>
                  <m:oMath xmlns:m="http://schemas.openxmlformats.org/officeDocument/2006/math">
                    <m:r>
                      <a:rPr lang="en-US" altLang="zh-CN" i="1" dirty="0" smtClean="0">
                        <a:latin typeface="Cambria Math" panose="02040503050406030204" pitchFamily="18" charset="0"/>
                      </a:rPr>
                      <m:t>𝑝</m:t>
                    </m:r>
                    <m:r>
                      <a:rPr lang="zh-CN" altLang="en-US" i="1" dirty="0">
                        <a:latin typeface="Cambria Math" panose="02040503050406030204" pitchFamily="18" charset="0"/>
                      </a:rPr>
                      <m:t>，</m:t>
                    </m:r>
                  </m:oMath>
                </a14:m>
                <a:r>
                  <a:rPr lang="zh-CN" altLang="en-US" dirty="0"/>
                  <a:t>枚举倍数</a:t>
                </a:r>
                <a:r>
                  <a:rPr lang="zh-Hans" altLang="en-US" dirty="0"/>
                  <a:t> </a:t>
                </a:r>
                <a14:m>
                  <m:oMath xmlns:m="http://schemas.openxmlformats.org/officeDocument/2006/math">
                    <m:r>
                      <a:rPr lang="en-US" altLang="zh-CN" i="1" dirty="0" smtClean="0">
                        <a:latin typeface="Cambria Math" panose="02040503050406030204" pitchFamily="18" charset="0"/>
                      </a:rPr>
                      <m:t>𝑥</m:t>
                    </m:r>
                  </m:oMath>
                </a14:m>
                <a:r>
                  <a:rPr lang="zh-Hans" altLang="en-US" dirty="0"/>
                  <a:t> </a:t>
                </a:r>
                <a:r>
                  <a:rPr lang="en-US" altLang="zh-CN" dirty="0"/>
                  <a:t>,</a:t>
                </a:r>
                <a:r>
                  <a:rPr lang="zh-CN" altLang="en-US" dirty="0"/>
                  <a:t>把</a:t>
                </a:r>
                <a:r>
                  <a:rPr lang="zh-Hans" altLang="en-US" dirty="0"/>
                  <a:t> </a:t>
                </a:r>
                <a14:m>
                  <m:oMath xmlns:m="http://schemas.openxmlformats.org/officeDocument/2006/math">
                    <m:r>
                      <a:rPr lang="en-US" altLang="zh-CN" i="1" dirty="0" smtClean="0">
                        <a:latin typeface="Cambria Math" panose="02040503050406030204" pitchFamily="18" charset="0"/>
                      </a:rPr>
                      <m:t>𝑝</m:t>
                    </m:r>
                    <m:r>
                      <a:rPr lang="zh-Hans" altLang="en-US" b="0" i="1" dirty="0" smtClean="0">
                        <a:latin typeface="Cambria Math" panose="02040503050406030204" pitchFamily="18" charset="0"/>
                      </a:rPr>
                      <m:t>∗</m:t>
                    </m:r>
                    <m:r>
                      <a:rPr lang="en-US" altLang="zh-CN" i="1" dirty="0" smtClean="0">
                        <a:latin typeface="Cambria Math" panose="02040503050406030204" pitchFamily="18" charset="0"/>
                      </a:rPr>
                      <m:t>𝑥</m:t>
                    </m:r>
                  </m:oMath>
                </a14:m>
                <a:r>
                  <a:rPr lang="zh-Hans" altLang="en-US" dirty="0"/>
                  <a:t> </a:t>
                </a:r>
                <a:r>
                  <a:rPr lang="zh-CN" altLang="en-US" dirty="0"/>
                  <a:t>标记为合数，这就是埃氏筛法。</a:t>
                </a:r>
                <a:endParaRPr lang="en-US" altLang="zh-CN" dirty="0"/>
              </a:p>
              <a:p>
                <a:pPr>
                  <a:lnSpc>
                    <a:spcPct val="150000"/>
                  </a:lnSpc>
                  <a:spcBef>
                    <a:spcPts val="1200"/>
                  </a:spcBef>
                </a:pPr>
                <a:r>
                  <a:rPr lang="zh-CN" altLang="en-US" dirty="0"/>
                  <a:t>筛选时做一个改进：对于素数</a:t>
                </a:r>
                <a:r>
                  <a:rPr lang="zh-Hans" altLang="en-US" dirty="0"/>
                  <a:t> </a:t>
                </a:r>
                <a14:m>
                  <m:oMath xmlns:m="http://schemas.openxmlformats.org/officeDocument/2006/math">
                    <m:r>
                      <a:rPr lang="en-US" altLang="zh-CN" i="1" dirty="0" smtClean="0">
                        <a:latin typeface="Cambria Math" panose="02040503050406030204" pitchFamily="18" charset="0"/>
                      </a:rPr>
                      <m:t>𝑝</m:t>
                    </m:r>
                  </m:oMath>
                </a14:m>
                <a:r>
                  <a:rPr lang="zh-CN" altLang="en-US" dirty="0"/>
                  <a:t>，只筛倍数</a:t>
                </a:r>
                <a:r>
                  <a:rPr lang="zh-Hans" altLang="en-US" dirty="0"/>
                  <a:t> </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𝑝</m:t>
                    </m:r>
                  </m:oMath>
                </a14:m>
                <a:r>
                  <a:rPr lang="zh-Hans" altLang="en-US" dirty="0"/>
                  <a:t> </a:t>
                </a:r>
                <a:r>
                  <a:rPr lang="zh-CN" altLang="en-US" dirty="0"/>
                  <a:t>的数，因为如果</a:t>
                </a:r>
                <a:r>
                  <a:rPr lang="zh-Hans" altLang="en-US" dirty="0"/>
                  <a:t> </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&lt;</m:t>
                    </m:r>
                    <m:r>
                      <a:rPr lang="en-US" altLang="zh-CN" i="1" dirty="0" smtClean="0">
                        <a:latin typeface="Cambria Math" panose="02040503050406030204" pitchFamily="18" charset="0"/>
                      </a:rPr>
                      <m:t>𝑝</m:t>
                    </m:r>
                  </m:oMath>
                </a14:m>
                <a:r>
                  <a:rPr lang="zh-Hans" altLang="en-US" dirty="0"/>
                  <a:t> </a:t>
                </a:r>
                <a:r>
                  <a:rPr lang="en-US" altLang="zh-CN" dirty="0"/>
                  <a:t>,</a:t>
                </a:r>
                <a:r>
                  <a:rPr lang="zh-CN" altLang="en-US" dirty="0"/>
                  <a:t>则</a:t>
                </a:r>
                <a:r>
                  <a:rPr lang="zh-Hans" altLang="en-US" dirty="0"/>
                  <a:t> </a:t>
                </a:r>
                <a14:m>
                  <m:oMath xmlns:m="http://schemas.openxmlformats.org/officeDocument/2006/math">
                    <m:r>
                      <a:rPr lang="en-US" altLang="zh-CN" i="1" dirty="0" smtClean="0">
                        <a:latin typeface="Cambria Math" panose="02040503050406030204" pitchFamily="18" charset="0"/>
                      </a:rPr>
                      <m:t>𝑥</m:t>
                    </m:r>
                  </m:oMath>
                </a14:m>
                <a:r>
                  <a:rPr lang="zh-Hans" altLang="en-US" dirty="0"/>
                  <a:t> </a:t>
                </a:r>
                <a:r>
                  <a:rPr lang="zh-CN" altLang="en-US" dirty="0"/>
                  <a:t>中一定有比</a:t>
                </a:r>
                <a:r>
                  <a:rPr lang="zh-Hans" altLang="en-US" dirty="0"/>
                  <a:t> </a:t>
                </a:r>
                <a14:m>
                  <m:oMath xmlns:m="http://schemas.openxmlformats.org/officeDocument/2006/math">
                    <m:r>
                      <a:rPr lang="en-US" altLang="zh-CN" i="1" dirty="0" smtClean="0">
                        <a:latin typeface="Cambria Math" panose="02040503050406030204" pitchFamily="18" charset="0"/>
                      </a:rPr>
                      <m:t>𝑝</m:t>
                    </m:r>
                  </m:oMath>
                </a14:m>
                <a:r>
                  <a:rPr lang="zh-Hans" altLang="en-US" dirty="0"/>
                  <a:t> </a:t>
                </a:r>
                <a:r>
                  <a:rPr lang="zh-CN" altLang="en-US" dirty="0"/>
                  <a:t>小的素因子，</a:t>
                </a:r>
                <a14:m>
                  <m:oMath xmlns:m="http://schemas.openxmlformats.org/officeDocument/2006/math">
                    <m:r>
                      <a:rPr lang="en-US" altLang="zh-CN" i="1" dirty="0" smtClean="0">
                        <a:latin typeface="Cambria Math" panose="02040503050406030204" pitchFamily="18" charset="0"/>
                      </a:rPr>
                      <m:t>𝑝</m:t>
                    </m:r>
                    <m:r>
                      <a:rPr lang="zh-Hans" altLang="en-US" b="0" i="1" dirty="0" smtClean="0">
                        <a:latin typeface="Cambria Math" panose="02040503050406030204" pitchFamily="18" charset="0"/>
                      </a:rPr>
                      <m:t>∗</m:t>
                    </m:r>
                    <m:r>
                      <a:rPr lang="en-US" altLang="zh-CN" i="1" dirty="0" smtClean="0">
                        <a:latin typeface="Cambria Math" panose="02040503050406030204" pitchFamily="18" charset="0"/>
                      </a:rPr>
                      <m:t>𝑥</m:t>
                    </m:r>
                  </m:oMath>
                </a14:m>
                <a:r>
                  <a:rPr lang="zh-Hans" altLang="en-US" dirty="0"/>
                  <a:t> </a:t>
                </a:r>
                <a:r>
                  <a:rPr lang="zh-CN" altLang="en-US" dirty="0"/>
                  <a:t>会在前面筛选过程中被筛出。</a:t>
                </a:r>
                <a:endParaRPr lang="en-US" altLang="zh-CN" dirty="0"/>
              </a:p>
              <a:p>
                <a:pPr>
                  <a:lnSpc>
                    <a:spcPct val="150000"/>
                  </a:lnSpc>
                  <a:spcBef>
                    <a:spcPts val="1200"/>
                  </a:spcBef>
                </a:pPr>
                <a:r>
                  <a:rPr lang="zh-CN" altLang="en-US" dirty="0"/>
                  <a:t>因此只需考虑</a:t>
                </a:r>
                <a:r>
                  <a:rPr lang="zh-Hans" altLang="en-US" dirty="0"/>
                  <a:t> </a:t>
                </a:r>
                <a14:m>
                  <m:oMath xmlns:m="http://schemas.openxmlformats.org/officeDocument/2006/math">
                    <m:r>
                      <a:rPr lang="en-US" altLang="zh-CN" i="1" dirty="0" smtClean="0">
                        <a:latin typeface="Cambria Math" panose="02040503050406030204" pitchFamily="18" charset="0"/>
                      </a:rPr>
                      <m:t>2~</m:t>
                    </m:r>
                    <m:rad>
                      <m:radPr>
                        <m:degHide m:val="on"/>
                        <m:ctrlPr>
                          <a:rPr lang="en-US" altLang="zh-CN" i="1" smtClean="0">
                            <a:latin typeface="Cambria Math" panose="02040503050406030204" pitchFamily="18" charset="0"/>
                          </a:rPr>
                        </m:ctrlPr>
                      </m:radPr>
                      <m:deg/>
                      <m:e>
                        <m:r>
                          <a:rPr lang="en-US" altLang="zh-CN" b="0" i="1" smtClean="0">
                            <a:latin typeface="Cambria Math" panose="02040503050406030204" pitchFamily="18" charset="0"/>
                          </a:rPr>
                          <m:t>𝑛</m:t>
                        </m:r>
                      </m:e>
                    </m:rad>
                  </m:oMath>
                </a14:m>
                <a:r>
                  <a:rPr lang="en-US" altLang="zh-CN" dirty="0"/>
                  <a:t> </a:t>
                </a:r>
                <a:r>
                  <a:rPr lang="zh-CN" altLang="en-US" dirty="0"/>
                  <a:t>范围的素数。</a:t>
                </a:r>
                <a:endParaRPr lang="en-US" altLang="zh-CN" dirty="0"/>
              </a:p>
              <a:p>
                <a:pPr>
                  <a:lnSpc>
                    <a:spcPct val="150000"/>
                  </a:lnSpc>
                  <a:spcBef>
                    <a:spcPts val="1200"/>
                  </a:spcBef>
                </a:pPr>
                <a:r>
                  <a:rPr lang="zh-CN" altLang="en-US" dirty="0"/>
                  <a:t>时间复杂度：</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2</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𝑛</m:t>
                        </m:r>
                      </m:num>
                      <m:den>
                        <m:r>
                          <a:rPr lang="en-US" altLang="zh-CN" i="1">
                            <a:latin typeface="Cambria Math" panose="02040503050406030204" pitchFamily="18" charset="0"/>
                          </a:rPr>
                          <m:t>3</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m:rPr>
                            <m:sty m:val="p"/>
                          </m:rPr>
                          <a:rPr lang="en-US" altLang="zh-CN" i="1">
                            <a:latin typeface="Cambria Math" panose="02040503050406030204" pitchFamily="18" charset="0"/>
                          </a:rPr>
                          <m:t>n</m:t>
                        </m:r>
                      </m:num>
                      <m:den>
                        <m:r>
                          <a:rPr lang="en-US" altLang="zh-CN" i="1">
                            <a:latin typeface="Cambria Math" panose="02040503050406030204" pitchFamily="18" charset="0"/>
                          </a:rPr>
                          <m:t>5</m:t>
                        </m:r>
                      </m:den>
                    </m:f>
                    <m:r>
                      <a:rPr lang="en-US" altLang="zh-CN" i="1">
                        <a:latin typeface="Cambria Math" panose="02040503050406030204" pitchFamily="18" charset="0"/>
                      </a:rPr>
                      <m:t>+…)=</m:t>
                    </m:r>
                  </m:oMath>
                </a14:m>
                <a:r>
                  <a:rPr lang="en-US" altLang="zh-CN" dirty="0"/>
                  <a:t> </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r>
                      <m:rPr>
                        <m:sty m:val="p"/>
                      </m:rPr>
                      <a:rPr lang="en-US" altLang="zh-CN" i="0">
                        <a:latin typeface="Cambria Math" panose="02040503050406030204" pitchFamily="18" charset="0"/>
                      </a:rPr>
                      <m:t>log</m:t>
                    </m:r>
                    <m:r>
                      <m:rPr>
                        <m:sty m:val="p"/>
                      </m:rPr>
                      <a:rPr lang="en-US" altLang="zh-CN" i="0" smtClean="0">
                        <a:latin typeface="Cambria Math" panose="02040503050406030204" pitchFamily="18" charset="0"/>
                      </a:rPr>
                      <m:t>log</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Hans" altLang="en-US" dirty="0"/>
                  <a:t> </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4031974"/>
              </a:xfrm>
              <a:blipFill>
                <a:blip r:embed="rId2"/>
                <a:stretch>
                  <a:fillRect l="-1398" r="-1271"/>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9AEEFFB2-FA5A-674B-8245-7B61078A378F}"/>
              </a:ext>
            </a:extLst>
          </p:cNvPr>
          <p:cNvSpPr>
            <a:spLocks noGrp="1"/>
          </p:cNvSpPr>
          <p:nvPr>
            <p:ph type="sldNum" sz="quarter" idx="12"/>
          </p:nvPr>
        </p:nvSpPr>
        <p:spPr/>
        <p:txBody>
          <a:bodyPr/>
          <a:lstStyle/>
          <a:p>
            <a:fld id="{0FF54DE5-C571-48E8-A5BC-B369434E2F44}" type="slidenum">
              <a:rPr lang="en-US" altLang="zh-CN" smtClean="0"/>
              <a:pPr/>
              <a:t>13</a:t>
            </a:fld>
            <a:endParaRPr lang="zh-CN" altLang="en-US" dirty="0"/>
          </a:p>
        </p:txBody>
      </p:sp>
    </p:spTree>
    <p:extLst>
      <p:ext uri="{BB962C8B-B14F-4D97-AF65-F5344CB8AC3E}">
        <p14:creationId xmlns:p14="http://schemas.microsoft.com/office/powerpoint/2010/main" val="395154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埃</a:t>
            </a:r>
            <a:r>
              <a:rPr lang="zh-Hans" altLang="en-US" dirty="0"/>
              <a:t>氏</a:t>
            </a:r>
            <a:r>
              <a:rPr lang="zh-CN" altLang="en-US" dirty="0"/>
              <a:t>筛法</a:t>
            </a:r>
          </a:p>
        </p:txBody>
      </p:sp>
      <p:sp>
        <p:nvSpPr>
          <p:cNvPr id="4" name="矩形 3"/>
          <p:cNvSpPr/>
          <p:nvPr/>
        </p:nvSpPr>
        <p:spPr>
          <a:xfrm>
            <a:off x="1104900" y="1917691"/>
            <a:ext cx="10093368" cy="4062651"/>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#define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maxn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1000000</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bool</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maxn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isPrime</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]true</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表示</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为素数*</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void</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eratos</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true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9</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12</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13</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3" name="幻灯片编号占位符 2">
            <a:extLst>
              <a:ext uri="{FF2B5EF4-FFF2-40B4-BE49-F238E27FC236}">
                <a16:creationId xmlns:a16="http://schemas.microsoft.com/office/drawing/2014/main" id="{7D663A66-C357-224D-A5BA-01EDA9D24E66}"/>
              </a:ext>
            </a:extLst>
          </p:cNvPr>
          <p:cNvSpPr>
            <a:spLocks noGrp="1"/>
          </p:cNvSpPr>
          <p:nvPr>
            <p:ph type="sldNum" sz="quarter" idx="12"/>
          </p:nvPr>
        </p:nvSpPr>
        <p:spPr/>
        <p:txBody>
          <a:bodyPr/>
          <a:lstStyle/>
          <a:p>
            <a:fld id="{0FF54DE5-C571-48E8-A5BC-B369434E2F44}" type="slidenum">
              <a:rPr lang="en-US" altLang="zh-CN" smtClean="0"/>
              <a:pPr/>
              <a:t>14</a:t>
            </a:fld>
            <a:endParaRPr lang="zh-CN" altLang="en-US" dirty="0"/>
          </a:p>
        </p:txBody>
      </p:sp>
    </p:spTree>
    <p:extLst>
      <p:ext uri="{BB962C8B-B14F-4D97-AF65-F5344CB8AC3E}">
        <p14:creationId xmlns:p14="http://schemas.microsoft.com/office/powerpoint/2010/main" val="3765793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p:nvPr>
        </p:nvSpPr>
        <p:spPr/>
        <p:txBody>
          <a:bodyPr/>
          <a:lstStyle/>
          <a:p>
            <a:r>
              <a:rPr lang="zh-CN" altLang="en-US" dirty="0"/>
              <a:t>例题：</a:t>
            </a:r>
            <a:r>
              <a:rPr lang="en-US" altLang="zh-CN" dirty="0"/>
              <a:t>[</a:t>
            </a:r>
            <a:r>
              <a:rPr lang="en-US" altLang="zh-Hans" dirty="0"/>
              <a:t>POJ</a:t>
            </a:r>
            <a:r>
              <a:rPr lang="zh-Hans" altLang="en-US" dirty="0"/>
              <a:t> </a:t>
            </a:r>
            <a:r>
              <a:rPr lang="en-US" altLang="zh-Hans" dirty="0"/>
              <a:t>2689</a:t>
            </a:r>
            <a:r>
              <a:rPr lang="en-US" altLang="zh-CN" dirty="0"/>
              <a:t>]</a:t>
            </a:r>
            <a:r>
              <a:rPr lang="en-US" altLang="zh-Hans" dirty="0"/>
              <a:t>Prime</a:t>
            </a:r>
            <a:r>
              <a:rPr lang="zh-Hans" altLang="en-US" dirty="0"/>
              <a:t> </a:t>
            </a:r>
            <a:r>
              <a:rPr lang="en-US" altLang="zh-Hans" dirty="0"/>
              <a:t>Distance</a:t>
            </a:r>
            <a:endParaRPr lang="en-US" altLang="zh-CN" dirty="0"/>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a:xfrm>
                <a:off x="1104900" y="1780865"/>
                <a:ext cx="9980682" cy="4951239"/>
              </a:xfrm>
            </p:spPr>
            <p:txBody>
              <a:bodyPr>
                <a:normAutofit/>
              </a:bodyPr>
              <a:lstStyle/>
              <a:p>
                <a:pPr>
                  <a:lnSpc>
                    <a:spcPct val="150000"/>
                  </a:lnSpc>
                  <a:spcBef>
                    <a:spcPts val="1200"/>
                  </a:spcBef>
                </a:pPr>
                <a:r>
                  <a:rPr lang="zh-Hans" altLang="en-US" dirty="0">
                    <a:latin typeface="Cambria Math" panose="02040503050406030204" pitchFamily="18" charset="0"/>
                  </a:rPr>
                  <a:t>给定两个整数</a:t>
                </a:r>
                <a:r>
                  <a:rPr lang="en-US" altLang="zh-Hans" dirty="0">
                    <a:latin typeface="Cambria Math" panose="02040503050406030204" pitchFamily="18" charset="0"/>
                  </a:rPr>
                  <a:t> </a:t>
                </a:r>
                <a14:m>
                  <m:oMath xmlns:m="http://schemas.openxmlformats.org/officeDocument/2006/math">
                    <m:r>
                      <a:rPr lang="en-US" altLang="zh-Hans" i="1" dirty="0" smtClean="0">
                        <a:latin typeface="Cambria Math" panose="02040503050406030204" pitchFamily="18" charset="0"/>
                      </a:rPr>
                      <m:t>𝐿</m:t>
                    </m:r>
                    <m:r>
                      <a:rPr lang="en-US" altLang="zh-Hans" i="1" dirty="0" smtClean="0">
                        <a:latin typeface="Cambria Math" panose="02040503050406030204" pitchFamily="18" charset="0"/>
                      </a:rPr>
                      <m:t>,</m:t>
                    </m:r>
                    <m:r>
                      <a:rPr lang="en-US" altLang="zh-Hans" i="1" dirty="0" smtClean="0">
                        <a:latin typeface="Cambria Math" panose="02040503050406030204" pitchFamily="18" charset="0"/>
                      </a:rPr>
                      <m:t>𝑅</m:t>
                    </m:r>
                    <m:r>
                      <a:rPr lang="en-US" altLang="zh-Hans" b="0" i="1" dirty="0" smtClean="0">
                        <a:latin typeface="Cambria Math" panose="02040503050406030204" pitchFamily="18" charset="0"/>
                      </a:rPr>
                      <m:t> </m:t>
                    </m:r>
                  </m:oMath>
                </a14:m>
                <a:r>
                  <a:rPr lang="en-US" altLang="zh-Hans" dirty="0">
                    <a:latin typeface="Cambria Math" panose="02040503050406030204" pitchFamily="18" charset="0"/>
                  </a:rPr>
                  <a:t>( </a:t>
                </a:r>
                <a14:m>
                  <m:oMath xmlns:m="http://schemas.openxmlformats.org/officeDocument/2006/math">
                    <m:r>
                      <a:rPr lang="en-US" altLang="zh-Hans" i="1" dirty="0" smtClean="0">
                        <a:latin typeface="Cambria Math" panose="02040503050406030204" pitchFamily="18" charset="0"/>
                      </a:rPr>
                      <m:t>1</m:t>
                    </m:r>
                    <m:r>
                      <a:rPr lang="en-US" altLang="zh-Hans" i="1" dirty="0" smtClean="0">
                        <a:latin typeface="Cambria Math" panose="02040503050406030204" pitchFamily="18" charset="0"/>
                        <a:ea typeface="Cambria Math" panose="02040503050406030204" pitchFamily="18" charset="0"/>
                      </a:rPr>
                      <m:t>≤</m:t>
                    </m:r>
                    <m:r>
                      <a:rPr lang="en-US" altLang="zh-Hans" i="1" dirty="0" smtClean="0">
                        <a:latin typeface="Cambria Math" panose="02040503050406030204" pitchFamily="18" charset="0"/>
                      </a:rPr>
                      <m:t>𝐿</m:t>
                    </m:r>
                    <m:r>
                      <a:rPr lang="en-US" altLang="zh-Hans" i="1" dirty="0" smtClean="0">
                        <a:latin typeface="Cambria Math" panose="02040503050406030204" pitchFamily="18" charset="0"/>
                        <a:ea typeface="Cambria Math" panose="02040503050406030204" pitchFamily="18" charset="0"/>
                      </a:rPr>
                      <m:t>≤</m:t>
                    </m:r>
                    <m:r>
                      <a:rPr lang="en-US" altLang="zh-Hans" i="1" dirty="0" smtClean="0">
                        <a:latin typeface="Cambria Math" panose="02040503050406030204" pitchFamily="18" charset="0"/>
                      </a:rPr>
                      <m:t>𝑅</m:t>
                    </m:r>
                    <m:r>
                      <a:rPr lang="en-US" altLang="zh-Hans" i="1" dirty="0" smtClean="0">
                        <a:latin typeface="Cambria Math" panose="02040503050406030204" pitchFamily="18" charset="0"/>
                        <a:ea typeface="Cambria Math" panose="02040503050406030204" pitchFamily="18" charset="0"/>
                      </a:rPr>
                      <m:t>≤</m:t>
                    </m:r>
                    <m:sSup>
                      <m:sSupPr>
                        <m:ctrlPr>
                          <a:rPr lang="en-US" altLang="zh-Hans" i="1" dirty="0" smtClean="0">
                            <a:latin typeface="Cambria Math" panose="02040503050406030204" pitchFamily="18" charset="0"/>
                            <a:ea typeface="Cambria Math" panose="02040503050406030204" pitchFamily="18" charset="0"/>
                          </a:rPr>
                        </m:ctrlPr>
                      </m:sSupPr>
                      <m:e>
                        <m:r>
                          <a:rPr lang="en-US" altLang="zh-Hans" b="0" i="1" dirty="0" smtClean="0">
                            <a:latin typeface="Cambria Math" panose="02040503050406030204" pitchFamily="18" charset="0"/>
                            <a:ea typeface="Cambria Math" panose="02040503050406030204" pitchFamily="18" charset="0"/>
                          </a:rPr>
                          <m:t>2</m:t>
                        </m:r>
                      </m:e>
                      <m:sup>
                        <m:r>
                          <a:rPr lang="en-US" altLang="zh-Hans" b="0" i="1" dirty="0" smtClean="0">
                            <a:latin typeface="Cambria Math" panose="02040503050406030204" pitchFamily="18" charset="0"/>
                            <a:ea typeface="Cambria Math" panose="02040503050406030204" pitchFamily="18" charset="0"/>
                          </a:rPr>
                          <m:t>31</m:t>
                        </m:r>
                      </m:sup>
                    </m:sSup>
                    <m:r>
                      <a:rPr lang="en-US" altLang="zh-Hans" i="1" dirty="0" smtClean="0">
                        <a:latin typeface="Cambria Math" panose="02040503050406030204" pitchFamily="18" charset="0"/>
                      </a:rPr>
                      <m:t>,</m:t>
                    </m:r>
                    <m:r>
                      <a:rPr lang="en-US" altLang="zh-Hans" i="1" dirty="0" smtClean="0">
                        <a:latin typeface="Cambria Math" panose="02040503050406030204" pitchFamily="18" charset="0"/>
                      </a:rPr>
                      <m:t>𝑅</m:t>
                    </m:r>
                    <m:r>
                      <a:rPr lang="en-US" altLang="zh-Hans" i="1" dirty="0" smtClean="0">
                        <a:latin typeface="Cambria Math" panose="02040503050406030204" pitchFamily="18" charset="0"/>
                      </a:rPr>
                      <m:t>−</m:t>
                    </m:r>
                    <m:r>
                      <a:rPr lang="en-US" altLang="zh-Hans" i="1" dirty="0" smtClean="0">
                        <a:latin typeface="Cambria Math" panose="02040503050406030204" pitchFamily="18" charset="0"/>
                      </a:rPr>
                      <m:t>𝐿</m:t>
                    </m:r>
                    <m:r>
                      <a:rPr lang="en-US" altLang="zh-Hans" i="1" dirty="0" smtClean="0">
                        <a:latin typeface="Cambria Math" panose="02040503050406030204" pitchFamily="18" charset="0"/>
                        <a:ea typeface="Cambria Math" panose="02040503050406030204" pitchFamily="18" charset="0"/>
                      </a:rPr>
                      <m:t>≤</m:t>
                    </m:r>
                    <m:sSup>
                      <m:sSupPr>
                        <m:ctrlPr>
                          <a:rPr lang="en-US" altLang="zh-Hans" i="1" dirty="0" smtClean="0">
                            <a:latin typeface="Cambria Math" panose="02040503050406030204" pitchFamily="18" charset="0"/>
                            <a:ea typeface="Cambria Math" panose="02040503050406030204" pitchFamily="18" charset="0"/>
                          </a:rPr>
                        </m:ctrlPr>
                      </m:sSupPr>
                      <m:e>
                        <m:r>
                          <a:rPr lang="en-US" altLang="zh-Hans" b="0" i="1" dirty="0" smtClean="0">
                            <a:latin typeface="Cambria Math" panose="02040503050406030204" pitchFamily="18" charset="0"/>
                            <a:ea typeface="Cambria Math" panose="02040503050406030204" pitchFamily="18" charset="0"/>
                          </a:rPr>
                          <m:t>10</m:t>
                        </m:r>
                      </m:e>
                      <m:sup>
                        <m:r>
                          <a:rPr lang="en-US" altLang="zh-Hans" b="0" i="1" dirty="0" smtClean="0">
                            <a:latin typeface="Cambria Math" panose="02040503050406030204" pitchFamily="18" charset="0"/>
                            <a:ea typeface="Cambria Math" panose="02040503050406030204" pitchFamily="18" charset="0"/>
                          </a:rPr>
                          <m:t>6</m:t>
                        </m:r>
                      </m:sup>
                    </m:sSup>
                    <m:r>
                      <a:rPr lang="en-US" altLang="zh-Hans" b="0" i="1" dirty="0" smtClean="0">
                        <a:latin typeface="Cambria Math" panose="02040503050406030204" pitchFamily="18" charset="0"/>
                        <a:ea typeface="Cambria Math" panose="02040503050406030204" pitchFamily="18" charset="0"/>
                      </a:rPr>
                      <m:t> </m:t>
                    </m:r>
                  </m:oMath>
                </a14:m>
                <a:r>
                  <a:rPr lang="en-US" altLang="zh-Hans" dirty="0">
                    <a:latin typeface="Cambria Math" panose="02040503050406030204" pitchFamily="18" charset="0"/>
                  </a:rPr>
                  <a:t>)</a:t>
                </a:r>
                <a:r>
                  <a:rPr lang="zh-Hans" altLang="en-US" dirty="0">
                    <a:latin typeface="Cambria Math" panose="02040503050406030204" pitchFamily="18" charset="0"/>
                  </a:rPr>
                  <a:t>，求闭区间</a:t>
                </a:r>
                <a:r>
                  <a:rPr lang="en-US" altLang="zh-Hans" dirty="0">
                    <a:latin typeface="Cambria Math" panose="02040503050406030204" pitchFamily="18" charset="0"/>
                  </a:rPr>
                  <a:t> </a:t>
                </a:r>
                <a14:m>
                  <m:oMath xmlns:m="http://schemas.openxmlformats.org/officeDocument/2006/math">
                    <m:d>
                      <m:dPr>
                        <m:begChr m:val="["/>
                        <m:endChr m:val="]"/>
                        <m:ctrlPr>
                          <a:rPr lang="en-US" altLang="zh-Hans" i="1" smtClean="0">
                            <a:latin typeface="Cambria Math" panose="02040503050406030204" pitchFamily="18" charset="0"/>
                          </a:rPr>
                        </m:ctrlPr>
                      </m:dPr>
                      <m:e>
                        <m:r>
                          <a:rPr lang="en-US" altLang="zh-Hans" b="0" i="1" smtClean="0">
                            <a:latin typeface="Cambria Math" panose="02040503050406030204" pitchFamily="18" charset="0"/>
                          </a:rPr>
                          <m:t>𝐿</m:t>
                        </m:r>
                        <m:r>
                          <a:rPr lang="en-US" altLang="zh-Hans" b="0" i="1" smtClean="0">
                            <a:latin typeface="Cambria Math" panose="02040503050406030204" pitchFamily="18" charset="0"/>
                          </a:rPr>
                          <m:t>,</m:t>
                        </m:r>
                        <m:r>
                          <a:rPr lang="en-US" altLang="zh-Hans" b="0" i="1" smtClean="0">
                            <a:latin typeface="Cambria Math" panose="02040503050406030204" pitchFamily="18" charset="0"/>
                          </a:rPr>
                          <m:t>𝑅</m:t>
                        </m:r>
                      </m:e>
                    </m:d>
                  </m:oMath>
                </a14:m>
                <a:r>
                  <a:rPr lang="en-US" altLang="zh-Hans" dirty="0">
                    <a:latin typeface="Cambria Math" panose="02040503050406030204" pitchFamily="18" charset="0"/>
                  </a:rPr>
                  <a:t> </a:t>
                </a:r>
                <a:r>
                  <a:rPr lang="zh-Hans" altLang="en-US" dirty="0">
                    <a:latin typeface="Cambria Math" panose="02040503050406030204" pitchFamily="18" charset="0"/>
                  </a:rPr>
                  <a:t>中相邻两个素数的差最大是多少？</a:t>
                </a:r>
                <a:endParaRPr lang="en-US" altLang="zh-Hans" dirty="0">
                  <a:latin typeface="Cambria Math" panose="02040503050406030204" pitchFamily="18" charset="0"/>
                </a:endParaRPr>
              </a:p>
              <a:p>
                <a:pPr>
                  <a:lnSpc>
                    <a:spcPct val="150000"/>
                  </a:lnSpc>
                  <a:spcBef>
                    <a:spcPts val="1200"/>
                  </a:spcBef>
                </a:pPr>
                <a:r>
                  <a:rPr lang="zh-Hans" altLang="en-US" dirty="0">
                    <a:latin typeface="Cambria Math" panose="02040503050406030204" pitchFamily="18" charset="0"/>
                  </a:rPr>
                  <a:t>分析：</a:t>
                </a:r>
                <a:endParaRPr lang="en-US" altLang="zh-Hans" dirty="0">
                  <a:latin typeface="Cambria Math" panose="02040503050406030204" pitchFamily="18" charset="0"/>
                </a:endParaRPr>
              </a:p>
              <a:p>
                <a:pPr>
                  <a:lnSpc>
                    <a:spcPct val="150000"/>
                  </a:lnSpc>
                  <a:spcBef>
                    <a:spcPts val="1200"/>
                  </a:spcBef>
                </a:pPr>
                <a:r>
                  <a:rPr lang="zh-Hans" altLang="en-US" dirty="0">
                    <a:latin typeface="Cambria Math" panose="02040503050406030204" pitchFamily="18" charset="0"/>
                  </a:rPr>
                  <a:t>由于数据范围很大，无法生成 </a:t>
                </a:r>
                <a14:m>
                  <m:oMath xmlns:m="http://schemas.openxmlformats.org/officeDocument/2006/math">
                    <m:d>
                      <m:dPr>
                        <m:begChr m:val="["/>
                        <m:endChr m:val="]"/>
                        <m:ctrlPr>
                          <a:rPr lang="en-US" altLang="zh-Hans" i="1">
                            <a:latin typeface="Cambria Math" panose="02040503050406030204" pitchFamily="18" charset="0"/>
                          </a:rPr>
                        </m:ctrlPr>
                      </m:dPr>
                      <m:e>
                        <m:r>
                          <a:rPr lang="en-US" altLang="zh-Hans" i="1">
                            <a:latin typeface="Cambria Math" panose="02040503050406030204" pitchFamily="18" charset="0"/>
                          </a:rPr>
                          <m:t>1</m:t>
                        </m:r>
                        <m:r>
                          <a:rPr lang="en-US" altLang="zh-Hans" i="1">
                            <a:latin typeface="Cambria Math" panose="02040503050406030204" pitchFamily="18" charset="0"/>
                          </a:rPr>
                          <m:t>,</m:t>
                        </m:r>
                        <m:r>
                          <a:rPr lang="en-US" altLang="zh-Hans" i="1">
                            <a:latin typeface="Cambria Math" panose="02040503050406030204" pitchFamily="18" charset="0"/>
                          </a:rPr>
                          <m:t>𝑅</m:t>
                        </m:r>
                      </m:e>
                    </m:d>
                  </m:oMath>
                </a14:m>
                <a:r>
                  <a:rPr lang="en-US" altLang="zh-Hans" dirty="0">
                    <a:latin typeface="Cambria Math" panose="02040503050406030204" pitchFamily="18" charset="0"/>
                  </a:rPr>
                  <a:t> </a:t>
                </a:r>
                <a:r>
                  <a:rPr lang="zh-Hans" altLang="en-US" dirty="0">
                    <a:latin typeface="Cambria Math" panose="02040503050406030204" pitchFamily="18" charset="0"/>
                  </a:rPr>
                  <a:t>中的所有素数。</a:t>
                </a:r>
                <a:endParaRPr lang="en-US" altLang="zh-Hans" dirty="0">
                  <a:latin typeface="Cambria Math" panose="02040503050406030204" pitchFamily="18" charset="0"/>
                </a:endParaRPr>
              </a:p>
              <a:p>
                <a:pPr>
                  <a:lnSpc>
                    <a:spcPct val="150000"/>
                  </a:lnSpc>
                  <a:spcBef>
                    <a:spcPts val="1200"/>
                  </a:spcBef>
                </a:pPr>
                <a:r>
                  <a:rPr lang="zh-Hans" altLang="en-US" dirty="0">
                    <a:latin typeface="Cambria Math" panose="02040503050406030204" pitchFamily="18" charset="0"/>
                  </a:rPr>
                  <a:t>使用筛法求出</a:t>
                </a:r>
                <a:r>
                  <a:rPr lang="en-US" altLang="zh-Hans" dirty="0">
                    <a:latin typeface="Cambria Math" panose="02040503050406030204" pitchFamily="18" charset="0"/>
                  </a:rPr>
                  <a:t> </a:t>
                </a:r>
                <a14:m>
                  <m:oMath xmlns:m="http://schemas.openxmlformats.org/officeDocument/2006/math">
                    <m:d>
                      <m:dPr>
                        <m:begChr m:val="["/>
                        <m:endChr m:val="]"/>
                        <m:ctrlPr>
                          <a:rPr lang="en-US" altLang="zh-Hans" i="1">
                            <a:latin typeface="Cambria Math" panose="02040503050406030204" pitchFamily="18" charset="0"/>
                          </a:rPr>
                        </m:ctrlPr>
                      </m:dPr>
                      <m:e>
                        <m:r>
                          <a:rPr lang="en-US" altLang="zh-Hans" i="1">
                            <a:latin typeface="Cambria Math" panose="02040503050406030204" pitchFamily="18" charset="0"/>
                          </a:rPr>
                          <m:t>2</m:t>
                        </m:r>
                        <m:r>
                          <a:rPr lang="en-US" altLang="zh-Hans" i="1">
                            <a:latin typeface="Cambria Math" panose="02040503050406030204" pitchFamily="18" charset="0"/>
                          </a:rPr>
                          <m:t>,</m:t>
                        </m:r>
                        <m:rad>
                          <m:radPr>
                            <m:degHide m:val="on"/>
                            <m:ctrlPr>
                              <a:rPr lang="en-US" altLang="zh-Hans" i="1">
                                <a:latin typeface="Cambria Math" panose="02040503050406030204" pitchFamily="18" charset="0"/>
                              </a:rPr>
                            </m:ctrlPr>
                          </m:radPr>
                          <m:deg/>
                          <m:e>
                            <m:r>
                              <a:rPr lang="en-US" altLang="zh-Hans" i="1">
                                <a:latin typeface="Cambria Math" panose="02040503050406030204" pitchFamily="18" charset="0"/>
                              </a:rPr>
                              <m:t>𝑅</m:t>
                            </m:r>
                          </m:e>
                        </m:rad>
                      </m:e>
                    </m:d>
                  </m:oMath>
                </a14:m>
                <a:r>
                  <a:rPr lang="en-US" altLang="zh-Hans" dirty="0">
                    <a:latin typeface="Cambria Math" panose="02040503050406030204" pitchFamily="18" charset="0"/>
                  </a:rPr>
                  <a:t> </a:t>
                </a:r>
                <a:r>
                  <a:rPr lang="zh-Hans" altLang="en-US" dirty="0">
                    <a:latin typeface="Cambria Math" panose="02040503050406030204" pitchFamily="18" charset="0"/>
                  </a:rPr>
                  <a:t>之间的所有素数，对于每个素数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，把</a:t>
                </a:r>
                <a:r>
                  <a:rPr lang="en-US" altLang="zh-Hans" dirty="0">
                    <a:latin typeface="Cambria Math" panose="02040503050406030204" pitchFamily="18" charset="0"/>
                  </a:rPr>
                  <a:t> </a:t>
                </a:r>
                <a14:m>
                  <m:oMath xmlns:m="http://schemas.openxmlformats.org/officeDocument/2006/math">
                    <m:d>
                      <m:dPr>
                        <m:begChr m:val="["/>
                        <m:endChr m:val="]"/>
                        <m:ctrlPr>
                          <a:rPr lang="en-US" altLang="zh-Hans" i="1">
                            <a:latin typeface="Cambria Math" panose="02040503050406030204" pitchFamily="18" charset="0"/>
                          </a:rPr>
                        </m:ctrlPr>
                      </m:dPr>
                      <m:e>
                        <m:r>
                          <a:rPr lang="en-US" altLang="zh-Hans" i="1">
                            <a:latin typeface="Cambria Math" panose="02040503050406030204" pitchFamily="18" charset="0"/>
                          </a:rPr>
                          <m:t>𝐿</m:t>
                        </m:r>
                        <m:r>
                          <a:rPr lang="en-US" altLang="zh-Hans" i="1">
                            <a:latin typeface="Cambria Math" panose="02040503050406030204" pitchFamily="18" charset="0"/>
                          </a:rPr>
                          <m:t>,</m:t>
                        </m:r>
                        <m:r>
                          <a:rPr lang="en-US" altLang="zh-Hans" i="1">
                            <a:latin typeface="Cambria Math" panose="02040503050406030204" pitchFamily="18" charset="0"/>
                          </a:rPr>
                          <m:t>𝑅</m:t>
                        </m:r>
                      </m:e>
                    </m:d>
                  </m:oMath>
                </a14:m>
                <a:r>
                  <a:rPr lang="en-US" altLang="zh-Hans" dirty="0">
                    <a:latin typeface="Cambria Math" panose="02040503050406030204" pitchFamily="18" charset="0"/>
                  </a:rPr>
                  <a:t> </a:t>
                </a:r>
                <a:r>
                  <a:rPr lang="zh-Hans" altLang="en-US" dirty="0">
                    <a:latin typeface="Cambria Math" panose="02040503050406030204" pitchFamily="18" charset="0"/>
                  </a:rPr>
                  <a:t>中能被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整除的数标记，即标记 </a:t>
                </a:r>
                <a14:m>
                  <m:oMath xmlns:m="http://schemas.openxmlformats.org/officeDocument/2006/math">
                    <m:r>
                      <a:rPr lang="en-US" altLang="zh-Hans" i="1" dirty="0">
                        <a:latin typeface="Cambria Math" panose="02040503050406030204" pitchFamily="18" charset="0"/>
                      </a:rPr>
                      <m:t>𝑖</m:t>
                    </m:r>
                    <m:r>
                      <a:rPr lang="en-US" altLang="zh-Hans" i="1" dirty="0">
                        <a:latin typeface="Cambria Math" panose="02040503050406030204" pitchFamily="18" charset="0"/>
                        <a:ea typeface="Cambria Math" panose="02040503050406030204" pitchFamily="18" charset="0"/>
                      </a:rPr>
                      <m:t>×</m:t>
                    </m:r>
                    <m:r>
                      <a:rPr lang="en-US" altLang="zh-Hans" i="1" dirty="0">
                        <a:latin typeface="Cambria Math" panose="02040503050406030204" pitchFamily="18" charset="0"/>
                      </a:rPr>
                      <m:t>𝑝</m:t>
                    </m:r>
                    <m:d>
                      <m:dPr>
                        <m:ctrlPr>
                          <a:rPr lang="en-US" altLang="zh-Hans" i="1" dirty="0">
                            <a:latin typeface="Cambria Math" panose="02040503050406030204" pitchFamily="18" charset="0"/>
                          </a:rPr>
                        </m:ctrlPr>
                      </m:dPr>
                      <m:e>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𝐿</m:t>
                                </m:r>
                              </m:num>
                              <m:den>
                                <m:r>
                                  <a:rPr lang="en-US" altLang="zh-Hans" i="1" dirty="0">
                                    <a:latin typeface="Cambria Math" panose="02040503050406030204" pitchFamily="18" charset="0"/>
                                  </a:rPr>
                                  <m:t>𝑝</m:t>
                                </m:r>
                              </m:den>
                            </m:f>
                          </m:e>
                        </m:d>
                        <m:r>
                          <a:rPr lang="en-US" altLang="zh-Hans" i="1" dirty="0">
                            <a:latin typeface="Cambria Math" panose="02040503050406030204" pitchFamily="18" charset="0"/>
                            <a:ea typeface="Cambria Math" panose="02040503050406030204" pitchFamily="18" charset="0"/>
                          </a:rPr>
                          <m:t>≤</m:t>
                        </m:r>
                        <m:r>
                          <a:rPr lang="en-US" altLang="zh-Hans" i="1" dirty="0">
                            <a:latin typeface="Cambria Math" panose="02040503050406030204" pitchFamily="18" charset="0"/>
                            <a:ea typeface="Cambria Math" panose="02040503050406030204" pitchFamily="18" charset="0"/>
                          </a:rPr>
                          <m:t>𝑖</m:t>
                        </m:r>
                        <m:r>
                          <a:rPr lang="en-US" altLang="zh-Hans" i="1" dirty="0">
                            <a:latin typeface="Cambria Math" panose="02040503050406030204" pitchFamily="18" charset="0"/>
                            <a:ea typeface="Cambria Math" panose="02040503050406030204" pitchFamily="18" charset="0"/>
                          </a:rPr>
                          <m:t>≤</m:t>
                        </m:r>
                        <m:d>
                          <m:dPr>
                            <m:begChr m:val="⌊"/>
                            <m:endChr m:val="⌋"/>
                            <m:ctrlPr>
                              <a:rPr lang="en-US" altLang="zh-Hans" i="1" dirty="0">
                                <a:latin typeface="Cambria Math" panose="02040503050406030204" pitchFamily="18" charset="0"/>
                                <a:ea typeface="Cambria Math" panose="02040503050406030204" pitchFamily="18" charset="0"/>
                              </a:rPr>
                            </m:ctrlPr>
                          </m:dPr>
                          <m:e>
                            <m:f>
                              <m:fPr>
                                <m:ctrlPr>
                                  <a:rPr lang="en-US" altLang="zh-Hans" i="1" dirty="0">
                                    <a:latin typeface="Cambria Math" panose="02040503050406030204" pitchFamily="18" charset="0"/>
                                    <a:ea typeface="Cambria Math" panose="02040503050406030204" pitchFamily="18" charset="0"/>
                                  </a:rPr>
                                </m:ctrlPr>
                              </m:fPr>
                              <m:num>
                                <m:r>
                                  <a:rPr lang="en-US" altLang="zh-Hans" i="1" dirty="0">
                                    <a:latin typeface="Cambria Math" panose="02040503050406030204" pitchFamily="18" charset="0"/>
                                    <a:ea typeface="Cambria Math" panose="02040503050406030204" pitchFamily="18" charset="0"/>
                                  </a:rPr>
                                  <m:t>𝑅</m:t>
                                </m:r>
                              </m:num>
                              <m:den>
                                <m:r>
                                  <a:rPr lang="en-US" altLang="zh-Hans" i="1" dirty="0">
                                    <a:latin typeface="Cambria Math" panose="02040503050406030204" pitchFamily="18" charset="0"/>
                                    <a:ea typeface="Cambria Math" panose="02040503050406030204" pitchFamily="18" charset="0"/>
                                  </a:rPr>
                                  <m:t>𝑝</m:t>
                                </m:r>
                              </m:den>
                            </m:f>
                          </m:e>
                        </m:d>
                      </m:e>
                    </m:d>
                  </m:oMath>
                </a14:m>
                <a:r>
                  <a:rPr lang="en-US" altLang="zh-CN" dirty="0">
                    <a:latin typeface="Cambria Math" panose="02040503050406030204" pitchFamily="18" charset="0"/>
                  </a:rPr>
                  <a:t> </a:t>
                </a:r>
                <a:r>
                  <a:rPr lang="zh-Hans" altLang="en-US" dirty="0">
                    <a:latin typeface="Cambria Math" panose="02040503050406030204" pitchFamily="18" charset="0"/>
                  </a:rPr>
                  <a:t>为合数。</a:t>
                </a:r>
                <a:endParaRPr lang="en-US" altLang="zh-Hans" dirty="0">
                  <a:latin typeface="Cambria Math" panose="02040503050406030204" pitchFamily="18" charset="0"/>
                </a:endParaRPr>
              </a:p>
              <a:p>
                <a:pPr>
                  <a:lnSpc>
                    <a:spcPct val="150000"/>
                  </a:lnSpc>
                  <a:spcBef>
                    <a:spcPts val="1200"/>
                  </a:spcBef>
                </a:pPr>
                <a:r>
                  <a:rPr lang="zh-Hans" altLang="en-US" dirty="0">
                    <a:latin typeface="Cambria Math" panose="02040503050406030204" pitchFamily="18" charset="0"/>
                  </a:rPr>
                  <a:t>将筛出的素数进行相邻两两比较，找出差最大的即可。</a:t>
                </a:r>
                <a:endParaRPr lang="en-US" altLang="zh-CN" dirty="0">
                  <a:latin typeface="Cambria Math" panose="020405030504060302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780865"/>
                <a:ext cx="9980682" cy="4951239"/>
              </a:xfrm>
              <a:blipFill>
                <a:blip r:embed="rId2"/>
                <a:stretch>
                  <a:fillRect l="-1398" r="-889"/>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F233A4DC-0777-FA41-99A6-EB4A96045EDC}"/>
              </a:ext>
            </a:extLst>
          </p:cNvPr>
          <p:cNvSpPr>
            <a:spLocks noGrp="1"/>
          </p:cNvSpPr>
          <p:nvPr>
            <p:ph type="sldNum" sz="quarter" idx="12"/>
          </p:nvPr>
        </p:nvSpPr>
        <p:spPr/>
        <p:txBody>
          <a:bodyPr/>
          <a:lstStyle/>
          <a:p>
            <a:fld id="{0FF54DE5-C571-48E8-A5BC-B369434E2F44}" type="slidenum">
              <a:rPr lang="en-US" altLang="zh-CN" smtClean="0"/>
              <a:pPr/>
              <a:t>15</a:t>
            </a:fld>
            <a:endParaRPr lang="zh-CN" altLang="en-US" dirty="0"/>
          </a:p>
        </p:txBody>
      </p:sp>
    </p:spTree>
    <p:extLst>
      <p:ext uri="{BB962C8B-B14F-4D97-AF65-F5344CB8AC3E}">
        <p14:creationId xmlns:p14="http://schemas.microsoft.com/office/powerpoint/2010/main" val="1178672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筛法优化素因数分解</a:t>
            </a:r>
            <a:r>
              <a:rPr lang="en-US" altLang="zh-CN" dirty="0"/>
              <a:t>-1</a:t>
            </a:r>
            <a:endParaRPr lang="zh-CN" altLang="en-US" dirty="0"/>
          </a:p>
        </p:txBody>
      </p:sp>
      <p:sp>
        <p:nvSpPr>
          <p:cNvPr id="17411" name="内容占位符 2"/>
          <p:cNvSpPr>
            <a:spLocks noGrp="1"/>
          </p:cNvSpPr>
          <p:nvPr>
            <p:ph idx="1"/>
          </p:nvPr>
        </p:nvSpPr>
        <p:spPr/>
        <p:txBody>
          <a:bodyPr/>
          <a:lstStyle/>
          <a:p>
            <a:pPr>
              <a:lnSpc>
                <a:spcPct val="150000"/>
              </a:lnSpc>
            </a:pPr>
            <a:r>
              <a:rPr lang="zh-CN" altLang="en-US" dirty="0"/>
              <a:t>利用埃氏筛法可以快速实现素因数分解，只要在判定质数时记录下每个数值的最小素因数即可。算法实现如下：</a:t>
            </a:r>
          </a:p>
        </p:txBody>
      </p:sp>
      <p:sp>
        <p:nvSpPr>
          <p:cNvPr id="3" name="矩形 2"/>
          <p:cNvSpPr/>
          <p:nvPr/>
        </p:nvSpPr>
        <p:spPr>
          <a:xfrm>
            <a:off x="1104900" y="2682492"/>
            <a:ext cx="10070926" cy="3785652"/>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#define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maxn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1000000</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bool</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maxn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maxn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记录每个数的最小素因数的数组</a:t>
            </a:r>
          </a:p>
          <a:p>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void</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eratos</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9</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true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初始化，表示还未找到最小的素因数</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12</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974605AB-9437-DE4A-B835-AF4D08BEAB93}"/>
              </a:ext>
            </a:extLst>
          </p:cNvPr>
          <p:cNvSpPr>
            <a:spLocks noGrp="1"/>
          </p:cNvSpPr>
          <p:nvPr>
            <p:ph type="sldNum" sz="quarter" idx="12"/>
          </p:nvPr>
        </p:nvSpPr>
        <p:spPr/>
        <p:txBody>
          <a:bodyPr/>
          <a:lstStyle/>
          <a:p>
            <a:fld id="{0FF54DE5-C571-48E8-A5BC-B369434E2F44}" type="slidenum">
              <a:rPr lang="en-US" altLang="zh-CN" smtClean="0"/>
              <a:pPr/>
              <a:t>16</a:t>
            </a:fld>
            <a:endParaRPr lang="zh-CN" altLang="en-US" dirty="0"/>
          </a:p>
        </p:txBody>
      </p:sp>
    </p:spTree>
    <p:extLst>
      <p:ext uri="{BB962C8B-B14F-4D97-AF65-F5344CB8AC3E}">
        <p14:creationId xmlns:p14="http://schemas.microsoft.com/office/powerpoint/2010/main" val="140403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筛法优化素因数分解</a:t>
            </a:r>
            <a:r>
              <a:rPr lang="en-US" altLang="zh-CN" dirty="0"/>
              <a:t>-2</a:t>
            </a:r>
            <a:endParaRPr lang="zh-CN" altLang="en-US" dirty="0"/>
          </a:p>
        </p:txBody>
      </p:sp>
      <p:sp>
        <p:nvSpPr>
          <p:cNvPr id="5" name="矩形 4"/>
          <p:cNvSpPr/>
          <p:nvPr/>
        </p:nvSpPr>
        <p:spPr>
          <a:xfrm>
            <a:off x="1104900" y="1717274"/>
            <a:ext cx="10782300" cy="3477875"/>
          </a:xfrm>
          <a:prstGeom prst="rect">
            <a:avLst/>
          </a:prstGeom>
        </p:spPr>
        <p:txBody>
          <a:bodyPr wrap="square">
            <a:spAutoFit/>
          </a:bodyPr>
          <a:lstStyle/>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13</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如果此前尚未找到</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j</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的素因数，</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18</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那么将其设为</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a:t>
            </a:r>
            <a:endParaRPr lang="en-US" altLang="zh-CN" sz="2000" dirty="0">
              <a:solidFill>
                <a:srgbClr val="008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19</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20</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21</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22</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23</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76D3A240-C38A-5647-A3D7-6BF6E55EAFF4}"/>
              </a:ext>
            </a:extLst>
          </p:cNvPr>
          <p:cNvSpPr>
            <a:spLocks noGrp="1"/>
          </p:cNvSpPr>
          <p:nvPr>
            <p:ph type="sldNum" sz="quarter" idx="12"/>
          </p:nvPr>
        </p:nvSpPr>
        <p:spPr/>
        <p:txBody>
          <a:bodyPr/>
          <a:lstStyle/>
          <a:p>
            <a:fld id="{0FF54DE5-C571-48E8-A5BC-B369434E2F44}" type="slidenum">
              <a:rPr lang="en-US" altLang="zh-CN" smtClean="0"/>
              <a:pPr/>
              <a:t>17</a:t>
            </a:fld>
            <a:endParaRPr lang="zh-CN" altLang="en-US" dirty="0"/>
          </a:p>
        </p:txBody>
      </p:sp>
    </p:spTree>
    <p:extLst>
      <p:ext uri="{BB962C8B-B14F-4D97-AF65-F5344CB8AC3E}">
        <p14:creationId xmlns:p14="http://schemas.microsoft.com/office/powerpoint/2010/main" val="3043202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筛法优化素因数分解</a:t>
            </a:r>
            <a:r>
              <a:rPr lang="en-US" altLang="zh-CN" dirty="0"/>
              <a:t>-3</a:t>
            </a:r>
            <a:endParaRPr lang="zh-CN" altLang="en-US" dirty="0"/>
          </a:p>
        </p:txBody>
      </p:sp>
      <p:sp>
        <p:nvSpPr>
          <p:cNvPr id="2" name="矩形 1"/>
          <p:cNvSpPr/>
          <p:nvPr/>
        </p:nvSpPr>
        <p:spPr>
          <a:xfrm>
            <a:off x="1104900" y="1748032"/>
            <a:ext cx="7411233" cy="2554545"/>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vector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&gt;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vector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&gt;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ret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while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x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&gt;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ret</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push_back</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x</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28</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x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minFactor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x</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29</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30</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ret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31</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3" name="幻灯片编号占位符 2">
            <a:extLst>
              <a:ext uri="{FF2B5EF4-FFF2-40B4-BE49-F238E27FC236}">
                <a16:creationId xmlns:a16="http://schemas.microsoft.com/office/drawing/2014/main" id="{24DC7CA9-265E-2B46-B9A4-3F27C559170C}"/>
              </a:ext>
            </a:extLst>
          </p:cNvPr>
          <p:cNvSpPr>
            <a:spLocks noGrp="1"/>
          </p:cNvSpPr>
          <p:nvPr>
            <p:ph type="sldNum" sz="quarter" idx="12"/>
          </p:nvPr>
        </p:nvSpPr>
        <p:spPr/>
        <p:txBody>
          <a:bodyPr/>
          <a:lstStyle/>
          <a:p>
            <a:fld id="{0FF54DE5-C571-48E8-A5BC-B369434E2F44}" type="slidenum">
              <a:rPr lang="en-US" altLang="zh-CN" smtClean="0"/>
              <a:pPr/>
              <a:t>18</a:t>
            </a:fld>
            <a:endParaRPr lang="zh-CN" altLang="en-US" dirty="0"/>
          </a:p>
        </p:txBody>
      </p:sp>
    </p:spTree>
    <p:extLst>
      <p:ext uri="{BB962C8B-B14F-4D97-AF65-F5344CB8AC3E}">
        <p14:creationId xmlns:p14="http://schemas.microsoft.com/office/powerpoint/2010/main" val="2998764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p:nvPr>
        </p:nvSpPr>
        <p:spPr/>
        <p:txBody>
          <a:bodyPr/>
          <a:lstStyle/>
          <a:p>
            <a:r>
              <a:rPr lang="zh-CN" altLang="en-US" dirty="0"/>
              <a:t>例题：</a:t>
            </a:r>
            <a:r>
              <a:rPr lang="zh-Hans" altLang="en-US" dirty="0"/>
              <a:t>阶乘分解</a:t>
            </a:r>
            <a:endParaRPr lang="en-US" altLang="zh-CN" dirty="0"/>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a:xfrm>
                <a:off x="1104900" y="1569849"/>
                <a:ext cx="9980682" cy="5288151"/>
              </a:xfrm>
            </p:spPr>
            <p:txBody>
              <a:bodyPr>
                <a:normAutofit/>
              </a:bodyPr>
              <a:lstStyle/>
              <a:p>
                <a:pPr>
                  <a:lnSpc>
                    <a:spcPct val="150000"/>
                  </a:lnSpc>
                  <a:spcBef>
                    <a:spcPts val="600"/>
                  </a:spcBef>
                </a:pPr>
                <a:r>
                  <a:rPr lang="zh-Hans" altLang="en-US" dirty="0">
                    <a:latin typeface="Cambria Math" panose="02040503050406030204" pitchFamily="18" charset="0"/>
                  </a:rPr>
                  <a:t>给定整数</a:t>
                </a:r>
                <a:r>
                  <a:rPr lang="en-US" altLang="zh-Hans" dirty="0">
                    <a:latin typeface="Cambria Math" panose="02040503050406030204" pitchFamily="18" charset="0"/>
                  </a:rPr>
                  <a:t> </a:t>
                </a:r>
                <a14:m>
                  <m:oMath xmlns:m="http://schemas.openxmlformats.org/officeDocument/2006/math">
                    <m:r>
                      <a:rPr lang="en-US" altLang="zh-Hans" b="0" i="1" smtClean="0">
                        <a:latin typeface="Cambria Math" panose="02040503050406030204" pitchFamily="18" charset="0"/>
                      </a:rPr>
                      <m:t>𝑁</m:t>
                    </m:r>
                  </m:oMath>
                </a14:m>
                <a:r>
                  <a:rPr lang="en-US" altLang="zh-Hans" dirty="0">
                    <a:latin typeface="Cambria Math" panose="02040503050406030204" pitchFamily="18" charset="0"/>
                  </a:rPr>
                  <a:t> ( </a:t>
                </a:r>
                <a14:m>
                  <m:oMath xmlns:m="http://schemas.openxmlformats.org/officeDocument/2006/math">
                    <m:r>
                      <a:rPr lang="en-US" altLang="zh-Hans" i="1" dirty="0">
                        <a:latin typeface="Cambria Math" panose="02040503050406030204" pitchFamily="18" charset="0"/>
                      </a:rPr>
                      <m:t>1</m:t>
                    </m:r>
                    <m:r>
                      <a:rPr lang="en-US" altLang="zh-Hans" i="1" dirty="0">
                        <a:latin typeface="Cambria Math" panose="02040503050406030204" pitchFamily="18" charset="0"/>
                        <a:ea typeface="Cambria Math" panose="02040503050406030204" pitchFamily="18" charset="0"/>
                      </a:rPr>
                      <m:t>≤</m:t>
                    </m:r>
                    <m:r>
                      <a:rPr lang="en-US" altLang="zh-Hans" b="0" i="1" dirty="0" smtClean="0">
                        <a:latin typeface="Cambria Math" panose="02040503050406030204" pitchFamily="18" charset="0"/>
                        <a:ea typeface="Cambria Math" panose="02040503050406030204" pitchFamily="18" charset="0"/>
                      </a:rPr>
                      <m:t>𝑁</m:t>
                    </m:r>
                    <m:r>
                      <a:rPr lang="en-US" altLang="zh-Hans" i="1" dirty="0" smtClean="0">
                        <a:latin typeface="Cambria Math" panose="02040503050406030204" pitchFamily="18" charset="0"/>
                        <a:ea typeface="Cambria Math" panose="02040503050406030204" pitchFamily="18" charset="0"/>
                      </a:rPr>
                      <m:t>≤</m:t>
                    </m:r>
                    <m:sSup>
                      <m:sSupPr>
                        <m:ctrlPr>
                          <a:rPr lang="en-US" altLang="zh-Hans" i="1" dirty="0">
                            <a:latin typeface="Cambria Math" panose="02040503050406030204" pitchFamily="18" charset="0"/>
                            <a:ea typeface="Cambria Math" panose="02040503050406030204" pitchFamily="18" charset="0"/>
                          </a:rPr>
                        </m:ctrlPr>
                      </m:sSupPr>
                      <m:e>
                        <m:r>
                          <a:rPr lang="en-US" altLang="zh-Hans" i="1" dirty="0">
                            <a:latin typeface="Cambria Math" panose="02040503050406030204" pitchFamily="18" charset="0"/>
                            <a:ea typeface="Cambria Math" panose="02040503050406030204" pitchFamily="18" charset="0"/>
                          </a:rPr>
                          <m:t>10</m:t>
                        </m:r>
                      </m:e>
                      <m:sup>
                        <m:r>
                          <a:rPr lang="en-US" altLang="zh-Hans" i="1" dirty="0">
                            <a:latin typeface="Cambria Math" panose="02040503050406030204" pitchFamily="18" charset="0"/>
                            <a:ea typeface="Cambria Math" panose="02040503050406030204" pitchFamily="18" charset="0"/>
                          </a:rPr>
                          <m:t>6</m:t>
                        </m:r>
                      </m:sup>
                    </m:sSup>
                    <m:r>
                      <a:rPr lang="en-US" altLang="zh-Hans" i="1" dirty="0">
                        <a:latin typeface="Cambria Math" panose="02040503050406030204" pitchFamily="18" charset="0"/>
                        <a:ea typeface="Cambria Math" panose="02040503050406030204" pitchFamily="18" charset="0"/>
                      </a:rPr>
                      <m:t> </m:t>
                    </m:r>
                  </m:oMath>
                </a14:m>
                <a:r>
                  <a:rPr lang="en-US" altLang="zh-Hans" dirty="0">
                    <a:latin typeface="Cambria Math" panose="02040503050406030204" pitchFamily="18" charset="0"/>
                  </a:rPr>
                  <a:t>) </a:t>
                </a:r>
                <a:r>
                  <a:rPr lang="zh-Hans" altLang="en-US" dirty="0">
                    <a:latin typeface="Cambria Math" panose="02040503050406030204" pitchFamily="18" charset="0"/>
                  </a:rPr>
                  <a:t>，试将阶乘 </a:t>
                </a:r>
                <a14:m>
                  <m:oMath xmlns:m="http://schemas.openxmlformats.org/officeDocument/2006/math">
                    <m:r>
                      <a:rPr lang="en-US" altLang="zh-Hans" b="0" i="1" smtClean="0">
                        <a:latin typeface="Cambria Math" panose="02040503050406030204" pitchFamily="18" charset="0"/>
                      </a:rPr>
                      <m:t>𝑁</m:t>
                    </m:r>
                    <m:r>
                      <a:rPr lang="en-US" altLang="zh-Hans" b="0" i="1" smtClean="0">
                        <a:latin typeface="Cambria Math" panose="02040503050406030204" pitchFamily="18" charset="0"/>
                        <a:ea typeface="Cambria Math" panose="02040503050406030204" pitchFamily="18" charset="0"/>
                      </a:rPr>
                      <m:t>!</m:t>
                    </m:r>
                  </m:oMath>
                </a14:m>
                <a:r>
                  <a:rPr lang="en-US" altLang="zh-CN" dirty="0">
                    <a:latin typeface="Cambria Math" panose="02040503050406030204" pitchFamily="18" charset="0"/>
                  </a:rPr>
                  <a:t> </a:t>
                </a:r>
                <a:r>
                  <a:rPr lang="zh-Hans" altLang="en-US" dirty="0">
                    <a:latin typeface="Cambria Math" panose="02040503050406030204" pitchFamily="18" charset="0"/>
                  </a:rPr>
                  <a:t>分解素因数，以惟一分解形式给出 </a:t>
                </a:r>
                <a14:m>
                  <m:oMath xmlns:m="http://schemas.openxmlformats.org/officeDocument/2006/math">
                    <m:sSub>
                      <m:sSubPr>
                        <m:ctrlPr>
                          <a:rPr lang="en-US" altLang="zh-Hans" i="1" smtClean="0">
                            <a:latin typeface="Cambria Math" panose="02040503050406030204" pitchFamily="18" charset="0"/>
                          </a:rPr>
                        </m:ctrlPr>
                      </m:sSubPr>
                      <m:e>
                        <m:r>
                          <a:rPr lang="en-US" altLang="zh-Hans" b="0" i="1" smtClean="0">
                            <a:latin typeface="Cambria Math" panose="02040503050406030204" pitchFamily="18" charset="0"/>
                          </a:rPr>
                          <m:t>𝑝</m:t>
                        </m:r>
                      </m:e>
                      <m:sub>
                        <m:r>
                          <a:rPr lang="en-US" altLang="zh-Hans" b="0" i="1" smtClean="0">
                            <a:latin typeface="Cambria Math" panose="02040503050406030204" pitchFamily="18" charset="0"/>
                          </a:rPr>
                          <m:t>𝑖</m:t>
                        </m:r>
                      </m:sub>
                    </m:sSub>
                  </m:oMath>
                </a14:m>
                <a:r>
                  <a:rPr lang="en-US" altLang="zh-CN" dirty="0">
                    <a:latin typeface="Cambria Math" panose="02040503050406030204" pitchFamily="18" charset="0"/>
                  </a:rPr>
                  <a:t> </a:t>
                </a:r>
                <a:r>
                  <a:rPr lang="zh-Hans" altLang="en-US" dirty="0">
                    <a:latin typeface="Cambria Math" panose="02040503050406030204" pitchFamily="18" charset="0"/>
                  </a:rPr>
                  <a:t>和 </a:t>
                </a:r>
                <a14:m>
                  <m:oMath xmlns:m="http://schemas.openxmlformats.org/officeDocument/2006/math">
                    <m:sSub>
                      <m:sSubPr>
                        <m:ctrlPr>
                          <a:rPr lang="en-US" altLang="zh-Hans" i="1" smtClean="0">
                            <a:latin typeface="Cambria Math" panose="02040503050406030204" pitchFamily="18" charset="0"/>
                          </a:rPr>
                        </m:ctrlPr>
                      </m:sSubPr>
                      <m:e>
                        <m:r>
                          <a:rPr lang="en-US" altLang="zh-Hans" b="0" i="1" smtClean="0">
                            <a:latin typeface="Cambria Math" panose="02040503050406030204" pitchFamily="18" charset="0"/>
                          </a:rPr>
                          <m:t>𝑟</m:t>
                        </m:r>
                      </m:e>
                      <m:sub>
                        <m:r>
                          <a:rPr lang="en-US" altLang="zh-Hans" b="0" i="1" smtClean="0">
                            <a:latin typeface="Cambria Math" panose="02040503050406030204" pitchFamily="18" charset="0"/>
                          </a:rPr>
                          <m:t>𝑖</m:t>
                        </m:r>
                      </m:sub>
                    </m:sSub>
                  </m:oMath>
                </a14:m>
                <a:r>
                  <a:rPr lang="en-US" altLang="zh-CN" dirty="0">
                    <a:latin typeface="Cambria Math" panose="02040503050406030204" pitchFamily="18" charset="0"/>
                  </a:rPr>
                  <a:t> </a:t>
                </a:r>
                <a:r>
                  <a:rPr lang="zh-Hans" altLang="en-US" dirty="0">
                    <a:latin typeface="Cambria Math" panose="02040503050406030204" pitchFamily="18" charset="0"/>
                  </a:rPr>
                  <a:t>。</a:t>
                </a:r>
                <a:endParaRPr lang="en-US" altLang="zh-Hans" dirty="0">
                  <a:latin typeface="Cambria Math" panose="02040503050406030204" pitchFamily="18" charset="0"/>
                </a:endParaRPr>
              </a:p>
              <a:p>
                <a:pPr>
                  <a:lnSpc>
                    <a:spcPct val="150000"/>
                  </a:lnSpc>
                  <a:spcBef>
                    <a:spcPts val="600"/>
                  </a:spcBef>
                </a:pPr>
                <a:r>
                  <a:rPr lang="zh-Hans" altLang="en-US" dirty="0">
                    <a:latin typeface="Cambria Math" panose="02040503050406030204" pitchFamily="18" charset="0"/>
                  </a:rPr>
                  <a:t>分析：</a:t>
                </a:r>
                <a:endParaRPr lang="en-US" altLang="zh-Hans" dirty="0">
                  <a:latin typeface="Cambria Math" panose="02040503050406030204" pitchFamily="18" charset="0"/>
                </a:endParaRPr>
              </a:p>
              <a:p>
                <a:pPr>
                  <a:lnSpc>
                    <a:spcPct val="150000"/>
                  </a:lnSpc>
                  <a:spcBef>
                    <a:spcPts val="600"/>
                  </a:spcBef>
                </a:pPr>
                <a:r>
                  <a:rPr lang="zh-Hans" altLang="en-US" dirty="0">
                    <a:latin typeface="Cambria Math" panose="02040503050406030204" pitchFamily="18" charset="0"/>
                  </a:rPr>
                  <a:t>如果对 </a:t>
                </a:r>
                <a14:m>
                  <m:oMath xmlns:m="http://schemas.openxmlformats.org/officeDocument/2006/math">
                    <m:r>
                      <a:rPr lang="en-US" altLang="zh-Hans" i="1" dirty="0">
                        <a:latin typeface="Cambria Math" panose="02040503050406030204" pitchFamily="18" charset="0"/>
                      </a:rPr>
                      <m:t>1</m:t>
                    </m:r>
                    <m:r>
                      <a:rPr lang="zh-Hans" altLang="en-US" i="1" dirty="0">
                        <a:latin typeface="Cambria Math" panose="02040503050406030204" pitchFamily="18" charset="0"/>
                      </a:rPr>
                      <m:t>～</m:t>
                    </m:r>
                    <m:r>
                      <a:rPr lang="en-US" altLang="zh-Hans" i="1" dirty="0">
                        <a:latin typeface="Cambria Math" panose="02040503050406030204" pitchFamily="18" charset="0"/>
                        <a:ea typeface="Cambria Math" panose="02040503050406030204" pitchFamily="18" charset="0"/>
                      </a:rPr>
                      <m:t>𝑁</m:t>
                    </m:r>
                  </m:oMath>
                </a14:m>
                <a:r>
                  <a:rPr lang="zh-Hans" altLang="en-US" dirty="0">
                    <a:latin typeface="Cambria Math" panose="02040503050406030204" pitchFamily="18" charset="0"/>
                  </a:rPr>
                  <a:t> 中的每个数进行素因数分解，再将结果合并，时间复杂度为</a:t>
                </a:r>
                <a14:m>
                  <m:oMath xmlns:m="http://schemas.openxmlformats.org/officeDocument/2006/math">
                    <m:r>
                      <a:rPr lang="en-US" altLang="zh-Hans" i="1">
                        <a:latin typeface="Cambria Math" panose="02040503050406030204" pitchFamily="18" charset="0"/>
                      </a:rPr>
                      <m:t>𝑂</m:t>
                    </m:r>
                    <m:r>
                      <a:rPr lang="en-US" altLang="zh-Hans" i="1">
                        <a:latin typeface="Cambria Math" panose="02040503050406030204" pitchFamily="18" charset="0"/>
                      </a:rPr>
                      <m:t>(</m:t>
                    </m:r>
                    <m:r>
                      <a:rPr lang="en-US" altLang="zh-Hans" i="1">
                        <a:latin typeface="Cambria Math" panose="02040503050406030204" pitchFamily="18" charset="0"/>
                      </a:rPr>
                      <m:t>𝑁</m:t>
                    </m:r>
                    <m:rad>
                      <m:radPr>
                        <m:degHide m:val="on"/>
                        <m:ctrlPr>
                          <a:rPr lang="en-US" altLang="zh-Hans" i="1">
                            <a:latin typeface="Cambria Math" panose="02040503050406030204" pitchFamily="18" charset="0"/>
                          </a:rPr>
                        </m:ctrlPr>
                      </m:radPr>
                      <m:deg/>
                      <m:e>
                        <m:r>
                          <a:rPr lang="en-US" altLang="zh-Hans" i="1">
                            <a:latin typeface="Cambria Math" panose="02040503050406030204" pitchFamily="18" charset="0"/>
                          </a:rPr>
                          <m:t>𝑁</m:t>
                        </m:r>
                      </m:e>
                    </m:rad>
                    <m:r>
                      <a:rPr lang="en-US" altLang="zh-Hans" i="1">
                        <a:latin typeface="Cambria Math" panose="02040503050406030204" pitchFamily="18" charset="0"/>
                      </a:rPr>
                      <m:t>)</m:t>
                    </m:r>
                  </m:oMath>
                </a14:m>
                <a:r>
                  <a:rPr lang="en-US" altLang="zh-Hans" dirty="0">
                    <a:latin typeface="Cambria Math" panose="02040503050406030204" pitchFamily="18" charset="0"/>
                  </a:rPr>
                  <a:t> </a:t>
                </a:r>
                <a:r>
                  <a:rPr lang="zh-Hans" altLang="en-US" dirty="0">
                    <a:latin typeface="Cambria Math" panose="02040503050406030204" pitchFamily="18" charset="0"/>
                  </a:rPr>
                  <a:t>，超时。可知 </a:t>
                </a:r>
                <a14:m>
                  <m:oMath xmlns:m="http://schemas.openxmlformats.org/officeDocument/2006/math">
                    <m:r>
                      <a:rPr lang="en-US" altLang="zh-Hans" i="1" dirty="0">
                        <a:latin typeface="Cambria Math" panose="02040503050406030204" pitchFamily="18" charset="0"/>
                        <a:ea typeface="Cambria Math" panose="02040503050406030204" pitchFamily="18" charset="0"/>
                      </a:rPr>
                      <m:t>𝑁</m:t>
                    </m:r>
                    <m:r>
                      <a:rPr lang="en-US" altLang="zh-Hans" i="1" dirty="0">
                        <a:latin typeface="Cambria Math" panose="02040503050406030204" pitchFamily="18" charset="0"/>
                        <a:ea typeface="Cambria Math" panose="02040503050406030204" pitchFamily="18" charset="0"/>
                      </a:rPr>
                      <m:t>!</m:t>
                    </m:r>
                  </m:oMath>
                </a14:m>
                <a:r>
                  <a:rPr lang="zh-Hans" altLang="en-US" dirty="0">
                    <a:latin typeface="Cambria Math" panose="02040503050406030204" pitchFamily="18" charset="0"/>
                  </a:rPr>
                  <a:t> 的每个素因数都不超过</a:t>
                </a:r>
                <a:r>
                  <a:rPr lang="en-US" altLang="zh-Hans" dirty="0">
                    <a:latin typeface="Cambria Math" panose="02040503050406030204" pitchFamily="18" charset="0"/>
                  </a:rPr>
                  <a:t> </a:t>
                </a:r>
                <a14:m>
                  <m:oMath xmlns:m="http://schemas.openxmlformats.org/officeDocument/2006/math">
                    <m:r>
                      <a:rPr lang="en-US" altLang="zh-Hans" i="1" dirty="0">
                        <a:latin typeface="Cambria Math" panose="02040503050406030204" pitchFamily="18" charset="0"/>
                      </a:rPr>
                      <m:t>𝑁</m:t>
                    </m:r>
                  </m:oMath>
                </a14:m>
                <a:r>
                  <a:rPr lang="zh-Hans" altLang="en-US" dirty="0">
                    <a:latin typeface="Cambria Math" panose="02040503050406030204" pitchFamily="18" charset="0"/>
                  </a:rPr>
                  <a:t>，可用筛法先求出 </a:t>
                </a:r>
                <a14:m>
                  <m:oMath xmlns:m="http://schemas.openxmlformats.org/officeDocument/2006/math">
                    <m:r>
                      <a:rPr lang="en-US" altLang="zh-Hans" i="1" dirty="0">
                        <a:latin typeface="Cambria Math" panose="02040503050406030204" pitchFamily="18" charset="0"/>
                      </a:rPr>
                      <m:t>1</m:t>
                    </m:r>
                    <m:r>
                      <a:rPr lang="zh-Hans" altLang="en-US" i="1" dirty="0">
                        <a:latin typeface="Cambria Math" panose="02040503050406030204" pitchFamily="18" charset="0"/>
                      </a:rPr>
                      <m:t>～</m:t>
                    </m:r>
                    <m:r>
                      <a:rPr lang="en-US" altLang="zh-Hans" i="1" dirty="0">
                        <a:latin typeface="Cambria Math" panose="02040503050406030204" pitchFamily="18" charset="0"/>
                        <a:ea typeface="Cambria Math" panose="02040503050406030204" pitchFamily="18" charset="0"/>
                      </a:rPr>
                      <m:t>𝑁</m:t>
                    </m:r>
                  </m:oMath>
                </a14:m>
                <a:r>
                  <a:rPr lang="zh-Hans" altLang="en-US" dirty="0">
                    <a:latin typeface="Cambria Math" panose="02040503050406030204" pitchFamily="18" charset="0"/>
                  </a:rPr>
                  <a:t> 的每个素数 </a:t>
                </a:r>
                <a14:m>
                  <m:oMath xmlns:m="http://schemas.openxmlformats.org/officeDocument/2006/math">
                    <m:r>
                      <a:rPr lang="en-US" altLang="zh-Hans" i="1" dirty="0">
                        <a:latin typeface="Cambria Math" panose="02040503050406030204" pitchFamily="18" charset="0"/>
                      </a:rPr>
                      <m:t>𝑁</m:t>
                    </m:r>
                  </m:oMath>
                </a14:m>
                <a:r>
                  <a:rPr lang="zh-Hans" altLang="en-US" dirty="0">
                    <a:latin typeface="Cambria Math" panose="02040503050406030204" pitchFamily="18" charset="0"/>
                  </a:rPr>
                  <a:t> ，然后再考虑 </a:t>
                </a:r>
                <a14:m>
                  <m:oMath xmlns:m="http://schemas.openxmlformats.org/officeDocument/2006/math">
                    <m:r>
                      <a:rPr lang="en-US" altLang="zh-Hans" i="1" dirty="0">
                        <a:latin typeface="Cambria Math" panose="02040503050406030204" pitchFamily="18" charset="0"/>
                        <a:ea typeface="Cambria Math" panose="02040503050406030204" pitchFamily="18" charset="0"/>
                      </a:rPr>
                      <m:t>𝑁</m:t>
                    </m:r>
                    <m:r>
                      <a:rPr lang="en-US" altLang="zh-Hans" i="1" dirty="0">
                        <a:latin typeface="Cambria Math" panose="02040503050406030204" pitchFamily="18" charset="0"/>
                        <a:ea typeface="Cambria Math" panose="02040503050406030204" pitchFamily="18" charset="0"/>
                      </a:rPr>
                      <m:t>!</m:t>
                    </m:r>
                  </m:oMath>
                </a14:m>
                <a:r>
                  <a:rPr lang="zh-Hans" altLang="en-US" dirty="0">
                    <a:latin typeface="Cambria Math" panose="02040503050406030204" pitchFamily="18" charset="0"/>
                  </a:rPr>
                  <a:t> 中包含哪些素因数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a:t>
                </a:r>
                <a:endParaRPr lang="en-US" altLang="zh-Hans" dirty="0">
                  <a:latin typeface="Cambria Math" panose="02040503050406030204" pitchFamily="18" charset="0"/>
                </a:endParaRPr>
              </a:p>
              <a:p>
                <a:pPr>
                  <a:lnSpc>
                    <a:spcPct val="150000"/>
                  </a:lnSpc>
                  <a:spcBef>
                    <a:spcPts val="600"/>
                  </a:spcBef>
                </a:pPr>
                <a14:m>
                  <m:oMath xmlns:m="http://schemas.openxmlformats.org/officeDocument/2006/math">
                    <m:r>
                      <a:rPr lang="en-US" altLang="zh-Hans" i="1" dirty="0">
                        <a:latin typeface="Cambria Math" panose="02040503050406030204" pitchFamily="18" charset="0"/>
                        <a:ea typeface="Cambria Math" panose="02040503050406030204" pitchFamily="18" charset="0"/>
                      </a:rPr>
                      <m:t>𝑁</m:t>
                    </m:r>
                    <m:r>
                      <a:rPr lang="en-US" altLang="zh-Hans" i="1" dirty="0">
                        <a:latin typeface="Cambria Math" panose="02040503050406030204" pitchFamily="18" charset="0"/>
                        <a:ea typeface="Cambria Math" panose="02040503050406030204" pitchFamily="18" charset="0"/>
                      </a:rPr>
                      <m:t>!</m:t>
                    </m:r>
                  </m:oMath>
                </a14:m>
                <a:r>
                  <a:rPr lang="zh-Hans" altLang="en-US" dirty="0">
                    <a:latin typeface="Cambria Math" panose="02040503050406030204" pitchFamily="18" charset="0"/>
                  </a:rPr>
                  <a:t> 中包含的素因数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的个数等于 </a:t>
                </a:r>
                <a14:m>
                  <m:oMath xmlns:m="http://schemas.openxmlformats.org/officeDocument/2006/math">
                    <m:r>
                      <a:rPr lang="en-US" altLang="zh-Hans" i="1" dirty="0">
                        <a:latin typeface="Cambria Math" panose="02040503050406030204" pitchFamily="18" charset="0"/>
                      </a:rPr>
                      <m:t>1</m:t>
                    </m:r>
                    <m:r>
                      <a:rPr lang="zh-Hans" altLang="en-US" i="1" dirty="0">
                        <a:latin typeface="Cambria Math" panose="02040503050406030204" pitchFamily="18" charset="0"/>
                      </a:rPr>
                      <m:t>～</m:t>
                    </m:r>
                    <m:r>
                      <a:rPr lang="en-US" altLang="zh-Hans" i="1" dirty="0">
                        <a:latin typeface="Cambria Math" panose="02040503050406030204" pitchFamily="18" charset="0"/>
                        <a:ea typeface="Cambria Math" panose="02040503050406030204" pitchFamily="18" charset="0"/>
                      </a:rPr>
                      <m:t>𝑁</m:t>
                    </m:r>
                  </m:oMath>
                </a14:m>
                <a:r>
                  <a:rPr lang="zh-Hans" altLang="en-US" dirty="0">
                    <a:latin typeface="Cambria Math" panose="02040503050406030204" pitchFamily="18" charset="0"/>
                  </a:rPr>
                  <a:t> 每个数包含素因数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的个数之和。在 </a:t>
                </a:r>
                <a14:m>
                  <m:oMath xmlns:m="http://schemas.openxmlformats.org/officeDocument/2006/math">
                    <m:r>
                      <a:rPr lang="en-US" altLang="zh-Hans" i="1" dirty="0">
                        <a:latin typeface="Cambria Math" panose="02040503050406030204" pitchFamily="18" charset="0"/>
                      </a:rPr>
                      <m:t>1</m:t>
                    </m:r>
                    <m:r>
                      <a:rPr lang="zh-Hans" altLang="en-US" i="1" dirty="0">
                        <a:latin typeface="Cambria Math" panose="02040503050406030204" pitchFamily="18" charset="0"/>
                      </a:rPr>
                      <m:t>～</m:t>
                    </m:r>
                    <m:r>
                      <a:rPr lang="en-US" altLang="zh-Hans" i="1" dirty="0">
                        <a:latin typeface="Cambria Math" panose="02040503050406030204" pitchFamily="18" charset="0"/>
                        <a:ea typeface="Cambria Math" panose="02040503050406030204" pitchFamily="18" charset="0"/>
                      </a:rPr>
                      <m:t>𝑁</m:t>
                    </m:r>
                  </m:oMath>
                </a14:m>
                <a:r>
                  <a:rPr lang="zh-Hans" altLang="en-US" dirty="0">
                    <a:latin typeface="Cambria Math" panose="02040503050406030204" pitchFamily="18" charset="0"/>
                  </a:rPr>
                  <a:t> 中，</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的倍数有 </a:t>
                </a:r>
                <a14:m>
                  <m:oMath xmlns:m="http://schemas.openxmlformats.org/officeDocument/2006/math">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𝑝</m:t>
                            </m:r>
                          </m:den>
                        </m:f>
                      </m:e>
                    </m:d>
                  </m:oMath>
                </a14:m>
                <a:r>
                  <a:rPr lang="zh-Hans" altLang="en-US" dirty="0">
                    <a:latin typeface="Cambria Math" panose="02040503050406030204" pitchFamily="18" charset="0"/>
                  </a:rPr>
                  <a:t> 个，</a:t>
                </a:r>
                <a:r>
                  <a:rPr lang="en-US" altLang="zh-Hans" dirty="0"/>
                  <a:t> </a:t>
                </a:r>
                <a14:m>
                  <m:oMath xmlns:m="http://schemas.openxmlformats.org/officeDocument/2006/math">
                    <m:sSup>
                      <m:sSupPr>
                        <m:ctrlPr>
                          <a:rPr lang="en-US" altLang="zh-Hans" i="1" dirty="0">
                            <a:latin typeface="Cambria Math" panose="02040503050406030204" pitchFamily="18" charset="0"/>
                          </a:rPr>
                        </m:ctrlPr>
                      </m:sSupPr>
                      <m:e>
                        <m:r>
                          <a:rPr lang="en-US" altLang="zh-Hans" i="1" dirty="0">
                            <a:latin typeface="Cambria Math" panose="02040503050406030204" pitchFamily="18" charset="0"/>
                          </a:rPr>
                          <m:t>𝑝</m:t>
                        </m:r>
                      </m:e>
                      <m:sup>
                        <m:r>
                          <a:rPr lang="en-US" altLang="zh-Hans" i="1" dirty="0">
                            <a:latin typeface="Cambria Math" panose="02040503050406030204" pitchFamily="18" charset="0"/>
                          </a:rPr>
                          <m:t>2</m:t>
                        </m:r>
                      </m:sup>
                    </m:sSup>
                  </m:oMath>
                </a14:m>
                <a:r>
                  <a:rPr lang="en-US" altLang="zh-Hans" dirty="0">
                    <a:latin typeface="Cambria Math" panose="02040503050406030204" pitchFamily="18" charset="0"/>
                  </a:rPr>
                  <a:t> </a:t>
                </a:r>
                <a:r>
                  <a:rPr lang="zh-Hans" altLang="en-US" dirty="0">
                    <a:latin typeface="Cambria Math" panose="02040503050406030204" pitchFamily="18" charset="0"/>
                  </a:rPr>
                  <a:t>的倍数有 </a:t>
                </a:r>
                <a14:m>
                  <m:oMath xmlns:m="http://schemas.openxmlformats.org/officeDocument/2006/math">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r>
                                  <a:rPr lang="en-US" altLang="zh-Hans" i="1">
                                    <a:latin typeface="Cambria Math" panose="02040503050406030204" pitchFamily="18" charset="0"/>
                                  </a:rPr>
                                  <m:t>2</m:t>
                                </m:r>
                              </m:sup>
                            </m:sSup>
                          </m:den>
                        </m:f>
                      </m:e>
                    </m:d>
                  </m:oMath>
                </a14:m>
                <a:r>
                  <a:rPr lang="zh-Hans" altLang="en-US" dirty="0">
                    <a:latin typeface="Cambria Math" panose="02040503050406030204" pitchFamily="18" charset="0"/>
                  </a:rPr>
                  <a:t> 个，综上可得 </a:t>
                </a:r>
                <a14:m>
                  <m:oMath xmlns:m="http://schemas.openxmlformats.org/officeDocument/2006/math">
                    <m:r>
                      <a:rPr lang="en-US" altLang="zh-Hans" i="1" dirty="0">
                        <a:latin typeface="Cambria Math" panose="02040503050406030204" pitchFamily="18" charset="0"/>
                        <a:ea typeface="Cambria Math" panose="02040503050406030204" pitchFamily="18" charset="0"/>
                      </a:rPr>
                      <m:t>𝑁</m:t>
                    </m:r>
                    <m:r>
                      <a:rPr lang="en-US" altLang="zh-Hans" i="1" dirty="0">
                        <a:latin typeface="Cambria Math" panose="02040503050406030204" pitchFamily="18" charset="0"/>
                        <a:ea typeface="Cambria Math" panose="02040503050406030204" pitchFamily="18" charset="0"/>
                      </a:rPr>
                      <m:t>!</m:t>
                    </m:r>
                  </m:oMath>
                </a14:m>
                <a:r>
                  <a:rPr lang="zh-Hans" altLang="en-US" dirty="0">
                    <a:latin typeface="Cambria Math" panose="02040503050406030204" pitchFamily="18" charset="0"/>
                  </a:rPr>
                  <a:t> 中 </a:t>
                </a:r>
                <a14:m>
                  <m:oMath xmlns:m="http://schemas.openxmlformats.org/officeDocument/2006/math">
                    <m:r>
                      <a:rPr lang="en-US" altLang="zh-Hans" i="1" dirty="0">
                        <a:latin typeface="Cambria Math" panose="02040503050406030204" pitchFamily="18" charset="0"/>
                      </a:rPr>
                      <m:t>𝑝</m:t>
                    </m:r>
                  </m:oMath>
                </a14:m>
                <a:r>
                  <a:rPr lang="en-US" altLang="zh-Hans" dirty="0">
                    <a:latin typeface="Cambria Math" panose="02040503050406030204" pitchFamily="18" charset="0"/>
                  </a:rPr>
                  <a:t> </a:t>
                </a:r>
                <a:r>
                  <a:rPr lang="zh-Hans" altLang="en-US" dirty="0">
                    <a:latin typeface="Cambria Math" panose="02040503050406030204" pitchFamily="18" charset="0"/>
                  </a:rPr>
                  <a:t>的个数为 </a:t>
                </a:r>
                <a:endParaRPr lang="en-US" altLang="zh-Hans"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𝑝</m:t>
                              </m:r>
                            </m:den>
                          </m:f>
                        </m:e>
                      </m:d>
                      <m:r>
                        <a:rPr lang="en-US" altLang="zh-Hans" i="1">
                          <a:latin typeface="Cambria Math" panose="02040503050406030204" pitchFamily="18" charset="0"/>
                        </a:rPr>
                        <m:t>+</m:t>
                      </m:r>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r>
                                    <a:rPr lang="en-US" altLang="zh-Hans" i="1">
                                      <a:latin typeface="Cambria Math" panose="02040503050406030204" pitchFamily="18" charset="0"/>
                                    </a:rPr>
                                    <m:t>2</m:t>
                                  </m:r>
                                </m:sup>
                              </m:sSup>
                            </m:den>
                          </m:f>
                        </m:e>
                      </m:d>
                      <m:r>
                        <a:rPr lang="en-US" altLang="zh-Hans" i="1">
                          <a:latin typeface="Cambria Math" panose="02040503050406030204" pitchFamily="18" charset="0"/>
                        </a:rPr>
                        <m:t>+</m:t>
                      </m:r>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r>
                                    <a:rPr lang="en-US" altLang="zh-Hans" i="1">
                                      <a:latin typeface="Cambria Math" panose="02040503050406030204" pitchFamily="18" charset="0"/>
                                    </a:rPr>
                                    <m:t>3</m:t>
                                  </m:r>
                                </m:sup>
                              </m:sSup>
                            </m:den>
                          </m:f>
                        </m:e>
                      </m:d>
                      <m:r>
                        <a:rPr lang="en-US" altLang="zh-Hans" i="1">
                          <a:latin typeface="Cambria Math" panose="02040503050406030204" pitchFamily="18" charset="0"/>
                        </a:rPr>
                        <m:t>+…+</m:t>
                      </m:r>
                      <m:d>
                        <m:dPr>
                          <m:begChr m:val="⌊"/>
                          <m:endChr m:val="⌋"/>
                          <m:ctrlPr>
                            <a:rPr lang="zh-Hans" altLang="en-U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d>
                                    <m:dPr>
                                      <m:begChr m:val="⌊"/>
                                      <m:endChr m:val="⌋"/>
                                      <m:ctrlPr>
                                        <a:rPr lang="en-US" altLang="zh-Hans" i="1">
                                          <a:latin typeface="Cambria Math" panose="02040503050406030204" pitchFamily="18" charset="0"/>
                                        </a:rPr>
                                      </m:ctrlPr>
                                    </m:dPr>
                                    <m:e>
                                      <m:func>
                                        <m:funcPr>
                                          <m:ctrlPr>
                                            <a:rPr lang="en-US" altLang="zh-Hans" i="1">
                                              <a:latin typeface="Cambria Math" panose="02040503050406030204" pitchFamily="18" charset="0"/>
                                            </a:rPr>
                                          </m:ctrlPr>
                                        </m:funcPr>
                                        <m:fName>
                                          <m:sSub>
                                            <m:sSubPr>
                                              <m:ctrlPr>
                                                <a:rPr lang="en-US" altLang="zh-Hans" i="1">
                                                  <a:latin typeface="Cambria Math" panose="02040503050406030204" pitchFamily="18" charset="0"/>
                                                </a:rPr>
                                              </m:ctrlPr>
                                            </m:sSubPr>
                                            <m:e>
                                              <m:r>
                                                <m:rPr>
                                                  <m:sty m:val="p"/>
                                                </m:rPr>
                                                <a:rPr lang="en-US" altLang="zh-Hans">
                                                  <a:latin typeface="Cambria Math" panose="02040503050406030204" pitchFamily="18" charset="0"/>
                                                </a:rPr>
                                                <m:t>log</m:t>
                                              </m:r>
                                            </m:e>
                                            <m:sub>
                                              <m:r>
                                                <a:rPr lang="en-US" altLang="zh-Hans" i="1">
                                                  <a:latin typeface="Cambria Math" panose="02040503050406030204" pitchFamily="18" charset="0"/>
                                                </a:rPr>
                                                <m:t>𝑝</m:t>
                                              </m:r>
                                            </m:sub>
                                          </m:sSub>
                                        </m:fName>
                                        <m:e>
                                          <m:r>
                                            <a:rPr lang="en-US" altLang="zh-Hans" i="1">
                                              <a:latin typeface="Cambria Math" panose="02040503050406030204" pitchFamily="18" charset="0"/>
                                            </a:rPr>
                                            <m:t>𝑁</m:t>
                                          </m:r>
                                        </m:e>
                                      </m:func>
                                    </m:e>
                                  </m:d>
                                </m:sup>
                              </m:sSup>
                            </m:den>
                          </m:f>
                        </m:e>
                      </m:d>
                      <m:r>
                        <a:rPr lang="en-US" altLang="zh-Hans" i="1">
                          <a:latin typeface="Cambria Math" panose="02040503050406030204" pitchFamily="18" charset="0"/>
                        </a:rPr>
                        <m:t>=</m:t>
                      </m:r>
                      <m:nary>
                        <m:naryPr>
                          <m:chr m:val="∑"/>
                          <m:supHide m:val="on"/>
                          <m:ctrlPr>
                            <a:rPr lang="en-US" altLang="zh-Hans" i="1">
                              <a:latin typeface="Cambria Math" panose="02040503050406030204" pitchFamily="18" charset="0"/>
                            </a:rPr>
                          </m:ctrlPr>
                        </m:naryPr>
                        <m:sub>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r>
                                <a:rPr lang="en-US" altLang="zh-Hans" i="1">
                                  <a:latin typeface="Cambria Math" panose="02040503050406030204" pitchFamily="18" charset="0"/>
                                </a:rPr>
                                <m:t>𝑘</m:t>
                              </m:r>
                            </m:sup>
                          </m:sSup>
                          <m:r>
                            <m:rPr>
                              <m:brk m:alnAt="7"/>
                            </m:rPr>
                            <a:rPr lang="en-US" altLang="zh-Hans" i="1">
                              <a:latin typeface="Cambria Math" panose="02040503050406030204" pitchFamily="18" charset="0"/>
                              <a:ea typeface="Cambria Math" panose="02040503050406030204" pitchFamily="18" charset="0"/>
                            </a:rPr>
                            <m:t>≤</m:t>
                          </m:r>
                          <m:r>
                            <a:rPr lang="en-US" altLang="zh-Hans" i="1">
                              <a:latin typeface="Cambria Math" panose="02040503050406030204" pitchFamily="18" charset="0"/>
                              <a:ea typeface="Cambria Math" panose="02040503050406030204" pitchFamily="18" charset="0"/>
                            </a:rPr>
                            <m:t>𝑁</m:t>
                          </m:r>
                        </m:sub>
                        <m:sup/>
                        <m:e>
                          <m:d>
                            <m:dPr>
                              <m:begChr m:val="⌊"/>
                              <m:endChr m:val="⌋"/>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sSup>
                                    <m:sSupPr>
                                      <m:ctrlPr>
                                        <a:rPr lang="en-US" altLang="zh-Hans" i="1">
                                          <a:latin typeface="Cambria Math" panose="02040503050406030204" pitchFamily="18" charset="0"/>
                                        </a:rPr>
                                      </m:ctrlPr>
                                    </m:sSupPr>
                                    <m:e>
                                      <m:r>
                                        <a:rPr lang="en-US" altLang="zh-Hans" i="1">
                                          <a:latin typeface="Cambria Math" panose="02040503050406030204" pitchFamily="18" charset="0"/>
                                        </a:rPr>
                                        <m:t>𝑝</m:t>
                                      </m:r>
                                    </m:e>
                                    <m:sup>
                                      <m:r>
                                        <a:rPr lang="en-US" altLang="zh-Hans" i="1">
                                          <a:latin typeface="Cambria Math" panose="02040503050406030204" pitchFamily="18" charset="0"/>
                                        </a:rPr>
                                        <m:t>𝑘</m:t>
                                      </m:r>
                                    </m:sup>
                                  </m:sSup>
                                </m:den>
                              </m:f>
                            </m:e>
                          </m:d>
                        </m:e>
                      </m:nary>
                    </m:oMath>
                  </m:oMathPara>
                </a14:m>
                <a:endParaRPr lang="en-US" altLang="zh-CN" dirty="0">
                  <a:latin typeface="Cambria Math" panose="02040503050406030204" pitchFamily="18" charset="0"/>
                </a:endParaRPr>
              </a:p>
              <a:p>
                <a:pPr>
                  <a:lnSpc>
                    <a:spcPct val="150000"/>
                  </a:lnSpc>
                  <a:spcBef>
                    <a:spcPts val="600"/>
                  </a:spcBef>
                </a:pPr>
                <a:r>
                  <a:rPr lang="zh-Hans" altLang="en-US" dirty="0">
                    <a:latin typeface="Cambria Math" panose="02040503050406030204" pitchFamily="18" charset="0"/>
                  </a:rPr>
                  <a:t>每个 </a:t>
                </a:r>
                <a14:m>
                  <m:oMath xmlns:m="http://schemas.openxmlformats.org/officeDocument/2006/math">
                    <m:r>
                      <a:rPr lang="en-US" altLang="zh-Hans" i="1" dirty="0">
                        <a:latin typeface="Cambria Math" panose="02040503050406030204" pitchFamily="18" charset="0"/>
                      </a:rPr>
                      <m:t>𝑝</m:t>
                    </m:r>
                  </m:oMath>
                </a14:m>
                <a:r>
                  <a:rPr lang="zh-Hans" altLang="en-US" dirty="0">
                    <a:latin typeface="Cambria Math" panose="02040503050406030204" pitchFamily="18" charset="0"/>
                  </a:rPr>
                  <a:t> 需要 </a:t>
                </a:r>
                <a14:m>
                  <m:oMath xmlns:m="http://schemas.openxmlformats.org/officeDocument/2006/math">
                    <m:r>
                      <a:rPr lang="en-US" altLang="zh-Hans" i="1">
                        <a:latin typeface="Cambria Math" panose="02040503050406030204" pitchFamily="18" charset="0"/>
                      </a:rPr>
                      <m:t>𝑂</m:t>
                    </m:r>
                    <m:d>
                      <m:dPr>
                        <m:ctrlPr>
                          <a:rPr lang="en-US" altLang="zh-Hans" i="1">
                            <a:latin typeface="Cambria Math" panose="02040503050406030204" pitchFamily="18" charset="0"/>
                          </a:rPr>
                        </m:ctrlPr>
                      </m:dPr>
                      <m:e>
                        <m:func>
                          <m:funcPr>
                            <m:ctrlPr>
                              <a:rPr lang="en-US" altLang="zh-Hans" i="1">
                                <a:latin typeface="Cambria Math" panose="02040503050406030204" pitchFamily="18" charset="0"/>
                              </a:rPr>
                            </m:ctrlPr>
                          </m:funcPr>
                          <m:fName>
                            <m:r>
                              <m:rPr>
                                <m:sty m:val="p"/>
                              </m:rPr>
                              <a:rPr lang="en-US" altLang="zh-Hans">
                                <a:latin typeface="Cambria Math" panose="02040503050406030204" pitchFamily="18" charset="0"/>
                              </a:rPr>
                              <m:t>log</m:t>
                            </m:r>
                          </m:fName>
                          <m:e>
                            <m:r>
                              <a:rPr lang="en-US" altLang="zh-Hans" i="1">
                                <a:latin typeface="Cambria Math" panose="02040503050406030204" pitchFamily="18" charset="0"/>
                              </a:rPr>
                              <m:t>𝑁</m:t>
                            </m:r>
                          </m:e>
                        </m:func>
                      </m:e>
                    </m:d>
                  </m:oMath>
                </a14:m>
                <a:r>
                  <a:rPr lang="zh-Hans" altLang="en-US" dirty="0">
                    <a:latin typeface="Cambria Math" panose="02040503050406030204" pitchFamily="18" charset="0"/>
                  </a:rPr>
                  <a:t> ，对于</a:t>
                </a:r>
                <a:r>
                  <a:rPr lang="en-US" altLang="zh-Hans" dirty="0">
                    <a:latin typeface="Cambria Math" panose="02040503050406030204" pitchFamily="18" charset="0"/>
                  </a:rPr>
                  <a:t> </a:t>
                </a:r>
                <a14:m>
                  <m:oMath xmlns:m="http://schemas.openxmlformats.org/officeDocument/2006/math">
                    <m:r>
                      <a:rPr lang="en-US" altLang="zh-Hans" i="1" dirty="0">
                        <a:latin typeface="Cambria Math" panose="02040503050406030204" pitchFamily="18" charset="0"/>
                        <a:ea typeface="Cambria Math" panose="02040503050406030204" pitchFamily="18" charset="0"/>
                      </a:rPr>
                      <m:t>𝑁</m:t>
                    </m:r>
                    <m:r>
                      <a:rPr lang="en-US" altLang="zh-Hans" i="1" dirty="0">
                        <a:latin typeface="Cambria Math" panose="02040503050406030204" pitchFamily="18" charset="0"/>
                        <a:ea typeface="Cambria Math" panose="02040503050406030204" pitchFamily="18" charset="0"/>
                      </a:rPr>
                      <m:t>!</m:t>
                    </m:r>
                  </m:oMath>
                </a14:m>
                <a:r>
                  <a:rPr lang="zh-Hans" altLang="en-US" dirty="0">
                    <a:latin typeface="Cambria Math" panose="02040503050406030204" pitchFamily="18" charset="0"/>
                  </a:rPr>
                  <a:t> 分解素因数的时间复杂度为</a:t>
                </a:r>
                <a14:m>
                  <m:oMath xmlns:m="http://schemas.openxmlformats.org/officeDocument/2006/math">
                    <m:r>
                      <a:rPr lang="en-US" altLang="zh-Hans" i="1">
                        <a:latin typeface="Cambria Math" panose="02040503050406030204" pitchFamily="18" charset="0"/>
                      </a:rPr>
                      <m:t>𝑂</m:t>
                    </m:r>
                    <m:d>
                      <m:dPr>
                        <m:ctrlPr>
                          <a:rPr lang="en-US" altLang="zh-Hans" i="1">
                            <a:latin typeface="Cambria Math" panose="02040503050406030204" pitchFamily="18" charset="0"/>
                          </a:rPr>
                        </m:ctrlPr>
                      </m:dPr>
                      <m:e>
                        <m:r>
                          <a:rPr lang="en-US" altLang="zh-Hans" i="1">
                            <a:latin typeface="Cambria Math" panose="02040503050406030204" pitchFamily="18" charset="0"/>
                          </a:rPr>
                          <m:t>𝑁</m:t>
                        </m:r>
                        <m:func>
                          <m:funcPr>
                            <m:ctrlPr>
                              <a:rPr lang="en-US" altLang="zh-Hans" i="1">
                                <a:latin typeface="Cambria Math" panose="02040503050406030204" pitchFamily="18" charset="0"/>
                              </a:rPr>
                            </m:ctrlPr>
                          </m:funcPr>
                          <m:fName>
                            <m:r>
                              <m:rPr>
                                <m:sty m:val="p"/>
                              </m:rPr>
                              <a:rPr lang="en-US" altLang="zh-Hans">
                                <a:latin typeface="Cambria Math" panose="02040503050406030204" pitchFamily="18" charset="0"/>
                              </a:rPr>
                              <m:t>log</m:t>
                            </m:r>
                          </m:fName>
                          <m:e>
                            <m:r>
                              <a:rPr lang="en-US" altLang="zh-Hans" i="1">
                                <a:latin typeface="Cambria Math" panose="02040503050406030204" pitchFamily="18" charset="0"/>
                              </a:rPr>
                              <m:t>𝑁</m:t>
                            </m:r>
                          </m:e>
                        </m:func>
                      </m:e>
                    </m:d>
                  </m:oMath>
                </a14:m>
                <a:r>
                  <a:rPr lang="en-US" altLang="zh-Hans" dirty="0">
                    <a:latin typeface="Cambria Math" panose="02040503050406030204" pitchFamily="18" charset="0"/>
                  </a:rPr>
                  <a:t> </a:t>
                </a:r>
                <a:r>
                  <a:rPr lang="zh-Hans" altLang="en-US" dirty="0">
                    <a:latin typeface="Cambria Math" panose="02040503050406030204" pitchFamily="18" charset="0"/>
                  </a:rPr>
                  <a:t>。 </a:t>
                </a:r>
                <a:endParaRPr lang="en-US" altLang="zh-CN" dirty="0">
                  <a:latin typeface="Cambria Math" panose="02040503050406030204" pitchFamily="18" charset="0"/>
                </a:endParaRPr>
              </a:p>
              <a:p>
                <a:pPr>
                  <a:lnSpc>
                    <a:spcPct val="150000"/>
                  </a:lnSpc>
                  <a:spcBef>
                    <a:spcPts val="1200"/>
                  </a:spcBef>
                </a:pPr>
                <a:endParaRPr lang="en-US" altLang="zh-CN" dirty="0">
                  <a:latin typeface="Cambria Math" panose="020405030504060302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569849"/>
                <a:ext cx="9980682" cy="5288151"/>
              </a:xfrm>
              <a:blipFill>
                <a:blip r:embed="rId2"/>
                <a:stretch>
                  <a:fillRect l="-1398" r="-635" b="-1462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E4E46621-126A-9846-86F5-760134D708CF}"/>
              </a:ext>
            </a:extLst>
          </p:cNvPr>
          <p:cNvSpPr>
            <a:spLocks noGrp="1"/>
          </p:cNvSpPr>
          <p:nvPr>
            <p:ph type="sldNum" sz="quarter" idx="12"/>
          </p:nvPr>
        </p:nvSpPr>
        <p:spPr/>
        <p:txBody>
          <a:bodyPr/>
          <a:lstStyle/>
          <a:p>
            <a:fld id="{0FF54DE5-C571-48E8-A5BC-B369434E2F44}" type="slidenum">
              <a:rPr lang="en-US" altLang="zh-CN" smtClean="0"/>
              <a:pPr/>
              <a:t>19</a:t>
            </a:fld>
            <a:endParaRPr lang="zh-CN" altLang="en-US" dirty="0"/>
          </a:p>
        </p:txBody>
      </p:sp>
    </p:spTree>
    <p:extLst>
      <p:ext uri="{BB962C8B-B14F-4D97-AF65-F5344CB8AC3E}">
        <p14:creationId xmlns:p14="http://schemas.microsoft.com/office/powerpoint/2010/main" val="366617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欧拉筛法（线性筛）</a:t>
            </a:r>
          </a:p>
        </p:txBody>
      </p:sp>
      <mc:AlternateContent xmlns:mc="http://schemas.openxmlformats.org/markup-compatibility/2006" xmlns:a14="http://schemas.microsoft.com/office/drawing/2010/main">
        <mc:Choice Requires="a14">
          <p:sp>
            <p:nvSpPr>
              <p:cNvPr id="17411" name="内容占位符 2"/>
              <p:cNvSpPr>
                <a:spLocks noGrp="1"/>
              </p:cNvSpPr>
              <p:nvPr>
                <p:ph idx="1"/>
              </p:nvPr>
            </p:nvSpPr>
            <p:spPr>
              <a:xfrm>
                <a:off x="1104900" y="1600200"/>
                <a:ext cx="9982200" cy="4884362"/>
              </a:xfrm>
            </p:spPr>
            <p:txBody>
              <a:bodyPr>
                <a:normAutofit/>
              </a:bodyPr>
              <a:lstStyle/>
              <a:p>
                <a:pPr>
                  <a:lnSpc>
                    <a:spcPct val="150000"/>
                  </a:lnSpc>
                  <a:spcBef>
                    <a:spcPts val="1200"/>
                  </a:spcBef>
                </a:pPr>
                <a:r>
                  <a:rPr lang="zh-CN" altLang="en-US" noProof="1"/>
                  <a:t>埃氏筛法中</a:t>
                </a:r>
                <a:r>
                  <a:rPr lang="en-US" altLang="zh-CN" noProof="1"/>
                  <a:t>,</a:t>
                </a:r>
                <a:r>
                  <a:rPr lang="zh-CN" altLang="zh-CN" noProof="1"/>
                  <a:t>以</a:t>
                </a:r>
                <a:r>
                  <a:rPr lang="zh-CN" altLang="en-US" noProof="1"/>
                  <a:t> </a:t>
                </a:r>
                <a14:m>
                  <m:oMath xmlns:m="http://schemas.openxmlformats.org/officeDocument/2006/math">
                    <m:r>
                      <a:rPr lang="zh-CN" altLang="en-US" i="1" noProof="1" smtClean="0">
                        <a:latin typeface="Cambria Math" panose="02040503050406030204" pitchFamily="18" charset="0"/>
                      </a:rPr>
                      <m:t>𝑛</m:t>
                    </m:r>
                    <m:r>
                      <a:rPr lang="zh-CN" altLang="en-US" i="1" noProof="1" smtClean="0">
                        <a:latin typeface="Cambria Math" panose="02040503050406030204" pitchFamily="18" charset="0"/>
                      </a:rPr>
                      <m:t>=50</m:t>
                    </m:r>
                  </m:oMath>
                </a14:m>
                <a:r>
                  <a:rPr lang="zh-Hans" altLang="en-US" noProof="1"/>
                  <a:t> </a:t>
                </a:r>
                <a:r>
                  <a:rPr lang="zh-CN" altLang="en-US" noProof="1"/>
                  <a:t>为例</a:t>
                </a:r>
                <a:r>
                  <a:rPr lang="zh-Hans" altLang="en-US" noProof="1"/>
                  <a:t>，</a:t>
                </a:r>
                <a14:m>
                  <m:oMath xmlns:m="http://schemas.openxmlformats.org/officeDocument/2006/math">
                    <m:r>
                      <a:rPr lang="zh-CN" altLang="en-US" i="1" noProof="1" smtClean="0">
                        <a:latin typeface="Cambria Math" panose="02040503050406030204" pitchFamily="18" charset="0"/>
                      </a:rPr>
                      <m:t>30</m:t>
                    </m:r>
                  </m:oMath>
                </a14:m>
                <a:r>
                  <a:rPr lang="zh-Hans" altLang="en-US" noProof="1">
                    <a:latin typeface="Times New Roman" panose="02020603050405020304" charset="0"/>
                  </a:rPr>
                  <a:t> </a:t>
                </a:r>
                <a:r>
                  <a:rPr lang="zh-CN" altLang="en-US" noProof="1">
                    <a:latin typeface="Times New Roman" panose="02020603050405020304" charset="0"/>
                  </a:rPr>
                  <a:t>这个</a:t>
                </a:r>
                <a:r>
                  <a:rPr lang="zh-CN" altLang="zh-CN" noProof="1"/>
                  <a:t>数被筛了</a:t>
                </a:r>
                <a:r>
                  <a:rPr lang="zh-CN" altLang="en-US" noProof="1"/>
                  <a:t> </a:t>
                </a:r>
                <a14:m>
                  <m:oMath xmlns:m="http://schemas.openxmlformats.org/officeDocument/2006/math">
                    <m:r>
                      <a:rPr lang="zh-CN" altLang="en-US" i="1" noProof="1" smtClean="0">
                        <a:latin typeface="Cambria Math" panose="02040503050406030204" pitchFamily="18" charset="0"/>
                      </a:rPr>
                      <m:t>3</m:t>
                    </m:r>
                  </m:oMath>
                </a14:m>
                <a:r>
                  <a:rPr lang="zh-Hans" altLang="en-US" noProof="1">
                    <a:latin typeface="Times New Roman" panose="02020603050405020304" charset="0"/>
                  </a:rPr>
                  <a:t> </a:t>
                </a:r>
                <a:r>
                  <a:rPr lang="zh-CN" altLang="en-US" noProof="1">
                    <a:latin typeface="Times New Roman" panose="02020603050405020304" charset="0"/>
                  </a:rPr>
                  <a:t>次</a:t>
                </a:r>
                <a:r>
                  <a:rPr lang="zh-Hans" altLang="en-US" noProof="1"/>
                  <a:t>，</a:t>
                </a:r>
                <a:r>
                  <a:rPr lang="zh-CN" altLang="en-US" noProof="1"/>
                  <a:t>分别是：</a:t>
                </a:r>
                <a:endParaRPr lang="en-US" altLang="zh-CN" noProof="1"/>
              </a:p>
              <a:p>
                <a:pPr marL="457200" lvl="1" indent="0">
                  <a:lnSpc>
                    <a:spcPct val="100000"/>
                  </a:lnSpc>
                  <a:spcBef>
                    <a:spcPts val="1200"/>
                  </a:spcBef>
                  <a:buNone/>
                </a:pPr>
                <a14:m>
                  <m:oMathPara xmlns:m="http://schemas.openxmlformats.org/officeDocument/2006/math">
                    <m:oMathParaPr>
                      <m:jc m:val="centerGroup"/>
                    </m:oMathParaPr>
                    <m:oMath xmlns:m="http://schemas.openxmlformats.org/officeDocument/2006/math">
                      <m:r>
                        <a:rPr lang="zh-CN" altLang="en-US" sz="2000" i="1" noProof="1" smtClean="0">
                          <a:latin typeface="Cambria Math" panose="02040503050406030204" pitchFamily="18" charset="0"/>
                        </a:rPr>
                        <m:t>2∗15</m:t>
                      </m:r>
                      <m:d>
                        <m:dPr>
                          <m:ctrlPr>
                            <a:rPr lang="zh-CN" altLang="en-US" sz="2000" i="1" noProof="1" smtClean="0">
                              <a:latin typeface="Cambria Math" panose="02040503050406030204" pitchFamily="18" charset="0"/>
                            </a:rPr>
                          </m:ctrlPr>
                        </m:dPr>
                        <m:e>
                          <m:r>
                            <a:rPr lang="zh-CN" altLang="en-US" sz="2000" i="1" noProof="1" smtClean="0">
                              <a:latin typeface="Cambria Math" panose="02040503050406030204" pitchFamily="18" charset="0"/>
                            </a:rPr>
                            <m:t>𝑝</m:t>
                          </m:r>
                          <m:r>
                            <a:rPr lang="zh-CN" altLang="en-US" sz="2000" i="1" noProof="1" smtClean="0">
                              <a:latin typeface="Cambria Math" panose="02040503050406030204" pitchFamily="18" charset="0"/>
                            </a:rPr>
                            <m:t>=2</m:t>
                          </m:r>
                        </m:e>
                      </m:d>
                    </m:oMath>
                  </m:oMathPara>
                </a14:m>
                <a:endParaRPr lang="en-US" altLang="zh-CN" sz="2000" i="1" noProof="1">
                  <a:latin typeface="Cambria Math" panose="02040503050406030204" pitchFamily="18" charset="0"/>
                </a:endParaRPr>
              </a:p>
              <a:p>
                <a:pPr marL="457200" lvl="1" indent="0">
                  <a:lnSpc>
                    <a:spcPct val="100000"/>
                  </a:lnSpc>
                  <a:spcBef>
                    <a:spcPts val="1200"/>
                  </a:spcBef>
                  <a:buNone/>
                </a:pPr>
                <a14:m>
                  <m:oMathPara xmlns:m="http://schemas.openxmlformats.org/officeDocument/2006/math">
                    <m:oMathParaPr>
                      <m:jc m:val="centerGroup"/>
                    </m:oMathParaPr>
                    <m:oMath xmlns:m="http://schemas.openxmlformats.org/officeDocument/2006/math">
                      <m:r>
                        <a:rPr lang="zh-CN" altLang="en-US" sz="2000" i="1" noProof="1" smtClean="0">
                          <a:latin typeface="Cambria Math" panose="02040503050406030204" pitchFamily="18" charset="0"/>
                        </a:rPr>
                        <m:t>3∗10</m:t>
                      </m:r>
                      <m:d>
                        <m:dPr>
                          <m:ctrlPr>
                            <a:rPr lang="zh-CN" altLang="en-US" sz="2000" i="1" noProof="1" smtClean="0">
                              <a:latin typeface="Cambria Math" panose="02040503050406030204" pitchFamily="18" charset="0"/>
                            </a:rPr>
                          </m:ctrlPr>
                        </m:dPr>
                        <m:e>
                          <m:r>
                            <a:rPr lang="zh-CN" altLang="en-US" sz="2000" i="1" noProof="1" smtClean="0">
                              <a:latin typeface="Cambria Math" panose="02040503050406030204" pitchFamily="18" charset="0"/>
                            </a:rPr>
                            <m:t>𝑝</m:t>
                          </m:r>
                          <m:r>
                            <a:rPr lang="zh-CN" altLang="en-US" sz="2000" i="1" noProof="1" smtClean="0">
                              <a:latin typeface="Cambria Math" panose="02040503050406030204" pitchFamily="18" charset="0"/>
                            </a:rPr>
                            <m:t>=3</m:t>
                          </m:r>
                        </m:e>
                      </m:d>
                    </m:oMath>
                  </m:oMathPara>
                </a14:m>
                <a:endParaRPr lang="en-US" altLang="zh-CN" sz="2000" i="1" noProof="1">
                  <a:latin typeface="Cambria Math" panose="02040503050406030204" pitchFamily="18" charset="0"/>
                </a:endParaRPr>
              </a:p>
              <a:p>
                <a:pPr marL="457200" lvl="1" indent="0">
                  <a:lnSpc>
                    <a:spcPct val="100000"/>
                  </a:lnSpc>
                  <a:spcBef>
                    <a:spcPts val="1200"/>
                  </a:spcBef>
                  <a:buNone/>
                </a:pPr>
                <a14:m>
                  <m:oMathPara xmlns:m="http://schemas.openxmlformats.org/officeDocument/2006/math">
                    <m:oMathParaPr>
                      <m:jc m:val="centerGroup"/>
                    </m:oMathParaPr>
                    <m:oMath xmlns:m="http://schemas.openxmlformats.org/officeDocument/2006/math">
                      <m:r>
                        <a:rPr lang="zh-CN" altLang="en-US" sz="2000" i="1" noProof="1" smtClean="0">
                          <a:latin typeface="Cambria Math" panose="02040503050406030204" pitchFamily="18" charset="0"/>
                        </a:rPr>
                        <m:t>5∗10</m:t>
                      </m:r>
                      <m:d>
                        <m:dPr>
                          <m:ctrlPr>
                            <a:rPr lang="zh-CN" altLang="en-US" sz="2000" i="1" noProof="1" smtClean="0">
                              <a:latin typeface="Cambria Math" panose="02040503050406030204" pitchFamily="18" charset="0"/>
                            </a:rPr>
                          </m:ctrlPr>
                        </m:dPr>
                        <m:e>
                          <m:r>
                            <a:rPr lang="zh-CN" altLang="en-US" sz="2000" i="1" noProof="1" smtClean="0">
                              <a:latin typeface="Cambria Math" panose="02040503050406030204" pitchFamily="18" charset="0"/>
                            </a:rPr>
                            <m:t>𝑝</m:t>
                          </m:r>
                          <m:r>
                            <a:rPr lang="zh-CN" altLang="en-US" sz="2000" i="1" noProof="1" smtClean="0">
                              <a:latin typeface="Cambria Math" panose="02040503050406030204" pitchFamily="18" charset="0"/>
                            </a:rPr>
                            <m:t>=5</m:t>
                          </m:r>
                        </m:e>
                      </m:d>
                    </m:oMath>
                  </m:oMathPara>
                </a14:m>
                <a:endParaRPr lang="en-US" altLang="zh-CN" noProof="1"/>
              </a:p>
              <a:p>
                <a:pPr>
                  <a:lnSpc>
                    <a:spcPct val="150000"/>
                  </a:lnSpc>
                  <a:spcBef>
                    <a:spcPts val="1200"/>
                  </a:spcBef>
                </a:pPr>
                <a:r>
                  <a:rPr lang="zh-CN" altLang="en-US" dirty="0"/>
                  <a:t>如何</a:t>
                </a:r>
                <a14:m>
                  <m:oMath xmlns:m="http://schemas.openxmlformats.org/officeDocument/2006/math">
                    <m:r>
                      <m:rPr>
                        <m:sty m:val="p"/>
                      </m:rPr>
                      <a:rPr lang="en-US" altLang="zh-CN" i="0" dirty="0" smtClean="0">
                        <a:latin typeface="Cambria Math" panose="02040503050406030204" pitchFamily="18" charset="0"/>
                      </a:rPr>
                      <m:t>O</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oMath>
                </a14:m>
                <a:r>
                  <a:rPr lang="zh-CN" altLang="en-US" dirty="0"/>
                  <a:t>求</a:t>
                </a:r>
                <a14:m>
                  <m:oMath xmlns:m="http://schemas.openxmlformats.org/officeDocument/2006/math">
                    <m:r>
                      <a:rPr lang="en-US" altLang="zh-CN" i="1" dirty="0" smtClean="0">
                        <a:latin typeface="Cambria Math" panose="02040503050406030204" pitchFamily="18" charset="0"/>
                      </a:rPr>
                      <m:t>1~</m:t>
                    </m:r>
                    <m:r>
                      <a:rPr lang="en-US" altLang="zh-CN" i="1" dirty="0" smtClean="0">
                        <a:latin typeface="Cambria Math" panose="02040503050406030204" pitchFamily="18" charset="0"/>
                      </a:rPr>
                      <m:t>𝑛</m:t>
                    </m:r>
                  </m:oMath>
                </a14:m>
                <a:r>
                  <a:rPr lang="zh-CN" altLang="en-US" dirty="0"/>
                  <a:t>的素数？</a:t>
                </a:r>
                <a:endParaRPr lang="en-US" altLang="zh-CN" dirty="0"/>
              </a:p>
              <a:p>
                <a:pPr>
                  <a:lnSpc>
                    <a:spcPct val="150000"/>
                  </a:lnSpc>
                  <a:spcBef>
                    <a:spcPts val="1200"/>
                  </a:spcBef>
                </a:pPr>
                <a:r>
                  <a:rPr lang="zh-Hans" altLang="en-US" dirty="0"/>
                  <a:t>如果</a:t>
                </a:r>
                <a:r>
                  <a:rPr lang="zh-CN" altLang="zh-CN" noProof="1"/>
                  <a:t>每个合数只被</a:t>
                </a:r>
                <a:r>
                  <a:rPr lang="zh-Hans" altLang="en-US" noProof="1"/>
                  <a:t>它的</a:t>
                </a:r>
                <a:r>
                  <a:rPr lang="zh-CN" altLang="zh-CN" noProof="1"/>
                  <a:t>最小素因</a:t>
                </a:r>
                <a:r>
                  <a:rPr lang="zh-Hans" altLang="en-US" noProof="1"/>
                  <a:t>数</a:t>
                </a:r>
                <a:r>
                  <a:rPr lang="zh-CN" altLang="zh-CN" noProof="1"/>
                  <a:t>筛除</a:t>
                </a:r>
                <a:r>
                  <a:rPr lang="zh-CN" altLang="en-US" noProof="1"/>
                  <a:t>，</a:t>
                </a:r>
                <a:r>
                  <a:rPr lang="zh-Hans" altLang="en-US" noProof="1"/>
                  <a:t>那么</a:t>
                </a:r>
                <a:r>
                  <a:rPr lang="zh-CN" altLang="zh-CN" noProof="1"/>
                  <a:t>每个数最多只被筛一次</a:t>
                </a:r>
                <a:r>
                  <a:rPr lang="zh-CN" altLang="en-US" noProof="1"/>
                  <a:t>。</a:t>
                </a:r>
                <a:endParaRPr lang="en-US" altLang="zh-CN" noProof="1"/>
              </a:p>
            </p:txBody>
          </p:sp>
        </mc:Choice>
        <mc:Fallback xmlns="">
          <p:sp>
            <p:nvSpPr>
              <p:cNvPr id="17411" name="内容占位符 2"/>
              <p:cNvSpPr>
                <a:spLocks noGrp="1" noRot="1" noChangeAspect="1" noMove="1" noResize="1" noEditPoints="1" noAdjustHandles="1" noChangeArrowheads="1" noChangeShapeType="1" noTextEdit="1"/>
              </p:cNvSpPr>
              <p:nvPr>
                <p:ph idx="1"/>
              </p:nvPr>
            </p:nvSpPr>
            <p:spPr>
              <a:xfrm>
                <a:off x="1104900" y="1600200"/>
                <a:ext cx="9982200" cy="4884362"/>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F6DA21AF-1A0B-264F-AEA5-AB46C065F078}"/>
              </a:ext>
            </a:extLst>
          </p:cNvPr>
          <p:cNvSpPr>
            <a:spLocks noGrp="1"/>
          </p:cNvSpPr>
          <p:nvPr>
            <p:ph type="sldNum" sz="quarter" idx="12"/>
          </p:nvPr>
        </p:nvSpPr>
        <p:spPr/>
        <p:txBody>
          <a:bodyPr/>
          <a:lstStyle/>
          <a:p>
            <a:fld id="{0FF54DE5-C571-48E8-A5BC-B369434E2F44}" type="slidenum">
              <a:rPr lang="en-US" altLang="zh-CN" smtClean="0"/>
              <a:pPr/>
              <a:t>20</a:t>
            </a:fld>
            <a:endParaRPr lang="zh-CN" altLang="en-US" dirty="0"/>
          </a:p>
        </p:txBody>
      </p:sp>
    </p:spTree>
    <p:extLst>
      <p:ext uri="{BB962C8B-B14F-4D97-AF65-F5344CB8AC3E}">
        <p14:creationId xmlns:p14="http://schemas.microsoft.com/office/powerpoint/2010/main" val="3165847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410" name="标题 1"/>
              <p:cNvSpPr>
                <a:spLocks noGrp="1"/>
              </p:cNvSpPr>
              <p:nvPr>
                <p:ph type="title"/>
              </p:nvPr>
            </p:nvSpPr>
            <p:spPr/>
            <p:txBody>
              <a:bodyPr/>
              <a:lstStyle/>
              <a:p>
                <a:r>
                  <a:rPr lang="zh-CN" altLang="en-US" dirty="0"/>
                  <a:t>欧拉筛法（线性筛）</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=50</m:t>
                    </m:r>
                  </m:oMath>
                </a14:m>
                <a:r>
                  <a:rPr lang="zh-CN" altLang="en-US" dirty="0"/>
                  <a:t>的筛选过程图示</a:t>
                </a:r>
              </a:p>
            </p:txBody>
          </p:sp>
        </mc:Choice>
        <mc:Fallback xmlns="">
          <p:sp>
            <p:nvSpPr>
              <p:cNvPr id="17410" name="标题 1"/>
              <p:cNvSpPr>
                <a:spLocks noGrp="1" noRot="1" noChangeAspect="1" noMove="1" noResize="1" noEditPoints="1" noAdjustHandles="1" noChangeArrowheads="1" noChangeShapeType="1" noTextEdit="1"/>
              </p:cNvSpPr>
              <p:nvPr>
                <p:ph type="title"/>
              </p:nvPr>
            </p:nvSpPr>
            <p:spPr>
              <a:blipFill rotWithShape="0">
                <a:blip r:embed="rId2"/>
                <a:stretch>
                  <a:fillRect l="-2137" b="-15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 name="表格 4"/>
              <p:cNvGraphicFramePr/>
              <p:nvPr>
                <p:extLst>
                  <p:ext uri="{D42A27DB-BD31-4B8C-83A1-F6EECF244321}">
                    <p14:modId xmlns:p14="http://schemas.microsoft.com/office/powerpoint/2010/main" val="1297092806"/>
                  </p:ext>
                </p:extLst>
              </p:nvPr>
            </p:nvGraphicFramePr>
            <p:xfrm>
              <a:off x="1104900" y="1607279"/>
              <a:ext cx="9980682" cy="4870302"/>
            </p:xfrm>
            <a:graphic>
              <a:graphicData uri="http://schemas.openxmlformats.org/drawingml/2006/table">
                <a:tbl>
                  <a:tblPr firstRow="1" bandRow="1">
                    <a:tableStyleId>{5C22544A-7EE6-4342-B048-85BDC9FD1C3A}</a:tableStyleId>
                  </a:tblPr>
                  <a:tblGrid>
                    <a:gridCol w="810060">
                      <a:extLst>
                        <a:ext uri="{9D8B030D-6E8A-4147-A177-3AD203B41FA5}">
                          <a16:colId xmlns:a16="http://schemas.microsoft.com/office/drawing/2014/main" val="20000"/>
                        </a:ext>
                      </a:extLst>
                    </a:gridCol>
                    <a:gridCol w="1642300">
                      <a:extLst>
                        <a:ext uri="{9D8B030D-6E8A-4147-A177-3AD203B41FA5}">
                          <a16:colId xmlns:a16="http://schemas.microsoft.com/office/drawing/2014/main" val="20001"/>
                        </a:ext>
                      </a:extLst>
                    </a:gridCol>
                    <a:gridCol w="2258053">
                      <a:extLst>
                        <a:ext uri="{9D8B030D-6E8A-4147-A177-3AD203B41FA5}">
                          <a16:colId xmlns:a16="http://schemas.microsoft.com/office/drawing/2014/main" val="20002"/>
                        </a:ext>
                      </a:extLst>
                    </a:gridCol>
                    <a:gridCol w="972427">
                      <a:extLst>
                        <a:ext uri="{9D8B030D-6E8A-4147-A177-3AD203B41FA5}">
                          <a16:colId xmlns:a16="http://schemas.microsoft.com/office/drawing/2014/main" val="20003"/>
                        </a:ext>
                      </a:extLst>
                    </a:gridCol>
                    <a:gridCol w="2594321">
                      <a:extLst>
                        <a:ext uri="{9D8B030D-6E8A-4147-A177-3AD203B41FA5}">
                          <a16:colId xmlns:a16="http://schemas.microsoft.com/office/drawing/2014/main" val="20004"/>
                        </a:ext>
                      </a:extLst>
                    </a:gridCol>
                    <a:gridCol w="1703521">
                      <a:extLst>
                        <a:ext uri="{9D8B030D-6E8A-4147-A177-3AD203B41FA5}">
                          <a16:colId xmlns:a16="http://schemas.microsoft.com/office/drawing/2014/main" val="20005"/>
                        </a:ext>
                      </a:extLst>
                    </a:gridCol>
                  </a:tblGrid>
                  <a:tr h="438710">
                    <a:tc>
                      <a:txBody>
                        <a:bodyPr/>
                        <a:lstStyle/>
                        <a:p>
                          <a:pPr algn="ctr">
                            <a:buNone/>
                          </a:pPr>
                          <a14:m>
                            <m:oMathPara xmlns:m="http://schemas.openxmlformats.org/officeDocument/2006/math">
                              <m:oMathParaPr>
                                <m:jc m:val="centerGroup"/>
                              </m:oMathParaPr>
                              <m:oMath xmlns:m="http://schemas.openxmlformats.org/officeDocument/2006/math">
                                <m:r>
                                  <a:rPr lang="en-US" altLang="zh-CN" sz="1600" b="0" i="1" dirty="0" smtClean="0">
                                    <a:solidFill>
                                      <a:schemeClr val="bg1">
                                        <a:lumMod val="95000"/>
                                      </a:schemeClr>
                                    </a:solidFill>
                                    <a:latin typeface="Cambria Math" panose="02040503050406030204" pitchFamily="18" charset="0"/>
                                    <a:ea typeface="Heiti SC Medium" pitchFamily="2" charset="-128"/>
                                  </a:rPr>
                                  <m:t>𝑖</m:t>
                                </m:r>
                                <m:r>
                                  <a:rPr lang="en-US" altLang="zh-CN" sz="1600" b="0" i="1" dirty="0">
                                    <a:solidFill>
                                      <a:schemeClr val="bg1">
                                        <a:lumMod val="95000"/>
                                      </a:schemeClr>
                                    </a:solidFill>
                                    <a:latin typeface="Cambria Math" panose="02040503050406030204" pitchFamily="18" charset="0"/>
                                    <a:ea typeface="Heiti SC Medium" pitchFamily="2" charset="-128"/>
                                  </a:rPr>
                                  <m:t>=</m:t>
                                </m:r>
                              </m:oMath>
                            </m:oMathPara>
                          </a14:m>
                          <a:endParaRPr lang="en-US" altLang="zh-CN" sz="1600" b="0" dirty="0">
                            <a:solidFill>
                              <a:schemeClr val="bg1">
                                <a:lumMod val="95000"/>
                              </a:schemeClr>
                            </a:solidFill>
                            <a:latin typeface="Heiti SC Medium" pitchFamily="2" charset="-128"/>
                            <a:ea typeface="Heiti SC Medium" pitchFamily="2" charset="-128"/>
                          </a:endParaRP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素数表</a:t>
                          </a: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筛除的数</a:t>
                          </a:r>
                        </a:p>
                      </a:txBody>
                      <a:tcPr marL="91448" marR="91448" marT="45716" marB="45716"/>
                    </a:tc>
                    <a:tc>
                      <a:txBody>
                        <a:bodyPr/>
                        <a:lstStyle/>
                        <a:p>
                          <a:pPr algn="ctr">
                            <a:buNone/>
                          </a:pPr>
                          <a14:m>
                            <m:oMathPara xmlns:m="http://schemas.openxmlformats.org/officeDocument/2006/math">
                              <m:oMathParaPr>
                                <m:jc m:val="centerGroup"/>
                              </m:oMathParaPr>
                              <m:oMath xmlns:m="http://schemas.openxmlformats.org/officeDocument/2006/math">
                                <m:r>
                                  <a:rPr lang="en-US" altLang="zh-CN" sz="1600" b="0" i="1" dirty="0" smtClean="0">
                                    <a:solidFill>
                                      <a:schemeClr val="bg1">
                                        <a:lumMod val="95000"/>
                                      </a:schemeClr>
                                    </a:solidFill>
                                    <a:latin typeface="Cambria Math" panose="02040503050406030204" pitchFamily="18" charset="0"/>
                                    <a:ea typeface="Heiti SC Medium" pitchFamily="2" charset="-128"/>
                                  </a:rPr>
                                  <m:t>𝑖</m:t>
                                </m:r>
                                <m:r>
                                  <a:rPr lang="en-US" altLang="zh-CN" sz="1600" b="0" i="1" dirty="0">
                                    <a:solidFill>
                                      <a:schemeClr val="bg1">
                                        <a:lumMod val="95000"/>
                                      </a:schemeClr>
                                    </a:solidFill>
                                    <a:latin typeface="Cambria Math" panose="02040503050406030204" pitchFamily="18" charset="0"/>
                                    <a:ea typeface="Heiti SC Medium" pitchFamily="2" charset="-128"/>
                                  </a:rPr>
                                  <m:t>=</m:t>
                                </m:r>
                              </m:oMath>
                            </m:oMathPara>
                          </a14:m>
                          <a:endParaRPr lang="en-US" altLang="zh-CN" sz="1600" b="0" dirty="0">
                            <a:solidFill>
                              <a:schemeClr val="bg1">
                                <a:lumMod val="95000"/>
                              </a:schemeClr>
                            </a:solidFill>
                            <a:latin typeface="Heiti SC Medium" pitchFamily="2" charset="-128"/>
                            <a:ea typeface="Heiti SC Medium" pitchFamily="2" charset="-128"/>
                          </a:endParaRP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素数表</a:t>
                          </a: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筛除的数</a:t>
                          </a:r>
                        </a:p>
                      </a:txBody>
                      <a:tcPr marL="91448" marR="91448" marT="45716" marB="45716"/>
                    </a:tc>
                    <a:extLst>
                      <a:ext uri="{0D108BD9-81ED-4DB2-BD59-A6C34878D82A}">
                        <a16:rowId xmlns:a16="http://schemas.microsoft.com/office/drawing/2014/main" val="10000"/>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2</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{2}</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{4}</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{26,39}</a:t>
                          </a:r>
                        </a:p>
                      </a:txBody>
                      <a:tcPr marL="91448" marR="91448" marT="45716" marB="45716"/>
                    </a:tc>
                    <a:extLst>
                      <a:ext uri="{0D108BD9-81ED-4DB2-BD59-A6C34878D82A}">
                        <a16:rowId xmlns:a16="http://schemas.microsoft.com/office/drawing/2014/main" val="10001"/>
                      </a:ext>
                    </a:extLst>
                  </a:tr>
                  <a:tr h="402872">
                    <a:tc>
                      <a:txBody>
                        <a:bodyPr/>
                        <a:lstStyle/>
                        <a:p>
                          <a:pPr algn="ctr">
                            <a:buNone/>
                          </a:pPr>
                          <a:r>
                            <a:rPr lang="en-US" altLang="zh-CN" sz="1600" b="1" i="1" u="sng">
                              <a:solidFill>
                                <a:schemeClr val="tx1"/>
                              </a:solidFill>
                              <a:latin typeface="Heiti SC Medium" pitchFamily="2" charset="-128"/>
                              <a:ea typeface="Heiti SC Medium" pitchFamily="2" charset="-128"/>
                            </a:rPr>
                            <a:t>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{6,9}</a:t>
                          </a:r>
                        </a:p>
                      </a:txBody>
                      <a:tcPr marL="91448" marR="91448" marT="45716" marB="45716"/>
                    </a:tc>
                    <a:tc>
                      <a:txBody>
                        <a:bodyPr/>
                        <a:lstStyle/>
                        <a:p>
                          <a:pPr algn="ctr">
                            <a:buNone/>
                          </a:pPr>
                          <a:r>
                            <a:rPr lang="en-US" altLang="zh-CN" sz="1600" b="1" i="1" u="sng">
                              <a:solidFill>
                                <a:schemeClr val="tx1"/>
                              </a:solidFill>
                              <a:latin typeface="Heiti SC Medium" pitchFamily="2" charset="-128"/>
                              <a:ea typeface="Heiti SC Medium" pitchFamily="2" charset="-128"/>
                            </a:rPr>
                            <a:t>14</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{28}</a:t>
                          </a:r>
                        </a:p>
                      </a:txBody>
                      <a:tcPr marL="91448" marR="91448" marT="45716" marB="45716"/>
                    </a:tc>
                    <a:extLst>
                      <a:ext uri="{0D108BD9-81ED-4DB2-BD59-A6C34878D82A}">
                        <a16:rowId xmlns:a16="http://schemas.microsoft.com/office/drawing/2014/main" val="10002"/>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4</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{8}</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{30,45}</a:t>
                          </a:r>
                        </a:p>
                      </a:txBody>
                      <a:tcPr marL="91448" marR="91448" marT="45716" marB="45716"/>
                    </a:tc>
                    <a:extLst>
                      <a:ext uri="{0D108BD9-81ED-4DB2-BD59-A6C34878D82A}">
                        <a16:rowId xmlns:a16="http://schemas.microsoft.com/office/drawing/2014/main" val="10003"/>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{10,15,25}</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16</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{32}</a:t>
                          </a:r>
                        </a:p>
                      </a:txBody>
                      <a:tcPr marL="91448" marR="91448" marT="45716" marB="45716"/>
                    </a:tc>
                    <a:extLst>
                      <a:ext uri="{0D108BD9-81ED-4DB2-BD59-A6C34878D82A}">
                        <a16:rowId xmlns:a16="http://schemas.microsoft.com/office/drawing/2014/main" val="10004"/>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6</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{12}</a:t>
                          </a:r>
                        </a:p>
                      </a:txBody>
                      <a:tcPr marL="91448" marR="91448" marT="45716" marB="45716"/>
                    </a:tc>
                    <a:tc>
                      <a:txBody>
                        <a:bodyPr/>
                        <a:lstStyle/>
                        <a:p>
                          <a:pPr algn="ctr">
                            <a:buNone/>
                          </a:pPr>
                          <a:r>
                            <a:rPr lang="en-US" altLang="zh-CN" sz="1600" b="1" i="1" u="sng">
                              <a:solidFill>
                                <a:schemeClr val="tx1"/>
                              </a:solidFill>
                              <a:latin typeface="Heiti SC Medium" pitchFamily="2" charset="-128"/>
                              <a:ea typeface="Heiti SC Medium" pitchFamily="2" charset="-128"/>
                            </a:rPr>
                            <a:t>17</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{34}</a:t>
                          </a:r>
                        </a:p>
                      </a:txBody>
                      <a:tcPr marL="91448" marR="91448" marT="45716" marB="45716"/>
                    </a:tc>
                    <a:extLst>
                      <a:ext uri="{0D108BD9-81ED-4DB2-BD59-A6C34878D82A}">
                        <a16:rowId xmlns:a16="http://schemas.microsoft.com/office/drawing/2014/main" val="10005"/>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{14,21,35,49}</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18</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{36}</a:t>
                          </a:r>
                        </a:p>
                      </a:txBody>
                      <a:tcPr marL="91448" marR="91448" marT="45716" marB="45716"/>
                    </a:tc>
                    <a:extLst>
                      <a:ext uri="{0D108BD9-81ED-4DB2-BD59-A6C34878D82A}">
                        <a16:rowId xmlns:a16="http://schemas.microsoft.com/office/drawing/2014/main" val="10006"/>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8</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{16}</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19</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{38}</a:t>
                          </a:r>
                        </a:p>
                      </a:txBody>
                      <a:tcPr marL="91448" marR="91448" marT="45716" marB="45716"/>
                    </a:tc>
                    <a:extLst>
                      <a:ext uri="{0D108BD9-81ED-4DB2-BD59-A6C34878D82A}">
                        <a16:rowId xmlns:a16="http://schemas.microsoft.com/office/drawing/2014/main" val="10007"/>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9</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{18,27}</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20</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{2,3,5,7,11,13,17,19}</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{20}</a:t>
                          </a:r>
                        </a:p>
                      </a:txBody>
                      <a:tcPr marL="91448" marR="91448" marT="45716" marB="45716"/>
                    </a:tc>
                    <a:extLst>
                      <a:ext uri="{0D108BD9-81ED-4DB2-BD59-A6C34878D82A}">
                        <a16:rowId xmlns:a16="http://schemas.microsoft.com/office/drawing/2014/main" val="10008"/>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10</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{20}</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21</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{42}</a:t>
                          </a:r>
                        </a:p>
                      </a:txBody>
                      <a:tcPr marL="91448" marR="91448" marT="45716" marB="45716"/>
                    </a:tc>
                    <a:extLst>
                      <a:ext uri="{0D108BD9-81ED-4DB2-BD59-A6C34878D82A}">
                        <a16:rowId xmlns:a16="http://schemas.microsoft.com/office/drawing/2014/main" val="10009"/>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{22,33}</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22</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{44}</a:t>
                          </a:r>
                        </a:p>
                      </a:txBody>
                      <a:tcPr marL="91448" marR="91448" marT="45716" marB="45716"/>
                    </a:tc>
                    <a:extLst>
                      <a:ext uri="{0D108BD9-81ED-4DB2-BD59-A6C34878D82A}">
                        <a16:rowId xmlns:a16="http://schemas.microsoft.com/office/drawing/2014/main" val="10010"/>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12</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{24}</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a:t>
                          </a:r>
                        </a:p>
                      </a:txBody>
                      <a:tcPr marL="91448" marR="91448" marT="45716" marB="45716"/>
                    </a:tc>
                    <a:extLst>
                      <a:ext uri="{0D108BD9-81ED-4DB2-BD59-A6C34878D82A}">
                        <a16:rowId xmlns:a16="http://schemas.microsoft.com/office/drawing/2014/main" val="10011"/>
                      </a:ext>
                    </a:extLst>
                  </a:tr>
                </a:tbl>
              </a:graphicData>
            </a:graphic>
          </p:graphicFrame>
        </mc:Choice>
        <mc:Fallback xmlns="">
          <p:graphicFrame>
            <p:nvGraphicFramePr>
              <p:cNvPr id="5" name="表格 4"/>
              <p:cNvGraphicFramePr/>
              <p:nvPr>
                <p:extLst>
                  <p:ext uri="{D42A27DB-BD31-4B8C-83A1-F6EECF244321}">
                    <p14:modId xmlns:p14="http://schemas.microsoft.com/office/powerpoint/2010/main" val="1297092806"/>
                  </p:ext>
                </p:extLst>
              </p:nvPr>
            </p:nvGraphicFramePr>
            <p:xfrm>
              <a:off x="1104900" y="1607279"/>
              <a:ext cx="9980682" cy="4870302"/>
            </p:xfrm>
            <a:graphic>
              <a:graphicData uri="http://schemas.openxmlformats.org/drawingml/2006/table">
                <a:tbl>
                  <a:tblPr firstRow="1" bandRow="1">
                    <a:tableStyleId>{5C22544A-7EE6-4342-B048-85BDC9FD1C3A}</a:tableStyleId>
                  </a:tblPr>
                  <a:tblGrid>
                    <a:gridCol w="810060">
                      <a:extLst>
                        <a:ext uri="{9D8B030D-6E8A-4147-A177-3AD203B41FA5}">
                          <a16:colId xmlns:a16="http://schemas.microsoft.com/office/drawing/2014/main" val="20000"/>
                        </a:ext>
                      </a:extLst>
                    </a:gridCol>
                    <a:gridCol w="1642300">
                      <a:extLst>
                        <a:ext uri="{9D8B030D-6E8A-4147-A177-3AD203B41FA5}">
                          <a16:colId xmlns:a16="http://schemas.microsoft.com/office/drawing/2014/main" val="20001"/>
                        </a:ext>
                      </a:extLst>
                    </a:gridCol>
                    <a:gridCol w="2258053">
                      <a:extLst>
                        <a:ext uri="{9D8B030D-6E8A-4147-A177-3AD203B41FA5}">
                          <a16:colId xmlns:a16="http://schemas.microsoft.com/office/drawing/2014/main" val="20002"/>
                        </a:ext>
                      </a:extLst>
                    </a:gridCol>
                    <a:gridCol w="972427">
                      <a:extLst>
                        <a:ext uri="{9D8B030D-6E8A-4147-A177-3AD203B41FA5}">
                          <a16:colId xmlns:a16="http://schemas.microsoft.com/office/drawing/2014/main" val="20003"/>
                        </a:ext>
                      </a:extLst>
                    </a:gridCol>
                    <a:gridCol w="2594321">
                      <a:extLst>
                        <a:ext uri="{9D8B030D-6E8A-4147-A177-3AD203B41FA5}">
                          <a16:colId xmlns:a16="http://schemas.microsoft.com/office/drawing/2014/main" val="20004"/>
                        </a:ext>
                      </a:extLst>
                    </a:gridCol>
                    <a:gridCol w="1703521">
                      <a:extLst>
                        <a:ext uri="{9D8B030D-6E8A-4147-A177-3AD203B41FA5}">
                          <a16:colId xmlns:a16="http://schemas.microsoft.com/office/drawing/2014/main" val="20005"/>
                        </a:ext>
                      </a:extLst>
                    </a:gridCol>
                  </a:tblGrid>
                  <a:tr h="438710">
                    <a:tc>
                      <a:txBody>
                        <a:bodyPr/>
                        <a:lstStyle/>
                        <a:p>
                          <a:endParaRPr lang="zh-CN"/>
                        </a:p>
                      </a:txBody>
                      <a:tcPr marL="91448" marR="91448" marT="45716" marB="45716">
                        <a:blipFill>
                          <a:blip r:embed="rId3"/>
                          <a:stretch>
                            <a:fillRect l="-1563" t="-2857" r="-1131250" b="-1000000"/>
                          </a:stretch>
                        </a:blipFill>
                      </a:tcPr>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素数表</a:t>
                          </a: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筛除的数</a:t>
                          </a:r>
                        </a:p>
                      </a:txBody>
                      <a:tcPr marL="91448" marR="91448" marT="45716" marB="45716"/>
                    </a:tc>
                    <a:tc>
                      <a:txBody>
                        <a:bodyPr/>
                        <a:lstStyle/>
                        <a:p>
                          <a:endParaRPr lang="zh-CN"/>
                        </a:p>
                      </a:txBody>
                      <a:tcPr marL="91448" marR="91448" marT="45716" marB="45716">
                        <a:blipFill>
                          <a:blip r:embed="rId3"/>
                          <a:stretch>
                            <a:fillRect l="-483117" t="-2857" r="-441558" b="-1000000"/>
                          </a:stretch>
                        </a:blipFill>
                      </a:tcPr>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素数表</a:t>
                          </a:r>
                        </a:p>
                      </a:txBody>
                      <a:tcPr marL="91448" marR="91448" marT="45716" marB="45716"/>
                    </a:tc>
                    <a:tc>
                      <a:txBody>
                        <a:bodyPr/>
                        <a:lstStyle/>
                        <a:p>
                          <a:pPr algn="ctr">
                            <a:buNone/>
                          </a:pPr>
                          <a:r>
                            <a:rPr lang="zh-CN" altLang="en-US" sz="1600" b="0" dirty="0">
                              <a:solidFill>
                                <a:schemeClr val="bg1">
                                  <a:lumMod val="95000"/>
                                </a:schemeClr>
                              </a:solidFill>
                              <a:latin typeface="Heiti SC Medium" pitchFamily="2" charset="-128"/>
                              <a:ea typeface="Heiti SC Medium" pitchFamily="2" charset="-128"/>
                            </a:rPr>
                            <a:t>筛除的数</a:t>
                          </a:r>
                        </a:p>
                      </a:txBody>
                      <a:tcPr marL="91448" marR="91448" marT="45716" marB="45716"/>
                    </a:tc>
                    <a:extLst>
                      <a:ext uri="{0D108BD9-81ED-4DB2-BD59-A6C34878D82A}">
                        <a16:rowId xmlns:a16="http://schemas.microsoft.com/office/drawing/2014/main" val="10000"/>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2</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{2}</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{4}</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{26,39}</a:t>
                          </a:r>
                        </a:p>
                      </a:txBody>
                      <a:tcPr marL="91448" marR="91448" marT="45716" marB="45716"/>
                    </a:tc>
                    <a:extLst>
                      <a:ext uri="{0D108BD9-81ED-4DB2-BD59-A6C34878D82A}">
                        <a16:rowId xmlns:a16="http://schemas.microsoft.com/office/drawing/2014/main" val="10001"/>
                      </a:ext>
                    </a:extLst>
                  </a:tr>
                  <a:tr h="402872">
                    <a:tc>
                      <a:txBody>
                        <a:bodyPr/>
                        <a:lstStyle/>
                        <a:p>
                          <a:pPr algn="ctr">
                            <a:buNone/>
                          </a:pPr>
                          <a:r>
                            <a:rPr lang="en-US" altLang="zh-CN" sz="1600" b="1" i="1" u="sng">
                              <a:solidFill>
                                <a:schemeClr val="tx1"/>
                              </a:solidFill>
                              <a:latin typeface="Heiti SC Medium" pitchFamily="2" charset="-128"/>
                              <a:ea typeface="Heiti SC Medium" pitchFamily="2" charset="-128"/>
                            </a:rPr>
                            <a:t>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{6,9}</a:t>
                          </a:r>
                        </a:p>
                      </a:txBody>
                      <a:tcPr marL="91448" marR="91448" marT="45716" marB="45716"/>
                    </a:tc>
                    <a:tc>
                      <a:txBody>
                        <a:bodyPr/>
                        <a:lstStyle/>
                        <a:p>
                          <a:pPr algn="ctr">
                            <a:buNone/>
                          </a:pPr>
                          <a:r>
                            <a:rPr lang="en-US" altLang="zh-CN" sz="1600" b="1" i="1" u="sng">
                              <a:solidFill>
                                <a:schemeClr val="tx1"/>
                              </a:solidFill>
                              <a:latin typeface="Heiti SC Medium" pitchFamily="2" charset="-128"/>
                              <a:ea typeface="Heiti SC Medium" pitchFamily="2" charset="-128"/>
                            </a:rPr>
                            <a:t>14</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{28}</a:t>
                          </a:r>
                        </a:p>
                      </a:txBody>
                      <a:tcPr marL="91448" marR="91448" marT="45716" marB="45716"/>
                    </a:tc>
                    <a:extLst>
                      <a:ext uri="{0D108BD9-81ED-4DB2-BD59-A6C34878D82A}">
                        <a16:rowId xmlns:a16="http://schemas.microsoft.com/office/drawing/2014/main" val="10002"/>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4</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{8}</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{2,3,5,7,11,13}</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{30,45}</a:t>
                          </a:r>
                        </a:p>
                      </a:txBody>
                      <a:tcPr marL="91448" marR="91448" marT="45716" marB="45716"/>
                    </a:tc>
                    <a:extLst>
                      <a:ext uri="{0D108BD9-81ED-4DB2-BD59-A6C34878D82A}">
                        <a16:rowId xmlns:a16="http://schemas.microsoft.com/office/drawing/2014/main" val="10003"/>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{10,15,25}</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16</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{32}</a:t>
                          </a:r>
                        </a:p>
                      </a:txBody>
                      <a:tcPr marL="91448" marR="91448" marT="45716" marB="45716"/>
                    </a:tc>
                    <a:extLst>
                      <a:ext uri="{0D108BD9-81ED-4DB2-BD59-A6C34878D82A}">
                        <a16:rowId xmlns:a16="http://schemas.microsoft.com/office/drawing/2014/main" val="10004"/>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6</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{12}</a:t>
                          </a:r>
                        </a:p>
                      </a:txBody>
                      <a:tcPr marL="91448" marR="91448" marT="45716" marB="45716"/>
                    </a:tc>
                    <a:tc>
                      <a:txBody>
                        <a:bodyPr/>
                        <a:lstStyle/>
                        <a:p>
                          <a:pPr algn="ctr">
                            <a:buNone/>
                          </a:pPr>
                          <a:r>
                            <a:rPr lang="en-US" altLang="zh-CN" sz="1600" b="1" i="1" u="sng">
                              <a:solidFill>
                                <a:schemeClr val="tx1"/>
                              </a:solidFill>
                              <a:latin typeface="Heiti SC Medium" pitchFamily="2" charset="-128"/>
                              <a:ea typeface="Heiti SC Medium" pitchFamily="2" charset="-128"/>
                            </a:rPr>
                            <a:t>17</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{34}</a:t>
                          </a:r>
                        </a:p>
                      </a:txBody>
                      <a:tcPr marL="91448" marR="91448" marT="45716" marB="45716"/>
                    </a:tc>
                    <a:extLst>
                      <a:ext uri="{0D108BD9-81ED-4DB2-BD59-A6C34878D82A}">
                        <a16:rowId xmlns:a16="http://schemas.microsoft.com/office/drawing/2014/main" val="10005"/>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{14,21,35,49}</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18</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{36}</a:t>
                          </a:r>
                        </a:p>
                      </a:txBody>
                      <a:tcPr marL="91448" marR="91448" marT="45716" marB="45716"/>
                    </a:tc>
                    <a:extLst>
                      <a:ext uri="{0D108BD9-81ED-4DB2-BD59-A6C34878D82A}">
                        <a16:rowId xmlns:a16="http://schemas.microsoft.com/office/drawing/2014/main" val="10006"/>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8</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{16}</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19</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{38}</a:t>
                          </a:r>
                        </a:p>
                      </a:txBody>
                      <a:tcPr marL="91448" marR="91448" marT="45716" marB="45716"/>
                    </a:tc>
                    <a:extLst>
                      <a:ext uri="{0D108BD9-81ED-4DB2-BD59-A6C34878D82A}">
                        <a16:rowId xmlns:a16="http://schemas.microsoft.com/office/drawing/2014/main" val="10007"/>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9</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{18,27}</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20</a:t>
                          </a:r>
                        </a:p>
                      </a:txBody>
                      <a:tcPr marL="91448" marR="91448" marT="45716" marB="45716"/>
                    </a:tc>
                    <a:tc>
                      <a:txBody>
                        <a:bodyPr/>
                        <a:lstStyle/>
                        <a:p>
                          <a:pPr algn="ctr">
                            <a:buNone/>
                          </a:pPr>
                          <a:r>
                            <a:rPr lang="en-US" altLang="zh-CN" sz="1600" dirty="0">
                              <a:solidFill>
                                <a:schemeClr val="tx1"/>
                              </a:solidFill>
                              <a:latin typeface="Heiti SC Medium" pitchFamily="2" charset="-128"/>
                              <a:ea typeface="Heiti SC Medium" pitchFamily="2" charset="-128"/>
                              <a:sym typeface="+mn-ea"/>
                            </a:rPr>
                            <a:t>{2,3,5,7,11,13,17,19}</a:t>
                          </a:r>
                          <a:endParaRPr lang="en-US" altLang="zh-CN" sz="1600" b="0" dirty="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{20}</a:t>
                          </a:r>
                        </a:p>
                      </a:txBody>
                      <a:tcPr marL="91448" marR="91448" marT="45716" marB="45716"/>
                    </a:tc>
                    <a:extLst>
                      <a:ext uri="{0D108BD9-81ED-4DB2-BD59-A6C34878D82A}">
                        <a16:rowId xmlns:a16="http://schemas.microsoft.com/office/drawing/2014/main" val="10008"/>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10</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{20}</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21</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{42}</a:t>
                          </a:r>
                        </a:p>
                      </a:txBody>
                      <a:tcPr marL="91448" marR="91448" marT="45716" marB="45716"/>
                    </a:tc>
                    <a:extLst>
                      <a:ext uri="{0D108BD9-81ED-4DB2-BD59-A6C34878D82A}">
                        <a16:rowId xmlns:a16="http://schemas.microsoft.com/office/drawing/2014/main" val="10009"/>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{22,33}</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22</a:t>
                          </a:r>
                        </a:p>
                      </a:txBody>
                      <a:tcPr marL="91448" marR="91448" marT="45716" marB="45716"/>
                    </a:tc>
                    <a:tc>
                      <a:txBody>
                        <a:bodyPr/>
                        <a:lstStyle/>
                        <a:p>
                          <a:pPr algn="ctr">
                            <a:buNone/>
                          </a:pPr>
                          <a:r>
                            <a:rPr lang="en-US" altLang="zh-CN" sz="1600">
                              <a:solidFill>
                                <a:schemeClr val="tx1"/>
                              </a:solidFill>
                              <a:latin typeface="Heiti SC Medium" pitchFamily="2" charset="-128"/>
                              <a:ea typeface="Heiti SC Medium" pitchFamily="2" charset="-128"/>
                              <a:sym typeface="+mn-ea"/>
                            </a:rPr>
                            <a:t>{2,3,5,7,11,13,17,19}</a:t>
                          </a:r>
                          <a:endParaRPr lang="en-US" altLang="zh-CN" sz="1600" b="0">
                            <a:solidFill>
                              <a:schemeClr val="tx1"/>
                            </a:solidFill>
                            <a:latin typeface="Heiti SC Medium" pitchFamily="2" charset="-128"/>
                            <a:ea typeface="Heiti SC Medium" pitchFamily="2" charset="-128"/>
                          </a:endParaRP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{44}</a:t>
                          </a:r>
                        </a:p>
                      </a:txBody>
                      <a:tcPr marL="91448" marR="91448" marT="45716" marB="45716"/>
                    </a:tc>
                    <a:extLst>
                      <a:ext uri="{0D108BD9-81ED-4DB2-BD59-A6C34878D82A}">
                        <a16:rowId xmlns:a16="http://schemas.microsoft.com/office/drawing/2014/main" val="10010"/>
                      </a:ext>
                    </a:extLst>
                  </a:tr>
                  <a:tr h="402872">
                    <a:tc>
                      <a:txBody>
                        <a:bodyPr/>
                        <a:lstStyle/>
                        <a:p>
                          <a:pPr algn="ctr">
                            <a:buNone/>
                          </a:pPr>
                          <a:r>
                            <a:rPr lang="en-US" altLang="zh-CN" sz="1600" b="1" i="1" u="sng" dirty="0">
                              <a:solidFill>
                                <a:schemeClr val="tx1"/>
                              </a:solidFill>
                              <a:latin typeface="Heiti SC Medium" pitchFamily="2" charset="-128"/>
                              <a:ea typeface="Heiti SC Medium" pitchFamily="2" charset="-128"/>
                            </a:rPr>
                            <a:t>12</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{2,3,5,7,11}</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{24}</a:t>
                          </a:r>
                        </a:p>
                      </a:txBody>
                      <a:tcPr marL="91448" marR="91448" marT="45716" marB="45716"/>
                    </a:tc>
                    <a:tc>
                      <a:txBody>
                        <a:bodyPr/>
                        <a:lstStyle/>
                        <a:p>
                          <a:pPr algn="ctr">
                            <a:buNone/>
                          </a:pPr>
                          <a:r>
                            <a:rPr lang="en-US" altLang="zh-CN" sz="1600" b="1" i="1" u="sng" dirty="0">
                              <a:solidFill>
                                <a:schemeClr val="tx1"/>
                              </a:solidFill>
                              <a:latin typeface="Heiti SC Medium" pitchFamily="2" charset="-128"/>
                              <a:ea typeface="Heiti SC Medium" pitchFamily="2" charset="-128"/>
                            </a:rPr>
                            <a:t>...</a:t>
                          </a:r>
                        </a:p>
                      </a:txBody>
                      <a:tcPr marL="91448" marR="91448" marT="45716" marB="45716"/>
                    </a:tc>
                    <a:tc>
                      <a:txBody>
                        <a:bodyPr/>
                        <a:lstStyle/>
                        <a:p>
                          <a:pPr algn="ctr">
                            <a:buNone/>
                          </a:pPr>
                          <a:r>
                            <a:rPr lang="en-US" altLang="zh-CN" sz="1600" b="0">
                              <a:solidFill>
                                <a:schemeClr val="tx1"/>
                              </a:solidFill>
                              <a:latin typeface="Heiti SC Medium" pitchFamily="2" charset="-128"/>
                              <a:ea typeface="Heiti SC Medium" pitchFamily="2" charset="-128"/>
                            </a:rPr>
                            <a:t>...</a:t>
                          </a:r>
                        </a:p>
                      </a:txBody>
                      <a:tcPr marL="91448" marR="91448" marT="45716" marB="45716"/>
                    </a:tc>
                    <a:tc>
                      <a:txBody>
                        <a:bodyPr/>
                        <a:lstStyle/>
                        <a:p>
                          <a:pPr algn="ctr">
                            <a:buNone/>
                          </a:pPr>
                          <a:r>
                            <a:rPr lang="en-US" altLang="zh-CN" sz="1600" b="0" dirty="0">
                              <a:solidFill>
                                <a:schemeClr val="tx1"/>
                              </a:solidFill>
                              <a:latin typeface="Heiti SC Medium" pitchFamily="2" charset="-128"/>
                              <a:ea typeface="Heiti SC Medium" pitchFamily="2" charset="-128"/>
                            </a:rPr>
                            <a:t>...</a:t>
                          </a:r>
                        </a:p>
                      </a:txBody>
                      <a:tcPr marL="91448" marR="91448" marT="45716" marB="45716"/>
                    </a:tc>
                    <a:extLst>
                      <a:ext uri="{0D108BD9-81ED-4DB2-BD59-A6C34878D82A}">
                        <a16:rowId xmlns:a16="http://schemas.microsoft.com/office/drawing/2014/main" val="10011"/>
                      </a:ext>
                    </a:extLst>
                  </a:tr>
                </a:tbl>
              </a:graphicData>
            </a:graphic>
          </p:graphicFrame>
        </mc:Fallback>
      </mc:AlternateContent>
      <p:sp>
        <p:nvSpPr>
          <p:cNvPr id="2" name="幻灯片编号占位符 1">
            <a:extLst>
              <a:ext uri="{FF2B5EF4-FFF2-40B4-BE49-F238E27FC236}">
                <a16:creationId xmlns:a16="http://schemas.microsoft.com/office/drawing/2014/main" id="{6DE05507-1D65-A64B-89D7-C73596013BD9}"/>
              </a:ext>
            </a:extLst>
          </p:cNvPr>
          <p:cNvSpPr>
            <a:spLocks noGrp="1"/>
          </p:cNvSpPr>
          <p:nvPr>
            <p:ph type="sldNum" sz="quarter" idx="12"/>
          </p:nvPr>
        </p:nvSpPr>
        <p:spPr/>
        <p:txBody>
          <a:bodyPr/>
          <a:lstStyle/>
          <a:p>
            <a:fld id="{0FF54DE5-C571-48E8-A5BC-B369434E2F44}" type="slidenum">
              <a:rPr lang="en-US" altLang="zh-CN" smtClean="0"/>
              <a:pPr/>
              <a:t>21</a:t>
            </a:fld>
            <a:endParaRPr lang="zh-CN" altLang="en-US" dirty="0"/>
          </a:p>
        </p:txBody>
      </p:sp>
    </p:spTree>
    <p:extLst>
      <p:ext uri="{BB962C8B-B14F-4D97-AF65-F5344CB8AC3E}">
        <p14:creationId xmlns:p14="http://schemas.microsoft.com/office/powerpoint/2010/main" val="1506084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欧拉筛法（线性筛）</a:t>
            </a:r>
          </a:p>
        </p:txBody>
      </p:sp>
      <p:sp>
        <p:nvSpPr>
          <p:cNvPr id="17411" name="内容占位符 2"/>
          <p:cNvSpPr>
            <a:spLocks noGrp="1"/>
          </p:cNvSpPr>
          <p:nvPr>
            <p:ph idx="1"/>
          </p:nvPr>
        </p:nvSpPr>
        <p:spPr>
          <a:xfrm>
            <a:off x="1104900" y="1600200"/>
            <a:ext cx="9982200" cy="4884362"/>
          </a:xfrm>
        </p:spPr>
        <p:txBody>
          <a:bodyPr>
            <a:normAutofit/>
          </a:bodyPr>
          <a:lstStyle/>
          <a:p>
            <a:pPr>
              <a:lnSpc>
                <a:spcPct val="150000"/>
              </a:lnSpc>
              <a:spcBef>
                <a:spcPts val="1200"/>
              </a:spcBef>
            </a:pPr>
            <a:r>
              <a:rPr lang="zh-CN" altLang="en-US" noProof="1"/>
              <a:t>枚举</a:t>
            </a:r>
            <a:r>
              <a:rPr lang="zh-Hans" altLang="en-US" noProof="1"/>
              <a:t> </a:t>
            </a:r>
            <a:r>
              <a:rPr lang="en-US" altLang="zh-CN" noProof="1">
                <a:latin typeface="Courier New" panose="02070309020205020404" pitchFamily="49" charset="0"/>
                <a:cs typeface="Courier New" panose="02070309020205020404" pitchFamily="49" charset="0"/>
              </a:rPr>
              <a:t>2~n</a:t>
            </a:r>
            <a:r>
              <a:rPr lang="zh-Hans" altLang="en-US" noProof="1">
                <a:latin typeface="Courier New" panose="02070309020205020404" pitchFamily="49" charset="0"/>
                <a:cs typeface="Courier New" panose="02070309020205020404" pitchFamily="49" charset="0"/>
              </a:rPr>
              <a:t> </a:t>
            </a:r>
            <a:r>
              <a:rPr lang="zh-CN" altLang="en-US" noProof="1"/>
              <a:t>中的每一个数</a:t>
            </a:r>
            <a:r>
              <a:rPr lang="zh-Hans" altLang="en-US" noProof="1"/>
              <a:t> </a:t>
            </a:r>
            <a:r>
              <a:rPr lang="en-US" altLang="zh-CN" noProof="1">
                <a:latin typeface="Courier New" panose="02070309020205020404" pitchFamily="49" charset="0"/>
                <a:cs typeface="Courier New" panose="02070309020205020404" pitchFamily="49" charset="0"/>
              </a:rPr>
              <a:t>i</a:t>
            </a:r>
            <a:r>
              <a:rPr lang="zh-CN" altLang="en-US" noProof="1"/>
              <a:t>：</a:t>
            </a:r>
            <a:endParaRPr lang="en-US" altLang="zh-CN" noProof="1"/>
          </a:p>
          <a:p>
            <a:pPr lvl="1">
              <a:lnSpc>
                <a:spcPct val="150000"/>
              </a:lnSpc>
              <a:spcBef>
                <a:spcPts val="1200"/>
              </a:spcBef>
            </a:pPr>
            <a:r>
              <a:rPr lang="zh-CN" altLang="en-US" sz="2000" noProof="1"/>
              <a:t>如果</a:t>
            </a:r>
            <a:r>
              <a:rPr lang="zh-Hans" altLang="en-US" sz="2000" noProof="1"/>
              <a:t> </a:t>
            </a:r>
            <a:r>
              <a:rPr lang="en-US" altLang="zh-CN" sz="2000" noProof="1">
                <a:latin typeface="Courier New" panose="02070309020205020404" pitchFamily="49" charset="0"/>
                <a:cs typeface="Courier New" panose="02070309020205020404" pitchFamily="49" charset="0"/>
              </a:rPr>
              <a:t>i</a:t>
            </a:r>
            <a:r>
              <a:rPr lang="zh-Hans" altLang="en-US" sz="2000" noProof="1">
                <a:latin typeface="Courier New" panose="02070309020205020404" pitchFamily="49" charset="0"/>
                <a:cs typeface="Courier New" panose="02070309020205020404" pitchFamily="49" charset="0"/>
              </a:rPr>
              <a:t> </a:t>
            </a:r>
            <a:r>
              <a:rPr lang="zh-CN" altLang="en-US" sz="2000" noProof="1"/>
              <a:t>是素数则保存到素数表中</a:t>
            </a:r>
            <a:r>
              <a:rPr lang="en-US" altLang="zh-CN" sz="2000" noProof="1"/>
              <a:t>;</a:t>
            </a:r>
          </a:p>
          <a:p>
            <a:pPr lvl="1">
              <a:lnSpc>
                <a:spcPct val="150000"/>
              </a:lnSpc>
              <a:spcBef>
                <a:spcPts val="1200"/>
              </a:spcBef>
            </a:pPr>
            <a:r>
              <a:rPr lang="zh-CN" altLang="en-US" sz="2000" noProof="1"/>
              <a:t>利用</a:t>
            </a:r>
            <a:r>
              <a:rPr lang="zh-Hans" altLang="en-US" sz="2000" noProof="1"/>
              <a:t> </a:t>
            </a:r>
            <a:r>
              <a:rPr lang="en-US" altLang="zh-CN" sz="2000" noProof="1">
                <a:latin typeface="Courier New" panose="02070309020205020404" pitchFamily="49" charset="0"/>
                <a:cs typeface="Courier New" panose="02070309020205020404" pitchFamily="49" charset="0"/>
              </a:rPr>
              <a:t>i</a:t>
            </a:r>
            <a:r>
              <a:rPr lang="zh-Hans" altLang="en-US" sz="2000" noProof="1">
                <a:latin typeface="Courier New" panose="02070309020205020404" pitchFamily="49" charset="0"/>
                <a:cs typeface="Courier New" panose="02070309020205020404" pitchFamily="49" charset="0"/>
              </a:rPr>
              <a:t> </a:t>
            </a:r>
            <a:r>
              <a:rPr lang="zh-CN" altLang="en-US" sz="2000" noProof="1"/>
              <a:t>和素数表中的素数</a:t>
            </a:r>
            <a:r>
              <a:rPr lang="zh-Hans" altLang="en-US" sz="2000" noProof="1"/>
              <a:t> </a:t>
            </a:r>
            <a:r>
              <a:rPr lang="en-US" altLang="zh-CN" sz="2000" noProof="1">
                <a:latin typeface="Courier New" panose="02070309020205020404" pitchFamily="49" charset="0"/>
                <a:cs typeface="Courier New" panose="02070309020205020404" pitchFamily="49" charset="0"/>
              </a:rPr>
              <a:t>prime[j]</a:t>
            </a:r>
            <a:r>
              <a:rPr lang="zh-Hans" altLang="en-US" sz="2000" noProof="1">
                <a:latin typeface="Courier New" panose="02070309020205020404" pitchFamily="49" charset="0"/>
                <a:cs typeface="Courier New" panose="02070309020205020404" pitchFamily="49" charset="0"/>
              </a:rPr>
              <a:t> </a:t>
            </a:r>
            <a:r>
              <a:rPr lang="zh-CN" altLang="en-US" sz="2000" noProof="1"/>
              <a:t>去筛除</a:t>
            </a:r>
            <a:r>
              <a:rPr lang="zh-Hans" altLang="en-US" sz="2000" noProof="1"/>
              <a:t> </a:t>
            </a:r>
            <a:r>
              <a:rPr lang="en-US" altLang="zh-CN" sz="2000" noProof="1">
                <a:latin typeface="Courier New" panose="02070309020205020404" pitchFamily="49" charset="0"/>
                <a:cs typeface="Courier New" panose="02070309020205020404" pitchFamily="49" charset="0"/>
              </a:rPr>
              <a:t>i*prime[j]</a:t>
            </a:r>
            <a:r>
              <a:rPr lang="zh-Hans" altLang="en-US" sz="2000" noProof="1">
                <a:latin typeface="Courier New" panose="02070309020205020404" pitchFamily="49" charset="0"/>
                <a:cs typeface="Courier New" panose="02070309020205020404" pitchFamily="49" charset="0"/>
              </a:rPr>
              <a:t> </a:t>
            </a:r>
            <a:r>
              <a:rPr lang="zh-Hans" altLang="en-US" sz="2000" noProof="1"/>
              <a:t>，</a:t>
            </a:r>
            <a:r>
              <a:rPr lang="zh-CN" altLang="en-US" sz="2000" noProof="1"/>
              <a:t>为了确保</a:t>
            </a:r>
            <a:r>
              <a:rPr lang="en-US" altLang="zh-CN" sz="2000" noProof="1">
                <a:latin typeface="Courier New" panose="02070309020205020404" pitchFamily="49" charset="0"/>
                <a:cs typeface="Courier New" panose="02070309020205020404" pitchFamily="49" charset="0"/>
              </a:rPr>
              <a:t>i*prime[j]</a:t>
            </a:r>
            <a:r>
              <a:rPr lang="zh-Hans" altLang="en-US" sz="2000" noProof="1">
                <a:latin typeface="Courier New" panose="02070309020205020404" pitchFamily="49" charset="0"/>
                <a:cs typeface="Courier New" panose="02070309020205020404" pitchFamily="49" charset="0"/>
              </a:rPr>
              <a:t> </a:t>
            </a:r>
            <a:r>
              <a:rPr lang="zh-CN" altLang="en-US" sz="2000" noProof="1"/>
              <a:t>只被素数</a:t>
            </a:r>
            <a:r>
              <a:rPr lang="zh-Hans" altLang="en-US" sz="2000" noProof="1"/>
              <a:t> </a:t>
            </a:r>
            <a:r>
              <a:rPr lang="en-US" altLang="zh-CN" sz="2000" noProof="1">
                <a:latin typeface="Courier New" panose="02070309020205020404" pitchFamily="49" charset="0"/>
                <a:cs typeface="Courier New" panose="02070309020205020404" pitchFamily="49" charset="0"/>
              </a:rPr>
              <a:t>prime[j]</a:t>
            </a:r>
            <a:r>
              <a:rPr lang="zh-Hans" altLang="en-US" sz="2000" noProof="1">
                <a:latin typeface="Courier New" panose="02070309020205020404" pitchFamily="49" charset="0"/>
                <a:cs typeface="Courier New" panose="02070309020205020404" pitchFamily="49" charset="0"/>
              </a:rPr>
              <a:t> </a:t>
            </a:r>
            <a:r>
              <a:rPr lang="zh-CN" altLang="en-US" sz="2000" noProof="1"/>
              <a:t>筛除过这一次</a:t>
            </a:r>
            <a:r>
              <a:rPr lang="zh-Hans" altLang="en-US" sz="2000" noProof="1"/>
              <a:t>，</a:t>
            </a:r>
            <a:r>
              <a:rPr lang="zh-CN" altLang="en-US" sz="2000" noProof="1"/>
              <a:t>要确保</a:t>
            </a:r>
            <a:r>
              <a:rPr lang="zh-Hans" altLang="en-US" sz="2000" noProof="1"/>
              <a:t> </a:t>
            </a:r>
            <a:r>
              <a:rPr lang="en-US" altLang="zh-CN" sz="2000" noProof="1">
                <a:latin typeface="Courier New" panose="02070309020205020404" pitchFamily="49" charset="0"/>
                <a:cs typeface="Courier New" panose="02070309020205020404" pitchFamily="49" charset="0"/>
              </a:rPr>
              <a:t>prime[j]</a:t>
            </a:r>
            <a:r>
              <a:rPr lang="zh-Hans" altLang="en-US" sz="2000" noProof="1">
                <a:latin typeface="Courier New" panose="02070309020205020404" pitchFamily="49" charset="0"/>
                <a:cs typeface="Courier New" panose="02070309020205020404" pitchFamily="49" charset="0"/>
              </a:rPr>
              <a:t> </a:t>
            </a:r>
            <a:r>
              <a:rPr lang="zh-CN" altLang="en-US" sz="2000" noProof="1"/>
              <a:t>是</a:t>
            </a:r>
            <a:r>
              <a:rPr lang="en-US" altLang="zh-CN" sz="2000" noProof="1">
                <a:latin typeface="Courier New" panose="02070309020205020404" pitchFamily="49" charset="0"/>
                <a:cs typeface="Courier New" panose="02070309020205020404" pitchFamily="49" charset="0"/>
              </a:rPr>
              <a:t>i*prime[j]</a:t>
            </a:r>
            <a:r>
              <a:rPr lang="zh-Hans" altLang="en-US" sz="2000" noProof="1">
                <a:latin typeface="Courier New" panose="02070309020205020404" pitchFamily="49" charset="0"/>
                <a:cs typeface="Courier New" panose="02070309020205020404" pitchFamily="49" charset="0"/>
              </a:rPr>
              <a:t> </a:t>
            </a:r>
            <a:r>
              <a:rPr lang="zh-CN" altLang="en-US" sz="2000" noProof="1"/>
              <a:t>中最小的素因子</a:t>
            </a:r>
            <a:r>
              <a:rPr lang="zh-Hans" altLang="en-US" sz="2000" noProof="1"/>
              <a:t>，</a:t>
            </a:r>
            <a:r>
              <a:rPr lang="zh-CN" altLang="en-US" sz="2000" noProof="1"/>
              <a:t>即</a:t>
            </a:r>
            <a:r>
              <a:rPr lang="zh-Hans" altLang="en-US" sz="2000" noProof="1"/>
              <a:t> </a:t>
            </a:r>
            <a:r>
              <a:rPr lang="en-US" altLang="zh-CN" sz="2000" noProof="1">
                <a:latin typeface="Courier New" panose="02070309020205020404" pitchFamily="49" charset="0"/>
                <a:cs typeface="Courier New" panose="02070309020205020404" pitchFamily="49" charset="0"/>
              </a:rPr>
              <a:t>i</a:t>
            </a:r>
            <a:r>
              <a:rPr lang="zh-Hans" altLang="en-US" sz="2000" noProof="1">
                <a:latin typeface="Courier New" panose="02070309020205020404" pitchFamily="49" charset="0"/>
                <a:cs typeface="Courier New" panose="02070309020205020404" pitchFamily="49" charset="0"/>
              </a:rPr>
              <a:t> </a:t>
            </a:r>
            <a:r>
              <a:rPr lang="zh-CN" altLang="en-US" sz="2000" noProof="1"/>
              <a:t>中不能有比</a:t>
            </a:r>
            <a:r>
              <a:rPr lang="zh-Hans" altLang="en-US" sz="2000" noProof="1"/>
              <a:t> </a:t>
            </a:r>
            <a:r>
              <a:rPr lang="en-US" altLang="zh-CN" sz="2000" noProof="1">
                <a:latin typeface="Courier New" panose="02070309020205020404" pitchFamily="49" charset="0"/>
                <a:cs typeface="Courier New" panose="02070309020205020404" pitchFamily="49" charset="0"/>
              </a:rPr>
              <a:t>prime[j]</a:t>
            </a:r>
            <a:r>
              <a:rPr lang="zh-Hans" altLang="en-US" sz="2000" noProof="1">
                <a:latin typeface="Courier New" panose="02070309020205020404" pitchFamily="49" charset="0"/>
                <a:cs typeface="Courier New" panose="02070309020205020404" pitchFamily="49" charset="0"/>
              </a:rPr>
              <a:t> </a:t>
            </a:r>
            <a:r>
              <a:rPr lang="zh-CN" altLang="en-US" sz="2000" noProof="1"/>
              <a:t>还要小的素因子。</a:t>
            </a:r>
            <a:endParaRPr lang="en-US" altLang="zh-CN" sz="2000" noProof="1"/>
          </a:p>
        </p:txBody>
      </p:sp>
      <p:sp>
        <p:nvSpPr>
          <p:cNvPr id="2" name="幻灯片编号占位符 1">
            <a:extLst>
              <a:ext uri="{FF2B5EF4-FFF2-40B4-BE49-F238E27FC236}">
                <a16:creationId xmlns:a16="http://schemas.microsoft.com/office/drawing/2014/main" id="{A0D84375-83F9-184E-B671-4BAABAA0D5E3}"/>
              </a:ext>
            </a:extLst>
          </p:cNvPr>
          <p:cNvSpPr>
            <a:spLocks noGrp="1"/>
          </p:cNvSpPr>
          <p:nvPr>
            <p:ph type="sldNum" sz="quarter" idx="12"/>
          </p:nvPr>
        </p:nvSpPr>
        <p:spPr/>
        <p:txBody>
          <a:bodyPr/>
          <a:lstStyle/>
          <a:p>
            <a:fld id="{0FF54DE5-C571-48E8-A5BC-B369434E2F44}" type="slidenum">
              <a:rPr lang="en-US" altLang="zh-CN" smtClean="0"/>
              <a:pPr/>
              <a:t>22</a:t>
            </a:fld>
            <a:endParaRPr lang="zh-CN" altLang="en-US" dirty="0"/>
          </a:p>
        </p:txBody>
      </p:sp>
    </p:spTree>
    <p:extLst>
      <p:ext uri="{BB962C8B-B14F-4D97-AF65-F5344CB8AC3E}">
        <p14:creationId xmlns:p14="http://schemas.microsoft.com/office/powerpoint/2010/main" val="204853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欧拉筛法（线性筛）</a:t>
            </a:r>
          </a:p>
        </p:txBody>
      </p:sp>
      <p:sp>
        <p:nvSpPr>
          <p:cNvPr id="4" name="矩形 3"/>
          <p:cNvSpPr/>
          <p:nvPr/>
        </p:nvSpPr>
        <p:spPr>
          <a:xfrm>
            <a:off x="1104900" y="1606594"/>
            <a:ext cx="9980682" cy="4401205"/>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void</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Euler_sieve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memset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b="1" dirty="0" err="1">
                <a:solidFill>
                  <a:srgbClr val="0000FF"/>
                </a:solidFill>
                <a:highlight>
                  <a:srgbClr val="FFFFF3"/>
                </a:highlight>
                <a:latin typeface="Courier New" panose="02070309020205020404" pitchFamily="49" charset="0"/>
                <a:cs typeface="Courier New" panose="02070309020205020404" pitchFamily="49" charset="0"/>
              </a:rPr>
              <a:t>true</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b="1" dirty="0" err="1">
                <a:solidFill>
                  <a:srgbClr val="0000FF"/>
                </a:solidFill>
                <a:highlight>
                  <a:srgbClr val="FFFFF3"/>
                </a:highlight>
                <a:latin typeface="Courier New" panose="02070309020205020404" pitchFamily="49" charset="0"/>
                <a:cs typeface="Courier New" panose="02070309020205020404" pitchFamily="49" charset="0"/>
              </a:rPr>
              <a:t>sizeof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zh-Hans" altLang="en-US" sz="2000" b="1" dirty="0">
                <a:solidFill>
                  <a:srgbClr val="00008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Hans" altLang="en-US" sz="2000" dirty="0">
                <a:solidFill>
                  <a:srgbClr val="008000"/>
                </a:solidFill>
                <a:highlight>
                  <a:srgbClr val="FFFFF3"/>
                </a:highlight>
                <a:latin typeface="Courier New" panose="02070309020205020404" pitchFamily="49" charset="0"/>
                <a:cs typeface="Courier New" panose="02070309020205020404" pitchFamily="49" charset="0"/>
              </a:rPr>
              <a:t>记录当前</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素数</a:t>
            </a:r>
            <a:r>
              <a:rPr lang="zh-Hans" altLang="en-US" sz="2000" dirty="0">
                <a:solidFill>
                  <a:srgbClr val="008000"/>
                </a:solidFill>
                <a:highlight>
                  <a:srgbClr val="FFFFF3"/>
                </a:highlight>
                <a:latin typeface="Courier New" panose="02070309020205020404" pitchFamily="49" charset="0"/>
                <a:cs typeface="Courier New" panose="02070309020205020404" pitchFamily="49" charset="0"/>
              </a:rPr>
              <a:t>个数</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把素数保存到素数表</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prime</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中，</a:t>
            </a:r>
            <a:r>
              <a:rPr lang="zh-Hans" altLang="en-US" sz="2000" dirty="0">
                <a:solidFill>
                  <a:srgbClr val="008000"/>
                </a:solidFill>
                <a:highlight>
                  <a:srgbClr val="FFFFF3"/>
                </a:highlight>
                <a:latin typeface="Courier New" panose="02070309020205020404" pitchFamily="49" charset="0"/>
                <a:cs typeface="Courier New" panose="02070309020205020404" pitchFamily="49" charset="0"/>
              </a:rPr>
              <a:t>并更新素数个数</a:t>
            </a:r>
            <a:endParaRPr lang="zh-CN" altLang="en-US" sz="2000" dirty="0">
              <a:solidFill>
                <a:srgbClr val="008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&amp;&amp;</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isprime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false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筛除</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*prime[j]</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prime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break</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9</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当</a:t>
            </a:r>
            <a:r>
              <a:rPr lang="en-US" altLang="zh-CN" sz="2000" dirty="0" err="1">
                <a:solidFill>
                  <a:srgbClr val="008000"/>
                </a:solidFill>
                <a:highlight>
                  <a:srgbClr val="FFFFF3"/>
                </a:highlight>
                <a:latin typeface="Courier New" panose="02070309020205020404" pitchFamily="49" charset="0"/>
                <a:cs typeface="Courier New" panose="02070309020205020404" pitchFamily="49" charset="0"/>
              </a:rPr>
              <a:t>i</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中含有素因子</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prime[j]</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时中断循环</a:t>
            </a:r>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8000"/>
                </a:solidFill>
                <a:highlight>
                  <a:srgbClr val="FFFFF3"/>
                </a:highlight>
                <a:latin typeface="Courier New" panose="02070309020205020404" pitchFamily="49" charset="0"/>
                <a:cs typeface="Courier New" panose="02070309020205020404" pitchFamily="49" charset="0"/>
              </a:rPr>
              <a:t>确保每个数只被它的最小素因子筛除</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11</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12</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3" name="幻灯片编号占位符 2">
            <a:extLst>
              <a:ext uri="{FF2B5EF4-FFF2-40B4-BE49-F238E27FC236}">
                <a16:creationId xmlns:a16="http://schemas.microsoft.com/office/drawing/2014/main" id="{DEB8B96B-E1DD-1E4E-B13D-9184088A3D95}"/>
              </a:ext>
            </a:extLst>
          </p:cNvPr>
          <p:cNvSpPr>
            <a:spLocks noGrp="1"/>
          </p:cNvSpPr>
          <p:nvPr>
            <p:ph type="sldNum" sz="quarter" idx="12"/>
          </p:nvPr>
        </p:nvSpPr>
        <p:spPr/>
        <p:txBody>
          <a:bodyPr/>
          <a:lstStyle/>
          <a:p>
            <a:fld id="{0FF54DE5-C571-48E8-A5BC-B369434E2F44}" type="slidenum">
              <a:rPr lang="en-US" altLang="zh-CN" smtClean="0"/>
              <a:pPr/>
              <a:t>23</a:t>
            </a:fld>
            <a:endParaRPr lang="zh-CN" altLang="en-US" dirty="0"/>
          </a:p>
        </p:txBody>
      </p:sp>
    </p:spTree>
    <p:extLst>
      <p:ext uri="{BB962C8B-B14F-4D97-AF65-F5344CB8AC3E}">
        <p14:creationId xmlns:p14="http://schemas.microsoft.com/office/powerpoint/2010/main" val="2475314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约数</a:t>
            </a:r>
            <a:endParaRPr lang="en-US" dirty="0"/>
          </a:p>
        </p:txBody>
      </p:sp>
      <p:sp>
        <p:nvSpPr>
          <p:cNvPr id="3" name="幻灯片编号占位符 2">
            <a:extLst>
              <a:ext uri="{FF2B5EF4-FFF2-40B4-BE49-F238E27FC236}">
                <a16:creationId xmlns:a16="http://schemas.microsoft.com/office/drawing/2014/main" id="{020F4E42-4865-BC47-BEFF-FD696007313B}"/>
              </a:ext>
            </a:extLst>
          </p:cNvPr>
          <p:cNvSpPr>
            <a:spLocks noGrp="1"/>
          </p:cNvSpPr>
          <p:nvPr>
            <p:ph type="sldNum" sz="quarter" idx="12"/>
          </p:nvPr>
        </p:nvSpPr>
        <p:spPr/>
        <p:txBody>
          <a:bodyPr/>
          <a:lstStyle/>
          <a:p>
            <a:fld id="{0FF54DE5-C571-48E8-A5BC-B369434E2F44}" type="slidenum">
              <a:rPr lang="en-US" altLang="zh-CN" smtClean="0"/>
              <a:pPr/>
              <a:t>24</a:t>
            </a:fld>
            <a:endParaRPr lang="zh-CN" altLang="en-US" dirty="0"/>
          </a:p>
        </p:txBody>
      </p:sp>
    </p:spTree>
    <p:extLst>
      <p:ext uri="{BB962C8B-B14F-4D97-AF65-F5344CB8AC3E}">
        <p14:creationId xmlns:p14="http://schemas.microsoft.com/office/powerpoint/2010/main" val="95030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r>
              <a:rPr lang="zh-CN" altLang="en-US" dirty="0"/>
              <a:t>整数</a:t>
            </a:r>
            <a:r>
              <a:rPr lang="zh-Hans" altLang="en-US" dirty="0"/>
              <a:t>惟一</a:t>
            </a:r>
            <a:r>
              <a:rPr lang="zh-CN" altLang="en-US" dirty="0"/>
              <a:t>分解定理</a:t>
            </a:r>
            <a:r>
              <a:rPr lang="zh-Hans" altLang="en-US" dirty="0"/>
              <a:t>的推论</a:t>
            </a:r>
            <a:endParaRPr lang="en-US" dirty="0"/>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3382" y="1441173"/>
                <a:ext cx="9982200" cy="5257801"/>
              </a:xfrm>
            </p:spPr>
            <p:txBody>
              <a:bodyPr rtlCol="0">
                <a:normAutofit lnSpcReduction="10000"/>
              </a:bodyPr>
              <a:lstStyle/>
              <a:p>
                <a:pPr>
                  <a:lnSpc>
                    <a:spcPct val="150000"/>
                  </a:lnSpc>
                  <a:spcBef>
                    <a:spcPts val="600"/>
                  </a:spcBef>
                </a:pPr>
                <a:r>
                  <a:rPr lang="zh-CN" altLang="en-US" dirty="0"/>
                  <a:t>若整数</a:t>
                </a:r>
                <a14:m>
                  <m:oMath xmlns:m="http://schemas.openxmlformats.org/officeDocument/2006/math">
                    <m:r>
                      <a:rPr lang="en-US" altLang="zh-CN" i="1" dirty="0">
                        <a:latin typeface="Cambria Math" panose="02040503050406030204" pitchFamily="18" charset="0"/>
                      </a:rPr>
                      <m:t>𝑁</m:t>
                    </m:r>
                    <m:r>
                      <a:rPr lang="en-US" altLang="zh-CN" i="1" dirty="0" smtClean="0">
                        <a:latin typeface="Cambria Math" panose="02040503050406030204" pitchFamily="18" charset="0"/>
                      </a:rPr>
                      <m:t>≥2</m:t>
                    </m:r>
                  </m:oMath>
                </a14:m>
                <a:r>
                  <a:rPr lang="zh-CN" altLang="en-US" dirty="0"/>
                  <a:t>，那么</a:t>
                </a:r>
                <a:r>
                  <a:rPr lang="zh-Hans" altLang="en-US" dirty="0"/>
                  <a:t> </a:t>
                </a:r>
                <a14:m>
                  <m:oMath xmlns:m="http://schemas.openxmlformats.org/officeDocument/2006/math">
                    <m:r>
                      <a:rPr lang="en-US" altLang="zh-Hans" b="0" i="1" smtClean="0">
                        <a:latin typeface="Cambria Math" panose="02040503050406030204" pitchFamily="18" charset="0"/>
                      </a:rPr>
                      <m:t>𝑁</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sup>
                    </m:sSubSup>
                    <m:r>
                      <a:rPr lang="en-US" altLang="zh-CN">
                        <a:latin typeface="Cambria Math" panose="02040503050406030204" pitchFamily="18" charset="0"/>
                      </a:rPr>
                      <m:t> </m:t>
                    </m:r>
                    <m:d>
                      <m:dPr>
                        <m:ctrlPr>
                          <a:rPr lang="zh-CN" altLang="en-US" i="1" dirty="0">
                            <a:latin typeface="Cambria Math" panose="02040503050406030204" pitchFamily="18" charset="0"/>
                            <a:ea typeface="新宋体" panose="02010609030101010101" pitchFamily="49" charset="-122"/>
                            <a:sym typeface="宋体" panose="02010600030101010101" pitchFamily="2" charset="-122"/>
                          </a:rPr>
                        </m:ctrlPr>
                      </m:dPr>
                      <m:e>
                        <m:sSub>
                          <m:sSubPr>
                            <m:ctrlPr>
                              <a:rPr lang="en-US" altLang="zh-CN" i="1" dirty="0">
                                <a:latin typeface="Cambria Math" panose="02040503050406030204" pitchFamily="18" charset="0"/>
                                <a:ea typeface="新宋体" panose="02010609030101010101" pitchFamily="49" charset="-122"/>
                                <a:sym typeface="宋体" panose="02010600030101010101" pitchFamily="2" charset="-122"/>
                              </a:rPr>
                            </m:ctrlPr>
                          </m:sSubPr>
                          <m:e>
                            <m:r>
                              <a:rPr lang="en-US" altLang="zh-CN" i="1" dirty="0">
                                <a:latin typeface="Cambria Math" panose="02040503050406030204" pitchFamily="18" charset="0"/>
                                <a:ea typeface="新宋体" panose="02010609030101010101" pitchFamily="49" charset="-122"/>
                                <a:sym typeface="宋体" panose="02010600030101010101" pitchFamily="2" charset="-122"/>
                              </a:rPr>
                              <m:t>𝑝</m:t>
                            </m:r>
                          </m:e>
                          <m:sub>
                            <m:r>
                              <a:rPr lang="en-US" altLang="zh-CN" i="1" dirty="0">
                                <a:latin typeface="Cambria Math" panose="02040503050406030204" pitchFamily="18" charset="0"/>
                                <a:ea typeface="新宋体" panose="02010609030101010101" pitchFamily="49" charset="-122"/>
                                <a:sym typeface="宋体" panose="02010600030101010101" pitchFamily="2" charset="-122"/>
                              </a:rPr>
                              <m:t>𝑖</m:t>
                            </m:r>
                          </m:sub>
                        </m:sSub>
                        <m:r>
                          <a:rPr lang="zh-Hans" altLang="en-US" i="1" dirty="0">
                            <a:latin typeface="Cambria Math" panose="02040503050406030204" pitchFamily="18" charset="0"/>
                            <a:ea typeface="新宋体" panose="02010609030101010101" pitchFamily="49" charset="-122"/>
                            <a:sym typeface="宋体" panose="02010600030101010101" pitchFamily="2" charset="-122"/>
                          </a:rPr>
                          <m:t>为素数</m:t>
                        </m:r>
                        <m:r>
                          <a:rPr lang="zh-Hans" altLang="en-US" i="1" dirty="0">
                            <a:latin typeface="Cambria Math" panose="02040503050406030204" pitchFamily="18" charset="0"/>
                            <a:ea typeface="新宋体" panose="02010609030101010101" pitchFamily="49" charset="-122"/>
                            <a:sym typeface="宋体" panose="02010600030101010101" pitchFamily="2" charset="-122"/>
                          </a:rPr>
                          <m:t> </m:t>
                        </m:r>
                        <m:r>
                          <a:rPr lang="en-US" altLang="zh-CN" i="1">
                            <a:latin typeface="Cambria Math" panose="02040503050406030204" pitchFamily="18" charset="0"/>
                          </a:rPr>
                          <m:t>,</m:t>
                        </m:r>
                        <m:r>
                          <a:rPr lang="zh-Hans" altLang="en-US"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𝑖</m:t>
                            </m:r>
                          </m:sub>
                        </m:sSub>
                        <m:r>
                          <a:rPr lang="en-US" altLang="zh-CN" i="1" dirty="0">
                            <a:latin typeface="Cambria Math" panose="02040503050406030204" pitchFamily="18" charset="0"/>
                            <a:ea typeface="新宋体" panose="02010609030101010101" pitchFamily="49" charset="-122"/>
                            <a:sym typeface="宋体" panose="02010600030101010101" pitchFamily="2" charset="-122"/>
                          </a:rPr>
                          <m:t>≥0</m:t>
                        </m:r>
                      </m:e>
                    </m:d>
                  </m:oMath>
                </a14:m>
                <a:endParaRPr lang="en-US" altLang="zh-CN" i="1" dirty="0">
                  <a:latin typeface="Cambria Math" panose="02040503050406030204" pitchFamily="18" charset="0"/>
                  <a:ea typeface="新宋体" panose="02010609030101010101" pitchFamily="49" charset="-122"/>
                  <a:sym typeface="宋体" panose="02010600030101010101" pitchFamily="2" charset="-122"/>
                </a:endParaRPr>
              </a:p>
              <a:p>
                <a:pPr>
                  <a:lnSpc>
                    <a:spcPct val="150000"/>
                  </a:lnSpc>
                  <a:spcBef>
                    <a:spcPts val="600"/>
                  </a:spcBef>
                </a:pPr>
                <a14:m>
                  <m:oMath xmlns:m="http://schemas.openxmlformats.org/officeDocument/2006/math">
                    <m:r>
                      <a:rPr lang="en-US" altLang="zh-Hans" i="1" dirty="0">
                        <a:latin typeface="Cambria Math" panose="02040503050406030204" pitchFamily="18" charset="0"/>
                      </a:rPr>
                      <m:t>𝑁</m:t>
                    </m:r>
                  </m:oMath>
                </a14:m>
                <a:r>
                  <a:rPr lang="zh-Hans" altLang="en-US" dirty="0"/>
                  <a:t> 的正约数集合为：</a:t>
                </a:r>
                <a14:m>
                  <m:oMath xmlns:m="http://schemas.openxmlformats.org/officeDocument/2006/math">
                    <m:d>
                      <m:dPr>
                        <m:begChr m:val="{"/>
                        <m:endChr m:val="}"/>
                        <m:ctrlPr>
                          <a:rPr lang="en-US" altLang="zh-Hans" i="1" smtClean="0">
                            <a:latin typeface="Cambria Math" panose="02040503050406030204" pitchFamily="18" charset="0"/>
                          </a:rPr>
                        </m:ctrlPr>
                      </m:dPr>
                      <m:e>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1</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2</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i="1">
                                    <a:latin typeface="Cambria Math" panose="02040503050406030204" pitchFamily="18" charset="0"/>
                                  </a:rPr>
                                  <m:t>𝑘</m:t>
                                </m:r>
                              </m:sub>
                            </m:sSub>
                          </m:sup>
                        </m:sSubSup>
                      </m:e>
                    </m:d>
                  </m:oMath>
                </a14:m>
                <a:r>
                  <a:rPr lang="zh-CN" altLang="en-US" dirty="0">
                    <a:ea typeface="新宋体" panose="02010609030101010101" pitchFamily="49" charset="-122"/>
                    <a:sym typeface="宋体" panose="02010600030101010101" pitchFamily="2" charset="-122"/>
                  </a:rPr>
                  <a:t> </a:t>
                </a:r>
                <a14:m>
                  <m:oMath xmlns:m="http://schemas.openxmlformats.org/officeDocument/2006/math">
                    <m:d>
                      <m:dPr>
                        <m:ctrlPr>
                          <a:rPr lang="zh-CN" altLang="en-US" i="1" dirty="0">
                            <a:latin typeface="Cambria Math" panose="02040503050406030204" pitchFamily="18" charset="0"/>
                            <a:ea typeface="新宋体" panose="02010609030101010101" pitchFamily="49" charset="-122"/>
                            <a:sym typeface="宋体" panose="02010600030101010101" pitchFamily="2" charset="-122"/>
                          </a:rPr>
                        </m:ctrlPr>
                      </m:dPr>
                      <m:e>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0</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e>
                          <m:sub>
                            <m:r>
                              <a:rPr lang="en-US" altLang="zh-CN" i="1">
                                <a:latin typeface="Cambria Math" panose="02040503050406030204" pitchFamily="18" charset="0"/>
                              </a:rPr>
                              <m:t>𝑖</m:t>
                            </m:r>
                          </m:sub>
                        </m:sSub>
                        <m:sSub>
                          <m:sSubPr>
                            <m:ctrlPr>
                              <a:rPr lang="en-US" altLang="zh-CN" i="1">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𝑟</m:t>
                            </m:r>
                          </m:e>
                          <m:sub>
                            <m:r>
                              <a:rPr lang="en-US" altLang="zh-CN" i="1">
                                <a:latin typeface="Cambria Math" panose="02040503050406030204" pitchFamily="18" charset="0"/>
                              </a:rPr>
                              <m:t>𝑖</m:t>
                            </m:r>
                          </m:sub>
                        </m:sSub>
                      </m:e>
                    </m:d>
                  </m:oMath>
                </a14:m>
                <a:endParaRPr lang="en-US" altLang="zh-CN" i="1" dirty="0">
                  <a:latin typeface="Cambria Math" panose="02040503050406030204" pitchFamily="18" charset="0"/>
                  <a:ea typeface="新宋体" panose="02010609030101010101" pitchFamily="49" charset="-122"/>
                  <a:sym typeface="宋体" panose="02010600030101010101" pitchFamily="2" charset="-122"/>
                </a:endParaRPr>
              </a:p>
              <a:p>
                <a:pPr>
                  <a:lnSpc>
                    <a:spcPct val="150000"/>
                  </a:lnSpc>
                  <a:spcBef>
                    <a:spcPts val="600"/>
                  </a:spcBef>
                </a:pPr>
                <a14:m>
                  <m:oMath xmlns:m="http://schemas.openxmlformats.org/officeDocument/2006/math">
                    <m:r>
                      <a:rPr lang="en-US" altLang="zh-Hans" i="1" dirty="0" smtClean="0">
                        <a:latin typeface="Cambria Math" panose="02040503050406030204" pitchFamily="18" charset="0"/>
                      </a:rPr>
                      <m:t>𝑁</m:t>
                    </m:r>
                  </m:oMath>
                </a14:m>
                <a:r>
                  <a:rPr lang="zh-Hans" altLang="en-US" dirty="0"/>
                  <a:t> 的正约数个数为：</a:t>
                </a:r>
                <a:endParaRPr lang="en-US" altLang="zh-Hans" dirty="0"/>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d>
                        <m:dPr>
                          <m:ctrlPr>
                            <a:rPr lang="en-US" altLang="zh-CN" b="1" i="1" dirty="0"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a:rPr lang="en-US" altLang="zh-CN" b="1" i="1" dirty="0" smtClean="0">
                              <a:latin typeface="Cambria Math" panose="02040503050406030204" pitchFamily="18" charset="0"/>
                            </a:rPr>
                            <m:t>+</m:t>
                          </m:r>
                          <m:r>
                            <a:rPr lang="en-US" altLang="zh-CN" i="1" dirty="0" smtClean="0">
                              <a:latin typeface="Cambria Math" panose="02040503050406030204" pitchFamily="18" charset="0"/>
                            </a:rPr>
                            <m:t>1</m:t>
                          </m:r>
                        </m:e>
                      </m:d>
                      <m:r>
                        <a:rPr lang="en-US" altLang="zh-CN" b="1" i="1" dirty="0" smtClean="0">
                          <a:latin typeface="Cambria Math" panose="02040503050406030204" pitchFamily="18" charset="0"/>
                          <a:ea typeface="Cambria Math" panose="02040503050406030204" pitchFamily="18" charset="0"/>
                        </a:rPr>
                        <m:t>×</m:t>
                      </m:r>
                      <m:d>
                        <m:dPr>
                          <m:ctrlPr>
                            <a:rPr lang="en-US" altLang="zh-CN" b="1" i="1" dirty="0"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r>
                            <a:rPr lang="en-US" altLang="zh-CN" b="1" i="1" dirty="0" smtClean="0">
                              <a:latin typeface="Cambria Math" panose="02040503050406030204" pitchFamily="18" charset="0"/>
                            </a:rPr>
                            <m:t>+</m:t>
                          </m:r>
                          <m:r>
                            <a:rPr lang="en-US" altLang="zh-CN" i="1" dirty="0" smtClean="0">
                              <a:latin typeface="Cambria Math" panose="02040503050406030204" pitchFamily="18" charset="0"/>
                            </a:rPr>
                            <m:t>1</m:t>
                          </m:r>
                        </m:e>
                      </m:d>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m:t>
                      </m:r>
                      <m:d>
                        <m:dPr>
                          <m:ctrlPr>
                            <a:rPr lang="en-US" altLang="zh-CN" b="0" i="1" dirty="0"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r>
                            <a:rPr lang="en-US" altLang="zh-CN" b="0" i="1" smtClean="0">
                              <a:latin typeface="Cambria Math" panose="02040503050406030204" pitchFamily="18" charset="0"/>
                            </a:rPr>
                            <m:t>+1</m:t>
                          </m:r>
                        </m:e>
                      </m:d>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𝑘</m:t>
                          </m:r>
                        </m:sup>
                        <m:e>
                          <m:r>
                            <a:rPr lang="en-US" altLang="zh-CN" b="0" i="1"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r>
                            <a:rPr lang="en-US" altLang="zh-CN" b="0" i="1" dirty="0" smtClean="0">
                              <a:latin typeface="Cambria Math" panose="02040503050406030204" pitchFamily="18" charset="0"/>
                            </a:rPr>
                            <m:t>)</m:t>
                          </m:r>
                        </m:e>
                      </m:nary>
                    </m:oMath>
                  </m:oMathPara>
                </a14:m>
                <a:endParaRPr lang="en-US" altLang="zh-CN" dirty="0"/>
              </a:p>
              <a:p>
                <a:pPr>
                  <a:lnSpc>
                    <a:spcPct val="150000"/>
                  </a:lnSpc>
                  <a:spcBef>
                    <a:spcPts val="600"/>
                  </a:spcBef>
                </a:pPr>
                <a:r>
                  <a:rPr lang="zh-Hans" altLang="en-US" dirty="0"/>
                  <a:t>除了完全平方数，约数总是成对出现的，即 </a:t>
                </a:r>
                <a14:m>
                  <m:oMath xmlns:m="http://schemas.openxmlformats.org/officeDocument/2006/math">
                    <m:r>
                      <a:rPr lang="en-US" altLang="zh-Hans" b="0" i="1" smtClean="0">
                        <a:latin typeface="Cambria Math" panose="02040503050406030204" pitchFamily="18" charset="0"/>
                      </a:rPr>
                      <m:t>𝑑</m:t>
                    </m:r>
                    <m:r>
                      <a:rPr lang="en-US" altLang="zh-Hans" b="0" i="1" smtClean="0">
                        <a:latin typeface="Cambria Math" panose="02040503050406030204" pitchFamily="18" charset="0"/>
                        <a:ea typeface="Cambria Math" panose="02040503050406030204" pitchFamily="18" charset="0"/>
                      </a:rPr>
                      <m:t>≤</m:t>
                    </m:r>
                    <m:rad>
                      <m:radPr>
                        <m:degHide m:val="on"/>
                        <m:ctrlPr>
                          <a:rPr lang="en-US" altLang="zh-Hans" b="0" i="1" smtClean="0">
                            <a:latin typeface="Cambria Math" panose="02040503050406030204" pitchFamily="18" charset="0"/>
                            <a:ea typeface="Cambria Math" panose="02040503050406030204" pitchFamily="18" charset="0"/>
                          </a:rPr>
                        </m:ctrlPr>
                      </m:radPr>
                      <m:deg/>
                      <m:e>
                        <m:r>
                          <a:rPr lang="en-US" altLang="zh-Hans" b="0" i="1" smtClean="0">
                            <a:latin typeface="Cambria Math" panose="02040503050406030204" pitchFamily="18" charset="0"/>
                            <a:ea typeface="Cambria Math" panose="02040503050406030204" pitchFamily="18" charset="0"/>
                          </a:rPr>
                          <m:t>𝑁</m:t>
                        </m:r>
                      </m:e>
                    </m:rad>
                  </m:oMath>
                </a14:m>
                <a:r>
                  <a:rPr lang="en-US" altLang="zh-CN" dirty="0"/>
                  <a:t> </a:t>
                </a:r>
                <a:r>
                  <a:rPr lang="zh-Hans" altLang="en-US" dirty="0"/>
                  <a:t>和 </a:t>
                </a:r>
                <a14:m>
                  <m:oMath xmlns:m="http://schemas.openxmlformats.org/officeDocument/2006/math">
                    <m:f>
                      <m:fPr>
                        <m:ctrlPr>
                          <a:rPr lang="en-US" altLang="zh-Hans" i="1" smtClean="0">
                            <a:latin typeface="Cambria Math" panose="02040503050406030204" pitchFamily="18" charset="0"/>
                          </a:rPr>
                        </m:ctrlPr>
                      </m:fPr>
                      <m:num>
                        <m:r>
                          <a:rPr lang="en-US" altLang="zh-Hans" b="0" i="1" smtClean="0">
                            <a:latin typeface="Cambria Math" panose="02040503050406030204" pitchFamily="18" charset="0"/>
                          </a:rPr>
                          <m:t>𝑁</m:t>
                        </m:r>
                      </m:num>
                      <m:den>
                        <m:r>
                          <a:rPr lang="en-US" altLang="zh-Hans" b="0" i="1" smtClean="0">
                            <a:latin typeface="Cambria Math" panose="02040503050406030204" pitchFamily="18" charset="0"/>
                          </a:rPr>
                          <m:t>𝑑</m:t>
                        </m:r>
                      </m:den>
                    </m:f>
                    <m:r>
                      <a:rPr lang="en-US" altLang="zh-Hans" i="1" smtClean="0">
                        <a:latin typeface="Cambria Math" panose="02040503050406030204" pitchFamily="18" charset="0"/>
                        <a:ea typeface="Cambria Math" panose="02040503050406030204" pitchFamily="18" charset="0"/>
                      </a:rPr>
                      <m:t>≤</m:t>
                    </m:r>
                    <m:rad>
                      <m:radPr>
                        <m:degHide m:val="on"/>
                        <m:ctrlPr>
                          <a:rPr lang="en-US" altLang="zh-Hans" i="1" smtClean="0">
                            <a:latin typeface="Cambria Math" panose="02040503050406030204" pitchFamily="18" charset="0"/>
                            <a:ea typeface="Cambria Math" panose="02040503050406030204" pitchFamily="18" charset="0"/>
                          </a:rPr>
                        </m:ctrlPr>
                      </m:radPr>
                      <m:deg/>
                      <m:e>
                        <m:r>
                          <a:rPr lang="en-US" altLang="zh-Hans" b="0" i="1" smtClean="0">
                            <a:latin typeface="Cambria Math" panose="02040503050406030204" pitchFamily="18" charset="0"/>
                            <a:ea typeface="Cambria Math" panose="02040503050406030204" pitchFamily="18" charset="0"/>
                          </a:rPr>
                          <m:t>𝑁</m:t>
                        </m:r>
                      </m:e>
                    </m:rad>
                  </m:oMath>
                </a14:m>
                <a:r>
                  <a:rPr lang="en-US" altLang="zh-CN" dirty="0"/>
                  <a:t> </a:t>
                </a:r>
                <a:r>
                  <a:rPr lang="zh-Hans" altLang="en-US" dirty="0"/>
                  <a:t>都是 </a:t>
                </a:r>
                <a14:m>
                  <m:oMath xmlns:m="http://schemas.openxmlformats.org/officeDocument/2006/math">
                    <m:r>
                      <a:rPr lang="en-US" altLang="zh-Hans" i="1" dirty="0">
                        <a:latin typeface="Cambria Math" panose="02040503050406030204" pitchFamily="18" charset="0"/>
                      </a:rPr>
                      <m:t>𝑁</m:t>
                    </m:r>
                  </m:oMath>
                </a14:m>
                <a:r>
                  <a:rPr lang="zh-Hans" altLang="en-US" dirty="0"/>
                  <a:t> 的约数。</a:t>
                </a:r>
                <a:endParaRPr lang="en-US" altLang="zh-Hans" dirty="0"/>
              </a:p>
              <a:p>
                <a:pPr>
                  <a:lnSpc>
                    <a:spcPct val="150000"/>
                  </a:lnSpc>
                  <a:spcBef>
                    <a:spcPts val="600"/>
                  </a:spcBef>
                </a:pPr>
                <a14:m>
                  <m:oMath xmlns:m="http://schemas.openxmlformats.org/officeDocument/2006/math">
                    <m:r>
                      <a:rPr lang="en-US" altLang="zh-Hans" i="1" dirty="0">
                        <a:latin typeface="Cambria Math" panose="02040503050406030204" pitchFamily="18" charset="0"/>
                      </a:rPr>
                      <m:t>𝑁</m:t>
                    </m:r>
                  </m:oMath>
                </a14:m>
                <a:r>
                  <a:rPr lang="zh-Hans" altLang="en-US" dirty="0"/>
                  <a:t> 的约数个数上界为 </a:t>
                </a:r>
                <a14:m>
                  <m:oMath xmlns:m="http://schemas.openxmlformats.org/officeDocument/2006/math">
                    <m:r>
                      <a:rPr lang="en-US" altLang="zh-Hans" b="0" i="1" smtClean="0">
                        <a:latin typeface="Cambria Math" panose="02040503050406030204" pitchFamily="18" charset="0"/>
                      </a:rPr>
                      <m:t>2</m:t>
                    </m:r>
                    <m:rad>
                      <m:radPr>
                        <m:degHide m:val="on"/>
                        <m:ctrlPr>
                          <a:rPr lang="en-US" altLang="zh-Hans" b="0" i="1" smtClean="0">
                            <a:latin typeface="Cambria Math" panose="02040503050406030204" pitchFamily="18" charset="0"/>
                          </a:rPr>
                        </m:ctrlPr>
                      </m:radPr>
                      <m:deg/>
                      <m:e>
                        <m:r>
                          <a:rPr lang="en-US" altLang="zh-Hans" b="0" i="1" smtClean="0">
                            <a:latin typeface="Cambria Math" panose="02040503050406030204" pitchFamily="18" charset="0"/>
                          </a:rPr>
                          <m:t>𝑁</m:t>
                        </m:r>
                      </m:e>
                    </m:rad>
                  </m:oMath>
                </a14:m>
                <a:r>
                  <a:rPr lang="en-US" altLang="zh-CN" dirty="0"/>
                  <a:t> </a:t>
                </a:r>
                <a:r>
                  <a:rPr lang="zh-Hans" altLang="en-US" dirty="0"/>
                  <a:t>，时间复杂度为 </a:t>
                </a:r>
                <a14:m>
                  <m:oMath xmlns:m="http://schemas.openxmlformats.org/officeDocument/2006/math">
                    <m:r>
                      <a:rPr lang="en-US" altLang="zh-Hans" b="0" i="1" smtClean="0">
                        <a:latin typeface="Cambria Math" panose="02040503050406030204" pitchFamily="18" charset="0"/>
                      </a:rPr>
                      <m:t>𝑂</m:t>
                    </m:r>
                    <m:r>
                      <a:rPr lang="en-US" altLang="zh-Hans" b="0" i="1" smtClean="0">
                        <a:latin typeface="Cambria Math" panose="02040503050406030204" pitchFamily="18" charset="0"/>
                      </a:rPr>
                      <m:t>(</m:t>
                    </m:r>
                    <m:rad>
                      <m:radPr>
                        <m:degHide m:val="on"/>
                        <m:ctrlPr>
                          <a:rPr lang="en-US" altLang="zh-Hans" b="0" i="1" smtClean="0">
                            <a:latin typeface="Cambria Math" panose="02040503050406030204" pitchFamily="18" charset="0"/>
                          </a:rPr>
                        </m:ctrlPr>
                      </m:radPr>
                      <m:deg/>
                      <m:e>
                        <m:r>
                          <a:rPr lang="en-US" altLang="zh-Hans" b="0" i="1" smtClean="0">
                            <a:latin typeface="Cambria Math" panose="02040503050406030204" pitchFamily="18" charset="0"/>
                          </a:rPr>
                          <m:t>𝑁</m:t>
                        </m:r>
                      </m:e>
                    </m:rad>
                    <m:r>
                      <a:rPr lang="en-US" altLang="zh-Hans" b="0" i="1" smtClean="0">
                        <a:latin typeface="Cambria Math" panose="02040503050406030204" pitchFamily="18" charset="0"/>
                      </a:rPr>
                      <m:t>)</m:t>
                    </m:r>
                  </m:oMath>
                </a14:m>
                <a:r>
                  <a:rPr lang="en-US" altLang="zh-CN" dirty="0"/>
                  <a:t> </a:t>
                </a:r>
                <a:r>
                  <a:rPr lang="zh-Hans" altLang="en-US" dirty="0"/>
                  <a:t>。</a:t>
                </a:r>
                <a:endParaRPr lang="en-US" altLang="zh-Hans" dirty="0"/>
              </a:p>
              <a:p>
                <a:pPr>
                  <a:lnSpc>
                    <a:spcPct val="150000"/>
                  </a:lnSpc>
                  <a:spcBef>
                    <a:spcPts val="600"/>
                  </a:spcBef>
                </a:pPr>
                <a14:m>
                  <m:oMath xmlns:m="http://schemas.openxmlformats.org/officeDocument/2006/math">
                    <m:r>
                      <a:rPr lang="en-US" altLang="zh-Hans" i="1" dirty="0">
                        <a:latin typeface="Cambria Math" panose="02040503050406030204" pitchFamily="18" charset="0"/>
                      </a:rPr>
                      <m:t>𝑁</m:t>
                    </m:r>
                  </m:oMath>
                </a14:m>
                <a:r>
                  <a:rPr lang="zh-Hans" altLang="en-US" dirty="0"/>
                  <a:t> 的所有正约数的和为：</a:t>
                </a:r>
                <a:endParaRPr lang="en-US" altLang="zh-Hans" dirty="0"/>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d>
                        <m:dPr>
                          <m:ctrlPr>
                            <a:rPr lang="en-US" altLang="zh-CN" b="1" i="1" dirty="0">
                              <a:latin typeface="Cambria Math" panose="02040503050406030204" pitchFamily="18" charset="0"/>
                            </a:rPr>
                          </m:ctrlPr>
                        </m:dPr>
                        <m:e>
                          <m:r>
                            <a:rPr lang="en-US" altLang="zh-CN" i="1" dirty="0">
                              <a:latin typeface="Cambria Math" panose="02040503050406030204" pitchFamily="18" charset="0"/>
                            </a:rPr>
                            <m:t>1</m:t>
                          </m:r>
                          <m:r>
                            <a:rPr lang="en-US" altLang="zh-Hans" i="1" dirty="0">
                              <a:latin typeface="Cambria Math" panose="02040503050406030204" pitchFamily="18" charset="0"/>
                            </a:rPr>
                            <m:t>+</m:t>
                          </m:r>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𝑝</m:t>
                              </m:r>
                            </m:e>
                            <m:sub>
                              <m:r>
                                <a:rPr lang="en-US" altLang="zh-Hans" i="1" dirty="0">
                                  <a:latin typeface="Cambria Math" panose="02040503050406030204" pitchFamily="18" charset="0"/>
                                </a:rPr>
                                <m:t>1</m:t>
                              </m:r>
                            </m:sub>
                          </m:sSub>
                          <m:r>
                            <a:rPr lang="en-US" altLang="zh-Hans" b="1" i="1" dirty="0">
                              <a:latin typeface="Cambria Math" panose="02040503050406030204" pitchFamily="18" charset="0"/>
                            </a:rPr>
                            <m:t>+</m:t>
                          </m:r>
                          <m:sSubSup>
                            <m:sSubSupPr>
                              <m:ctrlPr>
                                <a:rPr lang="en-US" altLang="zh-Hans" i="1" dirty="0">
                                  <a:latin typeface="Cambria Math" panose="02040503050406030204" pitchFamily="18" charset="0"/>
                                </a:rPr>
                              </m:ctrlPr>
                            </m:sSubSupPr>
                            <m:e>
                              <m:r>
                                <a:rPr lang="en-US" altLang="zh-Hans" i="1" dirty="0">
                                  <a:latin typeface="Cambria Math" panose="02040503050406030204" pitchFamily="18" charset="0"/>
                                </a:rPr>
                                <m:t>𝑝</m:t>
                              </m:r>
                            </m:e>
                            <m:sub>
                              <m:r>
                                <a:rPr lang="en-US" altLang="zh-Hans" i="1" dirty="0">
                                  <a:latin typeface="Cambria Math" panose="02040503050406030204" pitchFamily="18" charset="0"/>
                                </a:rPr>
                                <m:t>1</m:t>
                              </m:r>
                            </m:sub>
                            <m:sup>
                              <m:r>
                                <a:rPr lang="en-US" altLang="zh-Hans" i="1" dirty="0">
                                  <a:latin typeface="Cambria Math" panose="02040503050406030204" pitchFamily="18" charset="0"/>
                                </a:rPr>
                                <m:t>2</m:t>
                              </m:r>
                            </m:sup>
                          </m:sSubSup>
                          <m:r>
                            <a:rPr lang="en-US" altLang="zh-Hans" b="1" i="1" dirty="0">
                              <a:latin typeface="Cambria Math" panose="02040503050406030204" pitchFamily="18" charset="0"/>
                            </a:rPr>
                            <m:t>+…+</m:t>
                          </m:r>
                          <m:sSubSup>
                            <m:sSubSupPr>
                              <m:ctrlPr>
                                <a:rPr lang="en-US" altLang="zh-Hans" i="1" dirty="0">
                                  <a:latin typeface="Cambria Math" panose="02040503050406030204" pitchFamily="18" charset="0"/>
                                </a:rPr>
                              </m:ctrlPr>
                            </m:sSubSupPr>
                            <m:e>
                              <m:r>
                                <a:rPr lang="en-US" altLang="zh-Hans" i="1" dirty="0">
                                  <a:latin typeface="Cambria Math" panose="02040503050406030204" pitchFamily="18" charset="0"/>
                                </a:rPr>
                                <m:t>𝑝</m:t>
                              </m:r>
                            </m:e>
                            <m:sub>
                              <m:r>
                                <a:rPr lang="en-US" altLang="zh-Hans" i="1" dirty="0">
                                  <a:latin typeface="Cambria Math" panose="02040503050406030204" pitchFamily="18" charset="0"/>
                                </a:rPr>
                                <m:t>1</m:t>
                              </m:r>
                            </m:sub>
                            <m:sup>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𝑟</m:t>
                                  </m:r>
                                </m:e>
                                <m:sub>
                                  <m:r>
                                    <a:rPr lang="en-US" altLang="zh-Hans" i="1" dirty="0">
                                      <a:latin typeface="Cambria Math" panose="02040503050406030204" pitchFamily="18" charset="0"/>
                                    </a:rPr>
                                    <m:t>1</m:t>
                                  </m:r>
                                </m:sub>
                              </m:sSub>
                            </m:sup>
                          </m:sSubSup>
                        </m:e>
                      </m:d>
                      <m:r>
                        <a:rPr lang="en-US" altLang="zh-CN" b="1"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a:rPr lang="en-US" altLang="zh-Hans" i="1" dirty="0">
                          <a:latin typeface="Cambria Math" panose="02040503050406030204" pitchFamily="18" charset="0"/>
                        </a:rPr>
                        <m:t>+</m:t>
                      </m:r>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𝑝</m:t>
                          </m:r>
                        </m:e>
                        <m:sub>
                          <m:r>
                            <a:rPr lang="en-US" altLang="zh-Hans" i="1" dirty="0">
                              <a:latin typeface="Cambria Math" panose="02040503050406030204" pitchFamily="18" charset="0"/>
                            </a:rPr>
                            <m:t>𝑘</m:t>
                          </m:r>
                        </m:sub>
                      </m:sSub>
                      <m:r>
                        <a:rPr lang="en-US" altLang="zh-Hans" b="1" i="1" dirty="0">
                          <a:latin typeface="Cambria Math" panose="02040503050406030204" pitchFamily="18" charset="0"/>
                        </a:rPr>
                        <m:t>+</m:t>
                      </m:r>
                      <m:sSubSup>
                        <m:sSubSupPr>
                          <m:ctrlPr>
                            <a:rPr lang="en-US" altLang="zh-Hans" i="1" dirty="0">
                              <a:latin typeface="Cambria Math" panose="02040503050406030204" pitchFamily="18" charset="0"/>
                            </a:rPr>
                          </m:ctrlPr>
                        </m:sSubSupPr>
                        <m:e>
                          <m:r>
                            <a:rPr lang="en-US" altLang="zh-Hans" i="1" dirty="0">
                              <a:latin typeface="Cambria Math" panose="02040503050406030204" pitchFamily="18" charset="0"/>
                            </a:rPr>
                            <m:t>𝑝</m:t>
                          </m:r>
                        </m:e>
                        <m:sub>
                          <m:r>
                            <a:rPr lang="en-US" altLang="zh-Hans" i="1" dirty="0">
                              <a:latin typeface="Cambria Math" panose="02040503050406030204" pitchFamily="18" charset="0"/>
                            </a:rPr>
                            <m:t>𝑘</m:t>
                          </m:r>
                        </m:sub>
                        <m:sup>
                          <m:r>
                            <a:rPr lang="en-US" altLang="zh-Hans" i="1" dirty="0">
                              <a:latin typeface="Cambria Math" panose="02040503050406030204" pitchFamily="18" charset="0"/>
                            </a:rPr>
                            <m:t>2</m:t>
                          </m:r>
                        </m:sup>
                      </m:sSubSup>
                      <m:r>
                        <a:rPr lang="en-US" altLang="zh-Hans" b="1" i="1" dirty="0">
                          <a:latin typeface="Cambria Math" panose="02040503050406030204" pitchFamily="18" charset="0"/>
                        </a:rPr>
                        <m:t>+…+</m:t>
                      </m:r>
                      <m:sSubSup>
                        <m:sSubSupPr>
                          <m:ctrlPr>
                            <a:rPr lang="en-US" altLang="zh-Hans" i="1" dirty="0">
                              <a:latin typeface="Cambria Math" panose="02040503050406030204" pitchFamily="18" charset="0"/>
                            </a:rPr>
                          </m:ctrlPr>
                        </m:sSubSupPr>
                        <m:e>
                          <m:r>
                            <a:rPr lang="en-US" altLang="zh-Hans" i="1" dirty="0">
                              <a:latin typeface="Cambria Math" panose="02040503050406030204" pitchFamily="18" charset="0"/>
                            </a:rPr>
                            <m:t>𝑝</m:t>
                          </m:r>
                        </m:e>
                        <m:sub>
                          <m:r>
                            <a:rPr lang="en-US" altLang="zh-Hans" i="1" dirty="0">
                              <a:latin typeface="Cambria Math" panose="02040503050406030204" pitchFamily="18" charset="0"/>
                            </a:rPr>
                            <m:t>𝑘</m:t>
                          </m:r>
                        </m:sub>
                        <m:sup>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𝑟</m:t>
                              </m:r>
                            </m:e>
                            <m:sub>
                              <m:r>
                                <a:rPr lang="en-US" altLang="zh-Hans" i="1" dirty="0">
                                  <a:latin typeface="Cambria Math" panose="02040503050406030204" pitchFamily="18" charset="0"/>
                                </a:rPr>
                                <m:t>𝑘</m:t>
                              </m:r>
                            </m:sub>
                          </m:sSub>
                        </m:sup>
                      </m:sSub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𝑘</m:t>
                          </m:r>
                        </m:sup>
                        <m:e>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a:rPr lang="en-US" altLang="zh-CN" i="1" dirty="0">
                                  <a:latin typeface="Cambria Math" panose="02040503050406030204" pitchFamily="18" charset="0"/>
                                </a:rPr>
                                <m:t>=0</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sup>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m:t>
                                  </m:r>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𝑝</m:t>
                                      </m:r>
                                    </m:e>
                                    <m:sub>
                                      <m:r>
                                        <a:rPr lang="en-US" altLang="zh-Hans" b="0" i="1" dirty="0" smtClean="0">
                                          <a:latin typeface="Cambria Math" panose="02040503050406030204" pitchFamily="18" charset="0"/>
                                        </a:rPr>
                                        <m:t>𝑖</m:t>
                                      </m:r>
                                    </m:sub>
                                  </m:sSub>
                                  <m:r>
                                    <a:rPr lang="en-US" altLang="zh-CN" i="1" dirty="0">
                                      <a:latin typeface="Cambria Math" panose="02040503050406030204" pitchFamily="18" charset="0"/>
                                    </a:rPr>
                                    <m:t>)</m:t>
                                  </m:r>
                                </m:e>
                                <m:sup>
                                  <m:r>
                                    <a:rPr lang="en-US" altLang="zh-CN" i="1" dirty="0">
                                      <a:latin typeface="Cambria Math" panose="02040503050406030204" pitchFamily="18" charset="0"/>
                                    </a:rPr>
                                    <m:t>𝑗</m:t>
                                  </m:r>
                                </m:sup>
                              </m:sSup>
                            </m:e>
                          </m:nary>
                          <m:r>
                            <a:rPr lang="en-US" altLang="zh-CN" i="1" dirty="0">
                              <a:latin typeface="Cambria Math" panose="02040503050406030204" pitchFamily="18" charset="0"/>
                            </a:rPr>
                            <m:t>)</m:t>
                          </m:r>
                        </m:e>
                      </m:nary>
                    </m:oMath>
                  </m:oMathPara>
                </a14:m>
                <a:endParaRPr lang="en-US" altLang="zh-CN" dirty="0"/>
              </a:p>
              <a:p>
                <a:pPr>
                  <a:lnSpc>
                    <a:spcPct val="150000"/>
                  </a:lnSpc>
                </a:pPr>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3382" y="1441173"/>
                <a:ext cx="9982200" cy="5257801"/>
              </a:xfrm>
              <a:blipFill>
                <a:blip r:embed="rId2"/>
                <a:stretch>
                  <a:fillRect l="-1398" b="-26024"/>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E16BF527-BEA9-0A4E-A64B-0E5F44B2E284}"/>
              </a:ext>
            </a:extLst>
          </p:cNvPr>
          <p:cNvSpPr>
            <a:spLocks noGrp="1"/>
          </p:cNvSpPr>
          <p:nvPr>
            <p:ph type="sldNum" sz="quarter" idx="12"/>
          </p:nvPr>
        </p:nvSpPr>
        <p:spPr/>
        <p:txBody>
          <a:bodyPr/>
          <a:lstStyle/>
          <a:p>
            <a:fld id="{0FF54DE5-C571-48E8-A5BC-B369434E2F44}" type="slidenum">
              <a:rPr lang="en-US" altLang="zh-CN" smtClean="0"/>
              <a:pPr/>
              <a:t>25</a:t>
            </a:fld>
            <a:endParaRPr lang="zh-CN" altLang="en-US" dirty="0"/>
          </a:p>
        </p:txBody>
      </p:sp>
    </p:spTree>
    <p:extLst>
      <p:ext uri="{BB962C8B-B14F-4D97-AF65-F5344CB8AC3E}">
        <p14:creationId xmlns:p14="http://schemas.microsoft.com/office/powerpoint/2010/main" val="1203012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874D90-B713-A642-B785-BDD1578C042B}"/>
              </a:ext>
            </a:extLst>
          </p:cNvPr>
          <p:cNvSpPr>
            <a:spLocks noGrp="1"/>
          </p:cNvSpPr>
          <p:nvPr>
            <p:ph type="title"/>
          </p:nvPr>
        </p:nvSpPr>
        <p:spPr/>
        <p:txBody>
          <a:bodyPr/>
          <a:lstStyle/>
          <a:p>
            <a:r>
              <a:rPr kumimoji="1" lang="zh-Hans" altLang="en-US" dirty="0"/>
              <a:t>例题：</a:t>
            </a:r>
            <a:r>
              <a:rPr lang="en-US" altLang="zh-CN" dirty="0"/>
              <a:t> [BZOJ 1</a:t>
            </a:r>
            <a:r>
              <a:rPr lang="en-US" altLang="zh-Hans" dirty="0"/>
              <a:t>053</a:t>
            </a:r>
            <a:r>
              <a:rPr lang="en-US" altLang="zh-CN" dirty="0"/>
              <a:t>] </a:t>
            </a:r>
            <a:r>
              <a:rPr lang="zh-Hans" altLang="en-US" dirty="0"/>
              <a:t>反素数</a:t>
            </a:r>
            <a:endParaRPr kumimoji="1"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82C4899-43A4-5746-91A1-075EF7C99E0B}"/>
                  </a:ext>
                </a:extLst>
              </p:cNvPr>
              <p:cNvSpPr>
                <a:spLocks noGrp="1"/>
              </p:cNvSpPr>
              <p:nvPr>
                <p:ph idx="1"/>
              </p:nvPr>
            </p:nvSpPr>
            <p:spPr/>
            <p:txBody>
              <a:bodyPr>
                <a:normAutofit fontScale="92500"/>
              </a:bodyPr>
              <a:lstStyle/>
              <a:p>
                <a:pPr>
                  <a:lnSpc>
                    <a:spcPct val="150000"/>
                  </a:lnSpc>
                </a:pPr>
                <a:r>
                  <a:rPr kumimoji="1" lang="zh-CN" altLang="en-US" dirty="0"/>
                  <a:t>对于任何正整数 </a:t>
                </a:r>
                <a14:m>
                  <m:oMath xmlns:m="http://schemas.openxmlformats.org/officeDocument/2006/math">
                    <m:r>
                      <a:rPr kumimoji="1" lang="en-US" altLang="zh-CN" i="1" dirty="0" smtClean="0">
                        <a:latin typeface="Cambria Math" panose="02040503050406030204" pitchFamily="18" charset="0"/>
                      </a:rPr>
                      <m:t>𝑥</m:t>
                    </m:r>
                  </m:oMath>
                </a14:m>
                <a:r>
                  <a:rPr kumimoji="1" lang="en-US" altLang="zh-CN" dirty="0"/>
                  <a:t> </a:t>
                </a:r>
                <a:r>
                  <a:rPr kumimoji="1" lang="zh-CN" altLang="en-US" dirty="0"/>
                  <a:t>，其约数的个数计作 </a:t>
                </a:r>
                <a14:m>
                  <m:oMath xmlns:m="http://schemas.openxmlformats.org/officeDocument/2006/math">
                    <m:r>
                      <a:rPr kumimoji="1" lang="en-US" altLang="zh-CN" i="1" dirty="0" smtClean="0">
                        <a:latin typeface="Cambria Math" panose="02040503050406030204" pitchFamily="18" charset="0"/>
                      </a:rPr>
                      <m:t>𝑔</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m:t>
                    </m:r>
                  </m:oMath>
                </a14:m>
                <a:r>
                  <a:rPr kumimoji="1" lang="zh-CN" altLang="en-US" dirty="0"/>
                  <a:t>。例如 </a:t>
                </a:r>
                <a14:m>
                  <m:oMath xmlns:m="http://schemas.openxmlformats.org/officeDocument/2006/math">
                    <m:r>
                      <a:rPr kumimoji="1" lang="en-US" altLang="zh-CN" i="1" dirty="0" smtClean="0">
                        <a:latin typeface="Cambria Math" panose="02040503050406030204" pitchFamily="18" charset="0"/>
                      </a:rPr>
                      <m:t>𝑔</m:t>
                    </m:r>
                    <m:r>
                      <a:rPr kumimoji="1" lang="en-US" altLang="zh-CN" i="1" dirty="0" smtClean="0">
                        <a:latin typeface="Cambria Math" panose="02040503050406030204" pitchFamily="18" charset="0"/>
                      </a:rPr>
                      <m:t>(1)=1,</m:t>
                    </m:r>
                    <m:r>
                      <a:rPr kumimoji="1" lang="en-US" altLang="zh-CN" i="1" dirty="0" smtClean="0">
                        <a:latin typeface="Cambria Math" panose="02040503050406030204" pitchFamily="18" charset="0"/>
                      </a:rPr>
                      <m:t>𝑔</m:t>
                    </m:r>
                    <m:r>
                      <a:rPr kumimoji="1" lang="en-US" altLang="zh-CN" i="1" dirty="0" smtClean="0">
                        <a:latin typeface="Cambria Math" panose="02040503050406030204" pitchFamily="18" charset="0"/>
                      </a:rPr>
                      <m:t>(6)=4</m:t>
                    </m:r>
                  </m:oMath>
                </a14:m>
                <a:r>
                  <a:rPr kumimoji="1" lang="en-US" altLang="zh-CN" dirty="0"/>
                  <a:t> </a:t>
                </a:r>
                <a:r>
                  <a:rPr kumimoji="1" lang="zh-CN" altLang="en-US" dirty="0"/>
                  <a:t>。</a:t>
                </a:r>
                <a:endParaRPr kumimoji="1" lang="en-US" altLang="zh-CN" dirty="0"/>
              </a:p>
              <a:p>
                <a:pPr>
                  <a:lnSpc>
                    <a:spcPct val="150000"/>
                  </a:lnSpc>
                </a:pPr>
                <a:r>
                  <a:rPr kumimoji="1" lang="zh-CN" altLang="en-US" dirty="0"/>
                  <a:t>如果某个正整数 </a:t>
                </a:r>
                <a14:m>
                  <m:oMath xmlns:m="http://schemas.openxmlformats.org/officeDocument/2006/math">
                    <m:r>
                      <a:rPr kumimoji="1" lang="en-US" altLang="zh-CN" i="1" dirty="0" smtClean="0">
                        <a:latin typeface="Cambria Math" panose="02040503050406030204" pitchFamily="18" charset="0"/>
                      </a:rPr>
                      <m:t>𝑥</m:t>
                    </m:r>
                  </m:oMath>
                </a14:m>
                <a:r>
                  <a:rPr kumimoji="1" lang="en-US" altLang="zh-CN" dirty="0"/>
                  <a:t> </a:t>
                </a:r>
                <a:r>
                  <a:rPr kumimoji="1" lang="zh-CN" altLang="en-US" dirty="0"/>
                  <a:t>满足：对于任意的 </a:t>
                </a:r>
                <a14:m>
                  <m:oMath xmlns:m="http://schemas.openxmlformats.org/officeDocument/2006/math">
                    <m:r>
                      <a:rPr kumimoji="1" lang="en-US" altLang="zh-CN" i="1" dirty="0" smtClean="0">
                        <a:latin typeface="Cambria Math" panose="02040503050406030204" pitchFamily="18" charset="0"/>
                      </a:rPr>
                      <m:t>0&lt;</m:t>
                    </m:r>
                    <m:r>
                      <a:rPr kumimoji="1" lang="en-US" altLang="zh-CN" i="1" dirty="0" err="1">
                        <a:latin typeface="Cambria Math" panose="02040503050406030204" pitchFamily="18" charset="0"/>
                      </a:rPr>
                      <m:t>𝑖</m:t>
                    </m:r>
                    <m:r>
                      <a:rPr kumimoji="1" lang="en-US" altLang="zh-CN" i="1" dirty="0">
                        <a:latin typeface="Cambria Math" panose="02040503050406030204" pitchFamily="18" charset="0"/>
                      </a:rPr>
                      <m:t>&lt;</m:t>
                    </m:r>
                    <m:r>
                      <a:rPr kumimoji="1" lang="en-US" altLang="zh-CN" i="1" dirty="0">
                        <a:latin typeface="Cambria Math" panose="02040503050406030204" pitchFamily="18" charset="0"/>
                      </a:rPr>
                      <m:t>𝑥</m:t>
                    </m:r>
                  </m:oMath>
                </a14:m>
                <a:r>
                  <a:rPr kumimoji="1" lang="en-US" altLang="zh-CN" dirty="0"/>
                  <a:t> </a:t>
                </a:r>
                <a:r>
                  <a:rPr kumimoji="1" lang="zh-CN" altLang="en-US" dirty="0"/>
                  <a:t>，都有 </a:t>
                </a:r>
                <a14:m>
                  <m:oMath xmlns:m="http://schemas.openxmlformats.org/officeDocument/2006/math">
                    <m:r>
                      <a:rPr kumimoji="1" lang="en-US" altLang="zh-CN" i="1" dirty="0" smtClean="0">
                        <a:latin typeface="Cambria Math" panose="02040503050406030204" pitchFamily="18" charset="0"/>
                      </a:rPr>
                      <m:t>𝑔</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𝑥</m:t>
                    </m:r>
                    <m:r>
                      <a:rPr kumimoji="1" lang="en-US" altLang="zh-CN" i="1" dirty="0" smtClean="0">
                        <a:latin typeface="Cambria Math" panose="02040503050406030204" pitchFamily="18" charset="0"/>
                      </a:rPr>
                      <m:t>)&gt;</m:t>
                    </m:r>
                    <m:r>
                      <a:rPr kumimoji="1" lang="en-US" altLang="zh-CN" i="1" dirty="0" smtClean="0">
                        <a:latin typeface="Cambria Math" panose="02040503050406030204" pitchFamily="18" charset="0"/>
                      </a:rPr>
                      <m:t>𝑔</m:t>
                    </m:r>
                    <m:r>
                      <a:rPr kumimoji="1" lang="en-US" altLang="zh-CN" i="1" dirty="0" smtClean="0">
                        <a:latin typeface="Cambria Math" panose="02040503050406030204" pitchFamily="18" charset="0"/>
                      </a:rPr>
                      <m:t>(</m:t>
                    </m:r>
                    <m:r>
                      <a:rPr kumimoji="1" lang="en-US" altLang="zh-CN" i="1" dirty="0" err="1">
                        <a:latin typeface="Cambria Math" panose="02040503050406030204" pitchFamily="18" charset="0"/>
                      </a:rPr>
                      <m:t>𝑖</m:t>
                    </m:r>
                    <m:r>
                      <a:rPr kumimoji="1" lang="en-US" altLang="zh-CN" i="1" dirty="0">
                        <a:latin typeface="Cambria Math" panose="02040503050406030204" pitchFamily="18" charset="0"/>
                      </a:rPr>
                      <m:t>)</m:t>
                    </m:r>
                  </m:oMath>
                </a14:m>
                <a:r>
                  <a:rPr kumimoji="1" lang="zh-CN" altLang="en-US" dirty="0"/>
                  <a:t>，那么称 </a:t>
                </a:r>
                <a14:m>
                  <m:oMath xmlns:m="http://schemas.openxmlformats.org/officeDocument/2006/math">
                    <m:r>
                      <a:rPr kumimoji="1" lang="en-US" altLang="zh-CN" i="1" dirty="0" smtClean="0">
                        <a:latin typeface="Cambria Math" panose="02040503050406030204" pitchFamily="18" charset="0"/>
                      </a:rPr>
                      <m:t>𝑥</m:t>
                    </m:r>
                  </m:oMath>
                </a14:m>
                <a:r>
                  <a:rPr kumimoji="1" lang="en-US" altLang="zh-CN" dirty="0"/>
                  <a:t> </a:t>
                </a:r>
                <a:r>
                  <a:rPr kumimoji="1" lang="zh-CN" altLang="en-US" dirty="0"/>
                  <a:t>为反素数。例如 </a:t>
                </a:r>
                <a14:m>
                  <m:oMath xmlns:m="http://schemas.openxmlformats.org/officeDocument/2006/math">
                    <m:r>
                      <a:rPr kumimoji="1" lang="en-US" altLang="zh-CN" i="1" dirty="0" smtClean="0">
                        <a:latin typeface="Cambria Math" panose="02040503050406030204" pitchFamily="18" charset="0"/>
                      </a:rPr>
                      <m:t>1,2,4,6</m:t>
                    </m:r>
                  </m:oMath>
                </a14:m>
                <a:r>
                  <a:rPr kumimoji="1" lang="en-US" altLang="zh-CN" dirty="0"/>
                  <a:t> </a:t>
                </a:r>
                <a:r>
                  <a:rPr kumimoji="1" lang="zh-CN" altLang="en-US" dirty="0"/>
                  <a:t>都是反素数。</a:t>
                </a:r>
                <a:endParaRPr kumimoji="1" lang="en-US" altLang="zh-CN" dirty="0"/>
              </a:p>
              <a:p>
                <a:pPr>
                  <a:lnSpc>
                    <a:spcPct val="150000"/>
                  </a:lnSpc>
                </a:pPr>
                <a:r>
                  <a:rPr kumimoji="1" lang="zh-CN" altLang="en-US" dirty="0"/>
                  <a:t>现在给定一个数 </a:t>
                </a:r>
                <a14:m>
                  <m:oMath xmlns:m="http://schemas.openxmlformats.org/officeDocument/2006/math">
                    <m:r>
                      <a:rPr kumimoji="1" lang="en-US" altLang="zh-CN" i="1" dirty="0" smtClean="0">
                        <a:latin typeface="Cambria Math" panose="02040503050406030204" pitchFamily="18" charset="0"/>
                      </a:rPr>
                      <m:t>𝑁</m:t>
                    </m:r>
                    <m:r>
                      <a:rPr kumimoji="1" lang="en-US" altLang="zh-CN" i="1" dirty="0" smtClean="0">
                        <a:latin typeface="Cambria Math" panose="02040503050406030204" pitchFamily="18" charset="0"/>
                      </a:rPr>
                      <m:t>(1≤</m:t>
                    </m:r>
                    <m:r>
                      <a:rPr kumimoji="1" lang="en-US" altLang="zh-CN" i="1" dirty="0" smtClean="0">
                        <a:latin typeface="Cambria Math" panose="02040503050406030204" pitchFamily="18" charset="0"/>
                      </a:rPr>
                      <m:t>𝑁</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rPr>
                      <m:t>2∗</m:t>
                    </m:r>
                    <m:sSup>
                      <m:sSupPr>
                        <m:ctrlPr>
                          <a:rPr kumimoji="1" lang="en-US" altLang="zh-CN" i="1" dirty="0" smtClean="0">
                            <a:latin typeface="Cambria Math" panose="02040503050406030204" pitchFamily="18" charset="0"/>
                          </a:rPr>
                        </m:ctrlPr>
                      </m:sSupPr>
                      <m:e>
                        <m:r>
                          <a:rPr kumimoji="1" lang="en-US" altLang="zh-CN" b="0" i="1" dirty="0" smtClean="0">
                            <a:latin typeface="Cambria Math" panose="02040503050406030204" pitchFamily="18" charset="0"/>
                          </a:rPr>
                          <m:t>10</m:t>
                        </m:r>
                      </m:e>
                      <m:sup>
                        <m:r>
                          <a:rPr kumimoji="1" lang="en-US" altLang="zh-CN" b="0" i="1" dirty="0" smtClean="0">
                            <a:latin typeface="Cambria Math" panose="02040503050406030204" pitchFamily="18" charset="0"/>
                          </a:rPr>
                          <m:t>9</m:t>
                        </m:r>
                      </m:sup>
                    </m:sSup>
                    <m:r>
                      <a:rPr kumimoji="1" lang="en-US" altLang="zh-CN" i="1" dirty="0" smtClean="0">
                        <a:latin typeface="Cambria Math" panose="02040503050406030204" pitchFamily="18" charset="0"/>
                      </a:rPr>
                      <m:t>)</m:t>
                    </m:r>
                  </m:oMath>
                </a14:m>
                <a:r>
                  <a:rPr kumimoji="1" lang="zh-CN" altLang="en-US" dirty="0"/>
                  <a:t>，求出不超过 </a:t>
                </a:r>
                <a14:m>
                  <m:oMath xmlns:m="http://schemas.openxmlformats.org/officeDocument/2006/math">
                    <m:r>
                      <a:rPr kumimoji="1" lang="en-US" altLang="zh-CN" i="1" dirty="0" smtClean="0">
                        <a:latin typeface="Cambria Math" panose="02040503050406030204" pitchFamily="18" charset="0"/>
                      </a:rPr>
                      <m:t>𝑁</m:t>
                    </m:r>
                  </m:oMath>
                </a14:m>
                <a:r>
                  <a:rPr kumimoji="1" lang="en-US" altLang="zh-CN" dirty="0"/>
                  <a:t> </a:t>
                </a:r>
                <a:r>
                  <a:rPr kumimoji="1" lang="zh-CN" altLang="en-US" dirty="0"/>
                  <a:t>的最大的反素数。</a:t>
                </a:r>
              </a:p>
            </p:txBody>
          </p:sp>
        </mc:Choice>
        <mc:Fallback>
          <p:sp>
            <p:nvSpPr>
              <p:cNvPr id="3" name="内容占位符 2">
                <a:extLst>
                  <a:ext uri="{FF2B5EF4-FFF2-40B4-BE49-F238E27FC236}">
                    <a16:creationId xmlns:a16="http://schemas.microsoft.com/office/drawing/2014/main" id="{182C4899-43A4-5746-91A1-075EF7C99E0B}"/>
                  </a:ext>
                </a:extLst>
              </p:cNvPr>
              <p:cNvSpPr>
                <a:spLocks noGrp="1" noRot="1" noChangeAspect="1" noMove="1" noResize="1" noEditPoints="1" noAdjustHandles="1" noChangeArrowheads="1" noChangeShapeType="1" noTextEdit="1"/>
              </p:cNvSpPr>
              <p:nvPr>
                <p:ph idx="1"/>
              </p:nvPr>
            </p:nvSpPr>
            <p:spPr>
              <a:blipFill>
                <a:blip r:embed="rId2"/>
                <a:stretch>
                  <a:fillRect l="-1271" r="-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EC3ACC4C-AB85-3842-858B-0F23EB26A441}"/>
              </a:ext>
            </a:extLst>
          </p:cNvPr>
          <p:cNvSpPr>
            <a:spLocks noGrp="1"/>
          </p:cNvSpPr>
          <p:nvPr>
            <p:ph type="sldNum" sz="quarter" idx="12"/>
          </p:nvPr>
        </p:nvSpPr>
        <p:spPr/>
        <p:txBody>
          <a:bodyPr/>
          <a:lstStyle/>
          <a:p>
            <a:fld id="{0FF54DE5-C571-48E8-A5BC-B369434E2F44}" type="slidenum">
              <a:rPr lang="en-US" altLang="zh-CN" smtClean="0"/>
              <a:pPr/>
              <a:t>26</a:t>
            </a:fld>
            <a:endParaRPr lang="zh-CN" altLang="en-US" dirty="0"/>
          </a:p>
        </p:txBody>
      </p:sp>
    </p:spTree>
    <p:extLst>
      <p:ext uri="{BB962C8B-B14F-4D97-AF65-F5344CB8AC3E}">
        <p14:creationId xmlns:p14="http://schemas.microsoft.com/office/powerpoint/2010/main" val="373080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r>
              <a:rPr lang="zh-CN" altLang="en-US" dirty="0">
                <a:latin typeface="微软雅黑" panose="020B0503020204020204" pitchFamily="34" charset="-122"/>
                <a:ea typeface="微软雅黑" panose="020B0503020204020204" pitchFamily="34" charset="-122"/>
              </a:rPr>
              <a:t>最大公约数</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200"/>
                <a:ext cx="9982200" cy="1869832"/>
              </a:xfrm>
            </p:spPr>
            <p:txBody>
              <a:bodyPr rtlCol="0">
                <a:normAutofit/>
              </a:bodyPr>
              <a:lstStyle/>
              <a:p>
                <a:pPr>
                  <a:lnSpc>
                    <a:spcPct val="150000"/>
                  </a:lnSpc>
                </a:pPr>
                <a:r>
                  <a:rPr lang="zh-CN" altLang="en-US" dirty="0"/>
                  <a:t>设</a:t>
                </a:r>
                <a:r>
                  <a:rPr lang="zh-Hans" altLang="en-US" dirty="0"/>
                  <a:t>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zh-Hans" altLang="en-US" dirty="0"/>
                  <a:t> </a:t>
                </a:r>
                <a:r>
                  <a:rPr lang="zh-CN" altLang="en-US" dirty="0"/>
                  <a:t>是不都为</a:t>
                </a:r>
                <a:r>
                  <a:rPr lang="zh-Hans" altLang="en-US" dirty="0"/>
                  <a:t> </a:t>
                </a:r>
                <a14:m>
                  <m:oMath xmlns:m="http://schemas.openxmlformats.org/officeDocument/2006/math">
                    <m:r>
                      <a:rPr lang="en-US" altLang="zh-CN" i="1" dirty="0" smtClean="0">
                        <a:latin typeface="Cambria Math" panose="02040503050406030204" pitchFamily="18" charset="0"/>
                      </a:rPr>
                      <m:t>0</m:t>
                    </m:r>
                  </m:oMath>
                </a14:m>
                <a:r>
                  <a:rPr lang="zh-Hans" altLang="en-US" dirty="0"/>
                  <a:t> </a:t>
                </a:r>
                <a:r>
                  <a:rPr lang="zh-CN" altLang="en-US" dirty="0"/>
                  <a:t>的整数，</a:t>
                </a:r>
                <a14:m>
                  <m:oMath xmlns:m="http://schemas.openxmlformats.org/officeDocument/2006/math">
                    <m:r>
                      <a:rPr lang="en-US" altLang="zh-CN" i="1" dirty="0" smtClean="0">
                        <a:latin typeface="Cambria Math" panose="02040503050406030204" pitchFamily="18" charset="0"/>
                      </a:rPr>
                      <m:t>𝑐</m:t>
                    </m:r>
                  </m:oMath>
                </a14:m>
                <a:r>
                  <a:rPr lang="zh-Hans" altLang="en-US" dirty="0"/>
                  <a:t> </a:t>
                </a:r>
                <a:r>
                  <a:rPr lang="zh-CN" altLang="en-US" dirty="0"/>
                  <a:t>为满足</a:t>
                </a:r>
                <a:r>
                  <a:rPr lang="zh-Hans" altLang="en-US" dirty="0"/>
                  <a:t> </a:t>
                </a:r>
                <a14:m>
                  <m:oMath xmlns:m="http://schemas.openxmlformats.org/officeDocument/2006/math">
                    <m:r>
                      <a:rPr lang="en-US" altLang="zh-CN" i="1" dirty="0" smtClean="0">
                        <a:latin typeface="Cambria Math" panose="02040503050406030204" pitchFamily="18" charset="0"/>
                      </a:rPr>
                      <m:t>𝑐</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oMath>
                </a14:m>
                <a:r>
                  <a:rPr lang="zh-Hans" altLang="en-US" dirty="0"/>
                  <a:t> </a:t>
                </a:r>
                <a:r>
                  <a:rPr lang="zh-CN" altLang="en-US" dirty="0"/>
                  <a:t>且</a:t>
                </a:r>
                <a:r>
                  <a:rPr lang="zh-Hans" altLang="en-US" dirty="0"/>
                  <a:t> </a:t>
                </a:r>
                <a14:m>
                  <m:oMath xmlns:m="http://schemas.openxmlformats.org/officeDocument/2006/math">
                    <m:r>
                      <a:rPr lang="en-US" altLang="zh-CN" i="1" dirty="0" smtClean="0">
                        <a:latin typeface="Cambria Math" panose="02040503050406030204" pitchFamily="18" charset="0"/>
                      </a:rPr>
                      <m:t>𝑐</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zh-Hans" altLang="en-US" dirty="0"/>
                  <a:t> </a:t>
                </a:r>
                <a:r>
                  <a:rPr lang="zh-CN" altLang="en-US" dirty="0"/>
                  <a:t>的最大整数，则称</a:t>
                </a:r>
                <a:r>
                  <a:rPr lang="zh-Hans" altLang="en-US" dirty="0"/>
                  <a:t> </a:t>
                </a:r>
                <a14:m>
                  <m:oMath xmlns:m="http://schemas.openxmlformats.org/officeDocument/2006/math">
                    <m:r>
                      <a:rPr lang="en-US" altLang="zh-CN" i="1" dirty="0" smtClean="0">
                        <a:latin typeface="Cambria Math" panose="02040503050406030204" pitchFamily="18" charset="0"/>
                      </a:rPr>
                      <m:t>𝑐</m:t>
                    </m:r>
                  </m:oMath>
                </a14:m>
                <a:r>
                  <a:rPr lang="zh-Hans" altLang="en-US" dirty="0"/>
                  <a:t> </a:t>
                </a:r>
                <a:r>
                  <a:rPr lang="zh-CN" altLang="en-US" dirty="0"/>
                  <a:t>是</a:t>
                </a:r>
                <a:r>
                  <a:rPr lang="zh-Hans" altLang="en-US" dirty="0"/>
                  <a:t>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zh-Hans" altLang="en-US" dirty="0"/>
                  <a:t> </a:t>
                </a:r>
                <a:r>
                  <a:rPr lang="zh-CN" altLang="en-US" dirty="0"/>
                  <a:t>的</a:t>
                </a:r>
                <a:r>
                  <a:rPr lang="zh-CN" altLang="en-US" b="1" dirty="0"/>
                  <a:t>最大公约数</a:t>
                </a:r>
                <a:r>
                  <a:rPr lang="zh-CN" altLang="en-US" dirty="0"/>
                  <a:t>，记为</a:t>
                </a:r>
                <a:r>
                  <a:rPr lang="zh-Hans" altLang="en-US" dirty="0"/>
                  <a:t> </a:t>
                </a:r>
                <a14:m>
                  <m:oMath xmlns:m="http://schemas.openxmlformats.org/officeDocument/2006/math">
                    <m:r>
                      <m:rPr>
                        <m:sty m:val="p"/>
                      </m:rPr>
                      <a:rPr lang="en-US" altLang="zh-CN" i="1" dirty="0" smtClean="0">
                        <a:latin typeface="Cambria Math" panose="02040503050406030204" pitchFamily="18" charset="0"/>
                      </a:rPr>
                      <m:t>gcd</m:t>
                    </m:r>
                    <m:r>
                      <a:rPr lang="en-US" altLang="zh-CN" i="1" dirty="0" smtClean="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oMath>
                </a14:m>
                <a:r>
                  <a:rPr lang="zh-Hans" altLang="en-US" dirty="0"/>
                  <a:t> </a:t>
                </a:r>
                <a:r>
                  <a:rPr lang="zh-CN" altLang="en-US" dirty="0"/>
                  <a:t>或</a:t>
                </a:r>
                <a:r>
                  <a:rPr lang="zh-Hans" altLang="en-US" dirty="0"/>
                  <a:t> </a:t>
                </a:r>
                <a14:m>
                  <m:oMath xmlns:m="http://schemas.openxmlformats.org/officeDocument/2006/math">
                    <m:r>
                      <a:rPr lang="en-US" altLang="zh-CN" i="1" dirty="0" smtClean="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oMath>
                </a14:m>
                <a:r>
                  <a:rPr lang="zh-CN" altLang="en-US" dirty="0"/>
                  <a:t> 。</a:t>
                </a:r>
                <a:endParaRPr lang="en-US" altLang="zh-CN" dirty="0"/>
              </a:p>
              <a:p>
                <a:pPr>
                  <a:lnSpc>
                    <a:spcPct val="150000"/>
                  </a:lnSpc>
                </a:pPr>
                <a:r>
                  <a:rPr lang="zh-CN" altLang="zh-CN" dirty="0"/>
                  <a:t>最大公约数有如下性质：</a:t>
                </a:r>
              </a:p>
              <a:p>
                <a:pPr lvl="1">
                  <a:lnSpc>
                    <a:spcPct val="150000"/>
                  </a:lnSpc>
                  <a:spcBef>
                    <a:spcPts val="1800"/>
                  </a:spcBef>
                </a:pPr>
                <a:endParaRPr lang="en-US" altLang="zh-CN" sz="2000"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200"/>
                <a:ext cx="9982200" cy="1869832"/>
              </a:xfrm>
              <a:blipFill>
                <a:blip r:embed="rId2"/>
                <a:stretch>
                  <a:fillRect l="-1398" r="-889"/>
                </a:stretch>
              </a:blipFill>
            </p:spPr>
            <p:txBody>
              <a:bodyPr/>
              <a:lstStyle/>
              <a:p>
                <a:r>
                  <a:rPr lang="zh-CN" altLang="en-US">
                    <a:noFill/>
                  </a:rPr>
                  <a:t> </a:t>
                </a:r>
              </a:p>
            </p:txBody>
          </p:sp>
        </mc:Fallback>
      </mc:AlternateContent>
      <p:sp>
        <p:nvSpPr>
          <p:cNvPr id="7" name="内容占位符 13"/>
          <p:cNvSpPr txBox="1">
            <a:spLocks/>
          </p:cNvSpPr>
          <p:nvPr/>
        </p:nvSpPr>
        <p:spPr>
          <a:xfrm>
            <a:off x="4935885" y="2441070"/>
            <a:ext cx="6714795" cy="2616806"/>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buNone/>
            </a:pPr>
            <a:r>
              <a:rPr lang="en-US" altLang="zh-CN" dirty="0"/>
              <a:t>  </a:t>
            </a:r>
            <a:endParaRPr lang="zh-CN" altLang="zh-CN" dirty="0"/>
          </a:p>
          <a:p>
            <a:pPr marL="0" indent="0" algn="ctr">
              <a:lnSpc>
                <a:spcPct val="100000"/>
              </a:lnSpc>
              <a:buFont typeface="Wingdings" panose="05000000000000000000" pitchFamily="2" charset="2"/>
              <a:buNone/>
            </a:pPr>
            <a:endParaRPr lang="zh-CN" altLang="en-US" dirty="0"/>
          </a:p>
        </p:txBody>
      </p:sp>
      <mc:AlternateContent xmlns:mc="http://schemas.openxmlformats.org/markup-compatibility/2006">
        <mc:Choice xmlns:a14="http://schemas.microsoft.com/office/drawing/2010/main" Requires="a14">
          <p:sp>
            <p:nvSpPr>
              <p:cNvPr id="8" name="内容占位符 13">
                <a:extLst>
                  <a:ext uri="{FF2B5EF4-FFF2-40B4-BE49-F238E27FC236}">
                    <a16:creationId xmlns:a16="http://schemas.microsoft.com/office/drawing/2014/main" id="{86712141-472F-3E47-8913-D3750A3F6C9D}"/>
                  </a:ext>
                </a:extLst>
              </p:cNvPr>
              <p:cNvSpPr txBox="1">
                <a:spLocks/>
              </p:cNvSpPr>
              <p:nvPr/>
            </p:nvSpPr>
            <p:spPr>
              <a:xfrm>
                <a:off x="1104900" y="3470032"/>
                <a:ext cx="9980682" cy="2912747"/>
              </a:xfrm>
              <a:prstGeom prst="rect">
                <a:avLst/>
              </a:prstGeom>
            </p:spPr>
            <p:txBody>
              <a:bodyPr vert="horz" lIns="0" tIns="45720" rIns="0" bIns="45720" numCol="2"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lvl="1">
                  <a:lnSpc>
                    <a:spcPct val="150000"/>
                  </a:lnSpc>
                  <a:spcBef>
                    <a:spcPts val="1800"/>
                  </a:spcBef>
                </a:pPr>
                <a14:m>
                  <m:oMath xmlns:m="http://schemas.openxmlformats.org/officeDocument/2006/math">
                    <m:func>
                      <m:funcPr>
                        <m:ctrlPr>
                          <a:rPr lang="zh-CN" altLang="en-US" sz="2000" i="1" dirty="0" smtClean="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e>
                        </m:d>
                      </m:e>
                    </m:func>
                    <m:r>
                      <a:rPr lang="zh-CN" altLang="en-US" sz="2000" i="1" dirty="0">
                        <a:latin typeface="Cambria Math" panose="02040503050406030204" pitchFamily="18" charset="0"/>
                        <a:ea typeface="新宋体" panose="02010609030101010101" pitchFamily="49" charset="-122"/>
                      </a:rPr>
                      <m:t>=</m:t>
                    </m:r>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𝑏</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e>
                        </m:d>
                      </m:e>
                    </m:func>
                  </m:oMath>
                </a14:m>
                <a:r>
                  <a:rPr lang="en-US" altLang="zh-CN" sz="2000" dirty="0"/>
                  <a:t> </a:t>
                </a:r>
              </a:p>
              <a:p>
                <a:pPr lvl="1">
                  <a:lnSpc>
                    <a:spcPct val="150000"/>
                  </a:lnSpc>
                  <a:spcBef>
                    <a:spcPts val="1800"/>
                  </a:spcBef>
                </a:pPr>
                <a14:m>
                  <m:oMath xmlns:m="http://schemas.openxmlformats.org/officeDocument/2006/math">
                    <m:r>
                      <m:rPr>
                        <m:sty m:val="p"/>
                      </m:rPr>
                      <a:rPr lang="zh-CN" altLang="en-US" sz="2000" i="1" dirty="0">
                        <a:latin typeface="Cambria Math" panose="02040503050406030204" pitchFamily="18" charset="0"/>
                        <a:ea typeface="新宋体" panose="02010609030101010101" pitchFamily="49" charset="-122"/>
                      </a:rPr>
                      <m:t>gcd</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r>
                      <a:rPr lang="zh-CN" altLang="en-US" sz="2000" i="1" dirty="0">
                        <a:latin typeface="Cambria Math" panose="02040503050406030204" pitchFamily="18" charset="0"/>
                        <a:ea typeface="新宋体" panose="02010609030101010101" pitchFamily="49" charset="-122"/>
                      </a:rPr>
                      <m:t>)=</m:t>
                    </m:r>
                    <m:r>
                      <m:rPr>
                        <m:sty m:val="p"/>
                      </m:rPr>
                      <a:rPr lang="zh-CN" altLang="en-US" sz="2000" i="1" dirty="0">
                        <a:latin typeface="Cambria Math" panose="02040503050406030204" pitchFamily="18" charset="0"/>
                        <a:ea typeface="新宋体" panose="02010609030101010101" pitchFamily="49" charset="-122"/>
                      </a:rPr>
                      <m:t>gcd</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r>
                      <a:rPr lang="zh-CN" altLang="en-US" sz="2000" i="1" dirty="0">
                        <a:latin typeface="Cambria Math" panose="02040503050406030204" pitchFamily="18" charset="0"/>
                        <a:ea typeface="新宋体" panose="02010609030101010101" pitchFamily="49" charset="-122"/>
                      </a:rPr>
                      <m:t>)</m:t>
                    </m:r>
                  </m:oMath>
                </a14:m>
                <a:r>
                  <a:rPr lang="zh-CN" altLang="en-US" sz="2000" dirty="0">
                    <a:latin typeface="Times New Roman" panose="02020603050405020304" pitchFamily="18" charset="0"/>
                    <a:ea typeface="新宋体" panose="02010609030101010101" pitchFamily="49" charset="-122"/>
                  </a:rPr>
                  <a:t> </a:t>
                </a:r>
                <a:endParaRPr lang="en-US" altLang="zh-CN" sz="2000" dirty="0"/>
              </a:p>
              <a:p>
                <a:pPr lvl="1">
                  <a:lnSpc>
                    <a:spcPct val="150000"/>
                  </a:lnSpc>
                  <a:spcBef>
                    <a:spcPts val="1800"/>
                  </a:spcBef>
                </a:pPr>
                <a14:m>
                  <m:oMath xmlns:m="http://schemas.openxmlformats.org/officeDocument/2006/math">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e>
                        </m:d>
                      </m:e>
                    </m:func>
                    <m:r>
                      <a:rPr lang="zh-CN" altLang="en-US" sz="2000" i="1" dirty="0">
                        <a:latin typeface="Cambria Math" panose="02040503050406030204" pitchFamily="18" charset="0"/>
                        <a:ea typeface="新宋体" panose="02010609030101010101" pitchFamily="49" charset="-122"/>
                      </a:rPr>
                      <m:t>=</m:t>
                    </m:r>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d>
                              <m:dPr>
                                <m:begChr m:val="|"/>
                                <m:endChr m:val="|"/>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e>
                            </m:d>
                            <m:r>
                              <a:rPr lang="zh-CN" altLang="en-US" sz="2000" i="1" dirty="0">
                                <a:latin typeface="Cambria Math" panose="02040503050406030204" pitchFamily="18" charset="0"/>
                                <a:ea typeface="新宋体" panose="02010609030101010101" pitchFamily="49" charset="-122"/>
                              </a:rPr>
                              <m:t>,</m:t>
                            </m:r>
                            <m:d>
                              <m:dPr>
                                <m:begChr m:val="|"/>
                                <m:endChr m:val="|"/>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𝑏</m:t>
                                </m:r>
                              </m:e>
                            </m:d>
                          </m:e>
                        </m:d>
                      </m:e>
                    </m:func>
                  </m:oMath>
                </a14:m>
                <a:endParaRPr lang="en-US" altLang="zh-CN" sz="2000" dirty="0">
                  <a:ea typeface="新宋体" panose="02010609030101010101" pitchFamily="49" charset="-122"/>
                </a:endParaRPr>
              </a:p>
              <a:p>
                <a:pPr lvl="1">
                  <a:lnSpc>
                    <a:spcPct val="150000"/>
                  </a:lnSpc>
                  <a:spcBef>
                    <a:spcPts val="1800"/>
                  </a:spcBef>
                </a:pPr>
                <a:r>
                  <a:rPr lang="zh-CN" altLang="zh-CN" sz="2000" dirty="0"/>
                  <a:t>若</a:t>
                </a:r>
                <a14:m>
                  <m:oMath xmlns:m="http://schemas.openxmlformats.org/officeDocument/2006/math">
                    <m:r>
                      <a:rPr lang="en-US" altLang="zh-CN" sz="2000" i="1" dirty="0">
                        <a:latin typeface="Cambria Math" panose="02040503050406030204" pitchFamily="18" charset="0"/>
                      </a:rPr>
                      <m:t>𝑑</m:t>
                    </m:r>
                    <m:r>
                      <a:rPr lang="en-US" altLang="zh-CN" sz="2000" i="1" dirty="0">
                        <a:latin typeface="Cambria Math" panose="02040503050406030204" pitchFamily="18" charset="0"/>
                      </a:rPr>
                      <m:t>|</m:t>
                    </m:r>
                    <m:r>
                      <a:rPr lang="en-US" altLang="zh-CN" sz="2000" i="1" dirty="0">
                        <a:latin typeface="Cambria Math" panose="02040503050406030204" pitchFamily="18" charset="0"/>
                      </a:rPr>
                      <m:t>𝑎</m:t>
                    </m:r>
                  </m:oMath>
                </a14:m>
                <a:r>
                  <a:rPr lang="zh-CN" altLang="zh-CN" sz="2000" dirty="0"/>
                  <a:t>且</a:t>
                </a:r>
                <a14:m>
                  <m:oMath xmlns:m="http://schemas.openxmlformats.org/officeDocument/2006/math">
                    <m:r>
                      <a:rPr lang="en-US" altLang="zh-CN" sz="2000" i="1">
                        <a:latin typeface="Cambria Math" panose="02040503050406030204" pitchFamily="18" charset="0"/>
                      </a:rPr>
                      <m:t>𝑑</m:t>
                    </m:r>
                    <m:r>
                      <a:rPr lang="en-US" altLang="zh-CN" sz="2000" i="1">
                        <a:latin typeface="Cambria Math" panose="02040503050406030204" pitchFamily="18" charset="0"/>
                      </a:rPr>
                      <m:t>|</m:t>
                    </m:r>
                    <m:r>
                      <a:rPr lang="en-US" altLang="zh-CN" sz="2000" i="1">
                        <a:latin typeface="Cambria Math" panose="02040503050406030204" pitchFamily="18" charset="0"/>
                      </a:rPr>
                      <m:t>𝑏</m:t>
                    </m:r>
                  </m:oMath>
                </a14:m>
                <a:r>
                  <a:rPr lang="zh-CN" altLang="zh-CN" sz="2000" dirty="0"/>
                  <a:t>，则</a:t>
                </a:r>
                <a14:m>
                  <m:oMath xmlns:m="http://schemas.openxmlformats.org/officeDocument/2006/math">
                    <m:r>
                      <a:rPr lang="en-US" altLang="zh-CN" sz="2000" i="1">
                        <a:latin typeface="Cambria Math" panose="02040503050406030204" pitchFamily="18" charset="0"/>
                      </a:rPr>
                      <m:t>𝑑</m:t>
                    </m:r>
                    <m:r>
                      <a:rPr lang="en-US" altLang="zh-CN" sz="2000" i="1">
                        <a:latin typeface="Cambria Math" panose="02040503050406030204" pitchFamily="18" charset="0"/>
                      </a:rPr>
                      <m:t>|</m:t>
                    </m:r>
                    <m:r>
                      <m:rPr>
                        <m:sty m:val="p"/>
                      </m:rPr>
                      <a:rPr lang="en-US" altLang="zh-CN" sz="2000">
                        <a:latin typeface="Cambria Math" panose="02040503050406030204" pitchFamily="18" charset="0"/>
                      </a:rPr>
                      <m:t>gcd</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e>
                    </m:d>
                  </m:oMath>
                </a14:m>
                <a:endParaRPr lang="en-US" altLang="zh-CN" sz="2000" i="1" dirty="0">
                  <a:latin typeface="Cambria Math" panose="02040503050406030204" pitchFamily="18" charset="0"/>
                  <a:ea typeface="新宋体" panose="02010609030101010101" pitchFamily="49" charset="-122"/>
                </a:endParaRPr>
              </a:p>
              <a:p>
                <a:pPr lvl="1">
                  <a:lnSpc>
                    <a:spcPct val="150000"/>
                  </a:lnSpc>
                  <a:spcBef>
                    <a:spcPts val="1800"/>
                  </a:spcBef>
                </a:pPr>
                <a14:m>
                  <m:oMath xmlns:m="http://schemas.openxmlformats.org/officeDocument/2006/math">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,0</m:t>
                            </m:r>
                          </m:e>
                        </m:d>
                      </m:e>
                    </m:func>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oMath>
                </a14:m>
                <a:endParaRPr lang="en-US" altLang="zh-CN" sz="2000" i="1" dirty="0">
                  <a:latin typeface="Cambria Math" panose="02040503050406030204" pitchFamily="18" charset="0"/>
                  <a:ea typeface="新宋体" panose="02010609030101010101" pitchFamily="49" charset="-122"/>
                </a:endParaRPr>
              </a:p>
              <a:p>
                <a:pPr lvl="1">
                  <a:lnSpc>
                    <a:spcPct val="150000"/>
                  </a:lnSpc>
                  <a:spcBef>
                    <a:spcPts val="1800"/>
                  </a:spcBef>
                </a:pPr>
                <a14:m>
                  <m:oMath xmlns:m="http://schemas.openxmlformats.org/officeDocument/2006/math">
                    <m:r>
                      <m:rPr>
                        <m:sty m:val="p"/>
                      </m:rPr>
                      <a:rPr lang="zh-CN" altLang="en-US" sz="2000" i="1" dirty="0">
                        <a:latin typeface="Cambria Math" panose="02040503050406030204" pitchFamily="18" charset="0"/>
                        <a:ea typeface="新宋体" panose="02010609030101010101" pitchFamily="49" charset="-122"/>
                      </a:rPr>
                      <m:t>gcd</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𝑘𝑎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𝑎</m:t>
                    </m:r>
                    <m:r>
                      <m:rPr>
                        <m:nor/>
                      </m:rPr>
                      <a:rPr lang="en-US" altLang="zh-CN" sz="2000" dirty="0">
                        <a:latin typeface="Cambria Math" panose="02040503050406030204" pitchFamily="18" charset="0"/>
                        <a:ea typeface="新宋体" panose="02010609030101010101" pitchFamily="49" charset="-122"/>
                      </a:rPr>
                      <m:t> </m:t>
                    </m:r>
                  </m:oMath>
                </a14:m>
                <a:endParaRPr lang="en-US" altLang="zh-CN" sz="2000" dirty="0">
                  <a:latin typeface="Cambria Math" panose="02040503050406030204" pitchFamily="18" charset="0"/>
                  <a:ea typeface="新宋体" panose="02010609030101010101" pitchFamily="49" charset="-122"/>
                </a:endParaRPr>
              </a:p>
              <a:p>
                <a:pPr lvl="1">
                  <a:lnSpc>
                    <a:spcPct val="150000"/>
                  </a:lnSpc>
                  <a:spcBef>
                    <a:spcPts val="1800"/>
                  </a:spcBef>
                </a:pPr>
                <a14:m>
                  <m:oMath xmlns:m="http://schemas.openxmlformats.org/officeDocument/2006/math">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𝑎𝑛</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𝑏𝑛</m:t>
                            </m:r>
                          </m:e>
                        </m:d>
                      </m:e>
                    </m:func>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𝑛</m:t>
                    </m:r>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e>
                        </m:d>
                      </m:e>
                    </m:func>
                  </m:oMath>
                </a14:m>
                <a:endParaRPr lang="en-US" altLang="zh-CN" sz="2000" dirty="0">
                  <a:ea typeface="新宋体" panose="02010609030101010101" pitchFamily="49" charset="-122"/>
                </a:endParaRPr>
              </a:p>
              <a:p>
                <a:pPr lvl="1">
                  <a:lnSpc>
                    <a:spcPct val="150000"/>
                  </a:lnSpc>
                  <a:spcBef>
                    <a:spcPts val="1800"/>
                  </a:spcBef>
                </a:pPr>
                <a14:m>
                  <m:oMath xmlns:m="http://schemas.openxmlformats.org/officeDocument/2006/math">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e>
                        </m:d>
                      </m:e>
                    </m:func>
                    <m:r>
                      <a:rPr lang="zh-CN" altLang="en-US" sz="2000" i="1" dirty="0">
                        <a:latin typeface="Cambria Math" panose="02040503050406030204" pitchFamily="18" charset="0"/>
                        <a:ea typeface="新宋体" panose="02010609030101010101" pitchFamily="49" charset="-122"/>
                      </a:rPr>
                      <m:t>=</m:t>
                    </m:r>
                    <m:func>
                      <m:funcPr>
                        <m:ctrlPr>
                          <a:rPr lang="zh-CN" altLang="en-US" sz="2000" i="1" dirty="0">
                            <a:latin typeface="Cambria Math" panose="02040503050406030204" pitchFamily="18" charset="0"/>
                            <a:ea typeface="新宋体" panose="02010609030101010101" pitchFamily="49" charset="-122"/>
                          </a:rPr>
                        </m:ctrlPr>
                      </m:funcPr>
                      <m:fName>
                        <m:r>
                          <m:rPr>
                            <m:sty m:val="p"/>
                          </m:rPr>
                          <a:rPr lang="zh-CN" altLang="en-US" sz="2000" dirty="0">
                            <a:latin typeface="Cambria Math" panose="02040503050406030204" pitchFamily="18" charset="0"/>
                            <a:ea typeface="新宋体" panose="02010609030101010101" pitchFamily="49" charset="-122"/>
                          </a:rPr>
                          <m:t>gcd</m:t>
                        </m:r>
                      </m:fName>
                      <m:e>
                        <m:d>
                          <m:dPr>
                            <m:ctrlPr>
                              <a:rPr lang="zh-CN" altLang="en-US" sz="2000" i="1" dirty="0">
                                <a:latin typeface="Cambria Math" panose="02040503050406030204" pitchFamily="18" charset="0"/>
                                <a:ea typeface="新宋体" panose="02010609030101010101" pitchFamily="49" charset="-122"/>
                              </a:rPr>
                            </m:ctrlPr>
                          </m:dPr>
                          <m:e>
                            <m:r>
                              <a:rPr lang="zh-CN" altLang="en-US" sz="2000" i="1" dirty="0">
                                <a:latin typeface="Cambria Math" panose="02040503050406030204" pitchFamily="18" charset="0"/>
                                <a:ea typeface="新宋体" panose="02010609030101010101" pitchFamily="49" charset="-122"/>
                              </a:rPr>
                              <m:t>𝑎</m:t>
                            </m:r>
                            <m:r>
                              <a:rPr lang="zh-CN" altLang="en-US"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𝑘𝑎</m:t>
                            </m:r>
                            <m:r>
                              <a:rPr lang="en-US" altLang="zh-CN" sz="2000" i="1" dirty="0">
                                <a:latin typeface="Cambria Math" panose="02040503050406030204" pitchFamily="18" charset="0"/>
                                <a:ea typeface="新宋体" panose="02010609030101010101" pitchFamily="49" charset="-122"/>
                              </a:rPr>
                              <m:t>+</m:t>
                            </m:r>
                            <m:r>
                              <a:rPr lang="zh-CN" altLang="en-US" sz="2000" i="1" dirty="0">
                                <a:latin typeface="Cambria Math" panose="02040503050406030204" pitchFamily="18" charset="0"/>
                                <a:ea typeface="新宋体" panose="02010609030101010101" pitchFamily="49" charset="-122"/>
                              </a:rPr>
                              <m:t>𝑏</m:t>
                            </m:r>
                          </m:e>
                        </m:d>
                      </m:e>
                    </m:func>
                  </m:oMath>
                </a14:m>
                <a:endParaRPr lang="en-US" altLang="zh-CN" sz="2000" dirty="0"/>
              </a:p>
            </p:txBody>
          </p:sp>
        </mc:Choice>
        <mc:Fallback>
          <p:sp>
            <p:nvSpPr>
              <p:cNvPr id="8" name="内容占位符 13">
                <a:extLst>
                  <a:ext uri="{FF2B5EF4-FFF2-40B4-BE49-F238E27FC236}">
                    <a16:creationId xmlns:a16="http://schemas.microsoft.com/office/drawing/2014/main" id="{86712141-472F-3E47-8913-D3750A3F6C9D}"/>
                  </a:ext>
                </a:extLst>
              </p:cNvPr>
              <p:cNvSpPr txBox="1">
                <a:spLocks noRot="1" noChangeAspect="1" noMove="1" noResize="1" noEditPoints="1" noAdjustHandles="1" noChangeArrowheads="1" noChangeShapeType="1" noTextEdit="1"/>
              </p:cNvSpPr>
              <p:nvPr/>
            </p:nvSpPr>
            <p:spPr>
              <a:xfrm>
                <a:off x="1104900" y="3470032"/>
                <a:ext cx="9980682" cy="2912747"/>
              </a:xfrm>
              <a:prstGeom prst="rect">
                <a:avLst/>
              </a:prstGeom>
              <a:blipFill>
                <a:blip r:embed="rId3"/>
                <a:stretch>
                  <a:fillRect/>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34E003BD-6E54-8A49-AB79-BDC5C7F6C0C4}"/>
              </a:ext>
            </a:extLst>
          </p:cNvPr>
          <p:cNvSpPr>
            <a:spLocks noGrp="1"/>
          </p:cNvSpPr>
          <p:nvPr>
            <p:ph type="sldNum" sz="quarter" idx="12"/>
          </p:nvPr>
        </p:nvSpPr>
        <p:spPr/>
        <p:txBody>
          <a:bodyPr/>
          <a:lstStyle/>
          <a:p>
            <a:fld id="{0FF54DE5-C571-48E8-A5BC-B369434E2F44}" type="slidenum">
              <a:rPr lang="en-US" altLang="zh-CN" smtClean="0"/>
              <a:pPr/>
              <a:t>27</a:t>
            </a:fld>
            <a:endParaRPr lang="zh-CN" altLang="en-US" dirty="0"/>
          </a:p>
        </p:txBody>
      </p:sp>
    </p:spTree>
    <p:extLst>
      <p:ext uri="{BB962C8B-B14F-4D97-AF65-F5344CB8AC3E}">
        <p14:creationId xmlns:p14="http://schemas.microsoft.com/office/powerpoint/2010/main" val="3280884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7" grpId="0"/>
      <p:bldP spid="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𝑎</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𝑏</m:t>
                    </m:r>
                    <m:r>
                      <a:rPr lang="zh-CN" altLang="en-US" i="1" dirty="0" smtClean="0">
                        <a:latin typeface="Cambria Math" panose="02040503050406030204" pitchFamily="18" charset="0"/>
                        <a:ea typeface="新宋体" panose="02010609030101010101" pitchFamily="49" charset="-122"/>
                      </a:rPr>
                      <m:t>)</m:t>
                    </m:r>
                  </m:oMath>
                </a14:m>
                <a:r>
                  <a:rPr lang="zh-CN" altLang="en-US" dirty="0"/>
                  <a:t>：枚举法</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rotWithShape="0">
                <a:blip r:embed="rId2"/>
                <a:stretch>
                  <a:fillRect l="-2137" b="-117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内容占位符 13"/>
              <p:cNvSpPr>
                <a:spLocks noGrp="1"/>
              </p:cNvSpPr>
              <p:nvPr>
                <p:ph idx="1"/>
              </p:nvPr>
            </p:nvSpPr>
            <p:spPr/>
            <p:txBody>
              <a:bodyPr rtlCol="0"/>
              <a:lstStyle/>
              <a:p>
                <a:pPr>
                  <a:lnSpc>
                    <a:spcPct val="100000"/>
                  </a:lnSpc>
                </a:pPr>
                <a:r>
                  <a:rPr lang="zh-CN" altLang="en-US" dirty="0"/>
                  <a:t>从</a:t>
                </a:r>
                <a:r>
                  <a:rPr lang="zh-Hans" altLang="en-US" dirty="0"/>
                  <a:t> </a:t>
                </a:r>
                <a14:m>
                  <m:oMath xmlns:m="http://schemas.openxmlformats.org/officeDocument/2006/math">
                    <m:r>
                      <m:rPr>
                        <m:sty m:val="p"/>
                      </m:rPr>
                      <a:rPr lang="en-US" altLang="zh-CN" i="1" dirty="0" smtClean="0">
                        <a:latin typeface="Cambria Math" panose="02040503050406030204" pitchFamily="18" charset="0"/>
                      </a:rPr>
                      <m:t>min</m:t>
                    </m:r>
                    <m:r>
                      <a:rPr lang="en-US" altLang="zh-CN" i="1" dirty="0" smtClean="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oMath>
                </a14:m>
                <a:r>
                  <a:rPr lang="zh-Hans" altLang="en-US" dirty="0"/>
                  <a:t> </a:t>
                </a:r>
                <a:r>
                  <a:rPr lang="zh-CN" altLang="en-US" dirty="0"/>
                  <a:t>到</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1</m:t>
                    </m:r>
                  </m:oMath>
                </a14:m>
                <a:r>
                  <a:rPr lang="zh-CN" altLang="en-US" dirty="0"/>
                  <a:t> 枚举 </a:t>
                </a:r>
                <a14:m>
                  <m:oMath xmlns:m="http://schemas.openxmlformats.org/officeDocument/2006/math">
                    <m:r>
                      <a:rPr lang="en-US" altLang="zh-CN" i="1" dirty="0" smtClean="0">
                        <a:latin typeface="Cambria Math" panose="02040503050406030204" pitchFamily="18" charset="0"/>
                      </a:rPr>
                      <m:t>𝑥</m:t>
                    </m:r>
                  </m:oMath>
                </a14:m>
                <a:r>
                  <a:rPr lang="zh-CN" altLang="en-US" dirty="0"/>
                  <a:t>，并判断 </a:t>
                </a:r>
                <a14:m>
                  <m:oMath xmlns:m="http://schemas.openxmlformats.org/officeDocument/2006/math">
                    <m:r>
                      <a:rPr lang="en-US" altLang="zh-CN" i="1" dirty="0" smtClean="0">
                        <a:latin typeface="Cambria Math" panose="02040503050406030204" pitchFamily="18" charset="0"/>
                      </a:rPr>
                      <m:t>𝑥</m:t>
                    </m:r>
                    <m:r>
                      <a:rPr lang="en-US" altLang="zh-CN" b="0" i="1" dirty="0" smtClean="0">
                        <a:latin typeface="Cambria Math" panose="02040503050406030204" pitchFamily="18" charset="0"/>
                      </a:rPr>
                      <m:t> </m:t>
                    </m:r>
                  </m:oMath>
                </a14:m>
                <a:r>
                  <a:rPr lang="zh-CN" altLang="en-US" dirty="0"/>
                  <a:t>是否能同时整除 </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 </m:t>
                    </m:r>
                  </m:oMath>
                </a14:m>
                <a:r>
                  <a:rPr lang="zh-CN" altLang="en-US" dirty="0"/>
                  <a:t>和 </a:t>
                </a:r>
                <a14:m>
                  <m:oMath xmlns:m="http://schemas.openxmlformats.org/officeDocument/2006/math">
                    <m:r>
                      <a:rPr lang="en-US" altLang="zh-CN" i="1" dirty="0" smtClean="0">
                        <a:latin typeface="Cambria Math" panose="02040503050406030204" pitchFamily="18" charset="0"/>
                      </a:rPr>
                      <m:t>𝑏</m:t>
                    </m:r>
                  </m:oMath>
                </a14:m>
                <a:r>
                  <a:rPr lang="zh-Hans" altLang="en-US" dirty="0"/>
                  <a:t> 。</a:t>
                </a:r>
                <a:endParaRPr lang="en-US" altLang="zh-CN" dirty="0"/>
              </a:p>
              <a:p>
                <a:pPr>
                  <a:lnSpc>
                    <a:spcPct val="100000"/>
                  </a:lnSpc>
                </a:pPr>
                <a:r>
                  <a:rPr lang="zh-CN" altLang="en-US" dirty="0"/>
                  <a:t>如果可以则输出 </a:t>
                </a:r>
                <a14:m>
                  <m:oMath xmlns:m="http://schemas.openxmlformats.org/officeDocument/2006/math">
                    <m:r>
                      <a:rPr lang="en-US" altLang="zh-CN" i="1" dirty="0" smtClean="0">
                        <a:latin typeface="Cambria Math" panose="02040503050406030204" pitchFamily="18" charset="0"/>
                      </a:rPr>
                      <m:t>𝑥</m:t>
                    </m:r>
                    <m:r>
                      <a:rPr lang="en-US" altLang="zh-CN" b="0" i="1" dirty="0" smtClean="0">
                        <a:latin typeface="Cambria Math" panose="02040503050406030204" pitchFamily="18" charset="0"/>
                      </a:rPr>
                      <m:t> </m:t>
                    </m:r>
                  </m:oMath>
                </a14:m>
                <a:r>
                  <a:rPr lang="zh-CN" altLang="en-US" dirty="0"/>
                  <a:t>退出循环。</a:t>
                </a:r>
                <a:endParaRPr lang="en-US" altLang="zh-CN" dirty="0"/>
              </a:p>
              <a:p>
                <a:pPr>
                  <a:lnSpc>
                    <a:spcPct val="100000"/>
                  </a:lnSpc>
                </a:pPr>
                <a:r>
                  <a:rPr lang="zh-CN" altLang="en-US" dirty="0"/>
                  <a:t>时间复杂度为</a:t>
                </a:r>
                <a14:m>
                  <m:oMath xmlns:m="http://schemas.openxmlformats.org/officeDocument/2006/math">
                    <m:r>
                      <m:rPr>
                        <m:sty m:val="p"/>
                      </m:rPr>
                      <a:rPr lang="en-US" altLang="zh-CN" i="0" dirty="0" smtClean="0">
                        <a:latin typeface="Cambria Math" panose="02040503050406030204" pitchFamily="18" charset="0"/>
                      </a:rPr>
                      <m:t>O</m:t>
                    </m:r>
                    <m:r>
                      <a:rPr lang="en-US" altLang="zh-CN" i="1" dirty="0" smtClean="0">
                        <a:latin typeface="Cambria Math" panose="02040503050406030204" pitchFamily="18" charset="0"/>
                      </a:rPr>
                      <m:t>(</m:t>
                    </m:r>
                    <m:r>
                      <m:rPr>
                        <m:sty m:val="p"/>
                      </m:rPr>
                      <a:rPr lang="en-US" altLang="zh-CN" i="1" dirty="0" smtClean="0">
                        <a:latin typeface="Cambria Math" panose="02040503050406030204" pitchFamily="18" charset="0"/>
                      </a:rPr>
                      <m:t>min</m:t>
                    </m:r>
                    <m:r>
                      <a:rPr lang="en-US" altLang="zh-CN" i="1" dirty="0" smtClean="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oMath>
                </a14:m>
                <a:r>
                  <a:rPr lang="zh-Hans" altLang="en-US" dirty="0">
                    <a:latin typeface="微软雅黑" panose="020B0503020204020204" pitchFamily="34" charset="-122"/>
                    <a:ea typeface="微软雅黑" panose="020B0503020204020204" pitchFamily="34" charset="-122"/>
                  </a:rPr>
                  <a:t> 。</a:t>
                </a:r>
                <a:endParaRPr lang="en-US" dirty="0">
                  <a:latin typeface="微软雅黑" panose="020B0503020204020204" pitchFamily="34" charset="-122"/>
                  <a:ea typeface="微软雅黑" panose="020B0503020204020204" pitchFamily="34" charset="-122"/>
                </a:endParaRPr>
              </a:p>
            </p:txBody>
          </p:sp>
        </mc:Choice>
        <mc:Fallback>
          <p:sp>
            <p:nvSpPr>
              <p:cNvPr id="14" name="内容占位符 13"/>
              <p:cNvSpPr>
                <a:spLocks noGrp="1" noRot="1" noChangeAspect="1" noMove="1" noResize="1" noEditPoints="1" noAdjustHandles="1" noChangeArrowheads="1" noChangeShapeType="1" noTextEdit="1"/>
              </p:cNvSpPr>
              <p:nvPr>
                <p:ph idx="1"/>
              </p:nvPr>
            </p:nvSpPr>
            <p:spPr>
              <a:blipFill>
                <a:blip r:embed="rId3"/>
                <a:stretch>
                  <a:fillRect l="-1398" t="-554"/>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97438974-4F74-0149-9F2E-B51EB4B39CC9}"/>
              </a:ext>
            </a:extLst>
          </p:cNvPr>
          <p:cNvSpPr>
            <a:spLocks noGrp="1"/>
          </p:cNvSpPr>
          <p:nvPr>
            <p:ph type="sldNum" sz="quarter" idx="12"/>
          </p:nvPr>
        </p:nvSpPr>
        <p:spPr/>
        <p:txBody>
          <a:bodyPr/>
          <a:lstStyle/>
          <a:p>
            <a:fld id="{0FF54DE5-C571-48E8-A5BC-B369434E2F44}" type="slidenum">
              <a:rPr lang="en-US" altLang="zh-CN" smtClean="0"/>
              <a:pPr/>
              <a:t>28</a:t>
            </a:fld>
            <a:endParaRPr lang="zh-CN" altLang="en-US" dirty="0"/>
          </a:p>
        </p:txBody>
      </p:sp>
    </p:spTree>
    <p:extLst>
      <p:ext uri="{BB962C8B-B14F-4D97-AF65-F5344CB8AC3E}">
        <p14:creationId xmlns:p14="http://schemas.microsoft.com/office/powerpoint/2010/main" val="3547600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r>
                  <a:rPr lang="zh-CN" altLang="en-US" dirty="0"/>
                  <a:t>计算</a:t>
                </a:r>
                <a14:m>
                  <m:oMath xmlns:m="http://schemas.openxmlformats.org/officeDocument/2006/math">
                    <m:r>
                      <m:rPr>
                        <m:sty m:val="p"/>
                      </m:rPr>
                      <a:rPr lang="zh-CN" altLang="en-US" i="1" dirty="0">
                        <a:latin typeface="Cambria Math" panose="02040503050406030204" pitchFamily="18" charset="0"/>
                        <a:ea typeface="新宋体" panose="02010609030101010101" pitchFamily="49" charset="-122"/>
                      </a:rPr>
                      <m:t>gcd</m:t>
                    </m:r>
                    <m:r>
                      <a:rPr lang="zh-CN" altLang="en-US" i="1" dirty="0">
                        <a:latin typeface="Cambria Math" panose="02040503050406030204" pitchFamily="18" charset="0"/>
                        <a:ea typeface="新宋体" panose="02010609030101010101" pitchFamily="49" charset="-122"/>
                      </a:rPr>
                      <m:t>⁡(</m:t>
                    </m:r>
                    <m:r>
                      <a:rPr lang="zh-CN" altLang="en-US" i="1" dirty="0">
                        <a:latin typeface="Cambria Math" panose="02040503050406030204" pitchFamily="18" charset="0"/>
                        <a:ea typeface="新宋体" panose="02010609030101010101" pitchFamily="49" charset="-122"/>
                      </a:rPr>
                      <m:t>𝑎</m:t>
                    </m:r>
                    <m:r>
                      <a:rPr lang="zh-CN" altLang="en-US" i="1" dirty="0">
                        <a:latin typeface="Cambria Math" panose="02040503050406030204" pitchFamily="18" charset="0"/>
                        <a:ea typeface="新宋体" panose="02010609030101010101" pitchFamily="49" charset="-122"/>
                      </a:rPr>
                      <m:t>,</m:t>
                    </m:r>
                    <m:r>
                      <a:rPr lang="zh-CN" altLang="en-US" i="1" dirty="0">
                        <a:latin typeface="Cambria Math" panose="02040503050406030204" pitchFamily="18" charset="0"/>
                        <a:ea typeface="新宋体" panose="02010609030101010101" pitchFamily="49" charset="-122"/>
                      </a:rPr>
                      <m:t>𝑏</m:t>
                    </m:r>
                    <m:r>
                      <a:rPr lang="zh-CN" altLang="en-US" i="1" dirty="0">
                        <a:latin typeface="Cambria Math" panose="02040503050406030204" pitchFamily="18" charset="0"/>
                        <a:ea typeface="新宋体" panose="02010609030101010101" pitchFamily="49" charset="-122"/>
                      </a:rPr>
                      <m:t>)</m:t>
                    </m:r>
                  </m:oMath>
                </a14:m>
                <a:r>
                  <a:rPr lang="zh-CN" altLang="en-US" dirty="0"/>
                  <a:t>：分解素因数</a:t>
                </a:r>
                <a:endParaRPr lang="en-US"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rotWithShape="0">
                <a:blip r:embed="rId2"/>
                <a:stretch>
                  <a:fillRect l="-2137" b="-15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内容占位符 13"/>
              <p:cNvSpPr>
                <a:spLocks noGrp="1"/>
              </p:cNvSpPr>
              <p:nvPr>
                <p:ph idx="1"/>
              </p:nvPr>
            </p:nvSpPr>
            <p:spPr/>
            <p:txBody>
              <a:bodyPr rtlCol="0"/>
              <a:lstStyle/>
              <a:p>
                <a:pPr>
                  <a:lnSpc>
                    <a:spcPct val="100000"/>
                  </a:lnSpc>
                </a:pPr>
                <a:r>
                  <a:rPr lang="zh-CN" altLang="en-US" dirty="0"/>
                  <a:t>可得求</a:t>
                </a:r>
                <a:r>
                  <a:rPr lang="zh-Hans" altLang="en-US" dirty="0"/>
                  <a:t> </a:t>
                </a:r>
                <a14:m>
                  <m:oMath xmlns:m="http://schemas.openxmlformats.org/officeDocument/2006/math">
                    <m:r>
                      <m:rPr>
                        <m:sty m:val="p"/>
                      </m:rPr>
                      <a:rPr lang="en-US" altLang="zh-CN" i="1" dirty="0" smtClean="0">
                        <a:latin typeface="Cambria Math" panose="02040503050406030204" pitchFamily="18" charset="0"/>
                      </a:rPr>
                      <m:t>gcd</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m:t>
                    </m:r>
                  </m:oMath>
                </a14:m>
                <a:r>
                  <a:rPr lang="zh-Hans" altLang="en-US" dirty="0"/>
                  <a:t> </a:t>
                </a:r>
                <a:r>
                  <a:rPr lang="zh-CN" altLang="en-US" dirty="0"/>
                  <a:t>的一般公式：</a:t>
                </a:r>
                <a:endParaRPr lang="en-US" altLang="zh-CN" i="1" dirty="0"/>
              </a:p>
              <a:p>
                <a:pPr marL="0" indent="0" algn="ctr">
                  <a:lnSpc>
                    <a:spcPct val="100000"/>
                  </a:lnSpc>
                  <a:buNone/>
                </a:pPr>
                <a:r>
                  <a:rPr lang="zh-CN" altLang="en-US" dirty="0"/>
                  <a:t>当</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𝑎</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r>
                          <a:rPr lang="en-US" altLang="zh-CN" i="1">
                            <a:latin typeface="Cambria Math" panose="02040503050406030204" pitchFamily="18" charset="0"/>
                          </a:rPr>
                          <m:t>𝑟</m:t>
                        </m:r>
                        <m:r>
                          <a:rPr lang="en-US" altLang="zh-CN" i="1">
                            <a:latin typeface="Cambria Math" panose="02040503050406030204" pitchFamily="18" charset="0"/>
                          </a:rPr>
                          <m:t>1</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r>
                          <a:rPr lang="en-US" altLang="zh-CN" i="1">
                            <a:latin typeface="Cambria Math" panose="02040503050406030204" pitchFamily="18" charset="0"/>
                          </a:rPr>
                          <m:t>𝑟</m:t>
                        </m:r>
                        <m:r>
                          <a:rPr lang="en-US" altLang="zh-CN" i="1">
                            <a:latin typeface="Cambria Math" panose="02040503050406030204" pitchFamily="18" charset="0"/>
                          </a:rPr>
                          <m:t>2</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r>
                          <a:rPr lang="en-US" altLang="zh-CN" i="1">
                            <a:latin typeface="Cambria Math" panose="02040503050406030204" pitchFamily="18" charset="0"/>
                          </a:rPr>
                          <m:t>𝑟𝑘</m:t>
                        </m:r>
                      </m:sup>
                    </m:sSubSup>
                    <m:r>
                      <a:rPr lang="en-US" altLang="zh-CN" b="0" i="0" smtClean="0">
                        <a:latin typeface="Cambria Math" panose="02040503050406030204" pitchFamily="18" charset="0"/>
                      </a:rPr>
                      <m:t> </m:t>
                    </m:r>
                    <m:r>
                      <a:rPr lang="zh-CN" altLang="en-US"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r>
                          <a:rPr lang="en-US" altLang="zh-CN" i="1">
                            <a:latin typeface="Cambria Math" panose="02040503050406030204" pitchFamily="18" charset="0"/>
                          </a:rPr>
                          <m:t>𝑠</m:t>
                        </m:r>
                        <m:r>
                          <a:rPr lang="en-US" altLang="zh-CN" i="1">
                            <a:latin typeface="Cambria Math" panose="02040503050406030204" pitchFamily="18" charset="0"/>
                          </a:rPr>
                          <m:t>1</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r>
                          <a:rPr lang="en-US" altLang="zh-CN" i="1">
                            <a:latin typeface="Cambria Math" panose="02040503050406030204" pitchFamily="18" charset="0"/>
                          </a:rPr>
                          <m:t>𝑠</m:t>
                        </m:r>
                        <m:r>
                          <a:rPr lang="en-US" altLang="zh-CN" i="1">
                            <a:latin typeface="Cambria Math" panose="02040503050406030204" pitchFamily="18" charset="0"/>
                          </a:rPr>
                          <m:t>2</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r>
                          <a:rPr lang="en-US" altLang="zh-CN" i="1">
                            <a:latin typeface="Cambria Math" panose="02040503050406030204" pitchFamily="18" charset="0"/>
                          </a:rPr>
                          <m:t>𝑠𝑘</m:t>
                        </m:r>
                      </m:sup>
                    </m:sSubSup>
                  </m:oMath>
                </a14:m>
                <a:r>
                  <a:rPr lang="en-US" altLang="zh-CN" dirty="0"/>
                  <a:t> </a:t>
                </a:r>
                <a:r>
                  <a:rPr lang="zh-CN" altLang="en-US" dirty="0"/>
                  <a:t>，</a:t>
                </a:r>
                <a14:m>
                  <m:oMath xmlns:m="http://schemas.openxmlformats.org/officeDocument/2006/math">
                    <m:r>
                      <a:rPr lang="en-US" altLang="zh-CN" i="1" dirty="0" smtClean="0">
                        <a:latin typeface="Cambria Math" panose="02040503050406030204" pitchFamily="18" charset="0"/>
                        <a:ea typeface="新宋体" panose="02010609030101010101" pitchFamily="49" charset="-122"/>
                        <a:sym typeface="宋体" panose="02010600030101010101" pitchFamily="2" charset="-122"/>
                      </a:rPr>
                      <m:t>𝑟</m:t>
                    </m:r>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𝑖</m:t>
                    </m:r>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m:t>
                    </m:r>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𝑠𝑖</m:t>
                    </m:r>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 ≥0</m:t>
                    </m:r>
                  </m:oMath>
                </a14:m>
                <a:r>
                  <a:rPr lang="zh-Hans" altLang="en-US" dirty="0">
                    <a:latin typeface="Times New Roman" panose="02020603050405020304" pitchFamily="18" charset="0"/>
                    <a:ea typeface="新宋体" panose="02010609030101010101" pitchFamily="49" charset="-122"/>
                    <a:sym typeface="宋体" panose="02010600030101010101" pitchFamily="2" charset="-122"/>
                  </a:rPr>
                  <a:t> </a:t>
                </a:r>
                <a:r>
                  <a:rPr lang="zh-CN" altLang="en-US" dirty="0">
                    <a:latin typeface="Times New Roman" panose="02020603050405020304" pitchFamily="18" charset="0"/>
                    <a:ea typeface="新宋体" panose="02010609030101010101" pitchFamily="49" charset="-122"/>
                    <a:sym typeface="宋体" panose="02010600030101010101" pitchFamily="2" charset="-122"/>
                  </a:rPr>
                  <a:t>且不会同时为</a:t>
                </a:r>
                <a:r>
                  <a:rPr lang="zh-Hans" altLang="en-US" dirty="0">
                    <a:latin typeface="Times New Roman" panose="02020603050405020304" pitchFamily="18" charset="0"/>
                    <a:ea typeface="新宋体" panose="02010609030101010101" pitchFamily="49" charset="-122"/>
                    <a:sym typeface="宋体" panose="02010600030101010101" pitchFamily="2" charset="-122"/>
                  </a:rPr>
                  <a:t> </a:t>
                </a:r>
                <a14:m>
                  <m:oMath xmlns:m="http://schemas.openxmlformats.org/officeDocument/2006/math">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0</m:t>
                    </m:r>
                    <m:r>
                      <a:rPr lang="en-US" altLang="zh-CN" b="0" i="1" dirty="0" smtClean="0">
                        <a:latin typeface="Cambria Math" panose="02040503050406030204" pitchFamily="18" charset="0"/>
                        <a:ea typeface="新宋体" panose="02010609030101010101" pitchFamily="49" charset="-122"/>
                        <a:sym typeface="宋体" panose="02010600030101010101" pitchFamily="2" charset="-122"/>
                      </a:rPr>
                      <m:t> </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(1≤</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𝑖</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𝑛</m:t>
                    </m:r>
                    <m:r>
                      <a:rPr lang="zh-CN" altLang="en-US" i="1" dirty="0" smtClean="0">
                        <a:latin typeface="Cambria Math" panose="02040503050406030204" pitchFamily="18" charset="0"/>
                        <a:ea typeface="新宋体" panose="02010609030101010101" pitchFamily="49" charset="-122"/>
                        <a:sym typeface="宋体" panose="02010600030101010101" pitchFamily="2" charset="-122"/>
                      </a:rPr>
                      <m:t>)</m:t>
                    </m:r>
                  </m:oMath>
                </a14:m>
                <a:endParaRPr lang="en-US" altLang="zh-CN" dirty="0"/>
              </a:p>
              <a:p>
                <a:pPr marL="0" indent="0" algn="ctr">
                  <a:lnSpc>
                    <a:spcPct val="100000"/>
                  </a:lnSpc>
                  <a:buNone/>
                </a:pPr>
                <a:r>
                  <a:rPr lang="zh-CN" altLang="en-US" dirty="0"/>
                  <a:t>则</a:t>
                </a:r>
                <a14:m>
                  <m:oMath xmlns:m="http://schemas.openxmlformats.org/officeDocument/2006/math">
                    <m:r>
                      <a:rPr lang="en-US" altLang="zh-CN" b="0" i="0" smtClean="0">
                        <a:latin typeface="Cambria Math" panose="02040503050406030204" pitchFamily="18" charset="0"/>
                      </a:rPr>
                      <m:t> </m:t>
                    </m:r>
                    <m:r>
                      <m:rPr>
                        <m:sty m:val="p"/>
                      </m:rPr>
                      <a:rPr lang="en-US" altLang="zh-CN">
                        <a:latin typeface="Cambria Math" panose="02040503050406030204" pitchFamily="18" charset="0"/>
                      </a:rPr>
                      <m:t>gcd</m:t>
                    </m:r>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e>
                    </m:d>
                    <m:r>
                      <a:rPr lang="en-US" altLang="zh-CN">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r>
                          <m:rPr>
                            <m:sty m:val="p"/>
                          </m:rPr>
                          <a:rPr lang="en-US" altLang="zh-CN">
                            <a:latin typeface="Cambria Math" panose="02040503050406030204" pitchFamily="18" charset="0"/>
                          </a:rPr>
                          <m:t>min</m:t>
                        </m:r>
                        <m:r>
                          <a:rPr lang="en-US" altLang="zh-CN">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1</m:t>
                        </m:r>
                        <m:r>
                          <a:rPr lang="zh-CN"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1</m:t>
                        </m:r>
                        <m:r>
                          <a:rPr lang="en-US" altLang="zh-CN">
                            <a:latin typeface="Cambria Math" panose="02040503050406030204" pitchFamily="18" charset="0"/>
                          </a:rPr>
                          <m:t>)</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r>
                          <m:rPr>
                            <m:sty m:val="p"/>
                          </m:rPr>
                          <a:rPr lang="en-US" altLang="zh-CN">
                            <a:latin typeface="Cambria Math" panose="02040503050406030204" pitchFamily="18" charset="0"/>
                          </a:rPr>
                          <m:t>min</m:t>
                        </m:r>
                        <m:r>
                          <a:rPr lang="en-US" altLang="zh-CN">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2</m:t>
                        </m:r>
                        <m:r>
                          <a:rPr lang="zh-CN" altLang="zh-CN" i="1">
                            <a:latin typeface="Cambria Math" panose="02040503050406030204" pitchFamily="18" charset="0"/>
                          </a:rPr>
                          <m:t>，</m:t>
                        </m:r>
                        <m:r>
                          <a:rPr lang="en-US" altLang="zh-CN" i="1">
                            <a:latin typeface="Cambria Math" panose="02040503050406030204" pitchFamily="18" charset="0"/>
                          </a:rPr>
                          <m:t>𝑠</m:t>
                        </m:r>
                        <m:r>
                          <a:rPr lang="en-US" altLang="zh-CN" i="1">
                            <a:latin typeface="Cambria Math" panose="02040503050406030204" pitchFamily="18" charset="0"/>
                          </a:rPr>
                          <m:t>2</m:t>
                        </m:r>
                        <m:r>
                          <a:rPr lang="en-US" altLang="zh-CN">
                            <a:latin typeface="Cambria Math" panose="02040503050406030204" pitchFamily="18" charset="0"/>
                          </a:rPr>
                          <m:t>)</m:t>
                        </m:r>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r>
                          <m:rPr>
                            <m:sty m:val="p"/>
                          </m:rPr>
                          <a:rPr lang="en-US" altLang="zh-CN">
                            <a:latin typeface="Cambria Math" panose="02040503050406030204" pitchFamily="18" charset="0"/>
                          </a:rPr>
                          <m:t>min</m:t>
                        </m:r>
                        <m:r>
                          <a:rPr lang="en-US" altLang="zh-CN">
                            <a:latin typeface="Cambria Math" panose="02040503050406030204" pitchFamily="18" charset="0"/>
                          </a:rPr>
                          <m:t>(</m:t>
                        </m:r>
                        <m:r>
                          <a:rPr lang="en-US" altLang="zh-CN" i="1">
                            <a:latin typeface="Cambria Math" panose="02040503050406030204" pitchFamily="18" charset="0"/>
                          </a:rPr>
                          <m:t>𝑟𝑘</m:t>
                        </m:r>
                        <m:r>
                          <a:rPr lang="zh-CN" altLang="zh-CN" i="1">
                            <a:latin typeface="Cambria Math" panose="02040503050406030204" pitchFamily="18" charset="0"/>
                          </a:rPr>
                          <m:t>，</m:t>
                        </m:r>
                        <m:r>
                          <a:rPr lang="en-US" altLang="zh-CN" i="1">
                            <a:latin typeface="Cambria Math" panose="02040503050406030204" pitchFamily="18" charset="0"/>
                          </a:rPr>
                          <m:t>𝑠𝑘</m:t>
                        </m:r>
                        <m:r>
                          <a:rPr lang="en-US" altLang="zh-CN">
                            <a:latin typeface="Cambria Math" panose="02040503050406030204" pitchFamily="18" charset="0"/>
                          </a:rPr>
                          <m:t>)</m:t>
                        </m:r>
                      </m:sup>
                    </m:sSubSup>
                  </m:oMath>
                </a14:m>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blipFill>
                <a:blip r:embed="rId3"/>
                <a:stretch>
                  <a:fillRect l="-1398" t="-554"/>
                </a:stretch>
              </a:blipFill>
            </p:spPr>
            <p:txBody>
              <a:bodyPr/>
              <a:lstStyle/>
              <a:p>
                <a:r>
                  <a:rPr lang="zh-CN" altLang="en-US">
                    <a:noFill/>
                  </a:rPr>
                  <a:t> </a:t>
                </a:r>
              </a:p>
            </p:txBody>
          </p:sp>
        </mc:Fallback>
      </mc:AlternateContent>
      <p:sp>
        <p:nvSpPr>
          <p:cNvPr id="4" name="内容占位符 13">
            <a:extLst>
              <a:ext uri="{FF2B5EF4-FFF2-40B4-BE49-F238E27FC236}">
                <a16:creationId xmlns:a16="http://schemas.microsoft.com/office/drawing/2014/main" id="{0364C342-A6DA-4844-942E-E4E5AD537556}"/>
              </a:ext>
            </a:extLst>
          </p:cNvPr>
          <p:cNvSpPr txBox="1">
            <a:spLocks/>
          </p:cNvSpPr>
          <p:nvPr/>
        </p:nvSpPr>
        <p:spPr>
          <a:xfrm>
            <a:off x="1104900" y="3220454"/>
            <a:ext cx="10413810" cy="3520315"/>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Decompose</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a:t>
            </a:r>
            <a:r>
              <a:rPr lang="en-US" altLang="zh-Hans" dirty="0" err="1">
                <a:solidFill>
                  <a:srgbClr val="000000"/>
                </a:solidFill>
                <a:highlight>
                  <a:srgbClr val="FFFFF3"/>
                </a:highlight>
                <a:latin typeface="Courier New" panose="02070309020205020404" pitchFamily="49" charset="0"/>
              </a:rPr>
              <a:t>ns</a:t>
            </a:r>
            <a:r>
              <a:rPr lang="zh-Hans" altLang="en-US" dirty="0">
                <a:solidFill>
                  <a:srgbClr val="000000"/>
                </a:solidFill>
                <a:highlight>
                  <a:srgbClr val="FFFFF3"/>
                </a:highlight>
                <a:latin typeface="Courier New" panose="02070309020205020404" pitchFamily="49" charset="0"/>
              </a:rPr>
              <a:t> </a:t>
            </a:r>
            <a:r>
              <a:rPr lang="en-US" altLang="zh-Hans" dirty="0">
                <a:solidFill>
                  <a:srgbClr val="000000"/>
                </a:solidFill>
                <a:highlight>
                  <a:srgbClr val="FFFFF3"/>
                </a:highlight>
                <a:latin typeface="Courier New" panose="02070309020205020404" pitchFamily="49" charset="0"/>
              </a:rPr>
              <a:t>=</a:t>
            </a:r>
            <a:r>
              <a:rPr lang="zh-Hans" altLang="en-US" dirty="0">
                <a:solidFill>
                  <a:srgbClr val="000000"/>
                </a:solidFill>
                <a:highlight>
                  <a:srgbClr val="FFFFF3"/>
                </a:highlight>
                <a:latin typeface="Courier New" panose="02070309020205020404" pitchFamily="49" charset="0"/>
              </a:rPr>
              <a:t> </a:t>
            </a:r>
            <a:r>
              <a:rPr lang="en-US" altLang="zh-Hans" dirty="0">
                <a:solidFill>
                  <a:srgbClr val="000000"/>
                </a:solidFill>
                <a:highlight>
                  <a:srgbClr val="FFFFF3"/>
                </a:highlight>
                <a:latin typeface="Courier New" panose="02070309020205020404" pitchFamily="49" charset="0"/>
              </a:rPr>
              <a:t>1;</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3</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for</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2</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&lt;=</a:t>
            </a:r>
            <a:r>
              <a:rPr lang="en-US" altLang="zh-CN" dirty="0">
                <a:solidFill>
                  <a:srgbClr val="000000"/>
                </a:solidFill>
                <a:highlight>
                  <a:srgbClr val="FFFFF3"/>
                </a:highlight>
                <a:latin typeface="Courier New" panose="02070309020205020404" pitchFamily="49" charset="0"/>
              </a:rPr>
              <a:t> min</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b</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4</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while</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&amp;&amp;</a:t>
            </a:r>
            <a:r>
              <a:rPr lang="en-US" altLang="zh-CN" dirty="0">
                <a:solidFill>
                  <a:srgbClr val="000000"/>
                </a:solidFill>
                <a:highlight>
                  <a:srgbClr val="FFFFF3"/>
                </a:highlight>
                <a:latin typeface="Courier New" panose="02070309020205020404" pitchFamily="49" charset="0"/>
              </a:rPr>
              <a:t> b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x</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b</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x</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ans</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5</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while</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6</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while</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b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b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x</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7</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zh-CN" altLang="en-US" dirty="0">
                <a:solidFill>
                  <a:srgbClr val="000000"/>
                </a:solidFill>
                <a:highlight>
                  <a:srgbClr val="FFFFF3"/>
                </a:highlight>
                <a:latin typeface="Courier New" panose="02070309020205020404" pitchFamily="49" charset="0"/>
              </a:rPr>
              <a:t> </a:t>
            </a: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8</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b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ans</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9</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else</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b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ans</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10</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ans</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Font typeface="Wingdings" panose="05000000000000000000" pitchFamily="2" charset="2"/>
              <a:buNone/>
            </a:pPr>
            <a:r>
              <a:rPr lang="en-US" altLang="zh-CN" dirty="0">
                <a:solidFill>
                  <a:srgbClr val="FF8000"/>
                </a:solidFill>
                <a:highlight>
                  <a:srgbClr val="FFFFF3"/>
                </a:highlight>
                <a:latin typeface="Courier New" panose="02070309020205020404" pitchFamily="49" charset="0"/>
              </a:rPr>
              <a:t>11</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dirty="0"/>
          </a:p>
        </p:txBody>
      </p:sp>
      <p:sp>
        <p:nvSpPr>
          <p:cNvPr id="2" name="幻灯片编号占位符 1">
            <a:extLst>
              <a:ext uri="{FF2B5EF4-FFF2-40B4-BE49-F238E27FC236}">
                <a16:creationId xmlns:a16="http://schemas.microsoft.com/office/drawing/2014/main" id="{96CAF389-1660-EB4B-B094-BE05F70A40ED}"/>
              </a:ext>
            </a:extLst>
          </p:cNvPr>
          <p:cNvSpPr>
            <a:spLocks noGrp="1"/>
          </p:cNvSpPr>
          <p:nvPr>
            <p:ph type="sldNum" sz="quarter" idx="12"/>
          </p:nvPr>
        </p:nvSpPr>
        <p:spPr/>
        <p:txBody>
          <a:bodyPr/>
          <a:lstStyle/>
          <a:p>
            <a:fld id="{0FF54DE5-C571-48E8-A5BC-B369434E2F44}" type="slidenum">
              <a:rPr lang="en-US" altLang="zh-CN" smtClean="0"/>
              <a:pPr/>
              <a:t>29</a:t>
            </a:fld>
            <a:endParaRPr lang="zh-CN" altLang="en-US" dirty="0"/>
          </a:p>
        </p:txBody>
      </p:sp>
    </p:spTree>
    <p:extLst>
      <p:ext uri="{BB962C8B-B14F-4D97-AF65-F5344CB8AC3E}">
        <p14:creationId xmlns:p14="http://schemas.microsoft.com/office/powerpoint/2010/main" val="4061422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𝑎</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𝑏</m:t>
                    </m:r>
                    <m:r>
                      <a:rPr lang="zh-CN" altLang="en-US" i="1" dirty="0" smtClean="0">
                        <a:latin typeface="Cambria Math" panose="02040503050406030204" pitchFamily="18" charset="0"/>
                        <a:ea typeface="新宋体" panose="02010609030101010101" pitchFamily="49" charset="-122"/>
                      </a:rPr>
                      <m:t>)</m:t>
                    </m:r>
                  </m:oMath>
                </a14:m>
                <a:r>
                  <a:rPr lang="zh-CN" altLang="en-US" dirty="0"/>
                  <a:t>：欧几里得算法</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rotWithShape="0">
                <a:blip r:embed="rId2"/>
                <a:stretch>
                  <a:fillRect l="-2137" b="-11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1682263"/>
              </a:xfrm>
            </p:spPr>
            <p:txBody>
              <a:bodyPr rtlCol="0">
                <a:noAutofit/>
              </a:bodyPr>
              <a:lstStyle/>
              <a:p>
                <a:pPr>
                  <a:lnSpc>
                    <a:spcPct val="150000"/>
                  </a:lnSpc>
                </a:pPr>
                <a:r>
                  <a:rPr lang="zh-CN" altLang="en-US" dirty="0"/>
                  <a:t>“两个整数</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𝑏</m:t>
                    </m:r>
                    <m:r>
                      <a:rPr lang="en-US" i="1" dirty="0">
                        <a:latin typeface="Cambria Math" panose="02040503050406030204" pitchFamily="18" charset="0"/>
                      </a:rPr>
                      <m:t>(</m:t>
                    </m:r>
                    <m:r>
                      <a:rPr lang="en-US" i="1" dirty="0" err="1">
                        <a:latin typeface="Cambria Math" panose="02040503050406030204" pitchFamily="18" charset="0"/>
                      </a:rPr>
                      <m:t>𝑎</m:t>
                    </m:r>
                    <m:r>
                      <a:rPr lang="en-US" i="1" dirty="0" err="1">
                        <a:latin typeface="Cambria Math" panose="02040503050406030204" pitchFamily="18" charset="0"/>
                      </a:rPr>
                      <m:t>≥</m:t>
                    </m:r>
                    <m:r>
                      <a:rPr lang="en-US" i="1" dirty="0" err="1">
                        <a:latin typeface="Cambria Math" panose="02040503050406030204" pitchFamily="18" charset="0"/>
                      </a:rPr>
                      <m:t>𝑏</m:t>
                    </m:r>
                    <m:r>
                      <a:rPr lang="en-US" i="1" dirty="0">
                        <a:latin typeface="Cambria Math" panose="02040503050406030204" pitchFamily="18" charset="0"/>
                      </a:rPr>
                      <m:t>)</m:t>
                    </m:r>
                  </m:oMath>
                </a14:m>
                <a:r>
                  <a:rPr lang="en-US" altLang="zh-CN" dirty="0"/>
                  <a:t> </a:t>
                </a:r>
                <a:r>
                  <a:rPr lang="zh-CN" altLang="en-US" dirty="0"/>
                  <a:t>的公约数集合与</a:t>
                </a:r>
                <a:r>
                  <a:rPr lang="en-US" altLang="zh-CN" dirty="0"/>
                  <a:t> </a:t>
                </a:r>
                <a14:m>
                  <m:oMath xmlns:m="http://schemas.openxmlformats.org/officeDocument/2006/math">
                    <m:r>
                      <a:rPr lang="en-US" i="1" dirty="0" smtClean="0">
                        <a:latin typeface="Cambria Math" panose="02040503050406030204" pitchFamily="18" charset="0"/>
                      </a:rPr>
                      <m:t>𝑎</m:t>
                    </m:r>
                    <m:r>
                      <a:rPr lang="en-US" i="1" dirty="0" smtClean="0">
                        <a:latin typeface="Cambria Math" panose="02040503050406030204" pitchFamily="18" charset="0"/>
                      </a:rPr>
                      <m:t>−</m:t>
                    </m:r>
                    <m:r>
                      <a:rPr lang="en-US" i="1" dirty="0" smtClean="0">
                        <a:latin typeface="Cambria Math" panose="02040503050406030204" pitchFamily="18" charset="0"/>
                      </a:rPr>
                      <m:t>𝑏</m:t>
                    </m:r>
                  </m:oMath>
                </a14:m>
                <a:r>
                  <a:rPr lang="en-US" altLang="zh-CN" dirty="0"/>
                  <a:t> </a:t>
                </a:r>
                <a:r>
                  <a:rPr lang="zh-CN" altLang="en-US" dirty="0"/>
                  <a:t>和</a:t>
                </a:r>
                <a:r>
                  <a:rPr lang="en-US" altLang="zh-CN" dirty="0"/>
                  <a:t> </a:t>
                </a:r>
                <a14:m>
                  <m:oMath xmlns:m="http://schemas.openxmlformats.org/officeDocument/2006/math">
                    <m:r>
                      <a:rPr lang="en-US" i="1" dirty="0" smtClean="0">
                        <a:latin typeface="Cambria Math" panose="02040503050406030204" pitchFamily="18" charset="0"/>
                      </a:rPr>
                      <m:t>𝑏</m:t>
                    </m:r>
                  </m:oMath>
                </a14:m>
                <a:r>
                  <a:rPr lang="en-US" altLang="zh-CN" dirty="0"/>
                  <a:t> </a:t>
                </a:r>
                <a:r>
                  <a:rPr lang="zh-CN" altLang="en-US" dirty="0"/>
                  <a:t>的公约数集合相同”，可</a:t>
                </a:r>
                <a:r>
                  <a:rPr lang="zh-Hans" altLang="en-US" dirty="0"/>
                  <a:t>得：</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m:rPr>
                          <m:sty m:val="p"/>
                        </m:rPr>
                        <a:rPr lang="en-US" altLang="zh-CN" i="1" dirty="0">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𝑏</m:t>
                      </m:r>
                      <m:r>
                        <a:rPr lang="en-US" altLang="zh-CN" i="1" dirty="0" err="1">
                          <a:latin typeface="Cambria Math" panose="02040503050406030204" pitchFamily="18" charset="0"/>
                        </a:rPr>
                        <m:t>,</m:t>
                      </m:r>
                      <m:r>
                        <a:rPr lang="en-US" altLang="zh-CN" i="1" dirty="0" err="1">
                          <a:latin typeface="Cambria Math" panose="02040503050406030204" pitchFamily="18" charset="0"/>
                        </a:rPr>
                        <m:t>𝑎</m:t>
                      </m:r>
                      <m:r>
                        <a:rPr lang="en-US" altLang="zh-CN" b="0" i="1" dirty="0" smtClean="0">
                          <a:latin typeface="Cambria Math" panose="02040503050406030204" pitchFamily="18" charset="0"/>
                        </a:rPr>
                        <m:t> </m:t>
                      </m:r>
                      <m:r>
                        <m:rPr>
                          <m:sty m:val="p"/>
                        </m:rPr>
                        <a:rPr lang="en-US" altLang="zh-CN" i="1" dirty="0" err="1">
                          <a:latin typeface="Cambria Math" panose="02040503050406030204" pitchFamily="18" charset="0"/>
                        </a:rPr>
                        <m:t>mod</m:t>
                      </m:r>
                      <m:r>
                        <a:rPr lang="en-US" altLang="zh-CN" b="0" i="1" dirty="0" smtClean="0">
                          <a:latin typeface="Cambria Math" panose="02040503050406030204" pitchFamily="18" charset="0"/>
                        </a:rPr>
                        <m:t> </m:t>
                      </m:r>
                      <m:r>
                        <a:rPr lang="en-US" altLang="zh-CN" i="1" dirty="0">
                          <a:latin typeface="Cambria Math" panose="02040503050406030204" pitchFamily="18" charset="0"/>
                        </a:rPr>
                        <m:t>𝑏</m:t>
                      </m:r>
                      <m:r>
                        <a:rPr lang="en-US" altLang="zh-CN" i="1" dirty="0">
                          <a:latin typeface="Cambria Math" panose="02040503050406030204" pitchFamily="18" charset="0"/>
                        </a:rPr>
                        <m:t>)</m:t>
                      </m:r>
                    </m:oMath>
                  </m:oMathPara>
                </a14:m>
                <a:endParaRPr lang="en-US" dirty="0"/>
              </a:p>
              <a:p>
                <a:pPr>
                  <a:lnSpc>
                    <a:spcPct val="150000"/>
                  </a:lnSpc>
                </a:pPr>
                <a:r>
                  <a:rPr lang="zh-Hans" altLang="en-US" dirty="0"/>
                  <a:t>又称“辗转相除法”</a:t>
                </a:r>
                <a:endParaRPr lang="en-US"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1682263"/>
              </a:xfrm>
              <a:blipFill>
                <a:blip r:embed="rId3"/>
                <a:stretch>
                  <a:fillRect l="-1398" b="-4511"/>
                </a:stretch>
              </a:blipFill>
            </p:spPr>
            <p:txBody>
              <a:bodyPr/>
              <a:lstStyle/>
              <a:p>
                <a:r>
                  <a:rPr lang="zh-CN" altLang="en-US">
                    <a:noFill/>
                  </a:rPr>
                  <a:t> </a:t>
                </a:r>
              </a:p>
            </p:txBody>
          </p:sp>
        </mc:Fallback>
      </mc:AlternateContent>
      <p:sp>
        <p:nvSpPr>
          <p:cNvPr id="4" name="内容占位符 13"/>
          <p:cNvSpPr txBox="1">
            <a:spLocks/>
          </p:cNvSpPr>
          <p:nvPr/>
        </p:nvSpPr>
        <p:spPr>
          <a:xfrm>
            <a:off x="1104900" y="3850175"/>
            <a:ext cx="10413810" cy="1398493"/>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Hans"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b </a:t>
            </a:r>
            <a:r>
              <a:rPr lang="en-US" altLang="zh-CN" b="1" dirty="0">
                <a:solidFill>
                  <a:srgbClr val="00008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3</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else</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t>
            </a:r>
            <a:r>
              <a:rPr lang="en-US" altLang="zh-Hans"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b</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4</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dirty="0"/>
          </a:p>
        </p:txBody>
      </p:sp>
      <p:sp>
        <p:nvSpPr>
          <p:cNvPr id="7" name="内容占位符 13"/>
          <p:cNvSpPr txBox="1">
            <a:spLocks/>
          </p:cNvSpPr>
          <p:nvPr/>
        </p:nvSpPr>
        <p:spPr>
          <a:xfrm>
            <a:off x="1104900" y="5438322"/>
            <a:ext cx="10413810" cy="1174375"/>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Hans"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b </a:t>
            </a:r>
            <a:r>
              <a:rPr lang="en-US" altLang="zh-CN" b="1" dirty="0">
                <a:solidFill>
                  <a:srgbClr val="00008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Hans"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b</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b</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3</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dirty="0"/>
          </a:p>
        </p:txBody>
      </p:sp>
      <p:sp>
        <p:nvSpPr>
          <p:cNvPr id="2" name="幻灯片编号占位符 1">
            <a:extLst>
              <a:ext uri="{FF2B5EF4-FFF2-40B4-BE49-F238E27FC236}">
                <a16:creationId xmlns:a16="http://schemas.microsoft.com/office/drawing/2014/main" id="{ED7FF50B-04C0-204E-8279-BA5DF7E23CDF}"/>
              </a:ext>
            </a:extLst>
          </p:cNvPr>
          <p:cNvSpPr>
            <a:spLocks noGrp="1"/>
          </p:cNvSpPr>
          <p:nvPr>
            <p:ph type="sldNum" sz="quarter" idx="12"/>
          </p:nvPr>
        </p:nvSpPr>
        <p:spPr/>
        <p:txBody>
          <a:bodyPr/>
          <a:lstStyle/>
          <a:p>
            <a:fld id="{0FF54DE5-C571-48E8-A5BC-B369434E2F44}" type="slidenum">
              <a:rPr lang="en-US" altLang="zh-CN" smtClean="0"/>
              <a:pPr/>
              <a:t>30</a:t>
            </a:fld>
            <a:endParaRPr lang="zh-CN" altLang="en-US" dirty="0"/>
          </a:p>
        </p:txBody>
      </p:sp>
    </p:spTree>
    <p:extLst>
      <p:ext uri="{BB962C8B-B14F-4D97-AF65-F5344CB8AC3E}">
        <p14:creationId xmlns:p14="http://schemas.microsoft.com/office/powerpoint/2010/main" val="384702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4"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𝑎</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𝑏</m:t>
                    </m:r>
                    <m:r>
                      <a:rPr lang="zh-CN" altLang="en-US" i="1" dirty="0" smtClean="0">
                        <a:latin typeface="Cambria Math" panose="02040503050406030204" pitchFamily="18" charset="0"/>
                        <a:ea typeface="新宋体" panose="02010609030101010101" pitchFamily="49" charset="-122"/>
                      </a:rPr>
                      <m:t>)</m:t>
                    </m:r>
                  </m:oMath>
                </a14:m>
                <a:r>
                  <a:rPr lang="zh-CN" altLang="en-US" dirty="0"/>
                  <a:t>：欧几里得算法</a:t>
                </a:r>
                <a:r>
                  <a:rPr lang="en-US" altLang="zh-CN" dirty="0"/>
                  <a:t>-</a:t>
                </a:r>
                <a:r>
                  <a:rPr lang="zh-CN" altLang="en-US" dirty="0"/>
                  <a:t>复杂度分析</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rotWithShape="0">
                <a:blip r:embed="rId2"/>
                <a:stretch>
                  <a:fillRect l="-2137" b="-1173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内容占位符 13"/>
              <p:cNvSpPr>
                <a:spLocks noGrp="1"/>
              </p:cNvSpPr>
              <p:nvPr>
                <p:ph idx="1"/>
              </p:nvPr>
            </p:nvSpPr>
            <p:spPr/>
            <p:txBody>
              <a:bodyPr rtlCol="0"/>
              <a:lstStyle/>
              <a:p>
                <a:r>
                  <a:rPr lang="zh-CN" altLang="en-US" noProof="1"/>
                  <a:t>根据</a:t>
                </a:r>
                <a:r>
                  <a:rPr lang="en-US" altLang="zh-CN" noProof="1"/>
                  <a:t> </a:t>
                </a:r>
                <a14:m>
                  <m:oMath xmlns:m="http://schemas.openxmlformats.org/officeDocument/2006/math">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𝑏</m:t>
                    </m:r>
                    <m:r>
                      <a:rPr lang="zh-CN" altLang="en-US" i="1" noProof="1" smtClean="0">
                        <a:latin typeface="Cambria Math" panose="02040503050406030204" pitchFamily="18" charset="0"/>
                      </a:rPr>
                      <m:t>)=&gt;(</m:t>
                    </m:r>
                    <m:r>
                      <a:rPr lang="zh-CN" altLang="en-US" i="1" noProof="1" smtClean="0">
                        <a:latin typeface="Cambria Math" panose="02040503050406030204" pitchFamily="18" charset="0"/>
                      </a:rPr>
                      <m:t>𝑏</m:t>
                    </m:r>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 </m:t>
                    </m:r>
                    <m:r>
                      <m:rPr>
                        <m:sty m:val="p"/>
                      </m:rPr>
                      <a:rPr lang="zh-CN" altLang="en-US" i="0" noProof="1" smtClean="0">
                        <a:latin typeface="Cambria Math" panose="02040503050406030204" pitchFamily="18" charset="0"/>
                      </a:rPr>
                      <m:t>mod</m:t>
                    </m:r>
                    <m:r>
                      <a:rPr lang="zh-CN" altLang="en-US" i="1" noProof="1" smtClean="0">
                        <a:latin typeface="Cambria Math" panose="02040503050406030204" pitchFamily="18" charset="0"/>
                      </a:rPr>
                      <m:t> </m:t>
                    </m:r>
                    <m:r>
                      <a:rPr lang="zh-CN" altLang="en-US" i="1" noProof="1" smtClean="0">
                        <a:latin typeface="Cambria Math" panose="02040503050406030204" pitchFamily="18" charset="0"/>
                      </a:rPr>
                      <m:t>𝑏</m:t>
                    </m:r>
                    <m:r>
                      <a:rPr lang="zh-CN" altLang="en-US" i="1" noProof="1" smtClean="0">
                        <a:latin typeface="Cambria Math" panose="02040503050406030204" pitchFamily="18" charset="0"/>
                      </a:rPr>
                      <m:t>)</m:t>
                    </m:r>
                    <m:r>
                      <a:rPr lang="zh-CN" altLang="en-US" i="1" noProof="1">
                        <a:latin typeface="Cambria Math" panose="02040503050406030204" pitchFamily="18" charset="0"/>
                      </a:rPr>
                      <m:t>，</m:t>
                    </m:r>
                  </m:oMath>
                </a14:m>
                <a:r>
                  <a:rPr lang="zh-CN" altLang="en-US" noProof="1"/>
                  <a:t>设</a:t>
                </a:r>
                <a14:m>
                  <m:oMath xmlns:m="http://schemas.openxmlformats.org/officeDocument/2006/math">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&gt;</m:t>
                    </m:r>
                    <m:r>
                      <a:rPr lang="zh-CN" altLang="en-US" i="1" noProof="1" smtClean="0">
                        <a:latin typeface="Cambria Math" panose="02040503050406030204" pitchFamily="18" charset="0"/>
                      </a:rPr>
                      <m:t>𝑏</m:t>
                    </m:r>
                  </m:oMath>
                </a14:m>
                <a:r>
                  <a:rPr lang="zh-CN" altLang="en-US" noProof="1"/>
                  <a:t>：</a:t>
                </a:r>
              </a:p>
              <a:p>
                <a:pPr marL="0" indent="0">
                  <a:buNone/>
                </a:pPr>
                <a:r>
                  <a:rPr lang="zh-CN" altLang="en-US" noProof="1"/>
                  <a:t>    ①当</a:t>
                </a:r>
                <a:r>
                  <a:rPr lang="en-US" altLang="zh-CN" noProof="1"/>
                  <a:t> </a:t>
                </a:r>
                <a14:m>
                  <m:oMath xmlns:m="http://schemas.openxmlformats.org/officeDocument/2006/math">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≥2</m:t>
                    </m:r>
                    <m:r>
                      <a:rPr lang="zh-CN" altLang="en-US" i="1" noProof="1" smtClean="0">
                        <a:latin typeface="Cambria Math" panose="02040503050406030204" pitchFamily="18" charset="0"/>
                      </a:rPr>
                      <m:t>𝑏</m:t>
                    </m:r>
                  </m:oMath>
                </a14:m>
                <a:r>
                  <a:rPr lang="zh-CN" altLang="en-US" noProof="1"/>
                  <a:t>时，</a:t>
                </a:r>
                <a14:m>
                  <m:oMath xmlns:m="http://schemas.openxmlformats.org/officeDocument/2006/math">
                    <m:r>
                      <a:rPr lang="zh-CN" altLang="en-US" i="1" noProof="1" smtClean="0">
                        <a:latin typeface="Cambria Math" panose="02040503050406030204" pitchFamily="18" charset="0"/>
                      </a:rPr>
                      <m:t>𝑏</m:t>
                    </m:r>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/2</m:t>
                    </m:r>
                    <m:r>
                      <a:rPr lang="zh-CN" altLang="en-US" i="1" noProof="1">
                        <a:latin typeface="Cambria Math" panose="02040503050406030204" pitchFamily="18" charset="0"/>
                      </a:rPr>
                      <m:t>，</m:t>
                    </m:r>
                    <m:r>
                      <a:rPr lang="en-US" altLang="zh-Hans" i="1" noProof="1" smtClean="0">
                        <a:latin typeface="Cambria Math" panose="02040503050406030204" pitchFamily="18" charset="0"/>
                      </a:rPr>
                      <m:t>𝑏</m:t>
                    </m:r>
                  </m:oMath>
                </a14:m>
                <a:r>
                  <a:rPr lang="zh-Hans" altLang="en-US" noProof="1"/>
                  <a:t> 的</a:t>
                </a:r>
                <a:r>
                  <a:rPr lang="zh-CN" altLang="en-US" noProof="1"/>
                  <a:t>规模至少缩小一半；</a:t>
                </a:r>
              </a:p>
              <a:p>
                <a:pPr marL="0" indent="0">
                  <a:buNone/>
                </a:pPr>
                <a:r>
                  <a:rPr lang="zh-CN" altLang="en-US" noProof="1"/>
                  <a:t>    ②当</a:t>
                </a:r>
                <a:r>
                  <a:rPr lang="en-US" altLang="zh-CN" noProof="1"/>
                  <a:t> </a:t>
                </a:r>
                <a14:m>
                  <m:oMath xmlns:m="http://schemas.openxmlformats.org/officeDocument/2006/math">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&lt;2</m:t>
                    </m:r>
                    <m:r>
                      <a:rPr lang="zh-CN" altLang="en-US" i="1" noProof="1" smtClean="0">
                        <a:latin typeface="Cambria Math" panose="02040503050406030204" pitchFamily="18" charset="0"/>
                      </a:rPr>
                      <m:t>𝑏</m:t>
                    </m:r>
                  </m:oMath>
                </a14:m>
                <a:r>
                  <a:rPr lang="zh-CN" altLang="en-US" noProof="1"/>
                  <a:t>时，</a:t>
                </a:r>
                <a14:m>
                  <m:oMath xmlns:m="http://schemas.openxmlformats.org/officeDocument/2006/math">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 </m:t>
                    </m:r>
                    <m:r>
                      <m:rPr>
                        <m:sty m:val="p"/>
                      </m:rPr>
                      <a:rPr lang="zh-CN" altLang="en-US" i="0" noProof="1">
                        <a:latin typeface="Cambria Math" panose="02040503050406030204" pitchFamily="18" charset="0"/>
                      </a:rPr>
                      <m:t>mod</m:t>
                    </m:r>
                    <m:r>
                      <a:rPr lang="zh-CN" altLang="en-US" i="1" noProof="1">
                        <a:latin typeface="Cambria Math" panose="02040503050406030204" pitchFamily="18" charset="0"/>
                      </a:rPr>
                      <m:t> </m:t>
                    </m:r>
                    <m:r>
                      <a:rPr lang="zh-CN" altLang="en-US" i="1" noProof="1">
                        <a:latin typeface="Cambria Math" panose="02040503050406030204" pitchFamily="18" charset="0"/>
                      </a:rPr>
                      <m:t>𝑏</m:t>
                    </m:r>
                    <m:r>
                      <a:rPr lang="zh-CN" altLang="en-US" i="1" noProof="1">
                        <a:latin typeface="Cambria Math" panose="02040503050406030204" pitchFamily="18" charset="0"/>
                      </a:rPr>
                      <m:t>&lt;</m:t>
                    </m:r>
                    <m:r>
                      <a:rPr lang="zh-CN" altLang="en-US" i="1" noProof="1">
                        <a:latin typeface="Cambria Math" panose="02040503050406030204" pitchFamily="18" charset="0"/>
                      </a:rPr>
                      <m:t>𝑎</m:t>
                    </m:r>
                    <m:r>
                      <a:rPr lang="zh-CN" altLang="en-US" i="1" noProof="1">
                        <a:latin typeface="Cambria Math" panose="02040503050406030204" pitchFamily="18" charset="0"/>
                      </a:rPr>
                      <m:t>/2</m:t>
                    </m:r>
                  </m:oMath>
                </a14:m>
                <a:r>
                  <a:rPr lang="zh-CN" altLang="en-US" noProof="1"/>
                  <a:t>，</a:t>
                </a:r>
                <a:r>
                  <a:rPr lang="zh-Hans" altLang="en-US" noProof="1"/>
                  <a:t>余数的</a:t>
                </a:r>
                <a:r>
                  <a:rPr lang="zh-CN" altLang="en-US" noProof="1"/>
                  <a:t>规模至少缩小一半；</a:t>
                </a:r>
              </a:p>
              <a:p>
                <a:pPr marL="0" indent="0">
                  <a:buNone/>
                </a:pPr>
                <a:r>
                  <a:rPr lang="zh-CN" altLang="en-US" noProof="1"/>
                  <a:t>    所以时间复杂度为 </a:t>
                </a:r>
                <a14:m>
                  <m:oMath xmlns:m="http://schemas.openxmlformats.org/officeDocument/2006/math">
                    <m:r>
                      <m:rPr>
                        <m:sty m:val="p"/>
                      </m:rPr>
                      <a:rPr lang="zh-CN" altLang="en-US" i="0" noProof="1" smtClean="0">
                        <a:latin typeface="Cambria Math" panose="02040503050406030204" pitchFamily="18" charset="0"/>
                      </a:rPr>
                      <m:t>O</m:t>
                    </m:r>
                    <m:r>
                      <a:rPr lang="zh-CN" altLang="en-US" i="1" noProof="1" smtClean="0">
                        <a:latin typeface="Cambria Math" panose="02040503050406030204" pitchFamily="18" charset="0"/>
                      </a:rPr>
                      <m:t>(</m:t>
                    </m:r>
                    <m:r>
                      <m:rPr>
                        <m:sty m:val="p"/>
                      </m:rPr>
                      <a:rPr lang="zh-CN" altLang="en-US" i="0" noProof="1" smtClean="0">
                        <a:latin typeface="Cambria Math" panose="02040503050406030204" pitchFamily="18" charset="0"/>
                      </a:rPr>
                      <m:t>log</m:t>
                    </m:r>
                    <m:d>
                      <m:dPr>
                        <m:ctrlPr>
                          <a:rPr lang="en-US" altLang="zh-CN" b="0" i="1" noProof="1" smtClean="0">
                            <a:latin typeface="Cambria Math" panose="02040503050406030204" pitchFamily="18" charset="0"/>
                          </a:rPr>
                        </m:ctrlPr>
                      </m:dPr>
                      <m:e>
                        <m:r>
                          <a:rPr lang="en-US" altLang="zh-CN" b="0" i="1" noProof="1" smtClean="0">
                            <a:latin typeface="Cambria Math" panose="02040503050406030204" pitchFamily="18" charset="0"/>
                          </a:rPr>
                          <m:t>𝑎</m:t>
                        </m:r>
                        <m:r>
                          <a:rPr lang="en-US" altLang="zh-CN" b="0" i="1" noProof="1" smtClean="0">
                            <a:latin typeface="Cambria Math" panose="02040503050406030204" pitchFamily="18" charset="0"/>
                          </a:rPr>
                          <m:t>+</m:t>
                        </m:r>
                        <m:r>
                          <a:rPr lang="en-US" altLang="zh-CN" b="0" i="1" noProof="1" smtClean="0">
                            <a:latin typeface="Cambria Math" panose="02040503050406030204" pitchFamily="18" charset="0"/>
                          </a:rPr>
                          <m:t>𝑏</m:t>
                        </m:r>
                      </m:e>
                    </m:d>
                    <m:r>
                      <a:rPr lang="zh-CN" altLang="en-US" i="1" noProof="1" smtClean="0">
                        <a:latin typeface="Cambria Math" panose="02040503050406030204" pitchFamily="18" charset="0"/>
                      </a:rPr>
                      <m:t>)</m:t>
                    </m:r>
                  </m:oMath>
                </a14:m>
                <a:r>
                  <a:rPr lang="zh-Hans" altLang="en-US" noProof="1"/>
                  <a:t> 。</a:t>
                </a:r>
                <a:endParaRPr lang="zh-CN" altLang="en-US" noProof="1"/>
              </a:p>
              <a:p>
                <a:pPr marL="0" indent="0">
                  <a:buNone/>
                </a:pPr>
                <a:endParaRPr lang="en-US"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blipFill>
                <a:blip r:embed="rId3"/>
                <a:stretch>
                  <a:fillRect l="-1398" t="-110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B086046E-9713-CD4C-B2D5-EE1331D0F73C}"/>
              </a:ext>
            </a:extLst>
          </p:cNvPr>
          <p:cNvSpPr>
            <a:spLocks noGrp="1"/>
          </p:cNvSpPr>
          <p:nvPr>
            <p:ph type="sldNum" sz="quarter" idx="12"/>
          </p:nvPr>
        </p:nvSpPr>
        <p:spPr/>
        <p:txBody>
          <a:bodyPr/>
          <a:lstStyle/>
          <a:p>
            <a:fld id="{0FF54DE5-C571-48E8-A5BC-B369434E2F44}" type="slidenum">
              <a:rPr lang="en-US" altLang="zh-CN" smtClean="0"/>
              <a:pPr/>
              <a:t>31</a:t>
            </a:fld>
            <a:endParaRPr lang="zh-CN" altLang="en-US" dirty="0"/>
          </a:p>
        </p:txBody>
      </p:sp>
    </p:spTree>
    <p:extLst>
      <p:ext uri="{BB962C8B-B14F-4D97-AF65-F5344CB8AC3E}">
        <p14:creationId xmlns:p14="http://schemas.microsoft.com/office/powerpoint/2010/main" val="1439390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[BZOJ 1876] Super GCD</a:t>
            </a:r>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4667977"/>
              </a:xfrm>
            </p:spPr>
            <p:txBody>
              <a:bodyPr rtlCol="0">
                <a:normAutofit/>
              </a:bodyPr>
              <a:lstStyle/>
              <a:p>
                <a:pPr>
                  <a:lnSpc>
                    <a:spcPct val="150000"/>
                  </a:lnSpc>
                </a:pPr>
                <a:r>
                  <a:rPr lang="zh-Hans" altLang="en-US" dirty="0"/>
                  <a:t>求</a:t>
                </a:r>
                <a14:m>
                  <m:oMath xmlns:m="http://schemas.openxmlformats.org/officeDocument/2006/math">
                    <m:func>
                      <m:funcPr>
                        <m:ctrlPr>
                          <a:rPr lang="en-US" altLang="zh-CN" i="1" dirty="0">
                            <a:latin typeface="Cambria Math" panose="02040503050406030204" pitchFamily="18" charset="0"/>
                          </a:rPr>
                        </m:ctrlPr>
                      </m:funcPr>
                      <m:fName>
                        <m:r>
                          <m:rPr>
                            <m:sty m:val="p"/>
                          </m:rPr>
                          <a:rPr lang="en-US" altLang="zh-CN" i="0" dirty="0">
                            <a:latin typeface="Cambria Math" panose="02040503050406030204" pitchFamily="18" charset="0"/>
                          </a:rPr>
                          <m:t>gcd</m:t>
                        </m:r>
                      </m:fName>
                      <m:e>
                        <m:d>
                          <m:dPr>
                            <m:ctrlPr>
                              <a:rPr lang="en-US" altLang="zh-CN" i="1" dirty="0">
                                <a:latin typeface="Cambria Math" panose="02040503050406030204" pitchFamily="18" charset="0"/>
                              </a:rPr>
                            </m:ctrlPr>
                          </m:dPr>
                          <m:e>
                            <m:r>
                              <a:rPr lang="en-US" altLang="zh-CN" b="0" i="1" dirty="0" smtClean="0">
                                <a:latin typeface="Cambria Math" panose="02040503050406030204" pitchFamily="18" charset="0"/>
                              </a:rPr>
                              <m:t>𝐴</m:t>
                            </m:r>
                            <m:r>
                              <a:rPr lang="en-US" altLang="zh-CN" i="1" dirty="0" err="1">
                                <a:latin typeface="Cambria Math" panose="02040503050406030204" pitchFamily="18" charset="0"/>
                              </a:rPr>
                              <m:t>,</m:t>
                            </m:r>
                            <m:r>
                              <a:rPr lang="en-US" altLang="zh-CN" b="0" i="1" dirty="0" smtClean="0">
                                <a:latin typeface="Cambria Math" panose="02040503050406030204" pitchFamily="18" charset="0"/>
                              </a:rPr>
                              <m:t>𝐵</m:t>
                            </m:r>
                          </m:e>
                        </m:d>
                      </m:e>
                    </m:func>
                    <m:r>
                      <a:rPr lang="en-US" altLang="zh-CN" b="0" i="1" dirty="0" smtClean="0">
                        <a:latin typeface="Cambria Math" panose="02040503050406030204" pitchFamily="18" charset="0"/>
                      </a:rPr>
                      <m:t>,</m:t>
                    </m:r>
                    <m:r>
                      <a:rPr lang="en-US" altLang="zh-CN" i="1" dirty="0" smtClean="0">
                        <a:latin typeface="Cambria Math" panose="02040503050406030204" pitchFamily="18" charset="0"/>
                      </a:rPr>
                      <m:t>0 &lt; </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 ≤</m:t>
                    </m:r>
                    <m:sSup>
                      <m:sSupPr>
                        <m:ctrlPr>
                          <a:rPr lang="en-US" altLang="zh-CN" i="1" dirty="0" smtClean="0">
                            <a:latin typeface="Cambria Math" panose="02040503050406030204" pitchFamily="18" charset="0"/>
                          </a:rPr>
                        </m:ctrlPr>
                      </m:sSupPr>
                      <m:e>
                        <m:r>
                          <a:rPr lang="en-US" altLang="zh-Hans" b="0" i="1" dirty="0" smtClean="0">
                            <a:latin typeface="Cambria Math" panose="02040503050406030204" pitchFamily="18" charset="0"/>
                          </a:rPr>
                          <m:t>10</m:t>
                        </m:r>
                      </m:e>
                      <m:sup>
                        <m:r>
                          <a:rPr lang="en-US" altLang="zh-Hans" b="0" i="1" dirty="0" smtClean="0">
                            <a:latin typeface="Cambria Math" panose="02040503050406030204" pitchFamily="18" charset="0"/>
                          </a:rPr>
                          <m:t>10000</m:t>
                        </m:r>
                      </m:sup>
                    </m:sSup>
                    <m:r>
                      <a:rPr lang="en-US" altLang="zh-CN" i="1" dirty="0" smtClean="0">
                        <a:latin typeface="Cambria Math" panose="02040503050406030204" pitchFamily="18" charset="0"/>
                      </a:rPr>
                      <m:t> </m:t>
                    </m:r>
                  </m:oMath>
                </a14:m>
                <a:r>
                  <a:rPr lang="en-US" altLang="zh-CN" dirty="0"/>
                  <a:t> </a:t>
                </a:r>
                <a:r>
                  <a:rPr lang="zh-Hans" altLang="en-US" dirty="0"/>
                  <a:t>。</a:t>
                </a:r>
                <a:endParaRPr lang="en-US" altLang="zh-CN"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4667977"/>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0CBBDBB3-4129-244A-9496-CD6589EEAAE8}"/>
              </a:ext>
            </a:extLst>
          </p:cNvPr>
          <p:cNvSpPr>
            <a:spLocks noGrp="1"/>
          </p:cNvSpPr>
          <p:nvPr>
            <p:ph type="sldNum" sz="quarter" idx="12"/>
          </p:nvPr>
        </p:nvSpPr>
        <p:spPr/>
        <p:txBody>
          <a:bodyPr/>
          <a:lstStyle/>
          <a:p>
            <a:fld id="{0FF54DE5-C571-48E8-A5BC-B369434E2F44}" type="slidenum">
              <a:rPr lang="en-US" altLang="zh-CN" smtClean="0"/>
              <a:pPr/>
              <a:t>32</a:t>
            </a:fld>
            <a:endParaRPr lang="zh-CN" altLang="en-US" dirty="0"/>
          </a:p>
        </p:txBody>
      </p:sp>
    </p:spTree>
    <p:extLst>
      <p:ext uri="{BB962C8B-B14F-4D97-AF65-F5344CB8AC3E}">
        <p14:creationId xmlns:p14="http://schemas.microsoft.com/office/powerpoint/2010/main" val="379372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𝑎</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𝑏</m:t>
                    </m:r>
                    <m:r>
                      <a:rPr lang="zh-CN" altLang="en-US" i="1" dirty="0" smtClean="0">
                        <a:latin typeface="Cambria Math" panose="02040503050406030204" pitchFamily="18" charset="0"/>
                        <a:ea typeface="新宋体" panose="02010609030101010101" pitchFamily="49" charset="-122"/>
                      </a:rPr>
                      <m:t>)</m:t>
                    </m:r>
                  </m:oMath>
                </a14:m>
                <a:r>
                  <a:rPr lang="zh-CN" altLang="en-US" dirty="0"/>
                  <a:t>：</a:t>
                </a:r>
                <a:r>
                  <a:rPr lang="zh-Hans" altLang="en-US" dirty="0"/>
                  <a:t>适用于高精度数的</a:t>
                </a:r>
                <a:r>
                  <a:rPr lang="zh-CN" altLang="en-US" dirty="0"/>
                  <a:t>二进制法</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a:blip r:embed="rId2"/>
                <a:stretch>
                  <a:fillRect l="-2160" b="-114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5257801"/>
              </a:xfrm>
            </p:spPr>
            <p:txBody>
              <a:bodyPr rtlCol="0">
                <a:normAutofit/>
              </a:bodyPr>
              <a:lstStyle/>
              <a:p>
                <a:pPr>
                  <a:lnSpc>
                    <a:spcPct val="150000"/>
                  </a:lnSpc>
                  <a:spcBef>
                    <a:spcPts val="1200"/>
                  </a:spcBef>
                </a:pPr>
                <a:r>
                  <a:rPr lang="zh-CN" altLang="en-US" dirty="0"/>
                  <a:t>适合大整数（高精度）情况下求</a:t>
                </a:r>
                <a14:m>
                  <m:oMath xmlns:m="http://schemas.openxmlformats.org/officeDocument/2006/math">
                    <m:r>
                      <m:rPr>
                        <m:sty m:val="p"/>
                      </m:rPr>
                      <a:rPr lang="en-US" altLang="zh-CN" i="1" dirty="0" smtClean="0">
                        <a:latin typeface="Cambria Math" panose="02040503050406030204" pitchFamily="18" charset="0"/>
                      </a:rPr>
                      <m:t>gcd</m:t>
                    </m:r>
                  </m:oMath>
                </a14:m>
                <a:endParaRPr lang="en-US" altLang="zh-CN" dirty="0"/>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&lt;</m:t>
                    </m:r>
                    <m:r>
                      <a:rPr lang="zh-CN" altLang="en-US" i="1" noProof="1">
                        <a:latin typeface="Cambria Math" panose="02040503050406030204" pitchFamily="18" charset="0"/>
                        <a:ea typeface="新宋体" panose="02010609030101010101" charset="-122"/>
                        <a:sym typeface="+mn-ea"/>
                      </a:rPr>
                      <m:t>𝑏</m:t>
                    </m:r>
                  </m:oMath>
                </a14:m>
                <a:r>
                  <a:rPr lang="zh-CN" altLang="en-US" noProof="1">
                    <a:sym typeface="+mn-ea"/>
                  </a:rPr>
                  <a:t>时，</a:t>
                </a:r>
                <a14:m>
                  <m:oMath xmlns:m="http://schemas.openxmlformats.org/officeDocument/2006/math">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oMath>
                </a14:m>
                <a:r>
                  <a:rPr lang="zh-CN" altLang="en-US" noProof="1">
                    <a:sym typeface="+mn-ea"/>
                  </a:rPr>
                  <a:t>)</a:t>
                </a:r>
                <a:endParaRPr lang="en-US" altLang="zh-CN" noProof="1">
                  <a:sym typeface="+mn-ea"/>
                </a:endParaRPr>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oMath>
                </a14:m>
                <a:r>
                  <a:rPr lang="zh-CN" altLang="en-US" noProof="1">
                    <a:sym typeface="+mn-ea"/>
                  </a:rPr>
                  <a:t>时，</a:t>
                </a:r>
                <a14:m>
                  <m:oMath xmlns:m="http://schemas.openxmlformats.org/officeDocument/2006/math">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oMath>
                </a14:m>
                <a:endParaRPr lang="en-US" altLang="zh-CN" noProof="1">
                  <a:sym typeface="+mn-ea"/>
                </a:endParaRPr>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oMath>
                </a14:m>
                <a:r>
                  <a:rPr lang="zh-Hans" altLang="en-US" noProof="1">
                    <a:sym typeface="+mn-ea"/>
                  </a:rPr>
                  <a:t> </a:t>
                </a:r>
                <a:r>
                  <a:rPr lang="zh-CN" altLang="en-US" noProof="1">
                    <a:sym typeface="+mn-ea"/>
                  </a:rPr>
                  <a:t>同为偶数时，</a:t>
                </a:r>
                <a14:m>
                  <m:oMath xmlns:m="http://schemas.openxmlformats.org/officeDocument/2006/math">
                    <m:func>
                      <m:funcPr>
                        <m:ctrlPr>
                          <a:rPr lang="zh-CN" altLang="en-US" i="1" noProof="1">
                            <a:latin typeface="Cambria Math" panose="02040503050406030204" pitchFamily="18" charset="0"/>
                            <a:ea typeface="新宋体" panose="02010609030101010101" charset="-122"/>
                            <a:sym typeface="+mn-ea"/>
                          </a:rPr>
                        </m:ctrlPr>
                      </m:funcPr>
                      <m:fName>
                        <m:r>
                          <m:rPr>
                            <m:sty m:val="p"/>
                          </m:rPr>
                          <a:rPr lang="zh-CN" altLang="en-US" i="0" noProof="1">
                            <a:latin typeface="Cambria Math" panose="02040503050406030204" pitchFamily="18" charset="0"/>
                            <a:ea typeface="新宋体" panose="02010609030101010101" charset="-122"/>
                            <a:sym typeface="+mn-ea"/>
                          </a:rPr>
                          <m:t>gcd</m:t>
                        </m:r>
                      </m:fName>
                      <m:e>
                        <m:d>
                          <m:dPr>
                            <m:ctrlPr>
                              <a:rPr lang="zh-CN" altLang="en-US" i="1" noProof="1">
                                <a:latin typeface="Cambria Math" panose="02040503050406030204" pitchFamily="18" charset="0"/>
                                <a:ea typeface="新宋体" panose="02010609030101010101" charset="-122"/>
                                <a:sym typeface="+mn-ea"/>
                              </a:rPr>
                            </m:ctrlPr>
                          </m:dPr>
                          <m:e>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e>
                        </m:d>
                      </m:e>
                    </m:func>
                    <m:r>
                      <a:rPr lang="zh-CN" altLang="en-US" i="1" noProof="1">
                        <a:latin typeface="Cambria Math" panose="02040503050406030204" pitchFamily="18" charset="0"/>
                        <a:ea typeface="新宋体" panose="02010609030101010101" charset="-122"/>
                        <a:sym typeface="+mn-ea"/>
                      </a:rPr>
                      <m:t>=2</m:t>
                    </m:r>
                    <m:r>
                      <a:rPr lang="zh-Hans" altLang="en-US" b="0" i="1" noProof="1" smtClean="0">
                        <a:latin typeface="Cambria Math" panose="02040503050406030204" pitchFamily="18" charset="0"/>
                        <a:ea typeface="新宋体" panose="02010609030101010101" charset="-122"/>
                        <a:sym typeface="+mn-ea"/>
                      </a:rPr>
                      <m:t>∗</m:t>
                    </m:r>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/2,</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/2)</m:t>
                    </m:r>
                  </m:oMath>
                </a14:m>
                <a:endParaRPr lang="en-US" altLang="zh-CN" noProof="1">
                  <a:sym typeface="+mn-ea"/>
                </a:endParaRPr>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oMath>
                </a14:m>
                <a:r>
                  <a:rPr lang="zh-Hans" altLang="en-US" noProof="1">
                    <a:sym typeface="+mn-ea"/>
                  </a:rPr>
                  <a:t> </a:t>
                </a:r>
                <a:r>
                  <a:rPr lang="zh-CN" altLang="en-US" noProof="1">
                    <a:sym typeface="+mn-ea"/>
                  </a:rPr>
                  <a:t>为偶数，</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𝑏</m:t>
                    </m:r>
                  </m:oMath>
                </a14:m>
                <a:r>
                  <a:rPr lang="zh-Hans" altLang="en-US" noProof="1">
                    <a:sym typeface="+mn-ea"/>
                  </a:rPr>
                  <a:t> </a:t>
                </a:r>
                <a:r>
                  <a:rPr lang="zh-CN" altLang="en-US" noProof="1">
                    <a:sym typeface="+mn-ea"/>
                  </a:rPr>
                  <a:t>为奇数时，</a:t>
                </a:r>
                <a14:m>
                  <m:oMath xmlns:m="http://schemas.openxmlformats.org/officeDocument/2006/math">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/2,</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oMath>
                </a14:m>
                <a:r>
                  <a:rPr lang="zh-CN" altLang="en-US" noProof="1">
                    <a:sym typeface="+mn-ea"/>
                  </a:rPr>
                  <a:t>    </a:t>
                </a:r>
                <a:endParaRPr lang="en-US" altLang="zh-CN" noProof="1">
                  <a:sym typeface="+mn-ea"/>
                </a:endParaRPr>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oMath>
                </a14:m>
                <a:r>
                  <a:rPr lang="zh-Hans" altLang="en-US" noProof="1">
                    <a:sym typeface="+mn-ea"/>
                  </a:rPr>
                  <a:t> </a:t>
                </a:r>
                <a:r>
                  <a:rPr lang="zh-CN" altLang="en-US" noProof="1">
                    <a:sym typeface="+mn-ea"/>
                  </a:rPr>
                  <a:t>为奇数，</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𝑏</m:t>
                    </m:r>
                  </m:oMath>
                </a14:m>
                <a:r>
                  <a:rPr lang="zh-Hans" altLang="en-US" noProof="1">
                    <a:sym typeface="+mn-ea"/>
                  </a:rPr>
                  <a:t> </a:t>
                </a:r>
                <a:r>
                  <a:rPr lang="zh-CN" altLang="en-US" noProof="1">
                    <a:sym typeface="+mn-ea"/>
                  </a:rPr>
                  <a:t>为偶数时，</a:t>
                </a:r>
                <a14:m>
                  <m:oMath xmlns:m="http://schemas.openxmlformats.org/officeDocument/2006/math">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/2)</m:t>
                    </m:r>
                  </m:oMath>
                </a14:m>
                <a:endParaRPr lang="en-US" altLang="zh-CN" noProof="1">
                  <a:sym typeface="+mn-ea"/>
                </a:endParaRPr>
              </a:p>
              <a:p>
                <a:pPr marL="900113" indent="-409575">
                  <a:lnSpc>
                    <a:spcPct val="150000"/>
                  </a:lnSpc>
                  <a:spcBef>
                    <a:spcPts val="1200"/>
                  </a:spcBef>
                  <a:buFont typeface="+mj-lt"/>
                  <a:buAutoNum type="arabicPeriod"/>
                </a:pPr>
                <a:r>
                  <a:rPr lang="zh-Hans" altLang="en-US" noProof="1">
                    <a:ea typeface="新宋体" panose="02010609030101010101" charset="-122"/>
                    <a:sym typeface="+mn-ea"/>
                  </a:rPr>
                  <a:t> </a:t>
                </a:r>
                <a14:m>
                  <m:oMath xmlns:m="http://schemas.openxmlformats.org/officeDocument/2006/math">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oMath>
                </a14:m>
                <a:r>
                  <a:rPr lang="zh-Hans" altLang="en-US" noProof="1">
                    <a:sym typeface="+mn-ea"/>
                  </a:rPr>
                  <a:t> </a:t>
                </a:r>
                <a:r>
                  <a:rPr lang="zh-CN" altLang="en-US" noProof="1">
                    <a:sym typeface="+mn-ea"/>
                  </a:rPr>
                  <a:t>同为奇数时，</a:t>
                </a:r>
                <a14:m>
                  <m:oMath xmlns:m="http://schemas.openxmlformats.org/officeDocument/2006/math">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m:rPr>
                        <m:sty m:val="p"/>
                      </m:rPr>
                      <a:rPr lang="zh-CN" altLang="en-US" i="1" noProof="1">
                        <a:latin typeface="Cambria Math" panose="02040503050406030204" pitchFamily="18" charset="0"/>
                        <a:ea typeface="新宋体" panose="02010609030101010101" charset="-122"/>
                        <a:sym typeface="+mn-ea"/>
                      </a:rPr>
                      <m:t>gcd</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𝑎</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m:t>
                    </m:r>
                    <m:r>
                      <a:rPr lang="zh-CN" altLang="en-US" i="1" noProof="1">
                        <a:latin typeface="Cambria Math" panose="02040503050406030204" pitchFamily="18" charset="0"/>
                        <a:ea typeface="新宋体" panose="02010609030101010101" charset="-122"/>
                        <a:sym typeface="+mn-ea"/>
                      </a:rPr>
                      <m:t>)</m:t>
                    </m:r>
                  </m:oMath>
                </a14:m>
                <a:endParaRPr lang="en-US" altLang="zh-CN" dirty="0"/>
              </a:p>
              <a:p>
                <a:pPr>
                  <a:lnSpc>
                    <a:spcPct val="150000"/>
                  </a:lnSpc>
                  <a:spcBef>
                    <a:spcPts val="1200"/>
                  </a:spcBef>
                </a:pPr>
                <a:r>
                  <a:rPr lang="zh-Hans" altLang="en-US" dirty="0"/>
                  <a:t>又称“更相减损术”。</a:t>
                </a:r>
                <a:endParaRPr lang="en-US" altLang="zh-CN" dirty="0"/>
              </a:p>
              <a:p>
                <a:pPr marL="457200" indent="-457200">
                  <a:lnSpc>
                    <a:spcPct val="150000"/>
                  </a:lnSpc>
                  <a:spcBef>
                    <a:spcPts val="1200"/>
                  </a:spcBef>
                  <a:buFont typeface="+mj-lt"/>
                  <a:buAutoNum type="arabicPeriod"/>
                </a:pPr>
                <a:endParaRPr lang="en-US"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257801"/>
              </a:xfrm>
              <a:blipFill>
                <a:blip r:embed="rId3"/>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47DB94DB-E9FF-8F4C-830D-25368E3F4AD1}"/>
              </a:ext>
            </a:extLst>
          </p:cNvPr>
          <p:cNvSpPr>
            <a:spLocks noGrp="1"/>
          </p:cNvSpPr>
          <p:nvPr>
            <p:ph type="sldNum" sz="quarter" idx="12"/>
          </p:nvPr>
        </p:nvSpPr>
        <p:spPr/>
        <p:txBody>
          <a:bodyPr/>
          <a:lstStyle/>
          <a:p>
            <a:fld id="{0FF54DE5-C571-48E8-A5BC-B369434E2F44}" type="slidenum">
              <a:rPr lang="en-US" altLang="zh-CN" smtClean="0"/>
              <a:pPr/>
              <a:t>33</a:t>
            </a:fld>
            <a:endParaRPr lang="zh-CN" altLang="en-US" dirty="0"/>
          </a:p>
        </p:txBody>
      </p:sp>
    </p:spTree>
    <p:extLst>
      <p:ext uri="{BB962C8B-B14F-4D97-AF65-F5344CB8AC3E}">
        <p14:creationId xmlns:p14="http://schemas.microsoft.com/office/powerpoint/2010/main" val="549075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𝑎</m:t>
                    </m:r>
                    <m:r>
                      <a:rPr lang="zh-CN" altLang="en-US" i="1" dirty="0" smtClean="0">
                        <a:latin typeface="Cambria Math" panose="02040503050406030204" pitchFamily="18" charset="0"/>
                        <a:ea typeface="新宋体" panose="02010609030101010101" pitchFamily="49" charset="-122"/>
                      </a:rPr>
                      <m:t>,</m:t>
                    </m:r>
                    <m:r>
                      <a:rPr lang="zh-CN" altLang="en-US" i="1" dirty="0" smtClean="0">
                        <a:latin typeface="Cambria Math" panose="02040503050406030204" pitchFamily="18" charset="0"/>
                        <a:ea typeface="新宋体" panose="02010609030101010101" pitchFamily="49" charset="-122"/>
                      </a:rPr>
                      <m:t>𝑏</m:t>
                    </m:r>
                    <m:r>
                      <a:rPr lang="zh-CN" altLang="en-US" i="1" dirty="0" smtClean="0">
                        <a:latin typeface="Cambria Math" panose="02040503050406030204" pitchFamily="18" charset="0"/>
                        <a:ea typeface="新宋体" panose="02010609030101010101" pitchFamily="49" charset="-122"/>
                      </a:rPr>
                      <m:t>)</m:t>
                    </m:r>
                  </m:oMath>
                </a14:m>
                <a:r>
                  <a:rPr lang="zh-CN" altLang="en-US" dirty="0"/>
                  <a:t>：</a:t>
                </a:r>
                <a:r>
                  <a:rPr lang="zh-Hans" altLang="en-US" dirty="0"/>
                  <a:t>适用于高精度数的</a:t>
                </a:r>
                <a:r>
                  <a:rPr lang="zh-CN" altLang="en-US" dirty="0"/>
                  <a:t>二进制法</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a:blip r:embed="rId2"/>
                <a:stretch>
                  <a:fillRect l="-2160" b="-11494"/>
                </a:stretch>
              </a:blipFill>
            </p:spPr>
            <p:txBody>
              <a:bodyPr/>
              <a:lstStyle/>
              <a:p>
                <a:r>
                  <a:rPr lang="zh-CN" altLang="en-US">
                    <a:noFill/>
                  </a:rPr>
                  <a:t> </a:t>
                </a:r>
              </a:p>
            </p:txBody>
          </p:sp>
        </mc:Fallback>
      </mc:AlternateContent>
      <p:sp>
        <p:nvSpPr>
          <p:cNvPr id="4" name="内容占位符 13"/>
          <p:cNvSpPr txBox="1">
            <a:spLocks/>
          </p:cNvSpPr>
          <p:nvPr/>
        </p:nvSpPr>
        <p:spPr>
          <a:xfrm>
            <a:off x="1104899" y="2286000"/>
            <a:ext cx="9980683" cy="2595281"/>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m</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n</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m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n</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m</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3</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m </a:t>
            </a:r>
            <a:r>
              <a:rPr lang="en-US" altLang="zh-CN" b="1" dirty="0">
                <a:solidFill>
                  <a:srgbClr val="000080"/>
                </a:solidFill>
                <a:highlight>
                  <a:srgbClr val="FFFFF3"/>
                </a:highlight>
                <a:latin typeface="Courier New" panose="02070309020205020404" pitchFamily="49" charset="0"/>
              </a:rPr>
              <a:t>&lt;</a:t>
            </a:r>
            <a:r>
              <a:rPr lang="en-US" altLang="zh-CN" dirty="0">
                <a:solidFill>
                  <a:srgbClr val="000000"/>
                </a:solidFill>
                <a:highlight>
                  <a:srgbClr val="FFFFF3"/>
                </a:highlight>
                <a:latin typeface="Courier New" panose="02070309020205020404" pitchFamily="49" charset="0"/>
              </a:rPr>
              <a:t> n</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n</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m</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4</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m </a:t>
            </a:r>
            <a:r>
              <a:rPr lang="en-US" altLang="zh-CN" b="1" dirty="0">
                <a:solidFill>
                  <a:srgbClr val="000080"/>
                </a:solidFill>
                <a:highlight>
                  <a:srgbClr val="FFFFF3"/>
                </a:highlight>
                <a:latin typeface="Courier New" panose="02070309020205020404" pitchFamily="49" charset="0"/>
              </a:rPr>
              <a:t>&amp;</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br>
              <a:rPr lang="en-US" altLang="zh-CN" dirty="0">
                <a:solidFill>
                  <a:srgbClr val="000000"/>
                </a:solidFill>
                <a:highlight>
                  <a:srgbClr val="FFFFF3"/>
                </a:highlight>
                <a:latin typeface="Courier New" panose="02070309020205020404" pitchFamily="49" charset="0"/>
              </a:rPr>
            </a:br>
            <a:r>
              <a:rPr lang="pt-BR" altLang="zh-CN" dirty="0">
                <a:solidFill>
                  <a:srgbClr val="FF8000"/>
                </a:solidFill>
                <a:highlight>
                  <a:srgbClr val="FFFFF3"/>
                </a:highlight>
                <a:latin typeface="Courier New" panose="02070309020205020404" pitchFamily="49" charset="0"/>
              </a:rPr>
              <a:t>5 </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n </a:t>
            </a:r>
            <a:r>
              <a:rPr lang="en-US" altLang="zh-CN" b="1" dirty="0">
                <a:solidFill>
                  <a:srgbClr val="000080"/>
                </a:solidFill>
                <a:highlight>
                  <a:srgbClr val="FFFFF3"/>
                </a:highlight>
                <a:latin typeface="Courier New" panose="02070309020205020404" pitchFamily="49" charset="0"/>
              </a:rPr>
              <a:t>&amp;</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rPr>
              <a:t>2</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m</a:t>
            </a:r>
            <a:r>
              <a:rPr lang="en-US" altLang="zh-CN" b="1" dirty="0">
                <a:solidFill>
                  <a:srgbClr val="000080"/>
                </a:solidFill>
                <a:highlight>
                  <a:srgbClr val="FFFFF3"/>
                </a:highlight>
                <a:latin typeface="Courier New" panose="02070309020205020404" pitchFamily="49" charset="0"/>
              </a:rPr>
              <a:t>&gt;&gt;</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n</a:t>
            </a:r>
            <a:r>
              <a:rPr lang="en-US" altLang="zh-CN" b="1" dirty="0">
                <a:solidFill>
                  <a:srgbClr val="000080"/>
                </a:solidFill>
                <a:highlight>
                  <a:srgbClr val="FFFFF3"/>
                </a:highlight>
                <a:latin typeface="Courier New" panose="02070309020205020404" pitchFamily="49" charset="0"/>
              </a:rPr>
              <a:t>&gt;&gt;</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m</a:t>
            </a:r>
            <a:r>
              <a:rPr lang="en-US" altLang="zh-CN" b="1" dirty="0">
                <a:solidFill>
                  <a:srgbClr val="000080"/>
                </a:solidFill>
                <a:highlight>
                  <a:srgbClr val="FFFFF3"/>
                </a:highlight>
                <a:latin typeface="Courier New" panose="02070309020205020404" pitchFamily="49" charset="0"/>
              </a:rPr>
              <a:t>&gt;&gt;</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n</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6 </a:t>
            </a:r>
            <a:r>
              <a:rPr lang="pt-BR" altLang="zh-CN" dirty="0">
                <a:solidFill>
                  <a:srgbClr val="000000"/>
                </a:solidFill>
                <a:highlight>
                  <a:srgbClr val="FFFFF3"/>
                </a:highlight>
                <a:latin typeface="Courier New" panose="02070309020205020404" pitchFamily="49" charset="0"/>
              </a:rPr>
              <a:t>	</a:t>
            </a:r>
            <a:r>
              <a:rPr lang="pt-BR" altLang="zh-CN" b="1" dirty="0">
                <a:solidFill>
                  <a:srgbClr val="0000FF"/>
                </a:solidFill>
                <a:highlight>
                  <a:srgbClr val="FFFFF3"/>
                </a:highlight>
                <a:latin typeface="Courier New" panose="02070309020205020404" pitchFamily="49" charset="0"/>
              </a:rPr>
              <a:t>return</a:t>
            </a:r>
            <a:r>
              <a:rPr lang="pt-BR" altLang="zh-CN" dirty="0">
                <a:solidFill>
                  <a:srgbClr val="000000"/>
                </a:solidFill>
                <a:highlight>
                  <a:srgbClr val="FFFFF3"/>
                </a:highlight>
                <a:latin typeface="Courier New" panose="02070309020205020404" pitchFamily="49" charset="0"/>
              </a:rPr>
              <a:t> </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n </a:t>
            </a:r>
            <a:r>
              <a:rPr lang="pt-BR" altLang="zh-CN" b="1" dirty="0">
                <a:solidFill>
                  <a:srgbClr val="000080"/>
                </a:solidFill>
                <a:highlight>
                  <a:srgbClr val="FFFFF3"/>
                </a:highlight>
                <a:latin typeface="Courier New" panose="02070309020205020404" pitchFamily="49" charset="0"/>
              </a:rPr>
              <a:t>&amp;</a:t>
            </a:r>
            <a:r>
              <a:rPr lang="pt-BR" altLang="zh-CN" dirty="0">
                <a:solidFill>
                  <a:srgbClr val="000000"/>
                </a:solidFill>
                <a:highlight>
                  <a:srgbClr val="FFFFF3"/>
                </a:highlight>
                <a:latin typeface="Courier New" panose="02070309020205020404" pitchFamily="49" charset="0"/>
              </a:rPr>
              <a:t> </a:t>
            </a:r>
            <a:r>
              <a:rPr lang="pt-BR" altLang="zh-CN" dirty="0">
                <a:solidFill>
                  <a:srgbClr val="FF8000"/>
                </a:solidFill>
                <a:highlight>
                  <a:srgbClr val="FFFFF3"/>
                </a:highlight>
                <a:latin typeface="Courier New" panose="02070309020205020404" pitchFamily="49" charset="0"/>
              </a:rPr>
              <a:t>1</a:t>
            </a:r>
            <a:r>
              <a:rPr lang="pt-BR" altLang="zh-CN" dirty="0">
                <a:solidFill>
                  <a:srgbClr val="000000"/>
                </a:solidFill>
                <a:highlight>
                  <a:srgbClr val="FFFFF3"/>
                </a:highlight>
                <a:latin typeface="Courier New" panose="02070309020205020404" pitchFamily="49" charset="0"/>
              </a:rPr>
              <a:t> </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 </a:t>
            </a:r>
            <a:r>
              <a:rPr lang="pt-BR" altLang="zh-CN" dirty="0">
                <a:solidFill>
                  <a:srgbClr val="FF8000"/>
                </a:solidFill>
                <a:highlight>
                  <a:srgbClr val="FFFFF3"/>
                </a:highlight>
                <a:latin typeface="Courier New" panose="02070309020205020404" pitchFamily="49" charset="0"/>
              </a:rPr>
              <a:t>0</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 gcd</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m</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n</a:t>
            </a:r>
            <a:r>
              <a:rPr lang="en-US" altLang="zh-CN" b="1" dirty="0">
                <a:solidFill>
                  <a:srgbClr val="000080"/>
                </a:solidFill>
                <a:highlight>
                  <a:srgbClr val="FFFFF3"/>
                </a:highlight>
                <a:latin typeface="Courier New" panose="02070309020205020404" pitchFamily="49" charset="0"/>
              </a:rPr>
              <a:t>&gt;&gt;</a:t>
            </a:r>
            <a:r>
              <a:rPr lang="en-US" altLang="zh-CN" dirty="0">
                <a:solidFill>
                  <a:srgbClr val="FF8000"/>
                </a:solidFill>
                <a:highlight>
                  <a:srgbClr val="FFFFF3"/>
                </a:highlight>
                <a:latin typeface="Courier New" panose="02070309020205020404" pitchFamily="49" charset="0"/>
              </a:rPr>
              <a:t>1</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 gcd</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n</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m</a:t>
            </a:r>
            <a:r>
              <a:rPr lang="pt-BR" altLang="zh-CN" b="1" dirty="0">
                <a:solidFill>
                  <a:srgbClr val="000080"/>
                </a:solidFill>
                <a:highlight>
                  <a:srgbClr val="FFFFF3"/>
                </a:highlight>
                <a:latin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rPr>
              <a:t>n</a:t>
            </a:r>
            <a:r>
              <a:rPr lang="pt-BR" altLang="zh-CN" b="1" dirty="0">
                <a:solidFill>
                  <a:srgbClr val="000080"/>
                </a:solidFill>
                <a:highlight>
                  <a:srgbClr val="FFFFF3"/>
                </a:highlight>
                <a:latin typeface="Courier New" panose="02070309020205020404" pitchFamily="49" charset="0"/>
              </a:rPr>
              <a:t>);</a:t>
            </a:r>
            <a:endParaRPr lang="pt-BR"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7</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en-US" dirty="0"/>
          </a:p>
        </p:txBody>
      </p:sp>
      <p:sp>
        <p:nvSpPr>
          <p:cNvPr id="5" name="内容占位符 13">
            <a:extLst>
              <a:ext uri="{FF2B5EF4-FFF2-40B4-BE49-F238E27FC236}">
                <a16:creationId xmlns:a16="http://schemas.microsoft.com/office/drawing/2014/main" id="{527D4EE9-C454-0247-A94D-D0A72C40DBC9}"/>
              </a:ext>
            </a:extLst>
          </p:cNvPr>
          <p:cNvSpPr>
            <a:spLocks noGrp="1"/>
          </p:cNvSpPr>
          <p:nvPr>
            <p:ph idx="1"/>
          </p:nvPr>
        </p:nvSpPr>
        <p:spPr>
          <a:xfrm>
            <a:off x="1104900" y="4881281"/>
            <a:ext cx="9982200" cy="1793839"/>
          </a:xfrm>
        </p:spPr>
        <p:txBody>
          <a:bodyPr rtlCol="0">
            <a:normAutofit/>
          </a:bodyPr>
          <a:lstStyle/>
          <a:p>
            <a:pPr>
              <a:lnSpc>
                <a:spcPct val="150000"/>
              </a:lnSpc>
              <a:spcBef>
                <a:spcPts val="1200"/>
              </a:spcBef>
            </a:pPr>
            <a:r>
              <a:rPr lang="zh-Hans" altLang="en-US" dirty="0"/>
              <a:t>以上代码仅作为算法说明，大整数如为数组存储方式，则上述运算符都需要实现重载。</a:t>
            </a:r>
            <a:endParaRPr lang="en-US" dirty="0"/>
          </a:p>
        </p:txBody>
      </p:sp>
      <p:sp>
        <p:nvSpPr>
          <p:cNvPr id="2" name="幻灯片编号占位符 1">
            <a:extLst>
              <a:ext uri="{FF2B5EF4-FFF2-40B4-BE49-F238E27FC236}">
                <a16:creationId xmlns:a16="http://schemas.microsoft.com/office/drawing/2014/main" id="{DF502DE6-94BD-F44E-8F7A-B908F3F26CDB}"/>
              </a:ext>
            </a:extLst>
          </p:cNvPr>
          <p:cNvSpPr>
            <a:spLocks noGrp="1"/>
          </p:cNvSpPr>
          <p:nvPr>
            <p:ph type="sldNum" sz="quarter" idx="12"/>
          </p:nvPr>
        </p:nvSpPr>
        <p:spPr/>
        <p:txBody>
          <a:bodyPr/>
          <a:lstStyle/>
          <a:p>
            <a:fld id="{0FF54DE5-C571-48E8-A5BC-B369434E2F44}" type="slidenum">
              <a:rPr lang="en-US" altLang="zh-CN" smtClean="0"/>
              <a:pPr/>
              <a:t>34</a:t>
            </a:fld>
            <a:endParaRPr lang="zh-CN" altLang="en-US" dirty="0"/>
          </a:p>
        </p:txBody>
      </p:sp>
    </p:spTree>
    <p:extLst>
      <p:ext uri="{BB962C8B-B14F-4D97-AF65-F5344CB8AC3E}">
        <p14:creationId xmlns:p14="http://schemas.microsoft.com/office/powerpoint/2010/main" val="154916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874D90-B713-A642-B785-BDD1578C042B}"/>
              </a:ext>
            </a:extLst>
          </p:cNvPr>
          <p:cNvSpPr>
            <a:spLocks noGrp="1"/>
          </p:cNvSpPr>
          <p:nvPr>
            <p:ph type="title"/>
          </p:nvPr>
        </p:nvSpPr>
        <p:spPr/>
        <p:txBody>
          <a:bodyPr/>
          <a:lstStyle/>
          <a:p>
            <a:r>
              <a:rPr kumimoji="1" lang="zh-Hans" altLang="en-US" dirty="0"/>
              <a:t>例题：</a:t>
            </a:r>
            <a:r>
              <a:rPr lang="en-US" altLang="zh-CN" dirty="0"/>
              <a:t> [</a:t>
            </a:r>
            <a:r>
              <a:rPr lang="en-US" altLang="zh-Hans" dirty="0"/>
              <a:t>NOIP</a:t>
            </a:r>
            <a:r>
              <a:rPr lang="en-US" altLang="zh-CN" dirty="0"/>
              <a:t> </a:t>
            </a:r>
            <a:r>
              <a:rPr lang="en-US" altLang="zh-Hans" dirty="0"/>
              <a:t>2009</a:t>
            </a:r>
            <a:r>
              <a:rPr lang="en-US" altLang="zh-CN" dirty="0"/>
              <a:t>]</a:t>
            </a:r>
            <a:r>
              <a:rPr lang="zh-Hans" altLang="en-US" dirty="0"/>
              <a:t> </a:t>
            </a:r>
            <a:r>
              <a:rPr lang="en-US" altLang="zh-Hans" dirty="0" err="1"/>
              <a:t>Hankson</a:t>
            </a:r>
            <a:r>
              <a:rPr lang="zh-Hans" altLang="en-US" dirty="0"/>
              <a:t>的趣味题</a:t>
            </a:r>
            <a:endParaRPr kumimoji="1"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82C4899-43A4-5746-91A1-075EF7C99E0B}"/>
                  </a:ext>
                </a:extLst>
              </p:cNvPr>
              <p:cNvSpPr>
                <a:spLocks noGrp="1"/>
              </p:cNvSpPr>
              <p:nvPr>
                <p:ph idx="1"/>
              </p:nvPr>
            </p:nvSpPr>
            <p:spPr>
              <a:xfrm>
                <a:off x="1104900" y="1600199"/>
                <a:ext cx="9982200" cy="5257801"/>
              </a:xfrm>
            </p:spPr>
            <p:txBody>
              <a:bodyPr>
                <a:noAutofit/>
              </a:bodyPr>
              <a:lstStyle/>
              <a:p>
                <a:pPr>
                  <a:lnSpc>
                    <a:spcPct val="150000"/>
                  </a:lnSpc>
                  <a:spcBef>
                    <a:spcPts val="600"/>
                  </a:spcBef>
                </a:pPr>
                <a:r>
                  <a:rPr kumimoji="1" lang="zh-CN" altLang="en-US" dirty="0"/>
                  <a:t>有 </a:t>
                </a:r>
                <a14:m>
                  <m:oMath xmlns:m="http://schemas.openxmlformats.org/officeDocument/2006/math">
                    <m:r>
                      <a:rPr kumimoji="1" lang="en-US" altLang="zh-CN" i="1" dirty="0" smtClean="0">
                        <a:latin typeface="Cambria Math" panose="02040503050406030204" pitchFamily="18" charset="0"/>
                      </a:rPr>
                      <m:t>𝑛</m:t>
                    </m:r>
                  </m:oMath>
                </a14:m>
                <a:r>
                  <a:rPr kumimoji="1" lang="en-US" altLang="zh-CN" dirty="0"/>
                  <a:t> </a:t>
                </a:r>
                <a:r>
                  <a:rPr kumimoji="1" lang="zh-CN" altLang="en-US" dirty="0"/>
                  <a:t>个询问，在每个询问中，先给定四个自然数 </a:t>
                </a:r>
                <a14:m>
                  <m:oMath xmlns:m="http://schemas.openxmlformats.org/officeDocument/2006/math">
                    <m:r>
                      <a:rPr kumimoji="1" lang="en-US" altLang="zh-CN" i="1" dirty="0" smtClean="0">
                        <a:latin typeface="Cambria Math" panose="02040503050406030204" pitchFamily="18" charset="0"/>
                      </a:rPr>
                      <m:t>𝑎</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𝑏</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𝑐</m:t>
                    </m:r>
                    <m:r>
                      <a:rPr kumimoji="1" lang="en-US" altLang="zh-CN" i="1" dirty="0" smtClean="0">
                        <a:latin typeface="Cambria Math" panose="02040503050406030204" pitchFamily="18" charset="0"/>
                      </a:rPr>
                      <m:t>,</m:t>
                    </m:r>
                    <m:r>
                      <a:rPr kumimoji="1" lang="en-US" altLang="zh-CN" i="1" dirty="0" smtClean="0">
                        <a:latin typeface="Cambria Math" panose="02040503050406030204" pitchFamily="18" charset="0"/>
                      </a:rPr>
                      <m:t>𝑑</m:t>
                    </m:r>
                  </m:oMath>
                </a14:m>
                <a:r>
                  <a:rPr kumimoji="1" lang="en-US" altLang="zh-CN" dirty="0"/>
                  <a:t> </a:t>
                </a:r>
                <a:r>
                  <a:rPr kumimoji="1" lang="zh-CN" altLang="en-US" dirty="0"/>
                  <a:t>，然后求有多少个 </a:t>
                </a:r>
                <a14:m>
                  <m:oMath xmlns:m="http://schemas.openxmlformats.org/officeDocument/2006/math">
                    <m:r>
                      <a:rPr kumimoji="1" lang="en-US" altLang="zh-CN" i="1" dirty="0" smtClean="0">
                        <a:latin typeface="Cambria Math" panose="02040503050406030204" pitchFamily="18" charset="0"/>
                      </a:rPr>
                      <m:t>𝑥</m:t>
                    </m:r>
                  </m:oMath>
                </a14:m>
                <a:r>
                  <a:rPr kumimoji="1" lang="en-US" altLang="zh-CN" dirty="0"/>
                  <a:t> </a:t>
                </a:r>
                <a:r>
                  <a:rPr kumimoji="1" lang="zh-CN" altLang="en-US" dirty="0"/>
                  <a:t>满足 </a:t>
                </a:r>
                <a14:m>
                  <m:oMath xmlns:m="http://schemas.openxmlformats.org/officeDocument/2006/math">
                    <m:r>
                      <m:rPr>
                        <m:sty m:val="p"/>
                      </m:rPr>
                      <a:rPr kumimoji="1" lang="en-US" altLang="zh-CN" i="1" dirty="0" smtClean="0">
                        <a:latin typeface="Cambria Math" panose="02040503050406030204" pitchFamily="18" charset="0"/>
                      </a:rPr>
                      <m:t>gcd</m:t>
                    </m:r>
                    <m:r>
                      <a:rPr kumimoji="1" lang="en-US" altLang="zh-CN" i="1" dirty="0">
                        <a:latin typeface="Cambria Math" panose="02040503050406030204" pitchFamily="18" charset="0"/>
                      </a:rPr>
                      <m:t>⁡(</m:t>
                    </m:r>
                    <m:r>
                      <a:rPr kumimoji="1" lang="en-US" altLang="zh-CN" i="1" dirty="0" err="1">
                        <a:latin typeface="Cambria Math" panose="02040503050406030204" pitchFamily="18" charset="0"/>
                      </a:rPr>
                      <m:t>𝑎</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𝑥</m:t>
                    </m:r>
                    <m:r>
                      <a:rPr kumimoji="1" lang="en-US" altLang="zh-CN" i="1" dirty="0">
                        <a:latin typeface="Cambria Math" panose="02040503050406030204" pitchFamily="18" charset="0"/>
                      </a:rPr>
                      <m:t>)=</m:t>
                    </m:r>
                    <m:r>
                      <a:rPr kumimoji="1" lang="en-US" altLang="zh-CN" i="1" dirty="0">
                        <a:latin typeface="Cambria Math" panose="02040503050406030204" pitchFamily="18" charset="0"/>
                      </a:rPr>
                      <m:t>𝑐</m:t>
                    </m:r>
                  </m:oMath>
                </a14:m>
                <a:r>
                  <a:rPr kumimoji="1" lang="en-US" altLang="zh-CN" dirty="0"/>
                  <a:t> </a:t>
                </a:r>
                <a:r>
                  <a:rPr kumimoji="1" lang="zh-CN" altLang="en-US" dirty="0"/>
                  <a:t>并且 </a:t>
                </a:r>
                <a14:m>
                  <m:oMath xmlns:m="http://schemas.openxmlformats.org/officeDocument/2006/math">
                    <m:r>
                      <m:rPr>
                        <m:sty m:val="p"/>
                      </m:rPr>
                      <a:rPr kumimoji="1" lang="en-US" altLang="zh-CN" i="0" dirty="0" smtClean="0">
                        <a:latin typeface="Cambria Math" panose="02040503050406030204" pitchFamily="18" charset="0"/>
                      </a:rPr>
                      <m:t>lcm</m:t>
                    </m:r>
                    <m:r>
                      <a:rPr kumimoji="1" lang="en-US" altLang="zh-CN" i="1" dirty="0" smtClean="0">
                        <a:latin typeface="Cambria Math" panose="02040503050406030204" pitchFamily="18" charset="0"/>
                      </a:rPr>
                      <m:t>(</m:t>
                    </m:r>
                    <m:r>
                      <a:rPr kumimoji="1" lang="en-US" altLang="zh-CN" i="1" dirty="0" err="1">
                        <a:latin typeface="Cambria Math" panose="02040503050406030204" pitchFamily="18" charset="0"/>
                      </a:rPr>
                      <m:t>𝑏</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𝑥</m:t>
                    </m:r>
                    <m:r>
                      <a:rPr kumimoji="1" lang="en-US" altLang="zh-CN" i="1" dirty="0">
                        <a:latin typeface="Cambria Math" panose="02040503050406030204" pitchFamily="18" charset="0"/>
                      </a:rPr>
                      <m:t>)=</m:t>
                    </m:r>
                    <m:r>
                      <a:rPr kumimoji="1" lang="en-US" altLang="zh-CN" i="1" dirty="0">
                        <a:latin typeface="Cambria Math" panose="02040503050406030204" pitchFamily="18" charset="0"/>
                      </a:rPr>
                      <m:t>𝑑</m:t>
                    </m:r>
                  </m:oMath>
                </a14:m>
                <a:r>
                  <a:rPr kumimoji="1" lang="zh-CN" altLang="en-US" dirty="0"/>
                  <a:t>。</a:t>
                </a:r>
                <a14:m>
                  <m:oMath xmlns:m="http://schemas.openxmlformats.org/officeDocument/2006/math">
                    <m:r>
                      <a:rPr kumimoji="1" lang="en-US" altLang="zh-CN" i="1" dirty="0" smtClean="0">
                        <a:latin typeface="Cambria Math" panose="02040503050406030204" pitchFamily="18" charset="0"/>
                      </a:rPr>
                      <m:t>𝑛</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rPr>
                      <m:t>2000,1</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err="1">
                        <a:latin typeface="Cambria Math" panose="02040503050406030204" pitchFamily="18" charset="0"/>
                      </a:rPr>
                      <m:t>𝑎</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𝑏</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𝑐</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𝑑</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a:latin typeface="Cambria Math" panose="02040503050406030204" pitchFamily="18" charset="0"/>
                      </a:rPr>
                      <m:t>2∗</m:t>
                    </m:r>
                    <m:sSup>
                      <m:sSupPr>
                        <m:ctrlPr>
                          <a:rPr kumimoji="1" lang="en-US" altLang="zh-CN" i="1" dirty="0" smtClean="0">
                            <a:latin typeface="Cambria Math" panose="02040503050406030204" pitchFamily="18" charset="0"/>
                          </a:rPr>
                        </m:ctrlPr>
                      </m:sSupPr>
                      <m:e>
                        <m:r>
                          <a:rPr kumimoji="1" lang="en-US" altLang="zh-Hans" b="0" i="1" dirty="0" smtClean="0">
                            <a:latin typeface="Cambria Math" panose="02040503050406030204" pitchFamily="18" charset="0"/>
                          </a:rPr>
                          <m:t>10</m:t>
                        </m:r>
                      </m:e>
                      <m:sup>
                        <m:r>
                          <a:rPr kumimoji="1" lang="en-US" altLang="zh-Hans" b="0" i="1" dirty="0" smtClean="0">
                            <a:latin typeface="Cambria Math" panose="02040503050406030204" pitchFamily="18" charset="0"/>
                          </a:rPr>
                          <m:t>9</m:t>
                        </m:r>
                      </m:sup>
                    </m:sSup>
                  </m:oMath>
                </a14:m>
                <a:r>
                  <a:rPr kumimoji="1" lang="en-US" altLang="zh-CN" dirty="0"/>
                  <a:t> </a:t>
                </a:r>
                <a:r>
                  <a:rPr kumimoji="1" lang="zh-CN" altLang="en-US" dirty="0"/>
                  <a:t>。</a:t>
                </a:r>
                <a:endParaRPr kumimoji="1" lang="en-US" altLang="zh-CN" dirty="0"/>
              </a:p>
              <a:p>
                <a:pPr>
                  <a:lnSpc>
                    <a:spcPct val="150000"/>
                  </a:lnSpc>
                  <a:spcBef>
                    <a:spcPts val="600"/>
                  </a:spcBef>
                </a:pPr>
                <a:r>
                  <a:rPr kumimoji="1" lang="zh-Hans" altLang="en-US" dirty="0"/>
                  <a:t>分析：</a:t>
                </a:r>
                <a:endParaRPr kumimoji="1" lang="en-US" altLang="zh-Hans" dirty="0"/>
              </a:p>
              <a:p>
                <a:pPr>
                  <a:lnSpc>
                    <a:spcPct val="150000"/>
                  </a:lnSpc>
                  <a:spcBef>
                    <a:spcPts val="600"/>
                  </a:spcBef>
                </a:pPr>
                <a:r>
                  <a:rPr kumimoji="1" lang="zh-CN" altLang="en-US" dirty="0"/>
                  <a:t>从 </a:t>
                </a:r>
                <a14:m>
                  <m:oMath xmlns:m="http://schemas.openxmlformats.org/officeDocument/2006/math">
                    <m:r>
                      <m:rPr>
                        <m:sty m:val="p"/>
                      </m:rPr>
                      <a:rPr kumimoji="1" lang="en-US" altLang="zh-CN" i="0" dirty="0" smtClean="0">
                        <a:latin typeface="Cambria Math" panose="02040503050406030204" pitchFamily="18" charset="0"/>
                      </a:rPr>
                      <m:t>lcm</m:t>
                    </m:r>
                    <m:r>
                      <a:rPr kumimoji="1" lang="en-US" altLang="zh-CN" i="1" dirty="0" smtClean="0">
                        <a:latin typeface="Cambria Math" panose="02040503050406030204" pitchFamily="18" charset="0"/>
                      </a:rPr>
                      <m:t>(</m:t>
                    </m:r>
                    <m:r>
                      <a:rPr kumimoji="1" lang="en-US" altLang="zh-CN" i="1" dirty="0" err="1">
                        <a:latin typeface="Cambria Math" panose="02040503050406030204" pitchFamily="18" charset="0"/>
                      </a:rPr>
                      <m:t>𝑏</m:t>
                    </m:r>
                    <m:r>
                      <a:rPr kumimoji="1" lang="en-US" altLang="zh-CN" i="1" dirty="0" err="1">
                        <a:latin typeface="Cambria Math" panose="02040503050406030204" pitchFamily="18" charset="0"/>
                      </a:rPr>
                      <m:t>,</m:t>
                    </m:r>
                    <m:r>
                      <a:rPr kumimoji="1" lang="en-US" altLang="zh-CN" i="1" dirty="0" err="1">
                        <a:latin typeface="Cambria Math" panose="02040503050406030204" pitchFamily="18" charset="0"/>
                      </a:rPr>
                      <m:t>𝑥</m:t>
                    </m:r>
                    <m:r>
                      <a:rPr kumimoji="1" lang="en-US" altLang="zh-CN" i="1" dirty="0">
                        <a:latin typeface="Cambria Math" panose="02040503050406030204" pitchFamily="18" charset="0"/>
                      </a:rPr>
                      <m:t>)=</m:t>
                    </m:r>
                    <m:r>
                      <a:rPr kumimoji="1" lang="en-US" altLang="zh-CN" i="1" dirty="0">
                        <a:latin typeface="Cambria Math" panose="02040503050406030204" pitchFamily="18" charset="0"/>
                      </a:rPr>
                      <m:t>𝑑</m:t>
                    </m:r>
                  </m:oMath>
                </a14:m>
                <a:r>
                  <a:rPr kumimoji="1" lang="en-US" altLang="zh-CN" dirty="0"/>
                  <a:t> </a:t>
                </a:r>
                <a:r>
                  <a:rPr kumimoji="1" lang="zh-CN" altLang="en-US" dirty="0"/>
                  <a:t>可知</a:t>
                </a:r>
                <a14:m>
                  <m:oMath xmlns:m="http://schemas.openxmlformats.org/officeDocument/2006/math">
                    <m:r>
                      <a:rPr kumimoji="1" lang="zh-CN" altLang="en-US" i="1" dirty="0" smtClean="0">
                        <a:latin typeface="Cambria Math" panose="02040503050406030204" pitchFamily="18" charset="0"/>
                      </a:rPr>
                      <m:t> </m:t>
                    </m:r>
                    <m:r>
                      <a:rPr kumimoji="1" lang="en-US" altLang="zh-CN" i="1" dirty="0">
                        <a:latin typeface="Cambria Math" panose="02040503050406030204" pitchFamily="18" charset="0"/>
                      </a:rPr>
                      <m:t>𝑥</m:t>
                    </m:r>
                  </m:oMath>
                </a14:m>
                <a:r>
                  <a:rPr kumimoji="1" lang="en-US" altLang="zh-CN" dirty="0"/>
                  <a:t> </a:t>
                </a:r>
                <a:r>
                  <a:rPr kumimoji="1" lang="zh-CN" altLang="en-US" dirty="0"/>
                  <a:t>一定是 </a:t>
                </a:r>
                <a14:m>
                  <m:oMath xmlns:m="http://schemas.openxmlformats.org/officeDocument/2006/math">
                    <m:r>
                      <a:rPr kumimoji="1" lang="en-US" altLang="zh-CN" i="1" dirty="0" smtClean="0">
                        <a:latin typeface="Cambria Math" panose="02040503050406030204" pitchFamily="18" charset="0"/>
                      </a:rPr>
                      <m:t>𝑑</m:t>
                    </m:r>
                  </m:oMath>
                </a14:m>
                <a:r>
                  <a:rPr kumimoji="1" lang="en-US" altLang="zh-CN" dirty="0"/>
                  <a:t> </a:t>
                </a:r>
                <a:r>
                  <a:rPr kumimoji="1" lang="zh-CN" altLang="en-US" dirty="0"/>
                  <a:t>的约数。可得朴素算法：用试除法求出 </a:t>
                </a:r>
                <a14:m>
                  <m:oMath xmlns:m="http://schemas.openxmlformats.org/officeDocument/2006/math">
                    <m:r>
                      <a:rPr kumimoji="1" lang="en-US" altLang="zh-CN" i="1" dirty="0" smtClean="0">
                        <a:latin typeface="Cambria Math" panose="02040503050406030204" pitchFamily="18" charset="0"/>
                      </a:rPr>
                      <m:t>𝑑</m:t>
                    </m:r>
                  </m:oMath>
                </a14:m>
                <a:r>
                  <a:rPr kumimoji="1" lang="en-US" altLang="zh-CN" dirty="0"/>
                  <a:t> </a:t>
                </a:r>
                <a:r>
                  <a:rPr kumimoji="1" lang="zh-CN" altLang="en-US" dirty="0"/>
                  <a:t>的所有约数，逐一判断是否满足这两个条件。时间复杂度为 </a:t>
                </a:r>
                <a14:m>
                  <m:oMath xmlns:m="http://schemas.openxmlformats.org/officeDocument/2006/math">
                    <m:r>
                      <a:rPr kumimoji="1" lang="en-US" altLang="zh-CN" b="0" i="1" smtClean="0">
                        <a:latin typeface="Cambria Math" panose="02040503050406030204" pitchFamily="18" charset="0"/>
                      </a:rPr>
                      <m:t>𝑂</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𝑛</m:t>
                        </m:r>
                        <m:rad>
                          <m:radPr>
                            <m:degHide m:val="on"/>
                            <m:ctrlPr>
                              <a:rPr kumimoji="1" lang="en-US" altLang="zh-CN" b="0" i="1" smtClean="0">
                                <a:latin typeface="Cambria Math" panose="02040503050406030204" pitchFamily="18" charset="0"/>
                              </a:rPr>
                            </m:ctrlPr>
                          </m:radPr>
                          <m:deg/>
                          <m:e>
                            <m:r>
                              <a:rPr kumimoji="1" lang="en-US" altLang="zh-CN" b="0" i="1" smtClean="0">
                                <a:latin typeface="Cambria Math" panose="02040503050406030204" pitchFamily="18" charset="0"/>
                              </a:rPr>
                              <m:t>𝑑</m:t>
                            </m:r>
                          </m:e>
                        </m:rad>
                        <m:func>
                          <m:funcPr>
                            <m:ctrlPr>
                              <a:rPr kumimoji="1" lang="en-US" altLang="zh-CN" b="0" i="1" smtClean="0">
                                <a:latin typeface="Cambria Math" panose="02040503050406030204" pitchFamily="18" charset="0"/>
                              </a:rPr>
                            </m:ctrlPr>
                          </m:funcPr>
                          <m:fName>
                            <m:r>
                              <m:rPr>
                                <m:sty m:val="p"/>
                              </m:rPr>
                              <a:rPr kumimoji="1" lang="en-US" altLang="zh-CN" b="0" i="0" smtClean="0">
                                <a:latin typeface="Cambria Math" panose="02040503050406030204" pitchFamily="18" charset="0"/>
                              </a:rPr>
                              <m:t>log</m:t>
                            </m:r>
                          </m:fName>
                          <m:e>
                            <m:r>
                              <a:rPr kumimoji="1" lang="en-US" altLang="zh-CN" b="0" i="1" smtClean="0">
                                <a:latin typeface="Cambria Math" panose="02040503050406030204" pitchFamily="18" charset="0"/>
                              </a:rPr>
                              <m:t>𝑑</m:t>
                            </m:r>
                          </m:e>
                        </m:func>
                      </m:e>
                    </m:d>
                  </m:oMath>
                </a14:m>
                <a:r>
                  <a:rPr kumimoji="1" lang="en-US" altLang="zh-CN" dirty="0"/>
                  <a:t> </a:t>
                </a:r>
                <a:r>
                  <a:rPr kumimoji="1" lang="zh-CN" altLang="en-US" dirty="0"/>
                  <a:t>。</a:t>
                </a:r>
                <a:endParaRPr kumimoji="1" lang="en-US" altLang="zh-CN" dirty="0"/>
              </a:p>
              <a:p>
                <a:pPr>
                  <a:lnSpc>
                    <a:spcPct val="150000"/>
                  </a:lnSpc>
                  <a:spcBef>
                    <a:spcPts val="600"/>
                  </a:spcBef>
                </a:pPr>
                <a:r>
                  <a:rPr kumimoji="1" lang="zh-CN" altLang="en-US" dirty="0"/>
                  <a:t>虽然 </a:t>
                </a:r>
                <a14:m>
                  <m:oMath xmlns:m="http://schemas.openxmlformats.org/officeDocument/2006/math">
                    <m:r>
                      <a:rPr kumimoji="1" lang="en-US" altLang="zh-CN" i="1" dirty="0" smtClean="0">
                        <a:latin typeface="Cambria Math" panose="02040503050406030204" pitchFamily="18" charset="0"/>
                      </a:rPr>
                      <m:t>𝑑</m:t>
                    </m:r>
                  </m:oMath>
                </a14:m>
                <a:r>
                  <a:rPr kumimoji="1" lang="en-US" altLang="zh-CN" dirty="0"/>
                  <a:t> </a:t>
                </a:r>
                <a:r>
                  <a:rPr kumimoji="1" lang="zh-CN" altLang="en-US" dirty="0"/>
                  <a:t>的约数个数上界大约是 </a:t>
                </a:r>
                <a14:m>
                  <m:oMath xmlns:m="http://schemas.openxmlformats.org/officeDocument/2006/math">
                    <m:rad>
                      <m:radPr>
                        <m:degHide m:val="on"/>
                        <m:ctrlPr>
                          <a:rPr kumimoji="1" lang="en-US" altLang="zh-CN" i="1">
                            <a:latin typeface="Cambria Math" panose="02040503050406030204" pitchFamily="18" charset="0"/>
                          </a:rPr>
                        </m:ctrlPr>
                      </m:radPr>
                      <m:deg/>
                      <m:e>
                        <m:r>
                          <a:rPr kumimoji="1" lang="en-US" altLang="zh-CN" i="1">
                            <a:latin typeface="Cambria Math" panose="02040503050406030204" pitchFamily="18" charset="0"/>
                          </a:rPr>
                          <m:t>𝑑</m:t>
                        </m:r>
                      </m:e>
                    </m:rad>
                    <m:r>
                      <a:rPr kumimoji="1" lang="en-US" altLang="zh-CN" i="1">
                        <a:latin typeface="Cambria Math" panose="02040503050406030204" pitchFamily="18" charset="0"/>
                      </a:rPr>
                      <m:t> </m:t>
                    </m:r>
                  </m:oMath>
                </a14:m>
                <a:r>
                  <a:rPr kumimoji="1" lang="zh-CN" altLang="en-US" dirty="0"/>
                  <a:t>，但是 </a:t>
                </a:r>
                <a14:m>
                  <m:oMath xmlns:m="http://schemas.openxmlformats.org/officeDocument/2006/math">
                    <m:r>
                      <a:rPr kumimoji="1" lang="en-US" altLang="zh-CN" i="1" dirty="0" smtClean="0">
                        <a:latin typeface="Cambria Math" panose="02040503050406030204" pitchFamily="18" charset="0"/>
                      </a:rPr>
                      <m:t>1~</m:t>
                    </m:r>
                    <m:r>
                      <a:rPr kumimoji="1" lang="en-US" altLang="zh-CN" i="1" dirty="0" smtClean="0">
                        <a:latin typeface="Cambria Math" panose="02040503050406030204" pitchFamily="18" charset="0"/>
                      </a:rPr>
                      <m:t>𝑑</m:t>
                    </m:r>
                  </m:oMath>
                </a14:m>
                <a:r>
                  <a:rPr kumimoji="1" lang="en-US" altLang="zh-CN" dirty="0"/>
                  <a:t> </a:t>
                </a:r>
                <a:r>
                  <a:rPr kumimoji="1" lang="zh-CN" altLang="en-US" dirty="0"/>
                  <a:t>中平均每个数的约数个数大约只有 </a:t>
                </a:r>
                <a14:m>
                  <m:oMath xmlns:m="http://schemas.openxmlformats.org/officeDocument/2006/math">
                    <m:func>
                      <m:funcPr>
                        <m:ctrlPr>
                          <a:rPr kumimoji="1" lang="en-US" altLang="zh-CN" i="1">
                            <a:latin typeface="Cambria Math" panose="02040503050406030204" pitchFamily="18" charset="0"/>
                          </a:rPr>
                        </m:ctrlPr>
                      </m:funcPr>
                      <m:fName>
                        <m:r>
                          <m:rPr>
                            <m:sty m:val="p"/>
                          </m:rPr>
                          <a:rPr kumimoji="1" lang="en-US" altLang="zh-CN">
                            <a:latin typeface="Cambria Math" panose="02040503050406030204" pitchFamily="18" charset="0"/>
                          </a:rPr>
                          <m:t>log</m:t>
                        </m:r>
                      </m:fName>
                      <m:e>
                        <m:r>
                          <a:rPr kumimoji="1" lang="en-US" altLang="zh-CN" i="1">
                            <a:latin typeface="Cambria Math" panose="02040503050406030204" pitchFamily="18" charset="0"/>
                          </a:rPr>
                          <m:t>𝑑</m:t>
                        </m:r>
                      </m:e>
                    </m:func>
                  </m:oMath>
                </a14:m>
                <a:r>
                  <a:rPr kumimoji="1" lang="zh-Hans" altLang="en-US" dirty="0"/>
                  <a:t>。</a:t>
                </a:r>
                <a:endParaRPr kumimoji="1" lang="en-US" altLang="zh-Hans" dirty="0"/>
              </a:p>
              <a:p>
                <a:pPr>
                  <a:lnSpc>
                    <a:spcPct val="150000"/>
                  </a:lnSpc>
                  <a:spcBef>
                    <a:spcPts val="600"/>
                  </a:spcBef>
                </a:pPr>
                <a14:m>
                  <m:oMath xmlns:m="http://schemas.openxmlformats.org/officeDocument/2006/math">
                    <m:sSup>
                      <m:sSupPr>
                        <m:ctrlPr>
                          <a:rPr kumimoji="1" lang="en-US" altLang="zh-CN" i="1" smtClean="0">
                            <a:latin typeface="Cambria Math" panose="02040503050406030204" pitchFamily="18" charset="0"/>
                          </a:rPr>
                        </m:ctrlPr>
                      </m:sSupPr>
                      <m:e>
                        <m:r>
                          <a:rPr kumimoji="1" lang="en-US" altLang="zh-Hans" b="0" i="1" smtClean="0">
                            <a:latin typeface="Cambria Math" panose="02040503050406030204" pitchFamily="18" charset="0"/>
                          </a:rPr>
                          <m:t>10</m:t>
                        </m:r>
                      </m:e>
                      <m:sup>
                        <m:r>
                          <a:rPr kumimoji="1" lang="en-US" altLang="zh-Hans" b="0" i="1" smtClean="0">
                            <a:latin typeface="Cambria Math" panose="02040503050406030204" pitchFamily="18" charset="0"/>
                          </a:rPr>
                          <m:t>9</m:t>
                        </m:r>
                      </m:sup>
                    </m:sSup>
                  </m:oMath>
                </a14:m>
                <a:r>
                  <a:rPr kumimoji="1" lang="zh-Hans" altLang="en-US" dirty="0"/>
                  <a:t> </a:t>
                </a:r>
                <a:r>
                  <a:rPr kumimoji="1" lang="zh-CN" altLang="en-US" dirty="0"/>
                  <a:t>之内的自然数中，约数个数最多的自然数仅有</a:t>
                </a:r>
                <a:r>
                  <a:rPr kumimoji="1" lang="zh-Hans" altLang="en-US" dirty="0"/>
                  <a:t> </a:t>
                </a:r>
                <a14:m>
                  <m:oMath xmlns:m="http://schemas.openxmlformats.org/officeDocument/2006/math">
                    <m:r>
                      <a:rPr kumimoji="1" lang="en-US" altLang="zh-CN" i="1" dirty="0" smtClean="0">
                        <a:latin typeface="Cambria Math" panose="02040503050406030204" pitchFamily="18" charset="0"/>
                      </a:rPr>
                      <m:t>1536</m:t>
                    </m:r>
                  </m:oMath>
                </a14:m>
                <a:r>
                  <a:rPr kumimoji="1" lang="zh-Hans" altLang="en-US" dirty="0"/>
                  <a:t> </a:t>
                </a:r>
                <a:r>
                  <a:rPr kumimoji="1" lang="zh-CN" altLang="en-US" dirty="0"/>
                  <a:t>个约数。</a:t>
                </a:r>
                <a:endParaRPr kumimoji="1" lang="en-US" altLang="zh-CN" dirty="0"/>
              </a:p>
              <a:p>
                <a:pPr>
                  <a:lnSpc>
                    <a:spcPct val="150000"/>
                  </a:lnSpc>
                  <a:spcBef>
                    <a:spcPts val="600"/>
                  </a:spcBef>
                </a:pPr>
                <a:r>
                  <a:rPr kumimoji="1" lang="zh-CN" altLang="en-US" dirty="0"/>
                  <a:t>为了尽量避免试除法中不能整除时耗费的时间，预处理出 </a:t>
                </a:r>
                <a14:m>
                  <m:oMath xmlns:m="http://schemas.openxmlformats.org/officeDocument/2006/math">
                    <m:r>
                      <a:rPr kumimoji="1" lang="en-US" altLang="zh-CN" i="1" dirty="0" smtClean="0">
                        <a:latin typeface="Cambria Math" panose="02040503050406030204" pitchFamily="18" charset="0"/>
                      </a:rPr>
                      <m:t>1</m:t>
                    </m:r>
                    <m:r>
                      <a:rPr kumimoji="1" lang="zh-CN" altLang="en-US" i="1" dirty="0">
                        <a:latin typeface="Cambria Math" panose="02040503050406030204" pitchFamily="18" charset="0"/>
                      </a:rPr>
                      <m:t>～</m:t>
                    </m:r>
                    <m:rad>
                      <m:radPr>
                        <m:degHide m:val="on"/>
                        <m:ctrlPr>
                          <a:rPr kumimoji="1" lang="en-US" altLang="zh-CN" i="1">
                            <a:latin typeface="Cambria Math" panose="02040503050406030204" pitchFamily="18" charset="0"/>
                          </a:rPr>
                        </m:ctrlPr>
                      </m:radPr>
                      <m:deg/>
                      <m:e>
                        <m:r>
                          <a:rPr kumimoji="1" lang="en-US" altLang="zh-Hans" b="0" i="1" smtClean="0">
                            <a:latin typeface="Cambria Math" panose="02040503050406030204" pitchFamily="18" charset="0"/>
                          </a:rPr>
                          <m:t>2</m:t>
                        </m:r>
                        <m:r>
                          <a:rPr kumimoji="1" lang="zh-Hans" altLang="en-US" b="0" i="1" smtClean="0">
                            <a:latin typeface="Cambria Math" panose="02040503050406030204" pitchFamily="18" charset="0"/>
                          </a:rPr>
                          <m:t>∗</m:t>
                        </m:r>
                        <m:sSup>
                          <m:sSupPr>
                            <m:ctrlPr>
                              <a:rPr kumimoji="1" lang="en-US" altLang="zh-CN" i="1">
                                <a:latin typeface="Cambria Math" panose="02040503050406030204" pitchFamily="18" charset="0"/>
                              </a:rPr>
                            </m:ctrlPr>
                          </m:sSupPr>
                          <m:e>
                            <m:r>
                              <a:rPr kumimoji="1" lang="en-US" altLang="zh-Hans" i="1">
                                <a:latin typeface="Cambria Math" panose="02040503050406030204" pitchFamily="18" charset="0"/>
                              </a:rPr>
                              <m:t>10</m:t>
                            </m:r>
                          </m:e>
                          <m:sup>
                            <m:r>
                              <a:rPr kumimoji="1" lang="en-US" altLang="zh-Hans" i="1">
                                <a:latin typeface="Cambria Math" panose="02040503050406030204" pitchFamily="18" charset="0"/>
                              </a:rPr>
                              <m:t>9</m:t>
                            </m:r>
                          </m:sup>
                        </m:sSup>
                      </m:e>
                    </m:rad>
                  </m:oMath>
                </a14:m>
                <a:r>
                  <a:rPr kumimoji="1" lang="zh-CN" altLang="en-US" dirty="0"/>
                  <a:t>之间的所有素数，用搜索算法组成 </a:t>
                </a:r>
                <a14:m>
                  <m:oMath xmlns:m="http://schemas.openxmlformats.org/officeDocument/2006/math">
                    <m:r>
                      <a:rPr kumimoji="1" lang="en-US" altLang="zh-Hans" i="1" dirty="0" smtClean="0">
                        <a:latin typeface="Cambria Math" panose="02040503050406030204" pitchFamily="18" charset="0"/>
                      </a:rPr>
                      <m:t>𝑑</m:t>
                    </m:r>
                  </m:oMath>
                </a14:m>
                <a:r>
                  <a:rPr kumimoji="1" lang="zh-Hans" altLang="en-US" dirty="0"/>
                  <a:t> </a:t>
                </a:r>
                <a:r>
                  <a:rPr kumimoji="1" lang="zh-CN" altLang="en-US" dirty="0"/>
                  <a:t>的所有约数，再判断题目的两个条件是否满足即可。</a:t>
                </a:r>
              </a:p>
            </p:txBody>
          </p:sp>
        </mc:Choice>
        <mc:Fallback>
          <p:sp>
            <p:nvSpPr>
              <p:cNvPr id="3" name="内容占位符 2">
                <a:extLst>
                  <a:ext uri="{FF2B5EF4-FFF2-40B4-BE49-F238E27FC236}">
                    <a16:creationId xmlns:a16="http://schemas.microsoft.com/office/drawing/2014/main" id="{182C4899-43A4-5746-91A1-075EF7C99E0B}"/>
                  </a:ext>
                </a:extLst>
              </p:cNvPr>
              <p:cNvSpPr>
                <a:spLocks noGrp="1" noRot="1" noChangeAspect="1" noMove="1" noResize="1" noEditPoints="1" noAdjustHandles="1" noChangeArrowheads="1" noChangeShapeType="1" noTextEdit="1"/>
              </p:cNvSpPr>
              <p:nvPr>
                <p:ph idx="1"/>
              </p:nvPr>
            </p:nvSpPr>
            <p:spPr>
              <a:xfrm>
                <a:off x="1104900" y="1600199"/>
                <a:ext cx="9982200" cy="5257801"/>
              </a:xfrm>
              <a:blipFill>
                <a:blip r:embed="rId2"/>
                <a:stretch>
                  <a:fillRect l="-1398" r="-4066"/>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20929C4A-70AB-FB4E-987C-39747E4C21C0}"/>
              </a:ext>
            </a:extLst>
          </p:cNvPr>
          <p:cNvSpPr>
            <a:spLocks noGrp="1"/>
          </p:cNvSpPr>
          <p:nvPr>
            <p:ph type="sldNum" sz="quarter" idx="12"/>
          </p:nvPr>
        </p:nvSpPr>
        <p:spPr/>
        <p:txBody>
          <a:bodyPr/>
          <a:lstStyle/>
          <a:p>
            <a:fld id="{0FF54DE5-C571-48E8-A5BC-B369434E2F44}" type="slidenum">
              <a:rPr lang="en-US" altLang="zh-CN" smtClean="0"/>
              <a:pPr/>
              <a:t>35</a:t>
            </a:fld>
            <a:endParaRPr lang="zh-CN" altLang="en-US" dirty="0"/>
          </a:p>
        </p:txBody>
      </p:sp>
    </p:spTree>
    <p:extLst>
      <p:ext uri="{BB962C8B-B14F-4D97-AF65-F5344CB8AC3E}">
        <p14:creationId xmlns:p14="http://schemas.microsoft.com/office/powerpoint/2010/main" val="371821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r>
              <a:rPr lang="zh-CN" altLang="en-US" dirty="0">
                <a:latin typeface="微软雅黑" panose="020B0503020204020204" pitchFamily="34" charset="-122"/>
                <a:ea typeface="微软雅黑" panose="020B0503020204020204" pitchFamily="34" charset="-122"/>
              </a:rPr>
              <a:t>最</a:t>
            </a:r>
            <a:r>
              <a:rPr lang="zh-Hans" altLang="en-US" dirty="0">
                <a:latin typeface="微软雅黑" panose="020B0503020204020204" pitchFamily="34" charset="-122"/>
                <a:ea typeface="微软雅黑" panose="020B0503020204020204" pitchFamily="34" charset="-122"/>
              </a:rPr>
              <a:t>小公倍数</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 name="内容占位符 13"/>
              <p:cNvSpPr>
                <a:spLocks noGrp="1"/>
              </p:cNvSpPr>
              <p:nvPr>
                <p:ph idx="1"/>
              </p:nvPr>
            </p:nvSpPr>
            <p:spPr>
              <a:xfrm>
                <a:off x="1104900" y="1600199"/>
                <a:ext cx="9982200" cy="3698632"/>
              </a:xfrm>
            </p:spPr>
            <p:txBody>
              <a:bodyPr rtlCol="0">
                <a:normAutofit/>
              </a:bodyPr>
              <a:lstStyle/>
              <a:p>
                <a:pPr>
                  <a:lnSpc>
                    <a:spcPct val="100000"/>
                  </a:lnSpc>
                </a:pPr>
                <a14:m>
                  <m:oMath xmlns:m="http://schemas.openxmlformats.org/officeDocument/2006/math">
                    <m:r>
                      <a:rPr lang="en-US" altLang="zh-CN" i="1" smtClean="0">
                        <a:latin typeface="Cambria Math" panose="02040503050406030204" pitchFamily="18" charset="0"/>
                      </a:rPr>
                      <m:t>𝑎</m:t>
                    </m:r>
                  </m:oMath>
                </a14:m>
                <a:r>
                  <a:rPr lang="zh-CN" altLang="en-US" dirty="0"/>
                  <a:t> </a:t>
                </a:r>
                <a:r>
                  <a:rPr lang="zh-CN" altLang="zh-CN" dirty="0"/>
                  <a:t>和</a:t>
                </a:r>
                <a:r>
                  <a:rPr lang="zh-CN" altLang="en-US" dirty="0"/>
                  <a:t> </a:t>
                </a:r>
                <a14:m>
                  <m:oMath xmlns:m="http://schemas.openxmlformats.org/officeDocument/2006/math">
                    <m:r>
                      <a:rPr lang="en-US" altLang="zh-CN" i="1">
                        <a:latin typeface="Cambria Math" panose="02040503050406030204" pitchFamily="18" charset="0"/>
                      </a:rPr>
                      <m:t>𝑏</m:t>
                    </m:r>
                  </m:oMath>
                </a14:m>
                <a:r>
                  <a:rPr lang="zh-CN" altLang="en-US" dirty="0"/>
                  <a:t> </a:t>
                </a:r>
                <a:r>
                  <a:rPr lang="zh-CN" altLang="zh-CN" dirty="0"/>
                  <a:t>最小的正公倍数为</a:t>
                </a:r>
                <a:r>
                  <a:rPr lang="zh-CN" altLang="en-US" dirty="0"/>
                  <a:t> </a:t>
                </a:r>
                <a14:m>
                  <m:oMath xmlns:m="http://schemas.openxmlformats.org/officeDocument/2006/math">
                    <m:r>
                      <a:rPr lang="en-US" altLang="zh-CN" i="1">
                        <a:latin typeface="Cambria Math" panose="02040503050406030204" pitchFamily="18" charset="0"/>
                      </a:rPr>
                      <m:t>𝑎</m:t>
                    </m:r>
                  </m:oMath>
                </a14:m>
                <a:r>
                  <a:rPr lang="zh-CN" altLang="en-US" dirty="0"/>
                  <a:t> </a:t>
                </a:r>
                <a:r>
                  <a:rPr lang="zh-CN" altLang="zh-CN" dirty="0"/>
                  <a:t>和</a:t>
                </a:r>
                <a:r>
                  <a:rPr lang="zh-CN" altLang="en-US" dirty="0"/>
                  <a:t> </a:t>
                </a:r>
                <a14:m>
                  <m:oMath xmlns:m="http://schemas.openxmlformats.org/officeDocument/2006/math">
                    <m:r>
                      <a:rPr lang="en-US" altLang="zh-CN" i="1">
                        <a:latin typeface="Cambria Math" panose="02040503050406030204" pitchFamily="18" charset="0"/>
                      </a:rPr>
                      <m:t>𝑏</m:t>
                    </m:r>
                  </m:oMath>
                </a14:m>
                <a:r>
                  <a:rPr lang="zh-CN" altLang="en-US" dirty="0"/>
                  <a:t> </a:t>
                </a:r>
                <a:r>
                  <a:rPr lang="zh-CN" altLang="zh-CN" dirty="0"/>
                  <a:t>的</a:t>
                </a:r>
                <a:r>
                  <a:rPr lang="zh-CN" altLang="zh-CN" b="1" dirty="0"/>
                  <a:t>最小公倍数</a:t>
                </a:r>
                <a:r>
                  <a:rPr lang="zh-CN" altLang="zh-CN" dirty="0"/>
                  <a:t>，记作</a:t>
                </a:r>
                <a14:m>
                  <m:oMath xmlns:m="http://schemas.openxmlformats.org/officeDocument/2006/math">
                    <m:r>
                      <a:rPr lang="zh-Hans" altLang="en-US" b="0" i="0" smtClean="0">
                        <a:latin typeface="Cambria Math" panose="02040503050406030204" pitchFamily="18" charset="0"/>
                      </a:rPr>
                      <m:t> </m:t>
                    </m:r>
                    <m:r>
                      <m:rPr>
                        <m:sty m:val="p"/>
                      </m:rPr>
                      <a:rPr lang="en-US" altLang="zh-CN">
                        <a:latin typeface="Cambria Math" panose="02040503050406030204" pitchFamily="18" charset="0"/>
                      </a:rPr>
                      <m:t>lcm</m:t>
                    </m:r>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e>
                    </m:d>
                  </m:oMath>
                </a14:m>
                <a:r>
                  <a:rPr lang="en-US" altLang="zh-CN" dirty="0"/>
                  <a:t> </a:t>
                </a:r>
                <a:r>
                  <a:rPr lang="zh-CN" altLang="en-US" dirty="0"/>
                  <a:t>。</a:t>
                </a:r>
                <a:endParaRPr lang="en-US" altLang="zh-CN" dirty="0"/>
              </a:p>
              <a:p>
                <a:pPr>
                  <a:lnSpc>
                    <a:spcPct val="100000"/>
                  </a:lnSpc>
                </a:pPr>
                <a:r>
                  <a:rPr lang="zh-CN" altLang="zh-CN" dirty="0"/>
                  <a:t>最小公倍数有如下性质：</a:t>
                </a:r>
                <a:endParaRPr lang="en-US" altLang="zh-CN" sz="2000" dirty="0">
                  <a:latin typeface="Cambria Math" panose="02040503050406030204" pitchFamily="18" charset="0"/>
                </a:endParaRPr>
              </a:p>
              <a:p>
                <a:pPr lvl="1">
                  <a:lnSpc>
                    <a:spcPct val="150000"/>
                  </a:lnSpc>
                </a:pPr>
                <a14:m>
                  <m:oMath xmlns:m="http://schemas.openxmlformats.org/officeDocument/2006/math">
                    <m:r>
                      <m:rPr>
                        <m:sty m:val="p"/>
                      </m:rPr>
                      <a:rPr lang="en-US" altLang="zh-CN" sz="2000">
                        <a:latin typeface="Cambria Math" panose="02040503050406030204" pitchFamily="18" charset="0"/>
                      </a:rPr>
                      <m:t>lcm</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e>
                    </m:d>
                    <m:r>
                      <a:rPr lang="en-US" altLang="zh-CN" sz="2000" i="1">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i="1">
                            <a:latin typeface="Cambria Math" panose="02040503050406030204" pitchFamily="18" charset="0"/>
                          </a:rPr>
                          <m:t>𝑎𝑏</m:t>
                        </m:r>
                      </m:num>
                      <m:den>
                        <m:r>
                          <m:rPr>
                            <m:sty m:val="p"/>
                          </m:rPr>
                          <a:rPr lang="en-US" altLang="zh-CN" sz="2000">
                            <a:latin typeface="Cambria Math" panose="02040503050406030204" pitchFamily="18" charset="0"/>
                          </a:rPr>
                          <m:t>gcd</m:t>
                        </m:r>
                        <m:r>
                          <a:rPr lang="en-US" altLang="zh-CN" sz="2000" i="1">
                            <a:latin typeface="Cambria Math" panose="02040503050406030204" pitchFamily="18" charset="0"/>
                          </a:rPr>
                          <m:t>(</m:t>
                        </m:r>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r>
                          <a:rPr lang="en-US" altLang="zh-CN" sz="2000" i="1">
                            <a:latin typeface="Cambria Math" panose="02040503050406030204" pitchFamily="18" charset="0"/>
                          </a:rPr>
                          <m:t>)</m:t>
                        </m:r>
                      </m:den>
                    </m:f>
                  </m:oMath>
                </a14:m>
                <a:endParaRPr lang="en-US" altLang="zh-CN" sz="2000" dirty="0"/>
              </a:p>
              <a:p>
                <a:pPr lvl="1">
                  <a:lnSpc>
                    <a:spcPct val="150000"/>
                  </a:lnSpc>
                </a:pPr>
                <a:r>
                  <a:rPr lang="zh-CN" altLang="zh-CN" sz="2000" dirty="0"/>
                  <a:t>若</a:t>
                </a:r>
                <a:r>
                  <a:rPr lang="zh-CN" altLang="en-US" sz="2000" dirty="0"/>
                  <a:t> </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𝑚</m:t>
                    </m:r>
                  </m:oMath>
                </a14:m>
                <a:r>
                  <a:rPr lang="zh-CN" altLang="en-US" sz="2000" dirty="0"/>
                  <a:t> </a:t>
                </a:r>
                <a:r>
                  <a:rPr lang="zh-CN" altLang="zh-CN" sz="2000" dirty="0"/>
                  <a:t>且</a:t>
                </a:r>
                <a:r>
                  <a:rPr lang="zh-CN" altLang="en-US" sz="2000" dirty="0"/>
                  <a:t> </a:t>
                </a:r>
                <a14:m>
                  <m:oMath xmlns:m="http://schemas.openxmlformats.org/officeDocument/2006/math">
                    <m:r>
                      <a:rPr lang="en-US" altLang="zh-CN" sz="2000" i="1">
                        <a:latin typeface="Cambria Math" panose="02040503050406030204" pitchFamily="18" charset="0"/>
                      </a:rPr>
                      <m:t>𝑏</m:t>
                    </m:r>
                    <m:r>
                      <a:rPr lang="en-US" altLang="zh-CN" sz="2000" i="1">
                        <a:latin typeface="Cambria Math" panose="02040503050406030204" pitchFamily="18" charset="0"/>
                      </a:rPr>
                      <m:t>|</m:t>
                    </m:r>
                    <m:r>
                      <a:rPr lang="en-US" altLang="zh-CN" sz="2000" i="1">
                        <a:latin typeface="Cambria Math" panose="02040503050406030204" pitchFamily="18" charset="0"/>
                      </a:rPr>
                      <m:t>𝑚</m:t>
                    </m:r>
                  </m:oMath>
                </a14:m>
                <a:r>
                  <a:rPr lang="zh-CN" altLang="zh-CN" sz="2000" dirty="0"/>
                  <a:t>，则</a:t>
                </a:r>
                <a:r>
                  <a:rPr lang="zh-CN" altLang="en-US" sz="2000" dirty="0"/>
                  <a:t> </a:t>
                </a:r>
                <a14:m>
                  <m:oMath xmlns:m="http://schemas.openxmlformats.org/officeDocument/2006/math">
                    <m:r>
                      <m:rPr>
                        <m:sty m:val="p"/>
                      </m:rPr>
                      <a:rPr lang="en-US" altLang="zh-CN" sz="2000">
                        <a:latin typeface="Cambria Math" panose="02040503050406030204" pitchFamily="18" charset="0"/>
                      </a:rPr>
                      <m:t>lcm</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e>
                    </m:d>
                    <m:r>
                      <a:rPr lang="en-US" altLang="zh-CN" sz="2000" i="1">
                        <a:latin typeface="Cambria Math" panose="02040503050406030204" pitchFamily="18" charset="0"/>
                      </a:rPr>
                      <m:t>|</m:t>
                    </m:r>
                    <m:r>
                      <a:rPr lang="en-US" altLang="zh-CN" sz="2000" i="1">
                        <a:latin typeface="Cambria Math" panose="02040503050406030204" pitchFamily="18" charset="0"/>
                      </a:rPr>
                      <m:t>𝑚</m:t>
                    </m:r>
                  </m:oMath>
                </a14:m>
                <a:endParaRPr lang="zh-CN" altLang="zh-CN" sz="2000" dirty="0"/>
              </a:p>
              <a:p>
                <a:pPr lvl="1">
                  <a:lnSpc>
                    <a:spcPct val="150000"/>
                  </a:lnSpc>
                </a:pPr>
                <a:r>
                  <a:rPr lang="zh-CN" altLang="en-US" sz="2000" dirty="0"/>
                  <a:t>若</a:t>
                </a:r>
                <a:r>
                  <a:rPr lang="zh-Hans" altLang="en-US" sz="2000" dirty="0"/>
                  <a:t> </a:t>
                </a:r>
                <a14:m>
                  <m:oMath xmlns:m="http://schemas.openxmlformats.org/officeDocument/2006/math">
                    <m:r>
                      <a:rPr lang="en-US" altLang="zh-CN" sz="2000" i="1">
                        <a:latin typeface="Cambria Math" panose="02040503050406030204" pitchFamily="18" charset="0"/>
                      </a:rPr>
                      <m:t>𝑚</m:t>
                    </m:r>
                    <m:r>
                      <a:rPr lang="en-US" altLang="zh-CN" sz="2000" i="1">
                        <a:latin typeface="Cambria Math" panose="02040503050406030204" pitchFamily="18" charset="0"/>
                      </a:rPr>
                      <m:t>,</m:t>
                    </m:r>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oMath>
                </a14:m>
                <a:r>
                  <a:rPr lang="zh-CN" altLang="en-US" sz="2000" dirty="0"/>
                  <a:t> </a:t>
                </a:r>
                <a:r>
                  <a:rPr lang="zh-CN" altLang="zh-CN" sz="2000" dirty="0"/>
                  <a:t>是正整数，则</a:t>
                </a:r>
                <a:r>
                  <a:rPr lang="zh-CN" altLang="en-US" sz="2000" dirty="0"/>
                  <a:t> </a:t>
                </a:r>
                <a14:m>
                  <m:oMath xmlns:m="http://schemas.openxmlformats.org/officeDocument/2006/math">
                    <m:r>
                      <m:rPr>
                        <m:sty m:val="p"/>
                      </m:rPr>
                      <a:rPr lang="en-US" altLang="zh-CN" sz="2000">
                        <a:latin typeface="Cambria Math" panose="02040503050406030204" pitchFamily="18" charset="0"/>
                      </a:rPr>
                      <m:t>lcm</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𝑚𝑎</m:t>
                        </m:r>
                        <m:r>
                          <a:rPr lang="en-US" altLang="zh-CN" sz="2000" i="1">
                            <a:latin typeface="Cambria Math" panose="02040503050406030204" pitchFamily="18" charset="0"/>
                          </a:rPr>
                          <m:t>,</m:t>
                        </m:r>
                        <m:r>
                          <a:rPr lang="en-US" altLang="zh-CN" sz="2000" i="1">
                            <a:latin typeface="Cambria Math" panose="02040503050406030204" pitchFamily="18" charset="0"/>
                          </a:rPr>
                          <m:t>𝑚𝑏</m:t>
                        </m:r>
                      </m:e>
                    </m:d>
                    <m:r>
                      <a:rPr lang="en-US" altLang="zh-CN" sz="2000" i="1">
                        <a:latin typeface="Cambria Math" panose="02040503050406030204" pitchFamily="18" charset="0"/>
                      </a:rPr>
                      <m:t>=</m:t>
                    </m:r>
                    <m:r>
                      <a:rPr lang="en-US" altLang="zh-CN" sz="2000" i="1">
                        <a:latin typeface="Cambria Math" panose="02040503050406030204" pitchFamily="18" charset="0"/>
                      </a:rPr>
                      <m:t>𝑚</m:t>
                    </m:r>
                    <m:r>
                      <a:rPr lang="zh-Hans" altLang="en-US" sz="2000" b="0" i="0" smtClean="0">
                        <a:latin typeface="Cambria Math" panose="02040503050406030204" pitchFamily="18" charset="0"/>
                      </a:rPr>
                      <m:t>∗</m:t>
                    </m:r>
                    <m:r>
                      <m:rPr>
                        <m:sty m:val="p"/>
                      </m:rPr>
                      <a:rPr lang="en-US" altLang="zh-CN" sz="2000" b="0" i="0" smtClean="0">
                        <a:latin typeface="Cambria Math" panose="02040503050406030204" pitchFamily="18" charset="0"/>
                      </a:rPr>
                      <m:t>lcm</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e>
                    </m:d>
                  </m:oMath>
                </a14:m>
                <a:r>
                  <a:rPr lang="zh-Hans" altLang="en-US" dirty="0"/>
                  <a:t> 。</a:t>
                </a:r>
                <a:endParaRPr lang="zh-CN" altLang="en-US" dirty="0"/>
              </a:p>
            </p:txBody>
          </p:sp>
        </mc:Choice>
        <mc:Fallback>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3698632"/>
              </a:xfrm>
              <a:blipFill>
                <a:blip r:embed="rId2"/>
                <a:stretch>
                  <a:fillRect l="-1398" t="-685"/>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CBD55F0E-E8BB-8645-8D95-8403B2563480}"/>
              </a:ext>
            </a:extLst>
          </p:cNvPr>
          <p:cNvSpPr>
            <a:spLocks noGrp="1"/>
          </p:cNvSpPr>
          <p:nvPr>
            <p:ph type="sldNum" sz="quarter" idx="12"/>
          </p:nvPr>
        </p:nvSpPr>
        <p:spPr/>
        <p:txBody>
          <a:bodyPr/>
          <a:lstStyle/>
          <a:p>
            <a:fld id="{0FF54DE5-C571-48E8-A5BC-B369434E2F44}" type="slidenum">
              <a:rPr lang="en-US" altLang="zh-CN" smtClean="0"/>
              <a:pPr/>
              <a:t>36</a:t>
            </a:fld>
            <a:endParaRPr lang="zh-CN" altLang="en-US" dirty="0"/>
          </a:p>
        </p:txBody>
      </p:sp>
    </p:spTree>
    <p:extLst>
      <p:ext uri="{BB962C8B-B14F-4D97-AF65-F5344CB8AC3E}">
        <p14:creationId xmlns:p14="http://schemas.microsoft.com/office/powerpoint/2010/main" val="132111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12"/>
              <p:cNvSpPr>
                <a:spLocks noGrp="1"/>
              </p:cNvSpPr>
              <p:nvPr>
                <p:ph type="title"/>
              </p:nvPr>
            </p:nvSpPr>
            <p:spPr/>
            <p:txBody>
              <a:bodyPr rtlCol="0"/>
              <a:lstStyle/>
              <a:p>
                <a:pPr>
                  <a:lnSpc>
                    <a:spcPct val="120000"/>
                  </a:lnSpc>
                </a:pPr>
                <a:r>
                  <a:rPr lang="zh-CN" altLang="en-US" dirty="0"/>
                  <a:t>计算</a:t>
                </a:r>
                <a14:m>
                  <m:oMath xmlns:m="http://schemas.openxmlformats.org/officeDocument/2006/math">
                    <m:r>
                      <a:rPr lang="en-US" altLang="zh-CN" i="1" dirty="0" smtClean="0">
                        <a:latin typeface="Cambria Math" panose="02040503050406030204" pitchFamily="18" charset="0"/>
                      </a:rPr>
                      <m:t>𝑛</m:t>
                    </m:r>
                  </m:oMath>
                </a14:m>
                <a:r>
                  <a:rPr lang="zh-CN" altLang="en-US" dirty="0"/>
                  <a:t>个整数</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𝑛</m:t>
                        </m:r>
                      </m:sub>
                    </m:sSub>
                  </m:oMath>
                </a14:m>
                <a:r>
                  <a:rPr lang="zh-CN" altLang="en-US" dirty="0"/>
                  <a:t>的最小公倍数</a:t>
                </a:r>
                <a:endParaRPr lang="en-US" altLang="zh-CN" dirty="0"/>
              </a:p>
            </p:txBody>
          </p:sp>
        </mc:Choice>
        <mc:Fallback xmlns="">
          <p:sp>
            <p:nvSpPr>
              <p:cNvPr id="13" name="标题 12"/>
              <p:cNvSpPr>
                <a:spLocks noGrp="1" noRot="1" noChangeAspect="1" noMove="1" noResize="1" noEditPoints="1" noAdjustHandles="1" noChangeArrowheads="1" noChangeShapeType="1" noTextEdit="1"/>
              </p:cNvSpPr>
              <p:nvPr>
                <p:ph type="title"/>
              </p:nvPr>
            </p:nvSpPr>
            <p:spPr>
              <a:blipFill rotWithShape="0">
                <a:blip r:embed="rId2"/>
                <a:stretch>
                  <a:fillRect l="-2137" b="-11732"/>
                </a:stretch>
              </a:blipFill>
            </p:spPr>
            <p:txBody>
              <a:bodyPr/>
              <a:lstStyle/>
              <a:p>
                <a:r>
                  <a:rPr lang="zh-CN" altLang="en-US">
                    <a:noFill/>
                  </a:rPr>
                  <a:t> </a:t>
                </a:r>
              </a:p>
            </p:txBody>
          </p:sp>
        </mc:Fallback>
      </mc:AlternateContent>
      <p:sp>
        <p:nvSpPr>
          <p:cNvPr id="14" name="内容占位符 13"/>
          <p:cNvSpPr>
            <a:spLocks noGrp="1"/>
          </p:cNvSpPr>
          <p:nvPr>
            <p:ph idx="1"/>
          </p:nvPr>
        </p:nvSpPr>
        <p:spPr>
          <a:xfrm>
            <a:off x="1104900" y="4392386"/>
            <a:ext cx="9982200" cy="2124635"/>
          </a:xfrm>
        </p:spPr>
        <p:txBody>
          <a:bodyPr rtlCol="0">
            <a:normAutofit/>
          </a:body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ans</a:t>
            </a:r>
            <a:r>
              <a:rPr lang="en-US" altLang="zh-CN" b="1" dirty="0">
                <a:solidFill>
                  <a:srgbClr val="000080"/>
                </a:solidFill>
                <a:highlight>
                  <a:srgbClr val="FFFFF3"/>
                </a:highlight>
                <a:latin typeface="Courier New" panose="02070309020205020404" pitchFamily="49" charset="0"/>
              </a:rPr>
              <a:t>=</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rPr>
              <a:t>for</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r>
              <a:rPr lang="en-US" altLang="zh-CN" dirty="0">
                <a:solidFill>
                  <a:srgbClr val="FF8000"/>
                </a:solidFill>
                <a:highlight>
                  <a:srgbClr val="FFFFF3"/>
                </a:highlight>
                <a:latin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&lt;=</a:t>
            </a:r>
            <a:r>
              <a:rPr lang="en-US" altLang="zh-CN" dirty="0" err="1">
                <a:solidFill>
                  <a:srgbClr val="000000"/>
                </a:solidFill>
                <a:highlight>
                  <a:srgbClr val="FFFFF3"/>
                </a:highlight>
                <a:latin typeface="Courier New" panose="02070309020205020404" pitchFamily="49" charset="0"/>
              </a:rPr>
              <a:t>n</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3</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scanf</a:t>
            </a:r>
            <a:r>
              <a:rPr lang="en-US" altLang="zh-CN" b="1" dirty="0">
                <a:solidFill>
                  <a:srgbClr val="000080"/>
                </a:solidFill>
                <a:highlight>
                  <a:srgbClr val="FFFFF3"/>
                </a:highlight>
                <a:latin typeface="Courier New" panose="02070309020205020404" pitchFamily="49" charset="0"/>
              </a:rPr>
              <a:t>(</a:t>
            </a:r>
            <a:r>
              <a:rPr lang="en-US" altLang="zh-CN" dirty="0">
                <a:solidFill>
                  <a:srgbClr val="808080"/>
                </a:solidFill>
                <a:highlight>
                  <a:srgbClr val="FFFFF3"/>
                </a:highlight>
                <a:latin typeface="Courier New" panose="02070309020205020404" pitchFamily="49" charset="0"/>
              </a:rPr>
              <a:t>"%</a:t>
            </a:r>
            <a:r>
              <a:rPr lang="en-US" altLang="zh-CN" dirty="0" err="1">
                <a:solidFill>
                  <a:srgbClr val="808080"/>
                </a:solidFill>
                <a:highlight>
                  <a:srgbClr val="FFFFF3"/>
                </a:highlight>
                <a:latin typeface="Courier New" panose="02070309020205020404" pitchFamily="49" charset="0"/>
              </a:rPr>
              <a:t>d"</a:t>
            </a:r>
            <a:r>
              <a:rPr lang="en-US" altLang="zh-CN" b="1" dirty="0" err="1">
                <a:solidFill>
                  <a:srgbClr val="000080"/>
                </a:solidFill>
                <a:highlight>
                  <a:srgbClr val="FFFFF3"/>
                </a:highlight>
                <a:latin typeface="Courier New" panose="02070309020205020404" pitchFamily="49" charset="0"/>
              </a:rPr>
              <a:t>,&amp;</a:t>
            </a:r>
            <a:r>
              <a:rPr lang="en-US" altLang="zh-CN" dirty="0" err="1">
                <a:solidFill>
                  <a:srgbClr val="000000"/>
                </a:solidFill>
                <a:highlight>
                  <a:srgbClr val="FFFFF3"/>
                </a:highlight>
                <a:latin typeface="Courier New" panose="02070309020205020404" pitchFamily="49" charset="0"/>
              </a:rPr>
              <a:t>a</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4</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ans</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ans</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gcd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ans</a:t>
            </a:r>
            <a:r>
              <a:rPr lang="en-US" altLang="zh-CN" b="1" dirty="0" err="1">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5</a:t>
            </a:r>
            <a:r>
              <a:rPr lang="zh-CN" altLang="en-US" dirty="0">
                <a:solidFill>
                  <a:srgbClr val="000000"/>
                </a:solidFill>
                <a:highlight>
                  <a:srgbClr val="FFFFF3"/>
                </a:highlight>
                <a:latin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rPr>
              <a:t>6</a:t>
            </a:r>
            <a:r>
              <a:rPr lang="en-US" altLang="zh-CN" dirty="0">
                <a:solidFill>
                  <a:srgbClr val="000000"/>
                </a:solidFill>
                <a:highlight>
                  <a:srgbClr val="FFFFF3"/>
                </a:highlight>
                <a:latin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rPr>
              <a:t>printf</a:t>
            </a:r>
            <a:r>
              <a:rPr lang="en-US" altLang="zh-CN" b="1" dirty="0">
                <a:solidFill>
                  <a:srgbClr val="000080"/>
                </a:solidFill>
                <a:highlight>
                  <a:srgbClr val="FFFFF3"/>
                </a:highlight>
                <a:latin typeface="Courier New" panose="02070309020205020404" pitchFamily="49" charset="0"/>
              </a:rPr>
              <a:t>(</a:t>
            </a:r>
            <a:r>
              <a:rPr lang="en-US" altLang="zh-CN" dirty="0">
                <a:solidFill>
                  <a:srgbClr val="808080"/>
                </a:solidFill>
                <a:highlight>
                  <a:srgbClr val="FFFFF3"/>
                </a:highlight>
                <a:latin typeface="Courier New" panose="02070309020205020404" pitchFamily="49" charset="0"/>
              </a:rPr>
              <a:t>"%d"</a:t>
            </a:r>
            <a:r>
              <a:rPr lang="en-US" altLang="zh-CN" b="1" dirty="0">
                <a:solidFill>
                  <a:srgbClr val="000080"/>
                </a:solidFill>
                <a:highlight>
                  <a:srgbClr val="FFFFF3"/>
                </a:highlight>
                <a:latin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rPr>
              <a:t>ans</a:t>
            </a:r>
            <a:r>
              <a:rPr lang="en-US" altLang="zh-CN" b="1" dirty="0">
                <a:solidFill>
                  <a:srgbClr val="000080"/>
                </a:solidFill>
                <a:highlight>
                  <a:srgbClr val="FFFFF3"/>
                </a:highlight>
                <a:latin typeface="Courier New" panose="02070309020205020404" pitchFamily="49" charset="0"/>
              </a:rPr>
              <a:t>);</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内容占位符 13"/>
              <p:cNvSpPr txBox="1">
                <a:spLocks/>
              </p:cNvSpPr>
              <p:nvPr/>
            </p:nvSpPr>
            <p:spPr>
              <a:xfrm>
                <a:off x="1104900" y="1600199"/>
                <a:ext cx="9982200" cy="2792187"/>
              </a:xfrm>
              <a:prstGeom prst="rect">
                <a:avLst/>
              </a:prstGeom>
            </p:spPr>
            <p:txBody>
              <a:bodyPr vert="horz" lIns="0" tIns="45720" rIns="0" bIns="45720" rtlCol="0">
                <a:no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a:lnSpc>
                    <a:spcPct val="150000"/>
                  </a:lnSpc>
                  <a:spcBef>
                    <a:spcPts val="600"/>
                  </a:spcBef>
                </a:pPr>
                <a:r>
                  <a:rPr lang="zh-CN" altLang="zh-CN" noProof="1"/>
                  <a:t>两个数</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oMath>
                </a14:m>
                <a:r>
                  <a:rPr lang="en-US" altLang="zh-CN" noProof="1"/>
                  <a:t> </a:t>
                </a:r>
                <a:r>
                  <a:rPr lang="zh-CN" altLang="zh-CN" noProof="1"/>
                  <a:t>的最小公倍数</a:t>
                </a:r>
                <a:endParaRPr lang="en-US" altLang="zh-CN" noProof="1"/>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m:rPr>
                          <m:sty m:val="p"/>
                        </m:rPr>
                        <a:rPr lang="zh-CN" altLang="en-US" i="0" noProof="1" smtClean="0">
                          <a:latin typeface="Cambria Math" panose="02040503050406030204" pitchFamily="18" charset="0"/>
                          <a:ea typeface="新宋体" panose="02010609030101010101" charset="-122"/>
                        </a:rPr>
                        <m:t>lcm</m:t>
                      </m:r>
                      <m:r>
                        <a:rPr lang="zh-CN" altLang="en-US" i="1" noProof="1" smtClean="0">
                          <a:latin typeface="Cambria Math" panose="02040503050406030204" pitchFamily="18" charset="0"/>
                          <a:ea typeface="新宋体" panose="02010609030101010101" charset="-122"/>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zh-CN" altLang="en-US" i="1" noProof="1" smtClean="0">
                          <a:latin typeface="Cambria Math" panose="02040503050406030204" pitchFamily="18" charset="0"/>
                          <a:ea typeface="新宋体" panose="02010609030101010101" charset="-122"/>
                        </a:rPr>
                        <m:t>)=</m:t>
                      </m:r>
                      <m:sSub>
                        <m:sSubPr>
                          <m:ctrlPr>
                            <a:rPr lang="en-US" altLang="zh-CN" i="1" dirty="0" smtClean="0">
                              <a:latin typeface="Cambria Math" panose="02040503050406030204" pitchFamily="18" charset="0"/>
                            </a:rPr>
                          </m:ctrlPr>
                        </m:sSub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zh-CN" altLang="en-US" i="1" noProof="1" smtClean="0">
                          <a:latin typeface="Cambria Math" panose="02040503050406030204" pitchFamily="18" charset="0"/>
                          <a:ea typeface="新宋体" panose="02010609030101010101" charset="-122"/>
                        </a:rPr>
                        <m:t>/</m:t>
                      </m:r>
                      <m:r>
                        <m:rPr>
                          <m:sty m:val="p"/>
                        </m:rPr>
                        <a:rPr lang="zh-CN" altLang="en-US" i="1" noProof="1" smtClean="0">
                          <a:latin typeface="Cambria Math" panose="02040503050406030204" pitchFamily="18" charset="0"/>
                          <a:ea typeface="新宋体" panose="02010609030101010101" charset="-122"/>
                        </a:rPr>
                        <m:t>gcd</m:t>
                      </m:r>
                      <m:r>
                        <a:rPr lang="zh-CN" altLang="en-US" i="1" noProof="1" smtClean="0">
                          <a:latin typeface="Cambria Math" panose="02040503050406030204" pitchFamily="18" charset="0"/>
                          <a:ea typeface="新宋体" panose="02010609030101010101" charset="-122"/>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zh-CN" altLang="en-US" i="1" noProof="1" smtClean="0">
                          <a:latin typeface="Cambria Math" panose="02040503050406030204" pitchFamily="18" charset="0"/>
                          <a:ea typeface="新宋体" panose="02010609030101010101" charset="-122"/>
                        </a:rPr>
                        <m:t>)</m:t>
                      </m:r>
                    </m:oMath>
                  </m:oMathPara>
                </a14:m>
                <a:endParaRPr lang="zh-CN" altLang="en-US" noProof="1">
                  <a:latin typeface="Times New Roman" panose="02020603050405020304" charset="0"/>
                  <a:ea typeface="新宋体" panose="02010609030101010101" charset="-122"/>
                </a:endParaRPr>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m:rPr>
                          <m:sty m:val="p"/>
                        </m:rPr>
                        <a:rPr lang="zh-CN" altLang="en-US" noProof="1">
                          <a:latin typeface="Cambria Math" panose="02040503050406030204" pitchFamily="18" charset="0"/>
                          <a:ea typeface="新宋体" panose="02010609030101010101" charset="-122"/>
                        </a:rPr>
                        <m:t>lcm</m:t>
                      </m:r>
                      <m:r>
                        <a:rPr lang="zh-CN" altLang="en-US" i="1" noProof="1">
                          <a:latin typeface="Cambria Math" panose="02040503050406030204" pitchFamily="18" charset="0"/>
                          <a:ea typeface="新宋体" panose="02010609030101010101" charset="-122"/>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b="0" i="1" dirty="0" smtClean="0">
                              <a:latin typeface="Cambria Math" panose="02040503050406030204" pitchFamily="18" charset="0"/>
                            </a:rPr>
                            <m:t>3</m:t>
                          </m:r>
                        </m:sub>
                      </m:sSub>
                      <m:r>
                        <a:rPr lang="zh-CN" altLang="en-US" i="1" noProof="1">
                          <a:latin typeface="Cambria Math" panose="02040503050406030204" pitchFamily="18" charset="0"/>
                          <a:ea typeface="新宋体" panose="02010609030101010101" charset="-122"/>
                        </a:rPr>
                        <m:t>)=</m:t>
                      </m:r>
                      <m:r>
                        <m:rPr>
                          <m:sty m:val="p"/>
                        </m:rPr>
                        <a:rPr lang="en-US" altLang="zh-CN" b="0" i="0" noProof="1" smtClean="0">
                          <a:latin typeface="Cambria Math" panose="02040503050406030204" pitchFamily="18" charset="0"/>
                          <a:ea typeface="新宋体" panose="02010609030101010101" charset="-122"/>
                        </a:rPr>
                        <m:t>lc</m:t>
                      </m:r>
                      <m:r>
                        <m:rPr>
                          <m:sty m:val="p"/>
                        </m:rPr>
                        <a:rPr lang="en-US" altLang="zh-CN" i="1" noProof="1">
                          <a:latin typeface="Cambria Math" panose="02040503050406030204" pitchFamily="18" charset="0"/>
                          <a:ea typeface="新宋体" panose="02010609030101010101" charset="-122"/>
                        </a:rPr>
                        <m:t>m</m:t>
                      </m:r>
                      <m:r>
                        <a:rPr lang="en-US" altLang="zh-CN" b="0" i="1" noProof="1" smtClean="0">
                          <a:latin typeface="Cambria Math" panose="02040503050406030204" pitchFamily="18" charset="0"/>
                          <a:ea typeface="新宋体" panose="02010609030101010101" charset="-122"/>
                        </a:rPr>
                        <m:t>(</m:t>
                      </m:r>
                      <m:r>
                        <m:rPr>
                          <m:sty m:val="p"/>
                        </m:rPr>
                        <a:rPr lang="zh-CN" altLang="en-US" noProof="1">
                          <a:latin typeface="Cambria Math" panose="02040503050406030204" pitchFamily="18" charset="0"/>
                          <a:ea typeface="新宋体" panose="02010609030101010101" charset="-122"/>
                        </a:rPr>
                        <m:t>lcm</m:t>
                      </m:r>
                      <m:r>
                        <a:rPr lang="zh-CN" altLang="en-US" i="1" noProof="1">
                          <a:latin typeface="Cambria Math" panose="02040503050406030204" pitchFamily="18" charset="0"/>
                          <a:ea typeface="新宋体" panose="02010609030101010101" charset="-122"/>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r>
                        <a:rPr lang="zh-CN" altLang="en-US" i="1" noProof="1">
                          <a:latin typeface="Cambria Math" panose="02040503050406030204" pitchFamily="18" charset="0"/>
                          <a:ea typeface="新宋体" panose="02010609030101010101" charset="-122"/>
                        </a:rPr>
                        <m:t>)</m:t>
                      </m:r>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b="0" i="1" dirty="0" smtClean="0">
                              <a:latin typeface="Cambria Math" panose="02040503050406030204" pitchFamily="18" charset="0"/>
                            </a:rPr>
                            <m:t>3</m:t>
                          </m:r>
                        </m:sub>
                      </m:sSub>
                      <m:r>
                        <a:rPr lang="zh-CN" altLang="en-US" i="1" noProof="1">
                          <a:latin typeface="Cambria Math" panose="02040503050406030204" pitchFamily="18" charset="0"/>
                          <a:ea typeface="新宋体" panose="02010609030101010101" charset="-122"/>
                        </a:rPr>
                        <m:t>)</m:t>
                      </m:r>
                    </m:oMath>
                  </m:oMathPara>
                </a14:m>
                <a:endParaRPr lang="zh-CN" altLang="en-US" noProof="1">
                  <a:latin typeface="Times New Roman" panose="02020603050405020304" charset="0"/>
                  <a:ea typeface="新宋体" panose="02010609030101010101" charset="-122"/>
                </a:endParaRPr>
              </a:p>
              <a:p>
                <a:pPr>
                  <a:lnSpc>
                    <a:spcPct val="150000"/>
                  </a:lnSpc>
                  <a:spcBef>
                    <a:spcPts val="600"/>
                  </a:spcBef>
                </a:pPr>
                <a:r>
                  <a:rPr lang="zh-CN" altLang="zh-CN" noProof="1"/>
                  <a:t>以此类推，可以先求</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2</m:t>
                        </m:r>
                      </m:sub>
                    </m:sSub>
                  </m:oMath>
                </a14:m>
                <a:r>
                  <a:rPr lang="en-US" altLang="zh-CN" noProof="1"/>
                  <a:t> </a:t>
                </a:r>
                <a:r>
                  <a:rPr lang="zh-CN" altLang="zh-CN" noProof="1"/>
                  <a:t>的最小公倍数</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 </m:t>
                    </m:r>
                  </m:oMath>
                </a14:m>
                <a:r>
                  <a:rPr lang="zh-CN" altLang="zh-CN" noProof="1"/>
                  <a:t>，再求</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𝑏</m:t>
                        </m:r>
                      </m:e>
                      <m:sub>
                        <m:r>
                          <a:rPr lang="en-US" altLang="zh-CN" i="1" dirty="0">
                            <a:latin typeface="Cambria Math" panose="02040503050406030204" pitchFamily="18" charset="0"/>
                          </a:rPr>
                          <m:t>1</m:t>
                        </m:r>
                      </m:sub>
                    </m:sSub>
                  </m:oMath>
                </a14:m>
                <a:r>
                  <a:rPr lang="en-US" altLang="zh-CN" noProof="1">
                    <a:latin typeface="Times New Roman" panose="02020603050405020304" charset="0"/>
                    <a:ea typeface="新宋体" panose="02010609030101010101" charset="-122"/>
                  </a:rPr>
                  <a:t> </a:t>
                </a:r>
                <a:r>
                  <a:rPr lang="zh-CN" altLang="en-US" noProof="1">
                    <a:latin typeface="Times New Roman" panose="02020603050405020304" charset="0"/>
                    <a:ea typeface="新宋体" panose="02010609030101010101" charset="-122"/>
                  </a:rPr>
                  <a:t>与</a:t>
                </a:r>
                <a:r>
                  <a:rPr lang="en-US" altLang="zh-CN" noProof="1">
                    <a:latin typeface="Times New Roman" panose="02020603050405020304" charset="0"/>
                    <a:ea typeface="新宋体" panose="02010609030101010101" charset="-122"/>
                  </a:rPr>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3</m:t>
                        </m:r>
                      </m:sub>
                    </m:sSub>
                  </m:oMath>
                </a14:m>
                <a:r>
                  <a:rPr lang="en-US" altLang="zh-CN" noProof="1"/>
                  <a:t> </a:t>
                </a:r>
                <a:r>
                  <a:rPr lang="zh-CN" altLang="zh-CN" noProof="1"/>
                  <a:t>的最小公倍数</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𝑏</m:t>
                        </m:r>
                      </m:e>
                      <m:sub>
                        <m:r>
                          <a:rPr lang="en-US" altLang="zh-CN" i="1" dirty="0">
                            <a:latin typeface="Cambria Math" panose="02040503050406030204" pitchFamily="18" charset="0"/>
                          </a:rPr>
                          <m:t>2</m:t>
                        </m:r>
                      </m:sub>
                    </m:sSub>
                    <m:r>
                      <a:rPr lang="zh-CN" altLang="en-US" i="1" dirty="0">
                        <a:latin typeface="Cambria Math" panose="02040503050406030204" pitchFamily="18" charset="0"/>
                      </a:rPr>
                      <m:t>，</m:t>
                    </m:r>
                  </m:oMath>
                </a14:m>
                <a:r>
                  <a:rPr lang="zh-CN" altLang="zh-CN" noProof="1"/>
                  <a:t>再求</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𝑏</m:t>
                        </m:r>
                      </m:e>
                      <m:sub>
                        <m:r>
                          <a:rPr lang="en-US" altLang="zh-CN" i="1" dirty="0">
                            <a:latin typeface="Cambria Math" panose="02040503050406030204" pitchFamily="18" charset="0"/>
                          </a:rPr>
                          <m:t>2</m:t>
                        </m:r>
                      </m:sub>
                    </m:sSub>
                  </m:oMath>
                </a14:m>
                <a:r>
                  <a:rPr lang="zh-CN" altLang="en-US" noProof="1">
                    <a:latin typeface="Times New Roman" panose="02020603050405020304" charset="0"/>
                    <a:ea typeface="新宋体" panose="02010609030101010101" charset="-122"/>
                  </a:rPr>
                  <a:t>与</a:t>
                </a:r>
                <a:r>
                  <a:rPr lang="en-US" altLang="zh-CN" noProof="1">
                    <a:latin typeface="Times New Roman" panose="02020603050405020304" charset="0"/>
                    <a:ea typeface="新宋体" panose="02010609030101010101" charset="-122"/>
                  </a:rPr>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4</m:t>
                        </m:r>
                      </m:sub>
                    </m:sSub>
                  </m:oMath>
                </a14:m>
                <a:r>
                  <a:rPr lang="en-US" altLang="zh-CN" noProof="1"/>
                  <a:t> </a:t>
                </a:r>
                <a:r>
                  <a:rPr lang="zh-CN" altLang="zh-CN" noProof="1"/>
                  <a:t>的最小公倍数</a:t>
                </a:r>
                <a:r>
                  <a:rPr lang="en-US" altLang="zh-CN" noProof="1"/>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𝑏</m:t>
                        </m:r>
                      </m:e>
                      <m:sub>
                        <m:r>
                          <a:rPr lang="en-US" altLang="zh-CN" i="1" dirty="0">
                            <a:latin typeface="Cambria Math" panose="02040503050406030204" pitchFamily="18" charset="0"/>
                          </a:rPr>
                          <m:t>3</m:t>
                        </m:r>
                      </m:sub>
                    </m:sSub>
                  </m:oMath>
                </a14:m>
                <a:r>
                  <a:rPr lang="zh-CN" altLang="en-US" noProof="1">
                    <a:latin typeface="Times New Roman" panose="02020603050405020304" charset="0"/>
                    <a:ea typeface="新宋体" panose="02010609030101010101" charset="-122"/>
                  </a:rPr>
                  <a:t>.</a:t>
                </a:r>
                <a:r>
                  <a:rPr lang="en-US" altLang="zh-CN" noProof="1"/>
                  <a:t>..     </a:t>
                </a:r>
                <a:endParaRPr lang="zh-CN" altLang="en-US" noProof="1">
                  <a:latin typeface="Times New Roman" panose="02020603050405020304" charset="0"/>
                  <a:ea typeface="新宋体" panose="02010609030101010101" charset="-122"/>
                </a:endParaRPr>
              </a:p>
            </p:txBody>
          </p:sp>
        </mc:Choice>
        <mc:Fallback xmlns="">
          <p:sp>
            <p:nvSpPr>
              <p:cNvPr id="5" name="内容占位符 13"/>
              <p:cNvSpPr txBox="1">
                <a:spLocks noRot="1" noChangeAspect="1" noMove="1" noResize="1" noEditPoints="1" noAdjustHandles="1" noChangeArrowheads="1" noChangeShapeType="1" noTextEdit="1"/>
              </p:cNvSpPr>
              <p:nvPr/>
            </p:nvSpPr>
            <p:spPr>
              <a:xfrm>
                <a:off x="1104900" y="1600199"/>
                <a:ext cx="9982200" cy="2792187"/>
              </a:xfrm>
              <a:prstGeom prst="rect">
                <a:avLst/>
              </a:prstGeom>
              <a:blipFill>
                <a:blip r:embed="rId3"/>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204887AD-222A-7F4F-8D81-54ACA90328DA}"/>
              </a:ext>
            </a:extLst>
          </p:cNvPr>
          <p:cNvSpPr>
            <a:spLocks noGrp="1"/>
          </p:cNvSpPr>
          <p:nvPr>
            <p:ph type="sldNum" sz="quarter" idx="12"/>
          </p:nvPr>
        </p:nvSpPr>
        <p:spPr/>
        <p:txBody>
          <a:bodyPr/>
          <a:lstStyle/>
          <a:p>
            <a:fld id="{0FF54DE5-C571-48E8-A5BC-B369434E2F44}" type="slidenum">
              <a:rPr lang="en-US" altLang="zh-CN" smtClean="0"/>
              <a:pPr/>
              <a:t>37</a:t>
            </a:fld>
            <a:endParaRPr lang="zh-CN" altLang="en-US" dirty="0"/>
          </a:p>
        </p:txBody>
      </p:sp>
    </p:spTree>
    <p:extLst>
      <p:ext uri="{BB962C8B-B14F-4D97-AF65-F5344CB8AC3E}">
        <p14:creationId xmlns:p14="http://schemas.microsoft.com/office/powerpoint/2010/main" val="4034253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xEl>
                                              <p:pRg st="2" end="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容斥原理</a:t>
            </a:r>
            <a:endParaRPr lang="en-US" dirty="0"/>
          </a:p>
        </p:txBody>
      </p:sp>
      <p:sp>
        <p:nvSpPr>
          <p:cNvPr id="3" name="幻灯片编号占位符 2">
            <a:extLst>
              <a:ext uri="{FF2B5EF4-FFF2-40B4-BE49-F238E27FC236}">
                <a16:creationId xmlns:a16="http://schemas.microsoft.com/office/drawing/2014/main" id="{B2F998DC-FC5A-4C45-B921-1640C3D8F7CB}"/>
              </a:ext>
            </a:extLst>
          </p:cNvPr>
          <p:cNvSpPr>
            <a:spLocks noGrp="1"/>
          </p:cNvSpPr>
          <p:nvPr>
            <p:ph type="sldNum" sz="quarter" idx="12"/>
          </p:nvPr>
        </p:nvSpPr>
        <p:spPr/>
        <p:txBody>
          <a:bodyPr/>
          <a:lstStyle/>
          <a:p>
            <a:fld id="{0FF54DE5-C571-48E8-A5BC-B369434E2F44}" type="slidenum">
              <a:rPr lang="en-US" altLang="zh-CN" smtClean="0"/>
              <a:pPr/>
              <a:t>38</a:t>
            </a:fld>
            <a:endParaRPr lang="zh-CN" altLang="en-US" dirty="0"/>
          </a:p>
        </p:txBody>
      </p:sp>
    </p:spTree>
    <p:extLst>
      <p:ext uri="{BB962C8B-B14F-4D97-AF65-F5344CB8AC3E}">
        <p14:creationId xmlns:p14="http://schemas.microsoft.com/office/powerpoint/2010/main" val="2044509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199"/>
                <a:ext cx="9982200" cy="5136397"/>
              </a:xfrm>
            </p:spPr>
            <p:txBody>
              <a:bodyPr>
                <a:normAutofit/>
              </a:bodyPr>
              <a:lstStyle/>
              <a:p>
                <a:pPr>
                  <a:lnSpc>
                    <a:spcPct val="150000"/>
                  </a:lnSpc>
                  <a:spcBef>
                    <a:spcPts val="0"/>
                  </a:spcBef>
                </a:pPr>
                <a:r>
                  <a:rPr lang="zh-CN" altLang="zh-CN" dirty="0"/>
                  <a:t>现在有</a:t>
                </a:r>
                <a:r>
                  <a:rPr lang="zh-CN" altLang="en-US" dirty="0"/>
                  <a:t> </a:t>
                </a:r>
                <a14:m>
                  <m:oMath xmlns:m="http://schemas.openxmlformats.org/officeDocument/2006/math">
                    <m:r>
                      <a:rPr lang="en-US" altLang="zh-CN" i="1">
                        <a:latin typeface="Cambria Math" panose="02040503050406030204" pitchFamily="18" charset="0"/>
                      </a:rPr>
                      <m:t>𝑆</m:t>
                    </m:r>
                    <m:r>
                      <a:rPr lang="en-US" altLang="zh-CN">
                        <a:latin typeface="Cambria Math" panose="02040503050406030204" pitchFamily="18" charset="0"/>
                      </a:rPr>
                      <m:t>=</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1,2,3,…,600</m:t>
                        </m:r>
                      </m:e>
                    </m:d>
                  </m:oMath>
                </a14:m>
                <a:r>
                  <a:rPr lang="zh-CN" altLang="zh-CN" dirty="0"/>
                  <a:t>，求其</a:t>
                </a:r>
                <a:r>
                  <a:rPr lang="zh-Hans" altLang="en-US" dirty="0"/>
                  <a:t>中可</a:t>
                </a:r>
                <a:r>
                  <a:rPr lang="zh-CN" altLang="zh-CN" dirty="0"/>
                  <a:t>被</a:t>
                </a:r>
                <a:r>
                  <a:rPr lang="zh-CN" altLang="en-US" dirty="0"/>
                  <a:t> </a:t>
                </a:r>
                <a14:m>
                  <m:oMath xmlns:m="http://schemas.openxmlformats.org/officeDocument/2006/math">
                    <m:r>
                      <a:rPr lang="en-US" altLang="zh-CN">
                        <a:latin typeface="Cambria Math" panose="02040503050406030204" pitchFamily="18" charset="0"/>
                      </a:rPr>
                      <m:t>2,3,5</m:t>
                    </m:r>
                  </m:oMath>
                </a14:m>
                <a:r>
                  <a:rPr lang="zh-CN" altLang="en-US" dirty="0"/>
                  <a:t> </a:t>
                </a:r>
                <a:r>
                  <a:rPr lang="zh-CN" altLang="zh-CN" dirty="0"/>
                  <a:t>整除的数的数目</a:t>
                </a:r>
                <a:r>
                  <a:rPr lang="zh-CN" altLang="en-US" dirty="0"/>
                  <a:t>。</a:t>
                </a:r>
                <a:endParaRPr lang="en-US" altLang="zh-CN" dirty="0"/>
              </a:p>
              <a:p>
                <a:pPr>
                  <a:lnSpc>
                    <a:spcPct val="150000"/>
                  </a:lnSpc>
                  <a:spcBef>
                    <a:spcPts val="0"/>
                  </a:spcBef>
                </a:pPr>
                <a:r>
                  <a:rPr lang="zh-CN" altLang="zh-CN" dirty="0"/>
                  <a:t>令</a:t>
                </a:r>
                <a:r>
                  <a:rPr lang="zh-CN" altLang="en-US" dirty="0"/>
                  <a:t>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𝐶</m:t>
                    </m:r>
                  </m:oMath>
                </a14:m>
                <a:r>
                  <a:rPr lang="zh-CN" altLang="en-US" dirty="0"/>
                  <a:t> </a:t>
                </a:r>
                <a:r>
                  <a:rPr lang="zh-CN" altLang="zh-CN" dirty="0"/>
                  <a:t>分别表示</a:t>
                </a:r>
                <a:r>
                  <a:rPr lang="zh-CN" altLang="en-US" dirty="0"/>
                  <a:t> </a:t>
                </a:r>
                <a14:m>
                  <m:oMath xmlns:m="http://schemas.openxmlformats.org/officeDocument/2006/math">
                    <m:r>
                      <a:rPr lang="en-US" altLang="zh-CN" i="1">
                        <a:latin typeface="Cambria Math" panose="02040503050406030204" pitchFamily="18" charset="0"/>
                      </a:rPr>
                      <m:t>𝑆</m:t>
                    </m:r>
                  </m:oMath>
                </a14:m>
                <a:r>
                  <a:rPr lang="zh-CN" altLang="en-US" dirty="0"/>
                  <a:t> </a:t>
                </a:r>
                <a:r>
                  <a:rPr lang="zh-CN" altLang="zh-CN" dirty="0"/>
                  <a:t>中被</a:t>
                </a:r>
                <a:r>
                  <a:rPr lang="zh-CN" altLang="en-US" dirty="0"/>
                  <a:t> </a:t>
                </a:r>
                <a14:m>
                  <m:oMath xmlns:m="http://schemas.openxmlformats.org/officeDocument/2006/math">
                    <m:r>
                      <a:rPr lang="en-US" altLang="zh-CN">
                        <a:latin typeface="Cambria Math" panose="02040503050406030204" pitchFamily="18" charset="0"/>
                      </a:rPr>
                      <m:t>2,3,5</m:t>
                    </m:r>
                  </m:oMath>
                </a14:m>
                <a:r>
                  <a:rPr lang="zh-CN" altLang="en-US" dirty="0"/>
                  <a:t> </a:t>
                </a:r>
                <a:r>
                  <a:rPr lang="zh-CN" altLang="zh-CN" dirty="0"/>
                  <a:t>整除的数的集合。可得：</a:t>
                </a: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𝐴</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2</m:t>
                              </m:r>
                            </m:den>
                          </m:f>
                        </m:e>
                      </m:d>
                      <m:r>
                        <a:rPr lang="en-US" altLang="zh-CN" i="1">
                          <a:latin typeface="Cambria Math" panose="02040503050406030204" pitchFamily="18" charset="0"/>
                        </a:rPr>
                        <m:t>=300,</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𝐵</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3</m:t>
                              </m:r>
                            </m:den>
                          </m:f>
                        </m:e>
                      </m:d>
                      <m:r>
                        <a:rPr lang="en-US" altLang="zh-CN" i="1">
                          <a:latin typeface="Cambria Math" panose="02040503050406030204" pitchFamily="18" charset="0"/>
                        </a:rPr>
                        <m:t>=200,</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𝐶</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5</m:t>
                              </m:r>
                            </m:den>
                          </m:f>
                        </m:e>
                      </m:d>
                      <m:r>
                        <a:rPr lang="en-US" altLang="zh-CN" i="1">
                          <a:latin typeface="Cambria Math" panose="02040503050406030204" pitchFamily="18" charset="0"/>
                        </a:rPr>
                        <m:t>=120</m:t>
                      </m:r>
                    </m:oMath>
                  </m:oMathPara>
                </a14:m>
                <a:endParaRPr lang="zh-CN" altLang="zh-CN" dirty="0"/>
              </a:p>
              <a:p>
                <a:pPr>
                  <a:lnSpc>
                    <a:spcPct val="150000"/>
                  </a:lnSpc>
                  <a:spcBef>
                    <a:spcPts val="0"/>
                  </a:spcBef>
                </a:pPr>
                <a:r>
                  <a:rPr lang="zh-CN" altLang="zh-CN" dirty="0"/>
                  <a:t>显然</a:t>
                </a:r>
                <a:r>
                  <a:rPr lang="zh-CN" altLang="en-US" dirty="0"/>
                  <a:t>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oMath>
                </a14:m>
                <a:r>
                  <a:rPr lang="zh-CN" altLang="en-US" dirty="0"/>
                  <a:t> </a:t>
                </a:r>
                <a:r>
                  <a:rPr lang="zh-CN" altLang="zh-CN" dirty="0"/>
                  <a:t>集合中一定有相同的元素，比如</a:t>
                </a:r>
                <a:r>
                  <a:rPr lang="zh-CN" altLang="en-US" dirty="0"/>
                  <a:t> </a:t>
                </a:r>
                <a14:m>
                  <m:oMath xmlns:m="http://schemas.openxmlformats.org/officeDocument/2006/math">
                    <m:r>
                      <a:rPr lang="en-US" altLang="zh-CN">
                        <a:latin typeface="Cambria Math" panose="02040503050406030204" pitchFamily="18" charset="0"/>
                      </a:rPr>
                      <m:t>6,12…</m:t>
                    </m:r>
                  </m:oMath>
                </a14:m>
                <a:r>
                  <a:rPr lang="zh-CN" altLang="zh-CN" dirty="0"/>
                  <a:t>，</a:t>
                </a:r>
                <a:r>
                  <a:rPr lang="zh-CN" altLang="en-US" dirty="0"/>
                  <a:t>可</a:t>
                </a:r>
                <a:r>
                  <a:rPr lang="zh-CN" altLang="zh-CN" dirty="0"/>
                  <a:t>继续求</a:t>
                </a:r>
                <a:r>
                  <a:rPr lang="zh-CN" altLang="en-US" dirty="0"/>
                  <a:t>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𝐶</m:t>
                    </m:r>
                    <m:r>
                      <a:rPr lang="zh-Hans" altLang="en-US" b="0" i="1" smtClean="0">
                        <a:latin typeface="Cambria Math" panose="02040503050406030204" pitchFamily="18" charset="0"/>
                      </a:rPr>
                      <m:t> </m:t>
                    </m:r>
                  </m:oMath>
                </a14:m>
                <a:r>
                  <a:rPr lang="zh-CN" altLang="zh-CN" dirty="0"/>
                  <a:t>两两交集的情况：</a:t>
                </a: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2×3</m:t>
                              </m:r>
                            </m:den>
                          </m:f>
                        </m:e>
                      </m:d>
                      <m:r>
                        <a:rPr lang="en-US" altLang="zh-CN" i="1">
                          <a:latin typeface="Cambria Math" panose="02040503050406030204" pitchFamily="18" charset="0"/>
                        </a:rPr>
                        <m:t>=100,</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𝐶</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2×5</m:t>
                              </m:r>
                            </m:den>
                          </m:f>
                        </m:e>
                      </m:d>
                      <m:r>
                        <a:rPr lang="en-US" altLang="zh-CN" i="1">
                          <a:latin typeface="Cambria Math" panose="02040503050406030204" pitchFamily="18" charset="0"/>
                        </a:rPr>
                        <m:t>=60,</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𝐶</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3×5</m:t>
                              </m:r>
                            </m:den>
                          </m:f>
                        </m:e>
                      </m:d>
                      <m:r>
                        <a:rPr lang="en-US" altLang="zh-CN" i="1">
                          <a:latin typeface="Cambria Math" panose="02040503050406030204" pitchFamily="18" charset="0"/>
                        </a:rPr>
                        <m:t>=40</m:t>
                      </m:r>
                      <m:r>
                        <a:rPr lang="en-US" altLang="zh-CN">
                          <a:latin typeface="Cambria Math" panose="02040503050406030204" pitchFamily="18" charset="0"/>
                        </a:rPr>
                        <m:t>,</m:t>
                      </m:r>
                    </m:oMath>
                  </m:oMathPara>
                </a14:m>
                <a:endParaRPr lang="en-US" altLang="zh-CN" dirty="0"/>
              </a:p>
              <a:p>
                <a:pPr>
                  <a:lnSpc>
                    <a:spcPct val="150000"/>
                  </a:lnSpc>
                  <a:spcBef>
                    <a:spcPts val="0"/>
                  </a:spcBef>
                </a:pPr>
                <a:r>
                  <a:rPr lang="zh-CN" altLang="zh-CN" dirty="0"/>
                  <a:t>最后求</a:t>
                </a:r>
                <a:r>
                  <a:rPr lang="zh-CN" altLang="en-US" dirty="0"/>
                  <a:t> </a:t>
                </a:r>
                <a14:m>
                  <m:oMath xmlns:m="http://schemas.openxmlformats.org/officeDocument/2006/math">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𝐶</m:t>
                    </m:r>
                  </m:oMath>
                </a14:m>
                <a:r>
                  <a:rPr lang="zh-CN" altLang="en-US" dirty="0"/>
                  <a:t> </a:t>
                </a:r>
                <a:r>
                  <a:rPr lang="zh-CN" altLang="zh-CN" dirty="0"/>
                  <a:t>三个集合的交集情况</a:t>
                </a:r>
                <a:r>
                  <a:rPr lang="zh-CN" altLang="en-US" dirty="0"/>
                  <a:t>：</a:t>
                </a:r>
                <a:endParaRPr lang="zh-CN" altLang="zh-CN" dirty="0"/>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𝐴</m:t>
                          </m:r>
                          <m:r>
                            <a:rPr lang="en-US" altLang="zh-CN" i="1">
                              <a:latin typeface="Cambria Math" panose="02040503050406030204" pitchFamily="18" charset="0"/>
                            </a:rPr>
                            <m:t>∩</m:t>
                          </m:r>
                          <m:r>
                            <a:rPr lang="en-US" altLang="zh-CN" i="1">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𝐶</m:t>
                          </m:r>
                        </m:e>
                      </m:d>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600</m:t>
                              </m:r>
                            </m:num>
                            <m:den>
                              <m:r>
                                <a:rPr lang="en-US" altLang="zh-CN" i="1">
                                  <a:latin typeface="Cambria Math" panose="02040503050406030204" pitchFamily="18" charset="0"/>
                                </a:rPr>
                                <m:t>2×3×5</m:t>
                              </m:r>
                            </m:den>
                          </m:f>
                        </m:e>
                      </m:d>
                      <m:r>
                        <a:rPr lang="en-US" altLang="zh-CN">
                          <a:latin typeface="Cambria Math" panose="02040503050406030204" pitchFamily="18" charset="0"/>
                        </a:rPr>
                        <m:t>=20</m:t>
                      </m:r>
                    </m:oMath>
                  </m:oMathPara>
                </a14:m>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199"/>
                <a:ext cx="9982200" cy="5136397"/>
              </a:xfrm>
              <a:blipFill>
                <a:blip r:embed="rId2"/>
                <a:stretch>
                  <a:fillRect l="-1398"/>
                </a:stretch>
              </a:blipFill>
            </p:spPr>
            <p:txBody>
              <a:bodyPr/>
              <a:lstStyle/>
              <a:p>
                <a:r>
                  <a:rPr lang="zh-CN" altLang="en-US">
                    <a:noFill/>
                  </a:rPr>
                  <a:t> </a:t>
                </a:r>
              </a:p>
            </p:txBody>
          </p:sp>
        </mc:Fallback>
      </mc:AlternateContent>
      <p:sp>
        <p:nvSpPr>
          <p:cNvPr id="5" name="标题 1"/>
          <p:cNvSpPr>
            <a:spLocks noGrp="1"/>
          </p:cNvSpPr>
          <p:nvPr>
            <p:ph type="title"/>
          </p:nvPr>
        </p:nvSpPr>
        <p:spPr>
          <a:xfrm>
            <a:off x="1104900" y="76200"/>
            <a:ext cx="9980682" cy="1096962"/>
          </a:xfrm>
        </p:spPr>
        <p:txBody>
          <a:bodyPr/>
          <a:lstStyle/>
          <a:p>
            <a:r>
              <a:rPr lang="zh-CN" altLang="en-US" dirty="0"/>
              <a:t>各集合的交集</a:t>
            </a:r>
          </a:p>
        </p:txBody>
      </p:sp>
      <p:sp>
        <p:nvSpPr>
          <p:cNvPr id="2" name="幻灯片编号占位符 1">
            <a:extLst>
              <a:ext uri="{FF2B5EF4-FFF2-40B4-BE49-F238E27FC236}">
                <a16:creationId xmlns:a16="http://schemas.microsoft.com/office/drawing/2014/main" id="{1E04DF84-750B-9F41-89F2-7542387B38B8}"/>
              </a:ext>
            </a:extLst>
          </p:cNvPr>
          <p:cNvSpPr>
            <a:spLocks noGrp="1"/>
          </p:cNvSpPr>
          <p:nvPr>
            <p:ph type="sldNum" sz="quarter" idx="12"/>
          </p:nvPr>
        </p:nvSpPr>
        <p:spPr/>
        <p:txBody>
          <a:bodyPr/>
          <a:lstStyle/>
          <a:p>
            <a:fld id="{0FF54DE5-C571-48E8-A5BC-B369434E2F44}" type="slidenum">
              <a:rPr lang="en-US" altLang="zh-CN" smtClean="0"/>
              <a:pPr/>
              <a:t>39</a:t>
            </a:fld>
            <a:endParaRPr lang="zh-CN" altLang="en-US" dirty="0"/>
          </a:p>
        </p:txBody>
      </p:sp>
    </p:spTree>
    <p:extLst>
      <p:ext uri="{BB962C8B-B14F-4D97-AF65-F5344CB8AC3E}">
        <p14:creationId xmlns:p14="http://schemas.microsoft.com/office/powerpoint/2010/main" val="69601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容斥原理</a:t>
            </a:r>
          </a:p>
        </p:txBody>
      </p:sp>
      <p:pic>
        <p:nvPicPr>
          <p:cNvPr id="4" name="图片 3"/>
          <p:cNvPicPr/>
          <p:nvPr/>
        </p:nvPicPr>
        <p:blipFill>
          <a:blip r:embed="rId2" cstate="print">
            <a:extLst>
              <a:ext uri="{28A0092B-C50C-407E-A947-70E740481C1C}">
                <a14:useLocalDpi xmlns:a14="http://schemas.microsoft.com/office/drawing/2010/main" val="0"/>
              </a:ext>
            </a:extLst>
          </a:blip>
          <a:stretch>
            <a:fillRect/>
          </a:stretch>
        </p:blipFill>
        <p:spPr>
          <a:xfrm>
            <a:off x="2978215" y="1911906"/>
            <a:ext cx="6234051" cy="4153614"/>
          </a:xfrm>
          <a:prstGeom prst="rect">
            <a:avLst/>
          </a:prstGeom>
        </p:spPr>
      </p:pic>
      <p:sp>
        <p:nvSpPr>
          <p:cNvPr id="3" name="幻灯片编号占位符 2">
            <a:extLst>
              <a:ext uri="{FF2B5EF4-FFF2-40B4-BE49-F238E27FC236}">
                <a16:creationId xmlns:a16="http://schemas.microsoft.com/office/drawing/2014/main" id="{744C95ED-1203-C346-AE60-BFE4F99DBB32}"/>
              </a:ext>
            </a:extLst>
          </p:cNvPr>
          <p:cNvSpPr>
            <a:spLocks noGrp="1"/>
          </p:cNvSpPr>
          <p:nvPr>
            <p:ph type="sldNum" sz="quarter" idx="12"/>
          </p:nvPr>
        </p:nvSpPr>
        <p:spPr/>
        <p:txBody>
          <a:bodyPr/>
          <a:lstStyle/>
          <a:p>
            <a:fld id="{0FF54DE5-C571-48E8-A5BC-B369434E2F44}" type="slidenum">
              <a:rPr lang="en-US" altLang="zh-CN" smtClean="0"/>
              <a:pPr/>
              <a:t>40</a:t>
            </a:fld>
            <a:endParaRPr lang="zh-CN" altLang="en-US" dirty="0"/>
          </a:p>
        </p:txBody>
      </p:sp>
    </p:spTree>
    <p:extLst>
      <p:ext uri="{BB962C8B-B14F-4D97-AF65-F5344CB8AC3E}">
        <p14:creationId xmlns:p14="http://schemas.microsoft.com/office/powerpoint/2010/main" val="25179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容斥原理</a:t>
            </a:r>
          </a:p>
        </p:txBody>
      </p:sp>
      <p:pic>
        <p:nvPicPr>
          <p:cNvPr id="7" name="图片 6" descr="组合数学 - Word(产品激活失败)"/>
          <p:cNvPicPr>
            <a:picLocks noChangeAspect="1"/>
          </p:cNvPicPr>
          <p:nvPr/>
        </p:nvPicPr>
        <p:blipFill rotWithShape="1">
          <a:blip r:embed="rId2">
            <a:extLst>
              <a:ext uri="{28A0092B-C50C-407E-A947-70E740481C1C}">
                <a14:useLocalDpi xmlns:a14="http://schemas.microsoft.com/office/drawing/2010/main" val="0"/>
              </a:ext>
            </a:extLst>
          </a:blip>
          <a:srcRect l="10395" t="34663" r="11184" b="22810"/>
          <a:stretch/>
        </p:blipFill>
        <p:spPr>
          <a:xfrm>
            <a:off x="1199869" y="2510276"/>
            <a:ext cx="9792263" cy="2858816"/>
          </a:xfrm>
          <a:prstGeom prst="rect">
            <a:avLst/>
          </a:prstGeom>
        </p:spPr>
      </p:pic>
      <p:sp>
        <p:nvSpPr>
          <p:cNvPr id="3" name="幻灯片编号占位符 2">
            <a:extLst>
              <a:ext uri="{FF2B5EF4-FFF2-40B4-BE49-F238E27FC236}">
                <a16:creationId xmlns:a16="http://schemas.microsoft.com/office/drawing/2014/main" id="{7FABE320-7A27-2642-8DAA-913FE9F4F553}"/>
              </a:ext>
            </a:extLst>
          </p:cNvPr>
          <p:cNvSpPr>
            <a:spLocks noGrp="1"/>
          </p:cNvSpPr>
          <p:nvPr>
            <p:ph type="sldNum" sz="quarter" idx="12"/>
          </p:nvPr>
        </p:nvSpPr>
        <p:spPr/>
        <p:txBody>
          <a:bodyPr/>
          <a:lstStyle/>
          <a:p>
            <a:fld id="{0FF54DE5-C571-48E8-A5BC-B369434E2F44}" type="slidenum">
              <a:rPr lang="en-US" altLang="zh-CN" smtClean="0"/>
              <a:pPr/>
              <a:t>41</a:t>
            </a:fld>
            <a:endParaRPr lang="zh-CN" altLang="en-US" dirty="0"/>
          </a:p>
        </p:txBody>
      </p:sp>
    </p:spTree>
    <p:extLst>
      <p:ext uri="{BB962C8B-B14F-4D97-AF65-F5344CB8AC3E}">
        <p14:creationId xmlns:p14="http://schemas.microsoft.com/office/powerpoint/2010/main" val="319072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容斥原理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lnSpc>
                    <a:spcPct val="150000"/>
                  </a:lnSpc>
                </a:pPr>
                <a:r>
                  <a:rPr lang="zh-CN" altLang="zh-CN" dirty="0"/>
                  <a:t>具有性质</a:t>
                </a:r>
                <a:r>
                  <a:rPr lang="zh-CN" altLang="en-US" dirty="0"/>
                  <a:t> </a:t>
                </a:r>
                <a14:m>
                  <m:oMath xmlns:m="http://schemas.openxmlformats.org/officeDocument/2006/math">
                    <m:r>
                      <a:rPr lang="en-US" altLang="zh-CN" i="1" dirty="0" smtClean="0">
                        <a:latin typeface="Cambria Math" panose="02040503050406030204" pitchFamily="18" charset="0"/>
                      </a:rPr>
                      <m:t>𝐴</m:t>
                    </m:r>
                  </m:oMath>
                </a14:m>
                <a:r>
                  <a:rPr lang="zh-Hans" altLang="en-US" dirty="0"/>
                  <a:t> </a:t>
                </a:r>
                <a:r>
                  <a:rPr lang="zh-CN" altLang="zh-CN" dirty="0"/>
                  <a:t>或者</a:t>
                </a:r>
                <a:r>
                  <a:rPr lang="zh-CN" altLang="en-US" dirty="0"/>
                  <a:t> </a:t>
                </a:r>
                <a14:m>
                  <m:oMath xmlns:m="http://schemas.openxmlformats.org/officeDocument/2006/math">
                    <m:r>
                      <a:rPr lang="en-US" altLang="zh-CN" i="1" dirty="0" smtClean="0">
                        <a:latin typeface="Cambria Math" panose="02040503050406030204" pitchFamily="18" charset="0"/>
                      </a:rPr>
                      <m:t>𝐵</m:t>
                    </m:r>
                  </m:oMath>
                </a14:m>
                <a:r>
                  <a:rPr lang="zh-Hans" altLang="en-US" dirty="0"/>
                  <a:t> </a:t>
                </a:r>
                <a:r>
                  <a:rPr lang="zh-CN" altLang="zh-CN" dirty="0"/>
                  <a:t>的元素个数</a:t>
                </a:r>
                <a:r>
                  <a:rPr lang="zh-CN" altLang="en-US" dirty="0"/>
                  <a:t>，</a:t>
                </a:r>
                <a:r>
                  <a:rPr lang="zh-CN" altLang="zh-CN" dirty="0"/>
                  <a:t>等于具有性质</a:t>
                </a:r>
                <a:r>
                  <a:rPr lang="zh-CN" altLang="en-US" dirty="0"/>
                  <a:t> </a:t>
                </a:r>
                <a14:m>
                  <m:oMath xmlns:m="http://schemas.openxmlformats.org/officeDocument/2006/math">
                    <m:r>
                      <a:rPr lang="en-US" altLang="zh-CN" i="1" dirty="0" smtClean="0">
                        <a:latin typeface="Cambria Math" panose="02040503050406030204" pitchFamily="18" charset="0"/>
                      </a:rPr>
                      <m:t>𝐴</m:t>
                    </m:r>
                  </m:oMath>
                </a14:m>
                <a:r>
                  <a:rPr lang="zh-Hans" altLang="en-US" dirty="0"/>
                  <a:t> </a:t>
                </a:r>
                <a:r>
                  <a:rPr lang="zh-CN" altLang="zh-CN" dirty="0"/>
                  <a:t>的元素个数与具有性质</a:t>
                </a:r>
                <a:r>
                  <a:rPr lang="zh-CN" altLang="en-US" dirty="0"/>
                  <a:t> </a:t>
                </a:r>
                <a14:m>
                  <m:oMath xmlns:m="http://schemas.openxmlformats.org/officeDocument/2006/math">
                    <m:r>
                      <a:rPr lang="en-US" altLang="zh-CN" i="1" dirty="0" smtClean="0">
                        <a:latin typeface="Cambria Math" panose="02040503050406030204" pitchFamily="18" charset="0"/>
                      </a:rPr>
                      <m:t>𝐵</m:t>
                    </m:r>
                  </m:oMath>
                </a14:m>
                <a:r>
                  <a:rPr lang="zh-Hans" altLang="en-US" dirty="0"/>
                  <a:t> </a:t>
                </a:r>
                <a:r>
                  <a:rPr lang="zh-CN" altLang="zh-CN" dirty="0"/>
                  <a:t>的元素个数的和，减去同时具有性质</a:t>
                </a:r>
                <a:r>
                  <a:rPr lang="zh-CN" altLang="en-US" dirty="0"/>
                  <a:t> </a:t>
                </a:r>
                <a14:m>
                  <m:oMath xmlns:m="http://schemas.openxmlformats.org/officeDocument/2006/math">
                    <m:r>
                      <a:rPr lang="en-US" altLang="zh-CN" i="1" dirty="0" smtClean="0">
                        <a:latin typeface="Cambria Math" panose="02040503050406030204" pitchFamily="18" charset="0"/>
                      </a:rPr>
                      <m:t>𝐴</m:t>
                    </m:r>
                  </m:oMath>
                </a14:m>
                <a:r>
                  <a:rPr lang="zh-Hans" altLang="en-US" dirty="0"/>
                  <a:t> </a:t>
                </a:r>
                <a:r>
                  <a:rPr lang="zh-CN" altLang="zh-CN" dirty="0"/>
                  <a:t>和</a:t>
                </a:r>
                <a:r>
                  <a:rPr lang="zh-CN" altLang="en-US" dirty="0"/>
                  <a:t> </a:t>
                </a:r>
                <a14:m>
                  <m:oMath xmlns:m="http://schemas.openxmlformats.org/officeDocument/2006/math">
                    <m:r>
                      <a:rPr lang="en-US" altLang="zh-CN" i="1" dirty="0" smtClean="0">
                        <a:latin typeface="Cambria Math" panose="02040503050406030204" pitchFamily="18" charset="0"/>
                      </a:rPr>
                      <m:t>𝐵</m:t>
                    </m:r>
                  </m:oMath>
                </a14:m>
                <a:r>
                  <a:rPr lang="zh-Hans" altLang="en-US" dirty="0"/>
                  <a:t> </a:t>
                </a:r>
                <a:r>
                  <a:rPr lang="zh-CN" altLang="zh-CN" dirty="0"/>
                  <a:t>的元素的个数，使得计算的结果既无遗漏又无重复。这就是容斥原理，一般表示如下</a:t>
                </a:r>
                <a:r>
                  <a:rPr lang="zh-CN" altLang="en-US" dirty="0"/>
                  <a:t>：</a:t>
                </a:r>
                <a:endParaRPr lang="zh-CN" altLang="zh-CN" dirty="0"/>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𝑚</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e>
                          </m:d>
                        </m:e>
                      </m:nary>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&lt;</m:t>
                          </m:r>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𝑚</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e>
                          </m:d>
                        </m:e>
                      </m:nary>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&lt;</m:t>
                          </m:r>
                          <m:r>
                            <a:rPr lang="en-US" altLang="zh-CN" i="1">
                              <a:latin typeface="Cambria Math" panose="02040503050406030204" pitchFamily="18" charset="0"/>
                            </a:rPr>
                            <m:t>𝑗</m:t>
                          </m:r>
                          <m:r>
                            <a:rPr lang="en-US" altLang="zh-CN" i="1">
                              <a:latin typeface="Cambria Math" panose="02040503050406030204" pitchFamily="18" charset="0"/>
                            </a:rPr>
                            <m:t>&lt;</m:t>
                          </m:r>
                          <m:r>
                            <a:rPr lang="en-US" altLang="zh-CN" i="1">
                              <a:latin typeface="Cambria Math" panose="02040503050406030204" pitchFamily="18" charset="0"/>
                            </a:rPr>
                            <m:t>𝑘</m:t>
                          </m:r>
                          <m:r>
                            <a:rPr lang="en-US" altLang="zh-CN" i="1">
                              <a:latin typeface="Cambria Math" panose="02040503050406030204" pitchFamily="18" charset="0"/>
                            </a:rPr>
                            <m:t>≤</m:t>
                          </m:r>
                          <m:r>
                            <a:rPr lang="en-US" altLang="zh-CN" i="1">
                              <a:latin typeface="Cambria Math" panose="02040503050406030204" pitchFamily="18" charset="0"/>
                            </a:rPr>
                            <m:t>𝑚</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𝑘</m:t>
                                  </m:r>
                                </m:sub>
                              </m:sSub>
                            </m:e>
                          </m:d>
                        </m:e>
                      </m:nary>
                      <m:r>
                        <a:rPr lang="en-US" altLang="zh-CN" i="1">
                          <a:latin typeface="Cambria Math" panose="02040503050406030204" pitchFamily="18" charset="0"/>
                        </a:rPr>
                        <m:t>−…+</m:t>
                      </m:r>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r>
                                <a:rPr lang="en-US" altLang="zh-CN" i="1">
                                  <a:latin typeface="Cambria Math" panose="02040503050406030204" pitchFamily="18" charset="0"/>
                                </a:rPr>
                                <m:t>−1</m:t>
                              </m:r>
                            </m:e>
                          </m:d>
                        </m:e>
                        <m:sup>
                          <m:r>
                            <a:rPr lang="en-US" altLang="zh-CN" i="1">
                              <a:latin typeface="Cambria Math" panose="02040503050406030204" pitchFamily="18" charset="0"/>
                            </a:rPr>
                            <m:t>𝑚</m:t>
                          </m:r>
                          <m:r>
                            <a:rPr lang="en-US" altLang="zh-CN" i="1">
                              <a:latin typeface="Cambria Math" panose="02040503050406030204" pitchFamily="18" charset="0"/>
                            </a:rPr>
                            <m:t>+1</m:t>
                          </m:r>
                        </m:sup>
                      </m:sSup>
                      <m:nary>
                        <m:naryPr>
                          <m:chr m:val="∑"/>
                          <m:limLoc m:val="undOvr"/>
                          <m:subHide m:val="on"/>
                          <m:supHide m:val="on"/>
                          <m:ctrlPr>
                            <a:rPr lang="zh-CN" altLang="zh-CN" i="1">
                              <a:latin typeface="Cambria Math" panose="02040503050406030204" pitchFamily="18" charset="0"/>
                            </a:rPr>
                          </m:ctrlPr>
                        </m:naryP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𝑚</m:t>
                                  </m:r>
                                </m:sub>
                              </m:sSub>
                            </m:e>
                          </m:d>
                        </m:e>
                      </m:nary>
                    </m:oMath>
                  </m:oMathPara>
                </a14:m>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98" r="-381" b="-23546"/>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67673861-7CA3-D442-A5A5-E6A39A8735A8}"/>
              </a:ext>
            </a:extLst>
          </p:cNvPr>
          <p:cNvSpPr>
            <a:spLocks noGrp="1"/>
          </p:cNvSpPr>
          <p:nvPr>
            <p:ph type="sldNum" sz="quarter" idx="12"/>
          </p:nvPr>
        </p:nvSpPr>
        <p:spPr/>
        <p:txBody>
          <a:bodyPr/>
          <a:lstStyle/>
          <a:p>
            <a:fld id="{0FF54DE5-C571-48E8-A5BC-B369434E2F44}" type="slidenum">
              <a:rPr lang="en-US" altLang="zh-CN" smtClean="0"/>
              <a:pPr/>
              <a:t>42</a:t>
            </a:fld>
            <a:endParaRPr lang="zh-CN" altLang="en-US" dirty="0"/>
          </a:p>
        </p:txBody>
      </p:sp>
    </p:spTree>
    <p:extLst>
      <p:ext uri="{BB962C8B-B14F-4D97-AF65-F5344CB8AC3E}">
        <p14:creationId xmlns:p14="http://schemas.microsoft.com/office/powerpoint/2010/main" val="280060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错排问题</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4916424"/>
              </a:xfrm>
            </p:spPr>
            <p:txBody>
              <a:bodyPr/>
              <a:lstStyle/>
              <a:p>
                <a:pPr>
                  <a:lnSpc>
                    <a:spcPct val="150000"/>
                  </a:lnSpc>
                </a:pPr>
                <a14:m>
                  <m:oMath xmlns:m="http://schemas.openxmlformats.org/officeDocument/2006/math">
                    <m:r>
                      <a:rPr lang="en-US" altLang="zh-CN" i="1">
                        <a:latin typeface="Cambria Math" panose="02040503050406030204" pitchFamily="18" charset="0"/>
                      </a:rPr>
                      <m:t>𝑛</m:t>
                    </m:r>
                  </m:oMath>
                </a14:m>
                <a:r>
                  <a:rPr lang="zh-CN" altLang="en-US" dirty="0"/>
                  <a:t> </a:t>
                </a:r>
                <a:r>
                  <a:rPr lang="zh-CN" altLang="zh-CN" dirty="0"/>
                  <a:t>个有序的元素应有</a:t>
                </a:r>
                <a:r>
                  <a:rPr lang="zh-CN" altLang="en-US" dirty="0"/>
                  <a:t> </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en-US" dirty="0"/>
                  <a:t> </a:t>
                </a:r>
                <a:r>
                  <a:rPr lang="zh-CN" altLang="zh-CN" dirty="0"/>
                  <a:t>种不同的排列。若一个排列使得所有的元素都不在自己原来的位置上，则称这个排列为错排。现任给一个</a:t>
                </a:r>
                <a:r>
                  <a:rPr lang="zh-CN" altLang="en-US" dirty="0"/>
                  <a:t> </a:t>
                </a:r>
                <a14:m>
                  <m:oMath xmlns:m="http://schemas.openxmlformats.org/officeDocument/2006/math">
                    <m:r>
                      <a:rPr lang="en-US" altLang="zh-CN" i="1">
                        <a:latin typeface="Cambria Math" panose="02040503050406030204" pitchFamily="18" charset="0"/>
                      </a:rPr>
                      <m:t>𝑛</m:t>
                    </m:r>
                  </m:oMath>
                </a14:m>
                <a:r>
                  <a:rPr lang="zh-CN" altLang="zh-CN" dirty="0"/>
                  <a:t>，求出</a:t>
                </a:r>
                <a:r>
                  <a:rPr lang="zh-CN" altLang="en-US" dirty="0"/>
                  <a:t> </a:t>
                </a:r>
                <a14:m>
                  <m:oMath xmlns:m="http://schemas.openxmlformats.org/officeDocument/2006/math">
                    <m:r>
                      <a:rPr lang="en-US" altLang="zh-CN" i="1">
                        <a:latin typeface="Cambria Math" panose="02040503050406030204" pitchFamily="18" charset="0"/>
                      </a:rPr>
                      <m:t>1,2,…,</m:t>
                    </m:r>
                    <m:r>
                      <a:rPr lang="en-US" altLang="zh-CN" i="1">
                        <a:latin typeface="Cambria Math" panose="02040503050406030204" pitchFamily="18" charset="0"/>
                      </a:rPr>
                      <m:t>𝑛</m:t>
                    </m:r>
                  </m:oMath>
                </a14:m>
                <a:r>
                  <a:rPr lang="zh-CN" altLang="en-US" dirty="0"/>
                  <a:t> </a:t>
                </a:r>
                <a:r>
                  <a:rPr lang="zh-CN" altLang="zh-CN" dirty="0"/>
                  <a:t>的错排个数。</a:t>
                </a:r>
                <a:endParaRPr lang="en-US" altLang="zh-CN" dirty="0"/>
              </a:p>
              <a:p>
                <a:pPr>
                  <a:lnSpc>
                    <a:spcPct val="150000"/>
                  </a:lnSpc>
                </a:pPr>
                <a:r>
                  <a:rPr lang="zh-CN" altLang="zh-CN" dirty="0"/>
                  <a:t>设集合</a:t>
                </a:r>
                <a:r>
                  <a:rPr lang="zh-CN" altLang="en-US" dirty="0"/>
                  <a:t> </a:t>
                </a:r>
                <a14:m>
                  <m:oMath xmlns:m="http://schemas.openxmlformats.org/officeDocument/2006/math">
                    <m:r>
                      <a:rPr lang="en-US" altLang="zh-CN" i="1">
                        <a:latin typeface="Cambria Math" panose="02040503050406030204" pitchFamily="18" charset="0"/>
                      </a:rPr>
                      <m:t>𝑆</m:t>
                    </m:r>
                  </m:oMath>
                </a14:m>
                <a:r>
                  <a:rPr lang="zh-CN" altLang="en-US" dirty="0"/>
                  <a:t> </a:t>
                </a:r>
                <a:r>
                  <a:rPr lang="zh-CN" altLang="zh-CN" dirty="0"/>
                  <a:t>为</a:t>
                </a:r>
                <a:r>
                  <a:rPr lang="zh-CN" altLang="en-US" dirty="0"/>
                  <a:t> </a:t>
                </a:r>
                <a14:m>
                  <m:oMath xmlns:m="http://schemas.openxmlformats.org/officeDocument/2006/math">
                    <m:r>
                      <a:rPr lang="en-US" altLang="zh-CN" i="1">
                        <a:latin typeface="Cambria Math" panose="02040503050406030204" pitchFamily="18" charset="0"/>
                      </a:rPr>
                      <m:t>1,2,…,</m:t>
                    </m:r>
                    <m:r>
                      <a:rPr lang="en-US" altLang="zh-CN" i="1">
                        <a:latin typeface="Cambria Math" panose="02040503050406030204" pitchFamily="18" charset="0"/>
                      </a:rPr>
                      <m:t>𝑛</m:t>
                    </m:r>
                  </m:oMath>
                </a14:m>
                <a:r>
                  <a:rPr lang="zh-CN" altLang="en-US" dirty="0"/>
                  <a:t> </a:t>
                </a:r>
                <a:r>
                  <a:rPr lang="zh-CN" altLang="zh-CN" dirty="0"/>
                  <a:t>的所有全排列，可得</a:t>
                </a:r>
                <a:r>
                  <a:rPr lang="zh-CN" altLang="en-US" dirty="0"/>
                  <a:t> </a:t>
                </a:r>
                <a14:m>
                  <m:oMath xmlns:m="http://schemas.openxmlformats.org/officeDocument/2006/math">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𝑆</m:t>
                        </m:r>
                      </m:e>
                    </m:d>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en-US" dirty="0"/>
                  <a:t> </a:t>
                </a:r>
                <a:r>
                  <a:rPr lang="zh-CN" altLang="zh-CN" dirty="0"/>
                  <a:t>。</a:t>
                </a:r>
                <a14:m>
                  <m:oMath xmlns:m="http://schemas.openxmlformats.org/officeDocument/2006/math">
                    <m:r>
                      <a:rPr lang="en-US" altLang="zh-CN" i="1">
                        <a:latin typeface="Cambria Math" panose="02040503050406030204" pitchFamily="18" charset="0"/>
                      </a:rPr>
                      <m:t>𝑆</m:t>
                    </m:r>
                  </m:oMath>
                </a14:m>
                <a:r>
                  <a:rPr lang="zh-CN" altLang="en-US" dirty="0"/>
                  <a:t> </a:t>
                </a:r>
                <a:r>
                  <a:rPr lang="zh-CN" altLang="zh-CN" dirty="0"/>
                  <a:t>的子集</a:t>
                </a:r>
                <a:r>
                  <a:rPr lang="zh-CN" altLang="en-US"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oMath>
                </a14:m>
                <a:r>
                  <a:rPr lang="zh-CN" altLang="en-US" dirty="0"/>
                  <a:t> </a:t>
                </a:r>
                <a:r>
                  <a:rPr lang="zh-CN" altLang="zh-CN" dirty="0"/>
                  <a:t>为数字</a:t>
                </a:r>
                <a:r>
                  <a:rPr lang="zh-CN" altLang="en-US" dirty="0"/>
                  <a:t> </a:t>
                </a:r>
                <a14:m>
                  <m:oMath xmlns:m="http://schemas.openxmlformats.org/officeDocument/2006/math">
                    <m:r>
                      <a:rPr lang="en-US" altLang="zh-CN" i="1">
                        <a:latin typeface="Cambria Math" panose="02040503050406030204" pitchFamily="18" charset="0"/>
                      </a:rPr>
                      <m:t>𝑖</m:t>
                    </m:r>
                  </m:oMath>
                </a14:m>
                <a:r>
                  <a:rPr lang="zh-CN" altLang="en-US" dirty="0"/>
                  <a:t> </a:t>
                </a:r>
                <a:r>
                  <a:rPr lang="zh-CN" altLang="zh-CN" dirty="0"/>
                  <a:t>排在</a:t>
                </a:r>
                <a:r>
                  <a:rPr lang="zh-CN" altLang="en-US" dirty="0"/>
                  <a:t> </a:t>
                </a:r>
                <a14:m>
                  <m:oMath xmlns:m="http://schemas.openxmlformats.org/officeDocument/2006/math">
                    <m:r>
                      <a:rPr lang="en-US" altLang="zh-CN" i="1">
                        <a:latin typeface="Cambria Math" panose="02040503050406030204" pitchFamily="18" charset="0"/>
                      </a:rPr>
                      <m:t>𝑖</m:t>
                    </m:r>
                  </m:oMath>
                </a14:m>
                <a:r>
                  <a:rPr lang="zh-CN" altLang="en-US" dirty="0"/>
                  <a:t> </a:t>
                </a:r>
                <a:r>
                  <a:rPr lang="zh-CN" altLang="zh-CN" dirty="0"/>
                  <a:t>位置上的全排列，因为数字</a:t>
                </a:r>
                <a:r>
                  <a:rPr lang="zh-CN" altLang="en-US" dirty="0"/>
                  <a:t> </a:t>
                </a:r>
                <a14:m>
                  <m:oMath xmlns:m="http://schemas.openxmlformats.org/officeDocument/2006/math">
                    <m:r>
                      <a:rPr lang="en-US" altLang="zh-CN" i="1">
                        <a:latin typeface="Cambria Math" panose="02040503050406030204" pitchFamily="18" charset="0"/>
                      </a:rPr>
                      <m:t>𝑖</m:t>
                    </m:r>
                  </m:oMath>
                </a14:m>
                <a:r>
                  <a:rPr lang="zh-CN" altLang="en-US" dirty="0"/>
                  <a:t> </a:t>
                </a:r>
                <a:r>
                  <a:rPr lang="zh-CN" altLang="zh-CN" dirty="0"/>
                  <a:t>不动，所以</a:t>
                </a:r>
                <a:br>
                  <a:rPr lang="en-US" altLang="zh-CN" dirty="0"/>
                </a:br>
                <a14:m>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=1,2,…,</m:t>
                    </m:r>
                    <m:r>
                      <a:rPr lang="en-US" altLang="zh-CN" i="1">
                        <a:latin typeface="Cambria Math" panose="02040503050406030204" pitchFamily="18" charset="0"/>
                      </a:rPr>
                      <m:t>𝑛</m:t>
                    </m:r>
                    <m:r>
                      <a:rPr lang="en-US" altLang="zh-CN">
                        <a:latin typeface="Cambria Math" panose="02040503050406030204" pitchFamily="18" charset="0"/>
                      </a:rPr>
                      <m:t>)</m:t>
                    </m:r>
                  </m:oMath>
                </a14:m>
                <a:endParaRPr lang="en-US" altLang="zh-CN" dirty="0"/>
              </a:p>
              <a:p>
                <a:pPr>
                  <a:lnSpc>
                    <a:spcPct val="150000"/>
                  </a:lnSpc>
                </a:pPr>
                <a:r>
                  <a:rPr lang="zh-CN" altLang="zh-CN" dirty="0"/>
                  <a:t>同理</a:t>
                </a:r>
                <a:r>
                  <a:rPr lang="zh-CN" altLang="en-US"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𝑖𝑘</m:t>
                        </m:r>
                      </m:sub>
                    </m:sSub>
                  </m:oMath>
                </a14:m>
                <a:r>
                  <a:rPr lang="zh-CN" altLang="en-US" dirty="0"/>
                  <a:t> </a:t>
                </a:r>
                <a:r>
                  <a:rPr lang="zh-CN" altLang="zh-CN" dirty="0"/>
                  <a:t>表示</a:t>
                </a:r>
                <a:r>
                  <a:rPr lang="zh-CN" altLang="en-US"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𝑘</m:t>
                        </m:r>
                      </m:sub>
                    </m:sSub>
                  </m:oMath>
                </a14:m>
                <a:r>
                  <a:rPr lang="zh-CN" altLang="en-US" dirty="0"/>
                  <a:t> </a:t>
                </a:r>
                <a:r>
                  <a:rPr lang="zh-CN" altLang="zh-CN" dirty="0"/>
                  <a:t>位置上的全排列的集合，这就是说在</a:t>
                </a:r>
                <a:r>
                  <a:rPr lang="zh-CN" altLang="en-US" dirty="0"/>
                  <a:t> </a:t>
                </a:r>
                <a14:m>
                  <m:oMath xmlns:m="http://schemas.openxmlformats.org/officeDocument/2006/math">
                    <m:r>
                      <a:rPr lang="en-US" altLang="zh-CN" i="1">
                        <a:latin typeface="Cambria Math" panose="02040503050406030204" pitchFamily="18" charset="0"/>
                      </a:rPr>
                      <m:t>1,2,…,</m:t>
                    </m:r>
                    <m:r>
                      <a:rPr lang="en-US" altLang="zh-CN" i="1">
                        <a:latin typeface="Cambria Math" panose="02040503050406030204" pitchFamily="18" charset="0"/>
                      </a:rPr>
                      <m:t>𝑛</m:t>
                    </m:r>
                  </m:oMath>
                </a14:m>
                <a:r>
                  <a:rPr lang="zh-CN" altLang="en-US" dirty="0"/>
                  <a:t> </a:t>
                </a:r>
                <a:r>
                  <a:rPr lang="zh-CN" altLang="zh-CN" dirty="0"/>
                  <a:t>中除了</a:t>
                </a:r>
                <a:r>
                  <a:rPr lang="zh-CN" altLang="en-US"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𝑘</m:t>
                        </m:r>
                      </m:sub>
                    </m:sSub>
                  </m:oMath>
                </a14:m>
                <a:r>
                  <a:rPr lang="zh-CN" altLang="en-US" dirty="0"/>
                  <a:t> </a:t>
                </a:r>
                <a:r>
                  <a:rPr lang="zh-CN" altLang="zh-CN" dirty="0"/>
                  <a:t>这</a:t>
                </a:r>
                <a:r>
                  <a:rPr lang="zh-CN" altLang="en-US" dirty="0"/>
                  <a:t> </a:t>
                </a:r>
                <a14:m>
                  <m:oMath xmlns:m="http://schemas.openxmlformats.org/officeDocument/2006/math">
                    <m:r>
                      <a:rPr lang="en-US" altLang="zh-CN" i="1">
                        <a:latin typeface="Cambria Math" panose="02040503050406030204" pitchFamily="18" charset="0"/>
                      </a:rPr>
                      <m:t>𝑘</m:t>
                    </m:r>
                  </m:oMath>
                </a14:m>
                <a:r>
                  <a:rPr lang="zh-CN" altLang="en-US" dirty="0"/>
                  <a:t> </a:t>
                </a:r>
                <a:r>
                  <a:rPr lang="zh-CN" altLang="zh-CN" dirty="0"/>
                  <a:t>个数被固定外，其余</a:t>
                </a:r>
                <a:r>
                  <a:rPr lang="zh-CN" altLang="en-US" dirty="0"/>
                  <a:t> </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𝑘</m:t>
                    </m:r>
                  </m:oMath>
                </a14:m>
                <a:r>
                  <a:rPr lang="zh-CN" altLang="en-US" dirty="0"/>
                  <a:t> </a:t>
                </a:r>
                <a:r>
                  <a:rPr lang="zh-CN" altLang="zh-CN" dirty="0"/>
                  <a:t>个数可以任意排列。所以</a:t>
                </a:r>
              </a:p>
              <a:p>
                <a:pPr marL="0" indent="0">
                  <a:lnSpc>
                    <a:spcPct val="150000"/>
                  </a:lnSpc>
                  <a:buNone/>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𝑖𝑘</m:t>
                              </m:r>
                            </m:sub>
                          </m:sSub>
                        </m:e>
                      </m:d>
                      <m:r>
                        <a:rPr lang="en-US" altLang="zh-CN">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𝑘</m:t>
                          </m:r>
                        </m:e>
                      </m:d>
                      <m:r>
                        <a:rPr lang="en-US" altLang="zh-CN" i="1">
                          <a:latin typeface="Cambria Math" panose="02040503050406030204" pitchFamily="18" charset="0"/>
                        </a:rPr>
                        <m:t>!  </m:t>
                      </m:r>
                      <m:d>
                        <m:dPr>
                          <m:ctrlPr>
                            <a:rPr lang="zh-CN" altLang="zh-CN" i="1">
                              <a:latin typeface="Cambria Math" panose="02040503050406030204" pitchFamily="18" charset="0"/>
                            </a:rPr>
                          </m:ctrlPr>
                        </m:dPr>
                        <m:e>
                          <m:r>
                            <a:rPr lang="en-US" altLang="zh-CN" i="1">
                              <a:latin typeface="Cambria Math" panose="02040503050406030204" pitchFamily="18" charset="0"/>
                            </a:rPr>
                            <m:t>1≤</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𝑖</m:t>
                              </m:r>
                            </m:e>
                            <m:sub>
                              <m:r>
                                <a:rPr lang="en-US" altLang="zh-CN" i="1">
                                  <a:latin typeface="Cambria Math" panose="02040503050406030204" pitchFamily="18" charset="0"/>
                                </a:rPr>
                                <m:t>𝑘</m:t>
                              </m:r>
                            </m:sub>
                          </m:sSub>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=1,2,…,</m:t>
                          </m:r>
                          <m:r>
                            <a:rPr lang="en-US" altLang="zh-CN" i="1">
                              <a:latin typeface="Cambria Math" panose="02040503050406030204" pitchFamily="18" charset="0"/>
                            </a:rPr>
                            <m:t>𝑛</m:t>
                          </m:r>
                        </m:e>
                      </m:d>
                    </m:oMath>
                  </m:oMathPara>
                </a14:m>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4916424"/>
              </a:xfrm>
              <a:blipFill>
                <a:blip r:embed="rId2"/>
                <a:stretch>
                  <a:fillRect l="-1398" r="-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FED33A24-E1A7-C44D-88B3-6FB02FA68F7A}"/>
              </a:ext>
            </a:extLst>
          </p:cNvPr>
          <p:cNvSpPr>
            <a:spLocks noGrp="1"/>
          </p:cNvSpPr>
          <p:nvPr>
            <p:ph type="sldNum" sz="quarter" idx="12"/>
          </p:nvPr>
        </p:nvSpPr>
        <p:spPr/>
        <p:txBody>
          <a:bodyPr/>
          <a:lstStyle/>
          <a:p>
            <a:fld id="{0FF54DE5-C571-48E8-A5BC-B369434E2F44}" type="slidenum">
              <a:rPr lang="en-US" altLang="zh-CN" smtClean="0"/>
              <a:pPr/>
              <a:t>43</a:t>
            </a:fld>
            <a:endParaRPr lang="zh-CN" altLang="en-US" dirty="0"/>
          </a:p>
        </p:txBody>
      </p:sp>
    </p:spTree>
    <p:extLst>
      <p:ext uri="{BB962C8B-B14F-4D97-AF65-F5344CB8AC3E}">
        <p14:creationId xmlns:p14="http://schemas.microsoft.com/office/powerpoint/2010/main" val="175393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错排问题</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4855464"/>
              </a:xfrm>
            </p:spPr>
            <p:txBody>
              <a:bodyPr>
                <a:normAutofit/>
              </a:bodyPr>
              <a:lstStyle/>
              <a:p>
                <a:pPr>
                  <a:lnSpc>
                    <a:spcPct val="150000"/>
                  </a:lnSpc>
                </a:pPr>
                <a:r>
                  <a:rPr lang="zh-CN" altLang="zh-CN" dirty="0"/>
                  <a:t>每个元素都不在自己位置上的排列数为</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𝑛</m:t>
                        </m:r>
                      </m:sub>
                    </m:sSub>
                  </m:oMath>
                </a14:m>
                <a:r>
                  <a:rPr lang="zh-CN" altLang="zh-CN" dirty="0"/>
                  <a:t>，</a:t>
                </a:r>
                <a:br>
                  <a:rPr lang="en-US" altLang="zh-CN" dirty="0"/>
                </a:b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𝑛</m:t>
                        </m:r>
                      </m:sub>
                    </m:sSub>
                    <m:r>
                      <a:rPr lang="en-US" altLang="zh-CN">
                        <a:latin typeface="Cambria Math" panose="02040503050406030204" pitchFamily="18" charset="0"/>
                      </a:rPr>
                      <m:t>=</m:t>
                    </m:r>
                    <m:d>
                      <m:dPr>
                        <m:begChr m:val="|"/>
                        <m:endChr m:val="|"/>
                        <m:ctrlPr>
                          <a:rPr lang="zh-CN" altLang="zh-CN" i="1">
                            <a:latin typeface="Cambria Math" panose="02040503050406030204" pitchFamily="18" charset="0"/>
                          </a:rPr>
                        </m:ctrlPr>
                      </m:dPr>
                      <m:e>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e>
                        </m:acc>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sub>
                            </m:sSub>
                          </m:e>
                        </m:acc>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𝑛</m:t>
                                </m:r>
                              </m:sub>
                            </m:sSub>
                          </m:e>
                        </m:acc>
                      </m:e>
                    </m:d>
                  </m:oMath>
                </a14:m>
                <a:endParaRPr lang="en-US" altLang="zh-CN" dirty="0"/>
              </a:p>
              <a:p>
                <a:pPr>
                  <a:lnSpc>
                    <a:spcPct val="150000"/>
                  </a:lnSpc>
                </a:pPr>
                <a:r>
                  <a:rPr lang="zh-CN" altLang="zh-CN" dirty="0"/>
                  <a:t>由容斥原理公式可得</a:t>
                </a:r>
              </a:p>
              <a:p>
                <a:pPr marL="0" indent="0">
                  <a:lnSpc>
                    <a:spcPct val="1100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𝑛</m:t>
                          </m:r>
                        </m:sub>
                      </m:sSub>
                      <m:r>
                        <a:rPr lang="en-US" altLang="zh-CN">
                          <a:latin typeface="Cambria Math" panose="02040503050406030204" pitchFamily="18" charset="0"/>
                        </a:rPr>
                        <m:t>=</m:t>
                      </m:r>
                      <m:d>
                        <m:dPr>
                          <m:begChr m:val="|"/>
                          <m:endChr m:val="|"/>
                          <m:ctrlPr>
                            <a:rPr lang="zh-CN" altLang="zh-CN" i="1">
                              <a:latin typeface="Cambria Math" panose="02040503050406030204" pitchFamily="18" charset="0"/>
                            </a:rPr>
                          </m:ctrlPr>
                        </m:dPr>
                        <m:e>
                          <m:r>
                            <a:rPr lang="en-US" altLang="zh-CN" i="1">
                              <a:latin typeface="Cambria Math" panose="02040503050406030204" pitchFamily="18" charset="0"/>
                            </a:rPr>
                            <m:t>𝑆</m:t>
                          </m:r>
                        </m:e>
                      </m:d>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𝑛</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e>
                          </m:d>
                        </m:e>
                      </m:nary>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&lt;</m:t>
                          </m:r>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𝑚</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𝑗</m:t>
                                  </m:r>
                                </m:sub>
                              </m:sSub>
                            </m:e>
                          </m:d>
                        </m:e>
                      </m:nary>
                      <m:r>
                        <a:rPr lang="en-US" altLang="zh-CN" i="1">
                          <a:latin typeface="Cambria Math" panose="02040503050406030204" pitchFamily="18" charset="0"/>
                        </a:rPr>
                        <m:t>−</m:t>
                      </m:r>
                      <m:nary>
                        <m:naryPr>
                          <m:chr m:val="∑"/>
                          <m:limLoc m:val="undOvr"/>
                          <m:supHide m:val="on"/>
                          <m:ctrlPr>
                            <a:rPr lang="zh-CN" altLang="zh-CN" i="1">
                              <a:latin typeface="Cambria Math" panose="02040503050406030204" pitchFamily="18" charset="0"/>
                            </a:rPr>
                          </m:ctrlPr>
                        </m:naryPr>
                        <m:sub>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&lt;</m:t>
                          </m:r>
                          <m:r>
                            <a:rPr lang="en-US" altLang="zh-CN" i="1">
                              <a:latin typeface="Cambria Math" panose="02040503050406030204" pitchFamily="18" charset="0"/>
                            </a:rPr>
                            <m:t>𝑗</m:t>
                          </m:r>
                          <m:r>
                            <a:rPr lang="en-US" altLang="zh-CN" i="1">
                              <a:latin typeface="Cambria Math" panose="02040503050406030204" pitchFamily="18" charset="0"/>
                            </a:rPr>
                            <m:t>&lt;</m:t>
                          </m:r>
                          <m:r>
                            <a:rPr lang="en-US" altLang="zh-CN" i="1">
                              <a:latin typeface="Cambria Math" panose="02040503050406030204" pitchFamily="18" charset="0"/>
                            </a:rPr>
                            <m:t>𝑘</m:t>
                          </m:r>
                          <m:r>
                            <a:rPr lang="en-US" altLang="zh-CN" i="1">
                              <a:latin typeface="Cambria Math" panose="02040503050406030204" pitchFamily="18" charset="0"/>
                            </a:rPr>
                            <m:t>≤</m:t>
                          </m:r>
                          <m:r>
                            <a:rPr lang="en-US" altLang="zh-CN" i="1">
                              <a:latin typeface="Cambria Math" panose="02040503050406030204" pitchFamily="18" charset="0"/>
                            </a:rPr>
                            <m:t>𝑛</m:t>
                          </m: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𝑗</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𝑘</m:t>
                                  </m:r>
                                </m:sub>
                              </m:sSub>
                            </m:e>
                          </m:d>
                        </m:e>
                      </m:nary>
                      <m:r>
                        <a:rPr lang="en-US" altLang="zh-CN" i="1">
                          <a:latin typeface="Cambria Math" panose="02040503050406030204" pitchFamily="18" charset="0"/>
                        </a:rPr>
                        <m:t>+…+</m:t>
                      </m:r>
                      <m:sSup>
                        <m:sSupPr>
                          <m:ctrlPr>
                            <a:rPr lang="zh-CN" altLang="zh-CN" i="1">
                              <a:latin typeface="Cambria Math" panose="02040503050406030204" pitchFamily="18" charset="0"/>
                            </a:rPr>
                          </m:ctrlPr>
                        </m:sSupPr>
                        <m:e>
                          <m:d>
                            <m:dPr>
                              <m:ctrlPr>
                                <a:rPr lang="zh-CN" altLang="zh-CN" i="1">
                                  <a:latin typeface="Cambria Math" panose="02040503050406030204" pitchFamily="18" charset="0"/>
                                </a:rPr>
                              </m:ctrlPr>
                            </m:dPr>
                            <m:e>
                              <m:r>
                                <a:rPr lang="en-US" altLang="zh-CN" i="1">
                                  <a:latin typeface="Cambria Math" panose="02040503050406030204" pitchFamily="18" charset="0"/>
                                </a:rPr>
                                <m:t>−1</m:t>
                              </m:r>
                            </m:e>
                          </m:d>
                        </m:e>
                        <m:sup>
                          <m:r>
                            <a:rPr lang="en-US" altLang="zh-CN" i="1">
                              <a:latin typeface="Cambria Math" panose="02040503050406030204" pitchFamily="18" charset="0"/>
                            </a:rPr>
                            <m:t>𝑛</m:t>
                          </m:r>
                          <m:r>
                            <a:rPr lang="en-US" altLang="zh-CN" i="1">
                              <a:latin typeface="Cambria Math" panose="02040503050406030204" pitchFamily="18" charset="0"/>
                            </a:rPr>
                            <m:t>−1</m:t>
                          </m:r>
                        </m:sup>
                      </m:sSup>
                      <m:nary>
                        <m:naryPr>
                          <m:chr m:val="∑"/>
                          <m:limLoc m:val="undOvr"/>
                          <m:subHide m:val="on"/>
                          <m:supHide m:val="on"/>
                          <m:ctrlPr>
                            <a:rPr lang="zh-CN" altLang="zh-CN" i="1">
                              <a:latin typeface="Cambria Math" panose="02040503050406030204" pitchFamily="18" charset="0"/>
                            </a:rPr>
                          </m:ctrlPr>
                        </m:naryPr>
                        <m:sub/>
                        <m:sup/>
                        <m:e>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𝑛</m:t>
                                  </m:r>
                                </m:sub>
                              </m:sSub>
                            </m:e>
                          </m:d>
                        </m:e>
                      </m:nary>
                    </m:oMath>
                  </m:oMathPara>
                </a14:m>
                <a:endParaRPr lang="zh-CN" altLang="zh-CN" dirty="0"/>
              </a:p>
              <a:p>
                <a:pPr marL="0" indent="0">
                  <a:lnSpc>
                    <a:spcPct val="110000"/>
                  </a:lnSpc>
                  <a:spcBef>
                    <a:spcPts val="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1−</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1!</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2!</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3!</m:t>
                              </m:r>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𝑛</m:t>
                              </m:r>
                              <m:r>
                                <a:rPr lang="en-US" altLang="zh-CN" i="1">
                                  <a:latin typeface="Cambria Math" panose="02040503050406030204" pitchFamily="18" charset="0"/>
                                </a:rPr>
                                <m:t>!</m:t>
                              </m:r>
                            </m:den>
                          </m:f>
                        </m:e>
                      </m:d>
                    </m:oMath>
                  </m:oMathPara>
                </a14:m>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4855464"/>
              </a:xfrm>
              <a:blipFill rotWithShape="0">
                <a:blip r:embed="rId2"/>
                <a:stretch>
                  <a:fillRect l="-1465"/>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1503424F-3A84-4044-944F-570710012D40}"/>
              </a:ext>
            </a:extLst>
          </p:cNvPr>
          <p:cNvSpPr>
            <a:spLocks noGrp="1"/>
          </p:cNvSpPr>
          <p:nvPr>
            <p:ph type="sldNum" sz="quarter" idx="12"/>
          </p:nvPr>
        </p:nvSpPr>
        <p:spPr/>
        <p:txBody>
          <a:bodyPr/>
          <a:lstStyle/>
          <a:p>
            <a:fld id="{0FF54DE5-C571-48E8-A5BC-B369434E2F44}" type="slidenum">
              <a:rPr lang="en-US" altLang="zh-CN" smtClean="0"/>
              <a:pPr/>
              <a:t>44</a:t>
            </a:fld>
            <a:endParaRPr lang="zh-CN" altLang="en-US" dirty="0"/>
          </a:p>
        </p:txBody>
      </p:sp>
    </p:spTree>
    <p:extLst>
      <p:ext uri="{BB962C8B-B14F-4D97-AF65-F5344CB8AC3E}">
        <p14:creationId xmlns:p14="http://schemas.microsoft.com/office/powerpoint/2010/main" val="2542132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欧拉函数</a:t>
            </a:r>
            <a:endParaRPr lang="en-US" dirty="0"/>
          </a:p>
        </p:txBody>
      </p:sp>
      <p:sp>
        <p:nvSpPr>
          <p:cNvPr id="3" name="幻灯片编号占位符 2">
            <a:extLst>
              <a:ext uri="{FF2B5EF4-FFF2-40B4-BE49-F238E27FC236}">
                <a16:creationId xmlns:a16="http://schemas.microsoft.com/office/drawing/2014/main" id="{E60DCBD3-1429-8D42-AA46-CD6E8CAA239F}"/>
              </a:ext>
            </a:extLst>
          </p:cNvPr>
          <p:cNvSpPr>
            <a:spLocks noGrp="1"/>
          </p:cNvSpPr>
          <p:nvPr>
            <p:ph type="sldNum" sz="quarter" idx="12"/>
          </p:nvPr>
        </p:nvSpPr>
        <p:spPr/>
        <p:txBody>
          <a:bodyPr/>
          <a:lstStyle/>
          <a:p>
            <a:fld id="{0FF54DE5-C571-48E8-A5BC-B369434E2F44}" type="slidenum">
              <a:rPr lang="en-US" altLang="zh-CN" smtClean="0"/>
              <a:pPr/>
              <a:t>45</a:t>
            </a:fld>
            <a:endParaRPr lang="zh-CN" altLang="en-US" dirty="0"/>
          </a:p>
        </p:txBody>
      </p:sp>
    </p:spTree>
    <p:extLst>
      <p:ext uri="{BB962C8B-B14F-4D97-AF65-F5344CB8AC3E}">
        <p14:creationId xmlns:p14="http://schemas.microsoft.com/office/powerpoint/2010/main" val="927859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2456"/>
              </a:xfrm>
            </p:spPr>
            <p:txBody>
              <a:bodyPr>
                <a:normAutofit/>
              </a:bodyPr>
              <a:lstStyle/>
              <a:p>
                <a:pPr>
                  <a:lnSpc>
                    <a:spcPct val="150000"/>
                  </a:lnSpc>
                  <a:spcBef>
                    <a:spcPts val="600"/>
                  </a:spcBef>
                </a:pPr>
                <a:r>
                  <a:rPr lang="zh-CN" altLang="en-US" dirty="0"/>
                  <a:t>若</a:t>
                </a:r>
                <a:r>
                  <a:rPr lang="en-US" altLang="zh-CN" dirty="0"/>
                  <a:t> </a:t>
                </a:r>
                <a14:m>
                  <m:oMath xmlns:m="http://schemas.openxmlformats.org/officeDocument/2006/math">
                    <m:r>
                      <a:rPr lang="en-US" altLang="zh-CN" i="1" dirty="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)=1</m:t>
                    </m:r>
                  </m:oMath>
                </a14:m>
                <a:r>
                  <a:rPr lang="en-US" altLang="zh-CN" dirty="0"/>
                  <a:t>，</a:t>
                </a:r>
                <a:r>
                  <a:rPr lang="zh-CN" altLang="en-US" dirty="0"/>
                  <a:t>则称</a:t>
                </a:r>
                <a14:m>
                  <m:oMath xmlns:m="http://schemas.openxmlformats.org/officeDocument/2006/math">
                    <m:r>
                      <a:rPr lang="en-US" altLang="zh-CN" dirty="0">
                        <a:latin typeface="Cambria Math" panose="02040503050406030204" pitchFamily="18" charset="0"/>
                      </a:rPr>
                      <m:t> </m:t>
                    </m:r>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oMath>
                </a14:m>
                <a:r>
                  <a:rPr lang="en-US" altLang="zh-CN" dirty="0"/>
                  <a:t> </a:t>
                </a:r>
                <a:r>
                  <a:rPr lang="zh-CN" altLang="en-US" dirty="0"/>
                  <a:t>互素（互质），记作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𝑏</m:t>
                    </m:r>
                  </m:oMath>
                </a14:m>
                <a:r>
                  <a:rPr lang="zh-Hans" altLang="en-US" i="1" dirty="0"/>
                  <a:t> </a:t>
                </a:r>
                <a:r>
                  <a:rPr lang="zh-Hans" altLang="en-US" dirty="0"/>
                  <a:t>。</a:t>
                </a:r>
                <a:endParaRPr lang="en-US" altLang="zh-CN" dirty="0"/>
              </a:p>
              <a:p>
                <a:pPr>
                  <a:lnSpc>
                    <a:spcPct val="150000"/>
                  </a:lnSpc>
                  <a:spcBef>
                    <a:spcPts val="600"/>
                  </a:spcBef>
                </a:pPr>
                <a:r>
                  <a:rPr lang="zh-CN" altLang="zh-CN" dirty="0"/>
                  <a:t>欧拉函数</a:t>
                </a:r>
                <a:r>
                  <a:rPr lang="en-US" altLang="zh-CN" dirty="0"/>
                  <a:t> </a:t>
                </a:r>
                <a14:m>
                  <m:oMath xmlns:m="http://schemas.openxmlformats.org/officeDocument/2006/math">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i="1">
                            <a:latin typeface="Cambria Math" panose="02040503050406030204" pitchFamily="18" charset="0"/>
                          </a:rPr>
                          <m:t>𝑛</m:t>
                        </m:r>
                      </m:e>
                    </m:d>
                  </m:oMath>
                </a14:m>
                <a:r>
                  <a:rPr lang="zh-CN" altLang="en-US" dirty="0"/>
                  <a:t>（读作</a:t>
                </a:r>
                <a:r>
                  <a:rPr lang="en-US" altLang="zh-CN" dirty="0" err="1">
                    <a:latin typeface="Times New Roman" panose="02020603050405020304" pitchFamily="18" charset="0"/>
                    <a:cs typeface="Times New Roman" panose="02020603050405020304" pitchFamily="18" charset="0"/>
                  </a:rPr>
                  <a:t>fai</a:t>
                </a:r>
                <a:r>
                  <a:rPr lang="zh-CN" altLang="en-US" dirty="0"/>
                  <a:t>），定义为</a:t>
                </a:r>
                <a:r>
                  <a:rPr lang="en-US" altLang="zh-CN" dirty="0"/>
                  <a:t> </a:t>
                </a:r>
                <a14:m>
                  <m:oMath xmlns:m="http://schemas.openxmlformats.org/officeDocument/2006/math">
                    <m:r>
                      <a:rPr lang="en-US" altLang="zh-CN" i="1" dirty="0" smtClean="0">
                        <a:latin typeface="Cambria Math" panose="02040503050406030204" pitchFamily="18" charset="0"/>
                      </a:rPr>
                      <m:t>[1, </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oMath>
                </a14:m>
                <a:r>
                  <a:rPr lang="en-US" altLang="zh-CN" dirty="0"/>
                  <a:t> </a:t>
                </a:r>
                <a:r>
                  <a:rPr lang="zh-CN" altLang="en-US" dirty="0"/>
                  <a:t>中与</a:t>
                </a:r>
                <a:r>
                  <a:rPr lang="en-US" altLang="zh-CN" dirty="0"/>
                  <a:t> </a:t>
                </a:r>
                <a14:m>
                  <m:oMath xmlns:m="http://schemas.openxmlformats.org/officeDocument/2006/math">
                    <m:r>
                      <a:rPr lang="en-US" altLang="zh-CN" i="1" dirty="0" smtClean="0">
                        <a:latin typeface="Cambria Math" panose="02040503050406030204" pitchFamily="18" charset="0"/>
                      </a:rPr>
                      <m:t>𝑛</m:t>
                    </m:r>
                  </m:oMath>
                </a14:m>
                <a:r>
                  <a:rPr lang="en-US" altLang="zh-CN" dirty="0"/>
                  <a:t> </a:t>
                </a:r>
                <a:r>
                  <a:rPr lang="zh-CN" altLang="en-US" dirty="0"/>
                  <a:t>互素的数的个数</a:t>
                </a:r>
                <a:r>
                  <a:rPr lang="zh-CN" altLang="zh-CN" dirty="0"/>
                  <a:t>。</a:t>
                </a:r>
                <a:endParaRPr lang="en-US" altLang="zh-CN" dirty="0"/>
              </a:p>
              <a:p>
                <a:pPr>
                  <a:lnSpc>
                    <a:spcPct val="150000"/>
                  </a:lnSpc>
                  <a:spcBef>
                    <a:spcPts val="600"/>
                  </a:spcBef>
                </a:pPr>
                <a14:m>
                  <m:oMath xmlns:m="http://schemas.openxmlformats.org/officeDocument/2006/math">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i="1">
                            <a:latin typeface="Cambria Math" panose="02040503050406030204" pitchFamily="18" charset="0"/>
                          </a:rPr>
                          <m:t>8</m:t>
                        </m:r>
                      </m:e>
                    </m:d>
                    <m:r>
                      <a:rPr lang="en-US" altLang="zh-CN" i="1">
                        <a:latin typeface="Cambria Math" panose="02040503050406030204" pitchFamily="18" charset="0"/>
                      </a:rPr>
                      <m:t>=4</m:t>
                    </m:r>
                  </m:oMath>
                </a14:m>
                <a:r>
                  <a:rPr lang="zh-CN" altLang="zh-CN" dirty="0"/>
                  <a:t>，小于</a:t>
                </a:r>
                <a:r>
                  <a:rPr lang="en-US" altLang="zh-CN" dirty="0"/>
                  <a:t> </a:t>
                </a:r>
                <a14:m>
                  <m:oMath xmlns:m="http://schemas.openxmlformats.org/officeDocument/2006/math">
                    <m:r>
                      <a:rPr lang="en-US" altLang="zh-CN">
                        <a:latin typeface="Cambria Math" panose="02040503050406030204" pitchFamily="18" charset="0"/>
                      </a:rPr>
                      <m:t>8</m:t>
                    </m:r>
                  </m:oMath>
                </a14:m>
                <a:r>
                  <a:rPr lang="en-US" altLang="zh-CN" dirty="0"/>
                  <a:t> </a:t>
                </a:r>
                <a:r>
                  <a:rPr lang="zh-CN" altLang="zh-CN" dirty="0"/>
                  <a:t>且与</a:t>
                </a:r>
                <a:r>
                  <a:rPr lang="en-US" altLang="zh-CN" dirty="0"/>
                  <a:t> </a:t>
                </a:r>
                <a14:m>
                  <m:oMath xmlns:m="http://schemas.openxmlformats.org/officeDocument/2006/math">
                    <m:r>
                      <a:rPr lang="en-US" altLang="zh-CN">
                        <a:latin typeface="Cambria Math" panose="02040503050406030204" pitchFamily="18" charset="0"/>
                      </a:rPr>
                      <m:t>8</m:t>
                    </m:r>
                  </m:oMath>
                </a14:m>
                <a:r>
                  <a:rPr lang="en-US" altLang="zh-CN" dirty="0"/>
                  <a:t> </a:t>
                </a:r>
                <a:r>
                  <a:rPr lang="zh-CN" altLang="zh-CN" dirty="0"/>
                  <a:t>互</a:t>
                </a:r>
                <a:r>
                  <a:rPr lang="zh-CN" altLang="en-US" dirty="0"/>
                  <a:t>素</a:t>
                </a:r>
                <a:r>
                  <a:rPr lang="zh-CN" altLang="zh-CN" dirty="0"/>
                  <a:t>的数是</a:t>
                </a:r>
                <a:r>
                  <a:rPr lang="en-US" altLang="zh-CN" dirty="0"/>
                  <a:t> </a:t>
                </a:r>
                <a14:m>
                  <m:oMath xmlns:m="http://schemas.openxmlformats.org/officeDocument/2006/math">
                    <m:r>
                      <a:rPr lang="en-US" altLang="zh-CN">
                        <a:latin typeface="Cambria Math" panose="02040503050406030204" pitchFamily="18" charset="0"/>
                      </a:rPr>
                      <m:t>1,3,5,7</m:t>
                    </m:r>
                  </m:oMath>
                </a14:m>
                <a:r>
                  <a:rPr lang="zh-CN" altLang="zh-CN" dirty="0"/>
                  <a:t>。</a:t>
                </a:r>
                <a:endParaRPr lang="en-US" altLang="zh-CN" dirty="0"/>
              </a:p>
              <a:p>
                <a:pPr>
                  <a:lnSpc>
                    <a:spcPct val="150000"/>
                  </a:lnSpc>
                  <a:spcBef>
                    <a:spcPts val="600"/>
                  </a:spcBef>
                </a:pPr>
                <a:r>
                  <a:rPr lang="zh-CN" altLang="en-US" dirty="0">
                    <a:sym typeface="宋体" panose="02010600030101010101" pitchFamily="2" charset="-122"/>
                  </a:rPr>
                  <a:t>推论：若</a:t>
                </a:r>
                <a:r>
                  <a:rPr lang="en-US" altLang="zh-CN"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𝑝</m:t>
                    </m:r>
                  </m:oMath>
                </a14:m>
                <a:r>
                  <a:rPr lang="en-US" altLang="zh-CN" dirty="0">
                    <a:sym typeface="宋体" panose="02010600030101010101" pitchFamily="2" charset="-122"/>
                  </a:rPr>
                  <a:t> </a:t>
                </a:r>
                <a:r>
                  <a:rPr lang="zh-CN" altLang="en-US" dirty="0">
                    <a:sym typeface="宋体" panose="02010600030101010101" pitchFamily="2" charset="-122"/>
                  </a:rPr>
                  <a:t>为素数，则</a:t>
                </a:r>
                <a:r>
                  <a:rPr lang="en-US" altLang="zh-CN" dirty="0">
                    <a:sym typeface="宋体" panose="02010600030101010101" pitchFamily="2" charset="-122"/>
                  </a:rPr>
                  <a:t> </a:t>
                </a:r>
                <a14:m>
                  <m:oMath xmlns:m="http://schemas.openxmlformats.org/officeDocument/2006/math">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𝑝</m:t>
                        </m:r>
                      </m:e>
                    </m:d>
                    <m:r>
                      <a:rPr lang="en-US" altLang="zh-CN" i="1" dirty="0" smtClean="0">
                        <a:latin typeface="Cambria Math" panose="02040503050406030204" pitchFamily="18" charset="0"/>
                        <a:sym typeface="宋体" panose="02010600030101010101" pitchFamily="2" charset="-122"/>
                      </a:rPr>
                      <m:t>=</m:t>
                    </m:r>
                    <m:r>
                      <a:rPr lang="en-US" altLang="zh-CN" i="1" dirty="0" smtClean="0">
                        <a:latin typeface="Cambria Math" panose="02040503050406030204" pitchFamily="18" charset="0"/>
                        <a:sym typeface="宋体" panose="02010600030101010101" pitchFamily="2" charset="-122"/>
                      </a:rPr>
                      <m:t>𝑝</m:t>
                    </m:r>
                    <m:r>
                      <a:rPr lang="en-US" altLang="zh-CN" i="1" dirty="0" smtClean="0">
                        <a:latin typeface="Cambria Math" panose="02040503050406030204" pitchFamily="18" charset="0"/>
                        <a:sym typeface="宋体" panose="02010600030101010101" pitchFamily="2" charset="-122"/>
                      </a:rPr>
                      <m:t>−1</m:t>
                    </m:r>
                  </m:oMath>
                </a14:m>
                <a:r>
                  <a:rPr lang="en-US" altLang="zh-CN" dirty="0">
                    <a:sym typeface="宋体" panose="02010600030101010101" pitchFamily="2" charset="-122"/>
                  </a:rPr>
                  <a:t> </a:t>
                </a:r>
                <a:r>
                  <a:rPr lang="zh-Hans" altLang="en-US" dirty="0">
                    <a:sym typeface="宋体" panose="02010600030101010101" pitchFamily="2" charset="-122"/>
                  </a:rPr>
                  <a:t>。</a:t>
                </a:r>
                <a:endParaRPr lang="en-US" altLang="zh-CN" dirty="0">
                  <a:sym typeface="宋体" panose="02010600030101010101" pitchFamily="2" charset="-122"/>
                </a:endParaRPr>
              </a:p>
              <a:p>
                <a:pPr>
                  <a:lnSpc>
                    <a:spcPct val="150000"/>
                  </a:lnSpc>
                  <a:spcBef>
                    <a:spcPts val="600"/>
                  </a:spcBef>
                </a:pPr>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C5E72D8B-5767-DF4B-842C-B0D6982B0253}"/>
              </a:ext>
            </a:extLst>
          </p:cNvPr>
          <p:cNvSpPr>
            <a:spLocks noGrp="1"/>
          </p:cNvSpPr>
          <p:nvPr>
            <p:ph type="sldNum" sz="quarter" idx="12"/>
          </p:nvPr>
        </p:nvSpPr>
        <p:spPr/>
        <p:txBody>
          <a:bodyPr/>
          <a:lstStyle/>
          <a:p>
            <a:fld id="{0FF54DE5-C571-48E8-A5BC-B369434E2F44}" type="slidenum">
              <a:rPr lang="en-US" altLang="zh-CN" smtClean="0"/>
              <a:pPr/>
              <a:t>46</a:t>
            </a:fld>
            <a:endParaRPr lang="zh-CN" altLang="en-US" dirty="0"/>
          </a:p>
        </p:txBody>
      </p:sp>
    </p:spTree>
    <p:extLst>
      <p:ext uri="{BB962C8B-B14F-4D97-AF65-F5344CB8AC3E}">
        <p14:creationId xmlns:p14="http://schemas.microsoft.com/office/powerpoint/2010/main" val="1297257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容斥原理求欧拉函数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2456"/>
              </a:xfrm>
            </p:spPr>
            <p:txBody>
              <a:bodyPr>
                <a:normAutofit/>
              </a:bodyPr>
              <a:lstStyle/>
              <a:p>
                <a:pPr>
                  <a:lnSpc>
                    <a:spcPct val="150000"/>
                  </a:lnSpc>
                  <a:spcBef>
                    <a:spcPts val="600"/>
                  </a:spcBef>
                </a:pPr>
                <a:r>
                  <a:rPr lang="zh-CN" altLang="zh-CN" dirty="0"/>
                  <a:t>若将</a:t>
                </a:r>
                <a:r>
                  <a:rPr lang="zh-CN" altLang="en-US" dirty="0"/>
                  <a:t> </a:t>
                </a:r>
                <a14:m>
                  <m:oMath xmlns:m="http://schemas.openxmlformats.org/officeDocument/2006/math">
                    <m:r>
                      <a:rPr lang="en-US" altLang="zh-CN" i="1" dirty="0" smtClean="0">
                        <a:latin typeface="Cambria Math" panose="02040503050406030204" pitchFamily="18" charset="0"/>
                      </a:rPr>
                      <m:t>𝑁</m:t>
                    </m:r>
                  </m:oMath>
                </a14:m>
                <a:r>
                  <a:rPr lang="zh-CN" altLang="en-US" dirty="0"/>
                  <a:t> </a:t>
                </a:r>
                <a:r>
                  <a:rPr lang="zh-CN" altLang="zh-CN" dirty="0"/>
                  <a:t>分解为不同</a:t>
                </a:r>
                <a:r>
                  <a:rPr lang="zh-CN" altLang="en-US" dirty="0"/>
                  <a:t>素</a:t>
                </a:r>
                <a:r>
                  <a:rPr lang="zh-CN" altLang="zh-CN" dirty="0"/>
                  <a:t>数的乘积，即</a:t>
                </a:r>
                <a:r>
                  <a:rPr lang="zh-Hans" altLang="en-US" dirty="0"/>
                  <a:t>：</a:t>
                </a:r>
                <a:br>
                  <a:rPr lang="en-US" altLang="zh-CN" dirty="0"/>
                </a:br>
                <a14:m>
                  <m:oMath xmlns:m="http://schemas.openxmlformats.org/officeDocument/2006/math">
                    <m:r>
                      <a:rPr lang="en-US" altLang="zh-CN" i="1">
                        <a:latin typeface="Cambria Math" panose="02040503050406030204" pitchFamily="18" charset="0"/>
                      </a:rPr>
                      <m:t>𝑁</m:t>
                    </m:r>
                    <m:r>
                      <a:rPr lang="en-US" altLang="zh-CN">
                        <a:latin typeface="Cambria Math" panose="02040503050406030204" pitchFamily="18" charset="0"/>
                      </a:rPr>
                      <m:t>=</m:t>
                    </m:r>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2</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sup>
                    </m:sSubSup>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m:t>
                        </m:r>
                        <m:r>
                          <a:rPr lang="en-US" altLang="zh-CN" i="1">
                            <a:latin typeface="Cambria Math" panose="02040503050406030204" pitchFamily="18" charset="0"/>
                          </a:rPr>
                          <m:t>𝑝</m:t>
                        </m:r>
                      </m:e>
                      <m:sub>
                        <m:r>
                          <a:rPr lang="en-US" altLang="zh-CN" i="1">
                            <a:latin typeface="Cambria Math" panose="02040503050406030204" pitchFamily="18" charset="0"/>
                          </a:rPr>
                          <m:t>𝑘</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𝑘</m:t>
                            </m:r>
                          </m:sub>
                        </m:sSub>
                      </m:sup>
                    </m:sSubSup>
                  </m:oMath>
                </a14:m>
                <a:endParaRPr lang="en-US" altLang="zh-CN" dirty="0"/>
              </a:p>
              <a:p>
                <a:pPr>
                  <a:lnSpc>
                    <a:spcPct val="150000"/>
                  </a:lnSpc>
                  <a:spcBef>
                    <a:spcPts val="600"/>
                  </a:spcBef>
                </a:pPr>
                <a:r>
                  <a:rPr lang="zh-CN" altLang="zh-CN" dirty="0"/>
                  <a:t>设</a:t>
                </a:r>
                <a:r>
                  <a:rPr lang="en-US" altLang="zh-CN" dirty="0"/>
                  <a:t> </a:t>
                </a:r>
                <a14:m>
                  <m:oMath xmlns:m="http://schemas.openxmlformats.org/officeDocument/2006/math">
                    <m:r>
                      <a:rPr lang="en-US" altLang="zh-CN">
                        <a:latin typeface="Cambria Math" panose="02040503050406030204" pitchFamily="18" charset="0"/>
                      </a:rPr>
                      <m:t>1</m:t>
                    </m:r>
                  </m:oMath>
                </a14:m>
                <a:r>
                  <a:rPr lang="en-US" altLang="zh-CN" dirty="0"/>
                  <a:t> </a:t>
                </a:r>
                <a:r>
                  <a:rPr lang="zh-CN" altLang="zh-CN" dirty="0"/>
                  <a:t>到</a:t>
                </a:r>
                <a:r>
                  <a:rPr lang="en-US" altLang="zh-CN" dirty="0"/>
                  <a:t> </a:t>
                </a:r>
                <a14:m>
                  <m:oMath xmlns:m="http://schemas.openxmlformats.org/officeDocument/2006/math">
                    <m:r>
                      <a:rPr lang="en-US" altLang="zh-CN" b="0" i="1" smtClean="0">
                        <a:latin typeface="Cambria Math" panose="02040503050406030204" pitchFamily="18" charset="0"/>
                      </a:rPr>
                      <m:t>𝑁</m:t>
                    </m:r>
                  </m:oMath>
                </a14:m>
                <a:r>
                  <a:rPr lang="en-US" altLang="zh-CN" dirty="0"/>
                  <a:t> </a:t>
                </a:r>
                <a:r>
                  <a:rPr lang="zh-CN" altLang="zh-CN" dirty="0"/>
                  <a:t>的</a:t>
                </a:r>
                <a:r>
                  <a:rPr lang="en-US" altLang="zh-CN" dirty="0"/>
                  <a:t> </a:t>
                </a:r>
                <a14:m>
                  <m:oMath xmlns:m="http://schemas.openxmlformats.org/officeDocument/2006/math">
                    <m:r>
                      <a:rPr lang="en-US" altLang="zh-CN" b="0" i="1" smtClean="0">
                        <a:latin typeface="Cambria Math" panose="02040503050406030204" pitchFamily="18" charset="0"/>
                      </a:rPr>
                      <m:t>𝑁</m:t>
                    </m:r>
                  </m:oMath>
                </a14:m>
                <a:r>
                  <a:rPr lang="en-US" altLang="zh-CN" dirty="0"/>
                  <a:t> </a:t>
                </a:r>
                <a:r>
                  <a:rPr lang="zh-CN" altLang="zh-CN" dirty="0"/>
                  <a:t>个数中为</a:t>
                </a:r>
                <a:r>
                  <a:rPr lang="en-US" altLang="zh-CN" dirty="0"/>
                  <a:t> </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oMath>
                </a14:m>
                <a:r>
                  <a:rPr lang="en-US" altLang="zh-CN" dirty="0"/>
                  <a:t> </a:t>
                </a:r>
                <a:r>
                  <a:rPr lang="zh-CN" altLang="zh-CN" dirty="0"/>
                  <a:t>倍数的集合为</a:t>
                </a:r>
                <a:r>
                  <a:rPr lang="zh-CN" altLang="en-US" dirty="0"/>
                  <a:t> </a:t>
                </a:r>
                <a14:m>
                  <m:oMath xmlns:m="http://schemas.openxmlformats.org/officeDocument/2006/math">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oMath>
                </a14:m>
                <a:r>
                  <a:rPr lang="zh-Hans" altLang="en-US" i="1" dirty="0">
                    <a:latin typeface="Cambria Math" panose="02040503050406030204" pitchFamily="18" charset="0"/>
                  </a:rPr>
                  <a:t> </a:t>
                </a:r>
                <a:r>
                  <a:rPr lang="zh-Hans" altLang="en-US" dirty="0">
                    <a:latin typeface="Cambria Math" panose="02040503050406030204" pitchFamily="18" charset="0"/>
                  </a:rPr>
                  <a:t>，</a:t>
                </a:r>
                <a:r>
                  <a:rPr lang="en-US" altLang="zh-CN" dirty="0"/>
                  <a:t> </a:t>
                </a:r>
                <a14:m>
                  <m:oMath xmlns:m="http://schemas.openxmlformats.org/officeDocument/2006/math">
                    <m:d>
                      <m:dPr>
                        <m:begChr m:val="|"/>
                        <m:endChr m:val="|"/>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e>
                    </m:d>
                    <m:r>
                      <a:rPr lang="en-US" altLang="zh-Hans" b="0" i="1" smtClean="0">
                        <a:latin typeface="Cambria Math" panose="02040503050406030204" pitchFamily="18" charset="0"/>
                      </a:rPr>
                      <m:t>=</m:t>
                    </m:r>
                    <m:d>
                      <m:dPr>
                        <m:begChr m:val="⌊"/>
                        <m:endChr m:val="⌋"/>
                        <m:ctrlPr>
                          <a:rPr lang="en-US" altLang="zh-Hans" b="0"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den>
                        </m:f>
                      </m:e>
                    </m:d>
                    <m:r>
                      <a:rPr lang="zh-Hans" altLang="en-US" b="0" i="0" smtClean="0">
                        <a:latin typeface="Cambria Math" panose="02040503050406030204" pitchFamily="18" charset="0"/>
                      </a:rPr>
                      <m:t> </m:t>
                    </m:r>
                    <m:r>
                      <a:rPr lang="en-US" altLang="zh-CN" b="0" i="1" smtClean="0">
                        <a:latin typeface="Cambria Math" panose="02040503050406030204" pitchFamily="18" charset="0"/>
                      </a:rPr>
                      <m:t>( </m:t>
                    </m:r>
                    <m:r>
                      <a:rPr lang="en-US" altLang="zh-CN" i="1">
                        <a:latin typeface="Cambria Math" panose="02040503050406030204" pitchFamily="18" charset="0"/>
                      </a:rPr>
                      <m:t>𝑖</m:t>
                    </m:r>
                    <m:r>
                      <a:rPr lang="en-US" altLang="zh-CN" i="1">
                        <a:latin typeface="Cambria Math" panose="02040503050406030204" pitchFamily="18" charset="0"/>
                      </a:rPr>
                      <m:t>=1,2,…,</m:t>
                    </m:r>
                    <m:r>
                      <a:rPr lang="en-US" altLang="zh-CN" i="1">
                        <a:latin typeface="Cambria Math" panose="02040503050406030204" pitchFamily="18" charset="0"/>
                      </a:rPr>
                      <m:t>𝑘</m:t>
                    </m:r>
                    <m:r>
                      <a:rPr lang="en-US" altLang="zh-CN" b="0" i="1" smtClean="0">
                        <a:latin typeface="Cambria Math" panose="02040503050406030204" pitchFamily="18" charset="0"/>
                      </a:rPr>
                      <m:t> )</m:t>
                    </m:r>
                  </m:oMath>
                </a14:m>
                <a:r>
                  <a:rPr lang="zh-Hans" altLang="en-US" dirty="0"/>
                  <a:t> 。</a:t>
                </a:r>
                <a:endParaRPr lang="en-US" altLang="zh-CN" dirty="0"/>
              </a:p>
              <a:p>
                <a:pPr>
                  <a:lnSpc>
                    <a:spcPct val="150000"/>
                  </a:lnSpc>
                  <a:spcBef>
                    <a:spcPts val="600"/>
                  </a:spcBef>
                </a:pPr>
                <a:r>
                  <a:rPr lang="zh-CN" altLang="zh-CN" dirty="0"/>
                  <a:t>对于</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𝑗</m:t>
                        </m:r>
                      </m:sub>
                    </m:sSub>
                  </m:oMath>
                </a14:m>
                <a:r>
                  <a:rPr lang="zh-CN" altLang="zh-CN" dirty="0"/>
                  <a:t>，</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oMath>
                </a14:m>
                <a:r>
                  <a:rPr lang="zh-CN" altLang="zh-CN" dirty="0"/>
                  <a:t>既是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oMath>
                </a14:m>
                <a:r>
                  <a:rPr lang="zh-CN" altLang="zh-CN" dirty="0"/>
                  <a:t>的倍数也是</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𝑗</m:t>
                        </m:r>
                      </m:sub>
                    </m:sSub>
                  </m:oMath>
                </a14:m>
                <a:r>
                  <a:rPr lang="zh-CN" altLang="zh-CN" dirty="0"/>
                  <a:t>的倍数，即可得</a:t>
                </a:r>
                <a:br>
                  <a:rPr lang="en-US" altLang="zh-CN" dirty="0"/>
                </a:br>
                <a14:m>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e>
                    </m:d>
                    <m:r>
                      <a:rPr lang="en-US" altLang="zh-CN">
                        <a:latin typeface="Cambria Math" panose="02040503050406030204" pitchFamily="18" charset="0"/>
                      </a:rPr>
                      <m:t>=</m:t>
                    </m:r>
                    <m:d>
                      <m:dPr>
                        <m:begChr m:val="⌊"/>
                        <m:endChr m:val="⌋"/>
                        <m:ctrlPr>
                          <a:rPr lang="en-US" altLang="zh-CN" i="1" smtClean="0">
                            <a:latin typeface="Cambria Math" panose="02040503050406030204" pitchFamily="18" charset="0"/>
                          </a:rPr>
                        </m:ctrlPr>
                      </m:dPr>
                      <m:e>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𝑗</m:t>
                                </m:r>
                              </m:sub>
                            </m:sSub>
                          </m:den>
                        </m:f>
                      </m:e>
                    </m:d>
                    <m:r>
                      <a:rPr lang="en-US" altLang="zh-CN" b="0" i="1" smtClean="0">
                        <a:latin typeface="Cambria Math" panose="02040503050406030204" pitchFamily="18" charset="0"/>
                      </a:rPr>
                      <m:t> ( 1</m:t>
                    </m:r>
                    <m:r>
                      <a:rPr lang="en-US" altLang="zh-CN" b="0"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r>
                      <a:rPr lang="en-US" altLang="zh-CN" b="0" i="1" smtClean="0">
                        <a:latin typeface="Cambria Math" panose="02040503050406030204" pitchFamily="18" charset="0"/>
                      </a:rPr>
                      <m:t> )</m:t>
                    </m:r>
                  </m:oMath>
                </a14:m>
                <a:endParaRPr lang="en-US" altLang="zh-CN" dirty="0"/>
              </a:p>
              <a:p>
                <a:pPr>
                  <a:lnSpc>
                    <a:spcPct val="150000"/>
                  </a:lnSpc>
                  <a:spcBef>
                    <a:spcPts val="600"/>
                  </a:spcBef>
                </a:pPr>
                <a:r>
                  <a:rPr lang="zh-Hans" altLang="en-US" dirty="0"/>
                  <a:t>在去除 </a:t>
                </a:r>
                <a14:m>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smtClean="0">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e>
                    </m:d>
                    <m:r>
                      <a:rPr lang="zh-Hans" altLang="en-US" b="0" i="1" smtClean="0">
                        <a:latin typeface="Cambria Math" panose="02040503050406030204" pitchFamily="18" charset="0"/>
                      </a:rPr>
                      <m:t> </m:t>
                    </m:r>
                    <m:r>
                      <a:rPr lang="zh-Hans" altLang="en-US" i="1">
                        <a:latin typeface="Cambria Math" panose="02040503050406030204" pitchFamily="18" charset="0"/>
                      </a:rPr>
                      <m:t>和</m:t>
                    </m:r>
                    <m:r>
                      <a:rPr lang="zh-Hans" altLang="en-US" b="0" i="1" smtClean="0">
                        <a:latin typeface="Cambria Math" panose="02040503050406030204" pitchFamily="18" charset="0"/>
                      </a:rPr>
                      <m:t> </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b="0" i="1" smtClean="0">
                                <a:latin typeface="Cambria Math" panose="02040503050406030204" pitchFamily="18" charset="0"/>
                              </a:rPr>
                              <m:t>𝑗</m:t>
                            </m:r>
                          </m:sub>
                        </m:sSub>
                      </m:e>
                    </m:d>
                    <m:r>
                      <a:rPr lang="zh-Hans" altLang="en-US" b="0" i="1" smtClean="0">
                        <a:latin typeface="Cambria Math" panose="02040503050406030204" pitchFamily="18" charset="0"/>
                      </a:rPr>
                      <m:t> </m:t>
                    </m:r>
                    <m:r>
                      <a:rPr lang="zh-Hans" altLang="en-US" i="1">
                        <a:latin typeface="Cambria Math" panose="02040503050406030204" pitchFamily="18" charset="0"/>
                      </a:rPr>
                      <m:t>的时候</m:t>
                    </m:r>
                    <m:r>
                      <a:rPr lang="zh-Hans" altLang="en-US" b="0" i="1"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𝑖</m:t>
                        </m:r>
                      </m:sub>
                    </m:sSub>
                    <m:r>
                      <a:rPr lang="zh-Hans" altLang="en-US" i="1">
                        <a:latin typeface="Cambria Math" panose="02040503050406030204" pitchFamily="18" charset="0"/>
                      </a:rPr>
                      <m:t>和</m:t>
                    </m:r>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𝑗</m:t>
                        </m:r>
                      </m:sub>
                    </m:sSub>
                    <m:r>
                      <m:rPr>
                        <m:nor/>
                      </m:rPr>
                      <a:rPr lang="zh-CN" altLang="zh-CN" dirty="0"/>
                      <m:t>的倍数</m:t>
                    </m:r>
                    <m:r>
                      <a:rPr lang="zh-Hans" altLang="en-US" i="1" dirty="0" smtClean="0">
                        <a:latin typeface="Cambria Math" panose="02040503050406030204" pitchFamily="18" charset="0"/>
                      </a:rPr>
                      <m:t>被去</m:t>
                    </m:r>
                    <m:r>
                      <a:rPr lang="zh-Hans" altLang="en-US" i="1" dirty="0">
                        <a:latin typeface="Cambria Math" panose="02040503050406030204" pitchFamily="18" charset="0"/>
                      </a:rPr>
                      <m:t>除去</m:t>
                    </m:r>
                    <m:r>
                      <a:rPr lang="zh-Hans" altLang="en-US" i="1" dirty="0" smtClean="0">
                        <a:latin typeface="Cambria Math" panose="02040503050406030204" pitchFamily="18" charset="0"/>
                      </a:rPr>
                      <m:t>了</m:t>
                    </m:r>
                    <m:r>
                      <a:rPr lang="zh-Hans" altLang="en-US" i="1" dirty="0">
                        <a:latin typeface="Cambria Math" panose="02040503050406030204" pitchFamily="18" charset="0"/>
                      </a:rPr>
                      <m:t>两次</m:t>
                    </m:r>
                    <m:r>
                      <a:rPr lang="zh-Hans" altLang="en-US" b="0" i="1" dirty="0" smtClean="0">
                        <a:latin typeface="Cambria Math" panose="02040503050406030204" pitchFamily="18" charset="0"/>
                      </a:rPr>
                      <m:t>，</m:t>
                    </m:r>
                    <m:r>
                      <a:rPr lang="zh-Hans" altLang="en-US" i="1">
                        <a:latin typeface="Cambria Math" panose="02040503050406030204" pitchFamily="18" charset="0"/>
                      </a:rPr>
                      <m:t>需要</m:t>
                    </m:r>
                    <m:r>
                      <a:rPr lang="zh-Hans" altLang="en-US" i="1" smtClean="0">
                        <a:latin typeface="Cambria Math" panose="02040503050406030204" pitchFamily="18" charset="0"/>
                      </a:rPr>
                      <m:t>再</m:t>
                    </m:r>
                    <m:r>
                      <a:rPr lang="zh-Hans" altLang="en-US" i="1">
                        <a:latin typeface="Cambria Math" panose="02040503050406030204" pitchFamily="18" charset="0"/>
                      </a:rPr>
                      <m:t>把</m:t>
                    </m:r>
                    <m:r>
                      <a:rPr lang="zh-Hans" altLang="en-US" b="0" i="1" smtClean="0">
                        <a:latin typeface="Cambria Math" panose="02040503050406030204" pitchFamily="18" charset="0"/>
                      </a:rPr>
                      <m:t> </m:t>
                    </m:r>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𝑗</m:t>
                            </m:r>
                          </m:sub>
                        </m:sSub>
                      </m:e>
                    </m:d>
                  </m:oMath>
                </a14:m>
                <a:r>
                  <a:rPr lang="zh-Hans" altLang="en-US" dirty="0"/>
                  <a:t> 加回来。</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r="-635"/>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D34E9F0A-65C8-D947-B5DB-DFCA4D4C517B}"/>
              </a:ext>
            </a:extLst>
          </p:cNvPr>
          <p:cNvSpPr>
            <a:spLocks noGrp="1"/>
          </p:cNvSpPr>
          <p:nvPr>
            <p:ph type="sldNum" sz="quarter" idx="12"/>
          </p:nvPr>
        </p:nvSpPr>
        <p:spPr/>
        <p:txBody>
          <a:bodyPr/>
          <a:lstStyle/>
          <a:p>
            <a:fld id="{0FF54DE5-C571-48E8-A5BC-B369434E2F44}" type="slidenum">
              <a:rPr lang="en-US" altLang="zh-CN" smtClean="0"/>
              <a:pPr/>
              <a:t>47</a:t>
            </a:fld>
            <a:endParaRPr lang="zh-CN" altLang="en-US" dirty="0"/>
          </a:p>
        </p:txBody>
      </p:sp>
    </p:spTree>
    <p:extLst>
      <p:ext uri="{BB962C8B-B14F-4D97-AF65-F5344CB8AC3E}">
        <p14:creationId xmlns:p14="http://schemas.microsoft.com/office/powerpoint/2010/main" val="371756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容斥原理求欧拉函数</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4367784"/>
              </a:xfrm>
            </p:spPr>
            <p:txBody>
              <a:bodyPr>
                <a:normAutofit/>
              </a:bodyPr>
              <a:lstStyle/>
              <a:p>
                <a:pPr>
                  <a:lnSpc>
                    <a:spcPct val="200000"/>
                  </a:lnSpc>
                </a:pPr>
                <a14:m>
                  <m:oMath xmlns:m="http://schemas.openxmlformats.org/officeDocument/2006/math">
                    <m:r>
                      <m:rPr>
                        <m:sty m:val="p"/>
                      </m:rPr>
                      <a:rPr lang="en-US" altLang="zh-CN" smtClean="0">
                        <a:latin typeface="Cambria Math" panose="02040503050406030204" pitchFamily="18" charset="0"/>
                      </a:rPr>
                      <m:t>φ</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𝑁</m:t>
                        </m:r>
                      </m:e>
                    </m:d>
                    <m:r>
                      <a:rPr lang="en-US" altLang="zh-CN" i="1">
                        <a:latin typeface="Cambria Math" panose="02040503050406030204" pitchFamily="18" charset="0"/>
                      </a:rPr>
                      <m:t>=</m:t>
                    </m:r>
                    <m:d>
                      <m:dPr>
                        <m:begChr m:val="|"/>
                        <m:endChr m:val="|"/>
                        <m:ctrlPr>
                          <a:rPr lang="zh-CN" altLang="zh-CN" i="1">
                            <a:latin typeface="Cambria Math" panose="02040503050406030204" pitchFamily="18" charset="0"/>
                          </a:rPr>
                        </m:ctrlPr>
                      </m:dPr>
                      <m:e>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1</m:t>
                                </m:r>
                              </m:sub>
                            </m:sSub>
                          </m:e>
                        </m:acc>
                        <m:r>
                          <a:rPr lang="en-US" altLang="zh-CN" i="1">
                            <a:latin typeface="Cambria Math" panose="02040503050406030204" pitchFamily="18" charset="0"/>
                          </a:rPr>
                          <m:t>∩</m:t>
                        </m:r>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2</m:t>
                                </m:r>
                              </m:sub>
                            </m:sSub>
                          </m:e>
                        </m:acc>
                        <m:r>
                          <a:rPr lang="en-US" altLang="zh-CN" i="1">
                            <a:latin typeface="Cambria Math" panose="02040503050406030204" pitchFamily="18" charset="0"/>
                          </a:rPr>
                          <m:t>∩</m:t>
                        </m:r>
                        <m:r>
                          <a:rPr lang="en-US" altLang="zh-CN">
                            <a:latin typeface="Cambria Math" panose="02040503050406030204" pitchFamily="18" charset="0"/>
                          </a:rPr>
                          <m:t>…∩</m:t>
                        </m:r>
                        <m:acc>
                          <m:accPr>
                            <m:chr m:val="̅"/>
                            <m:ctrlPr>
                              <a:rPr lang="zh-CN" altLang="zh-CN" i="1">
                                <a:latin typeface="Cambria Math" panose="02040503050406030204" pitchFamily="18" charset="0"/>
                              </a:rPr>
                            </m:ctrlPr>
                          </m:accPr>
                          <m:e>
                            <m:sSub>
                              <m:sSubPr>
                                <m:ctrlPr>
                                  <a:rPr lang="zh-CN" altLang="zh-CN" i="1">
                                    <a:latin typeface="Cambria Math" panose="02040503050406030204" pitchFamily="18" charset="0"/>
                                  </a:rPr>
                                </m:ctrlPr>
                              </m:sSubPr>
                              <m:e>
                                <m:r>
                                  <a:rPr lang="en-US" altLang="zh-CN" i="1">
                                    <a:latin typeface="Cambria Math" panose="02040503050406030204" pitchFamily="18" charset="0"/>
                                  </a:rPr>
                                  <m:t>𝐴</m:t>
                                </m:r>
                              </m:e>
                              <m:sub>
                                <m:r>
                                  <a:rPr lang="en-US" altLang="zh-CN" i="1">
                                    <a:latin typeface="Cambria Math" panose="02040503050406030204" pitchFamily="18" charset="0"/>
                                  </a:rPr>
                                  <m:t>𝑘</m:t>
                                </m:r>
                              </m:sub>
                            </m:sSub>
                          </m:e>
                        </m:acc>
                      </m:e>
                    </m:d>
                  </m:oMath>
                </a14:m>
                <a:endParaRPr lang="zh-CN" altLang="zh-CN" dirty="0"/>
              </a:p>
              <a:p>
                <a:pPr marL="0" indent="0">
                  <a:lnSpc>
                    <a:spcPct val="200000"/>
                  </a:lnSpc>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m:t>
                      </m:r>
                      <m:r>
                        <a:rPr lang="en-US" altLang="zh-CN" b="0" i="1" smtClean="0">
                          <a:latin typeface="Cambria Math" panose="02040503050406030204" pitchFamily="18" charset="0"/>
                        </a:rPr>
                        <m:t>𝑁</m:t>
                      </m:r>
                      <m:r>
                        <a:rPr lang="zh-CN" altLang="en-US" i="1">
                          <a:latin typeface="Cambria Math" panose="02040503050406030204" pitchFamily="18" charset="0"/>
                        </a:rPr>
                        <m:t>−</m:t>
                      </m:r>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den>
                          </m:f>
                        </m:e>
                      </m:d>
                      <m:r>
                        <a:rPr lang="en-US" altLang="zh-CN">
                          <a:latin typeface="Cambria Math" panose="02040503050406030204" pitchFamily="18" charset="0"/>
                        </a:rPr>
                        <m:t>+</m:t>
                      </m:r>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3</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den>
                          </m:f>
                        </m:e>
                      </m:d>
                      <m:r>
                        <a:rPr lang="en-US" altLang="zh-CN" i="1">
                          <a:latin typeface="Cambria Math" panose="02040503050406030204" pitchFamily="18" charset="0"/>
                        </a:rPr>
                        <m:t>…±</m:t>
                      </m:r>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b="0" i="1" smtClean="0">
                                  <a:latin typeface="Cambria Math" panose="02040503050406030204" pitchFamily="18" charset="0"/>
                                </a:rPr>
                                <m:t>𝑁</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den>
                          </m:f>
                        </m:e>
                      </m:d>
                    </m:oMath>
                  </m:oMathPara>
                </a14:m>
                <a:endParaRPr lang="zh-CN" altLang="zh-CN" dirty="0"/>
              </a:p>
              <a:p>
                <a:pPr marL="0" indent="0">
                  <a:lnSpc>
                    <a:spcPct val="200000"/>
                  </a:lnSpc>
                  <a:buNone/>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m:t>
                      </m:r>
                      <m:r>
                        <a:rPr lang="en-US" altLang="zh-CN" b="0" i="1" smtClean="0">
                          <a:latin typeface="Cambria Math" panose="02040503050406030204" pitchFamily="18" charset="0"/>
                        </a:rPr>
                        <m:t>𝑁</m:t>
                      </m:r>
                      <m:d>
                        <m:dPr>
                          <m:ctrlPr>
                            <a:rPr lang="zh-CN" altLang="zh-CN" i="1">
                              <a:latin typeface="Cambria Math" panose="02040503050406030204" pitchFamily="18" charset="0"/>
                            </a:rPr>
                          </m:ctrlPr>
                        </m:dPr>
                        <m:e>
                          <m:r>
                            <a:rPr lang="en-US" altLang="zh-CN" i="1">
                              <a:latin typeface="Cambria Math" panose="02040503050406030204" pitchFamily="18" charset="0"/>
                            </a:rPr>
                            <m:t>1−</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1</m:t>
                                  </m:r>
                                </m:sub>
                              </m:sSub>
                            </m:den>
                          </m:f>
                        </m:e>
                      </m:d>
                      <m:d>
                        <m:dPr>
                          <m:ctrlPr>
                            <a:rPr lang="zh-CN" altLang="zh-CN" i="1">
                              <a:latin typeface="Cambria Math" panose="02040503050406030204" pitchFamily="18" charset="0"/>
                            </a:rPr>
                          </m:ctrlPr>
                        </m:dPr>
                        <m:e>
                          <m:r>
                            <a:rPr lang="en-US" altLang="zh-CN" i="1">
                              <a:latin typeface="Cambria Math" panose="02040503050406030204" pitchFamily="18" charset="0"/>
                            </a:rPr>
                            <m:t>1−</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2</m:t>
                                  </m:r>
                                </m:sub>
                              </m:sSub>
                            </m:den>
                          </m:f>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1−</m:t>
                          </m:r>
                          <m:f>
                            <m:fPr>
                              <m:ctrlPr>
                                <a:rPr lang="zh-CN"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den>
                          </m:f>
                        </m:e>
                      </m:d>
                    </m:oMath>
                  </m:oMathPara>
                </a14:m>
                <a:endParaRPr lang="zh-CN" altLang="zh-CN" dirty="0"/>
              </a:p>
              <a:p>
                <a:pPr>
                  <a:lnSpc>
                    <a:spcPct val="150000"/>
                  </a:lnSpc>
                  <a:spcBef>
                    <a:spcPts val="600"/>
                  </a:spcBef>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4367784"/>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7ACE0B93-48CA-AD43-868A-714CC5F38C3A}"/>
              </a:ext>
            </a:extLst>
          </p:cNvPr>
          <p:cNvSpPr>
            <a:spLocks noGrp="1"/>
          </p:cNvSpPr>
          <p:nvPr>
            <p:ph type="sldNum" sz="quarter" idx="12"/>
          </p:nvPr>
        </p:nvSpPr>
        <p:spPr/>
        <p:txBody>
          <a:bodyPr/>
          <a:lstStyle/>
          <a:p>
            <a:fld id="{0FF54DE5-C571-48E8-A5BC-B369434E2F44}" type="slidenum">
              <a:rPr lang="en-US" altLang="zh-CN" smtClean="0"/>
              <a:pPr/>
              <a:t>48</a:t>
            </a:fld>
            <a:endParaRPr lang="zh-CN" altLang="en-US" dirty="0"/>
          </a:p>
        </p:txBody>
      </p:sp>
    </p:spTree>
    <p:extLst>
      <p:ext uri="{BB962C8B-B14F-4D97-AF65-F5344CB8AC3E}">
        <p14:creationId xmlns:p14="http://schemas.microsoft.com/office/powerpoint/2010/main" val="2174840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r>
              <a:rPr lang="zh-CN" altLang="en-US" noProof="1"/>
              <a:t>基于素因数分解求欧拉函数的算法</a:t>
            </a:r>
            <a:endParaRPr lang="zh-CN" altLang="en-US" dirty="0"/>
          </a:p>
        </p:txBody>
      </p:sp>
      <p:sp>
        <p:nvSpPr>
          <p:cNvPr id="3" name="内容占位符 2"/>
          <p:cNvSpPr>
            <a:spLocks noGrp="1"/>
          </p:cNvSpPr>
          <p:nvPr>
            <p:ph idx="1"/>
          </p:nvPr>
        </p:nvSpPr>
        <p:spPr>
          <a:xfrm>
            <a:off x="1104900" y="1600200"/>
            <a:ext cx="9982200" cy="3684494"/>
          </a:xfrm>
        </p:spPr>
        <p:txBody>
          <a:bodyPr>
            <a:normAutofit/>
          </a:body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euler_phi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res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nn-NO" altLang="zh-CN" dirty="0">
                <a:solidFill>
                  <a:srgbClr val="FF8000"/>
                </a:solidFill>
                <a:highlight>
                  <a:srgbClr val="FFFFF3"/>
                </a:highlight>
                <a:latin typeface="Courier New" panose="02070309020205020404" pitchFamily="49" charset="0"/>
                <a:cs typeface="Courier New" panose="02070309020205020404" pitchFamily="49" charset="0"/>
              </a:rPr>
              <a:t>3</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8000FF"/>
                </a:solidFill>
                <a:highlight>
                  <a:srgbClr val="FFFFF3"/>
                </a:highlight>
                <a:latin typeface="Courier New" panose="02070309020205020404" pitchFamily="49" charset="0"/>
                <a:cs typeface="Courier New" panose="02070309020205020404" pitchFamily="49" charset="0"/>
              </a:rPr>
              <a:t>int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n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res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res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n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n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7</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8</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pt-BR" altLang="zh-CN" dirty="0">
                <a:solidFill>
                  <a:srgbClr val="FF8000"/>
                </a:solidFill>
                <a:highlight>
                  <a:srgbClr val="FFFFF3"/>
                </a:highlight>
                <a:latin typeface="Courier New" panose="02070309020205020404" pitchFamily="49" charset="0"/>
                <a:cs typeface="Courier New" panose="02070309020205020404" pitchFamily="49" charset="0"/>
              </a:rPr>
              <a:t>9</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a:t>
            </a:r>
            <a:r>
              <a:rPr lang="pt-BR" altLang="zh-CN" b="1" dirty="0">
                <a:solidFill>
                  <a:srgbClr val="0000FF"/>
                </a:solidFill>
                <a:highlight>
                  <a:srgbClr val="FFFFF3"/>
                </a:highlight>
                <a:latin typeface="Courier New" panose="02070309020205020404" pitchFamily="49" charset="0"/>
                <a:cs typeface="Courier New" panose="02070309020205020404" pitchFamily="49" charset="0"/>
              </a:rPr>
              <a:t>if</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n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a:t>
            </a:r>
            <a:r>
              <a:rPr lang="pt-BR" altLang="zh-CN" dirty="0">
                <a:solidFill>
                  <a:srgbClr val="FF8000"/>
                </a:solidFill>
                <a:highlight>
                  <a:srgbClr val="FFFFF3"/>
                </a:highlight>
                <a:latin typeface="Courier New" panose="02070309020205020404" pitchFamily="49" charset="0"/>
                <a:cs typeface="Courier New" panose="02070309020205020404" pitchFamily="49" charset="0"/>
              </a:rPr>
              <a:t>1</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res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res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n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n </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dirty="0">
                <a:solidFill>
                  <a:srgbClr val="000000"/>
                </a:solidFill>
                <a:highlight>
                  <a:srgbClr val="FFFFF3"/>
                </a:highlight>
                <a:latin typeface="Courier New" panose="02070309020205020404" pitchFamily="49" charset="0"/>
                <a:cs typeface="Courier New" panose="02070309020205020404" pitchFamily="49" charset="0"/>
              </a:rPr>
              <a:t> </a:t>
            </a:r>
            <a:r>
              <a:rPr lang="pt-BR" altLang="zh-CN" dirty="0">
                <a:solidFill>
                  <a:srgbClr val="FF8000"/>
                </a:solidFill>
                <a:highlight>
                  <a:srgbClr val="FFFFF3"/>
                </a:highlight>
                <a:latin typeface="Courier New" panose="02070309020205020404" pitchFamily="49" charset="0"/>
                <a:cs typeface="Courier New" panose="02070309020205020404" pitchFamily="49" charset="0"/>
              </a:rPr>
              <a:t>1</a:t>
            </a:r>
            <a:r>
              <a:rPr lang="pt-BR"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pt-BR"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10</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res</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11</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noProof="1">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4" name="内容占位符 2"/>
              <p:cNvSpPr txBox="1">
                <a:spLocks noChangeArrowheads="1"/>
              </p:cNvSpPr>
              <p:nvPr/>
            </p:nvSpPr>
            <p:spPr>
              <a:xfrm>
                <a:off x="1104900" y="5446058"/>
                <a:ext cx="9982200" cy="726141"/>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r>
                  <a:rPr lang="zh-CN" altLang="en-US" dirty="0">
                    <a:sym typeface="宋体" panose="02010600030101010101" pitchFamily="2" charset="-122"/>
                  </a:rPr>
                  <a:t>时间复杂度为</a:t>
                </a:r>
                <a14:m>
                  <m:oMath xmlns:m="http://schemas.openxmlformats.org/officeDocument/2006/math">
                    <m:r>
                      <m:rPr>
                        <m:sty m:val="p"/>
                      </m:rPr>
                      <a:rPr lang="en-US" altLang="zh-CN" i="1" dirty="0">
                        <a:latin typeface="Cambria Math" panose="02040503050406030204" pitchFamily="18" charset="0"/>
                        <a:sym typeface="宋体" panose="02010600030101010101" pitchFamily="2" charset="-122"/>
                      </a:rPr>
                      <m:t>O</m:t>
                    </m:r>
                    <m:d>
                      <m:dPr>
                        <m:ctrlPr>
                          <a:rPr lang="en-US" altLang="zh-CN" i="1" dirty="0" smtClean="0">
                            <a:latin typeface="Cambria Math" panose="02040503050406030204" pitchFamily="18" charset="0"/>
                            <a:sym typeface="宋体" panose="02010600030101010101" pitchFamily="2" charset="-122"/>
                          </a:rPr>
                        </m:ctrlPr>
                      </m:dPr>
                      <m:e>
                        <m:rad>
                          <m:radPr>
                            <m:degHide m:val="on"/>
                            <m:ctrlPr>
                              <a:rPr lang="en-US" altLang="zh-CN" i="1" dirty="0" smtClean="0">
                                <a:latin typeface="Cambria Math" panose="02040503050406030204" pitchFamily="18" charset="0"/>
                                <a:sym typeface="宋体" panose="02010600030101010101" pitchFamily="2" charset="-122"/>
                              </a:rPr>
                            </m:ctrlPr>
                          </m:radPr>
                          <m:deg/>
                          <m:e>
                            <m:r>
                              <a:rPr lang="en-US" altLang="zh-CN" b="0" i="1" dirty="0" smtClean="0">
                                <a:latin typeface="Cambria Math" panose="02040503050406030204" pitchFamily="18" charset="0"/>
                                <a:sym typeface="宋体" panose="02010600030101010101" pitchFamily="2" charset="-122"/>
                              </a:rPr>
                              <m:t>𝑛</m:t>
                            </m:r>
                          </m:e>
                        </m:rad>
                      </m:e>
                    </m:d>
                  </m:oMath>
                </a14:m>
                <a:endParaRPr lang="zh-CN" altLang="en-US" dirty="0">
                  <a:sym typeface="宋体" panose="02010600030101010101" pitchFamily="2" charset="-122"/>
                </a:endParaRPr>
              </a:p>
            </p:txBody>
          </p:sp>
        </mc:Choice>
        <mc:Fallback xmlns="">
          <p:sp>
            <p:nvSpPr>
              <p:cNvPr id="4" name="内容占位符 2"/>
              <p:cNvSpPr txBox="1">
                <a:spLocks noRot="1" noChangeAspect="1" noMove="1" noResize="1" noEditPoints="1" noAdjustHandles="1" noChangeArrowheads="1" noChangeShapeType="1" noTextEdit="1"/>
              </p:cNvSpPr>
              <p:nvPr/>
            </p:nvSpPr>
            <p:spPr>
              <a:xfrm>
                <a:off x="1104900" y="5446058"/>
                <a:ext cx="9982200" cy="726141"/>
              </a:xfrm>
              <a:prstGeom prst="rect">
                <a:avLst/>
              </a:prstGeom>
              <a:blipFill rotWithShape="0">
                <a:blip r:embed="rId2"/>
                <a:stretch>
                  <a:fillRect l="-1465" t="-7563"/>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C8105C4D-1B74-9A41-A288-6EF0577833EB}"/>
              </a:ext>
            </a:extLst>
          </p:cNvPr>
          <p:cNvSpPr>
            <a:spLocks noGrp="1"/>
          </p:cNvSpPr>
          <p:nvPr>
            <p:ph type="sldNum" sz="quarter" idx="12"/>
          </p:nvPr>
        </p:nvSpPr>
        <p:spPr/>
        <p:txBody>
          <a:bodyPr/>
          <a:lstStyle/>
          <a:p>
            <a:fld id="{0FF54DE5-C571-48E8-A5BC-B369434E2F44}" type="slidenum">
              <a:rPr lang="en-US" altLang="zh-CN" smtClean="0"/>
              <a:pPr/>
              <a:t>49</a:t>
            </a:fld>
            <a:endParaRPr lang="zh-CN" altLang="en-US" dirty="0"/>
          </a:p>
        </p:txBody>
      </p:sp>
    </p:spTree>
    <p:extLst>
      <p:ext uri="{BB962C8B-B14F-4D97-AF65-F5344CB8AC3E}">
        <p14:creationId xmlns:p14="http://schemas.microsoft.com/office/powerpoint/2010/main" val="9385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p:nvPr>
        </p:nvSpPr>
        <p:spPr/>
        <p:txBody>
          <a:bodyPr/>
          <a:lstStyle/>
          <a:p>
            <a:r>
              <a:rPr lang="zh-CN" altLang="en-US" noProof="1"/>
              <a:t>利用埃氏筛法，</a:t>
            </a:r>
            <a:r>
              <a:rPr lang="zh-Hans" altLang="en-US" noProof="1"/>
              <a:t>实现</a:t>
            </a:r>
            <a:r>
              <a:rPr lang="zh-CN" altLang="en-US" noProof="1"/>
              <a:t>欧拉函数</a:t>
            </a:r>
            <a:r>
              <a:rPr lang="zh-Hans" altLang="en-US" noProof="1"/>
              <a:t>值的预处理</a:t>
            </a:r>
            <a:endParaRPr lang="zh-CN" altLang="en-US" dirty="0"/>
          </a:p>
        </p:txBody>
      </p:sp>
      <p:sp>
        <p:nvSpPr>
          <p:cNvPr id="3" name="内容占位符 2"/>
          <p:cNvSpPr>
            <a:spLocks noGrp="1"/>
          </p:cNvSpPr>
          <p:nvPr>
            <p:ph idx="1"/>
          </p:nvPr>
        </p:nvSpPr>
        <p:spPr>
          <a:xfrm>
            <a:off x="1103382" y="2668044"/>
            <a:ext cx="9982200" cy="3444657"/>
          </a:xfrm>
        </p:spPr>
        <p:txBody>
          <a:bodyPr>
            <a:normAutofit/>
          </a:bodyPr>
          <a:lstStyle/>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euler</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MAX_N</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a:solidFill>
                  <a:srgbClr val="8000FF"/>
                </a:solidFill>
                <a:highlight>
                  <a:srgbClr val="FFFFF3"/>
                </a:highlight>
                <a:latin typeface="Courier New" panose="02070309020205020404" pitchFamily="49" charset="0"/>
                <a:cs typeface="Courier New" panose="02070309020205020404" pitchFamily="49" charset="0"/>
              </a:rPr>
              <a:t>void</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euler_phi2</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nn-NO" altLang="zh-CN" dirty="0">
                <a:solidFill>
                  <a:srgbClr val="FF8000"/>
                </a:solidFill>
                <a:highlight>
                  <a:srgbClr val="FFFFF3"/>
                </a:highlight>
                <a:latin typeface="Courier New" panose="02070309020205020404" pitchFamily="49" charset="0"/>
                <a:cs typeface="Courier New" panose="02070309020205020404" pitchFamily="49" charset="0"/>
              </a:rPr>
              <a:t>3</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8000FF"/>
                </a:solidFill>
                <a:highlight>
                  <a:srgbClr val="FFFFF3"/>
                </a:highlight>
                <a:latin typeface="Courier New" panose="02070309020205020404" pitchFamily="49" charset="0"/>
                <a:cs typeface="Courier New" panose="02070309020205020404" pitchFamily="49" charset="0"/>
              </a:rPr>
              <a:t>int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dirty="0">
                <a:solidFill>
                  <a:srgbClr val="FF8000"/>
                </a:solidFill>
                <a:highlight>
                  <a:srgbClr val="FFFFF3"/>
                </a:highlight>
                <a:latin typeface="Courier New" panose="02070309020205020404" pitchFamily="49" charset="0"/>
                <a:cs typeface="Courier New" panose="02070309020205020404" pitchFamily="49" charset="0"/>
              </a:rPr>
              <a:t>0</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MAX_N</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euler</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nn-NO" altLang="zh-CN" dirty="0">
                <a:solidFill>
                  <a:srgbClr val="FF8000"/>
                </a:solidFill>
                <a:highlight>
                  <a:srgbClr val="FFFFF3"/>
                </a:highlight>
                <a:latin typeface="Courier New" panose="02070309020205020404" pitchFamily="49" charset="0"/>
                <a:cs typeface="Courier New" panose="02070309020205020404" pitchFamily="49" charset="0"/>
              </a:rPr>
              <a:t>4</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8000FF"/>
                </a:solidFill>
                <a:highlight>
                  <a:srgbClr val="FFFFF3"/>
                </a:highlight>
                <a:latin typeface="Courier New" panose="02070309020205020404" pitchFamily="49" charset="0"/>
                <a:cs typeface="Courier New" panose="02070309020205020404" pitchFamily="49" charset="0"/>
              </a:rPr>
              <a:t>int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MAX_N</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i</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5</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euler</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FF"/>
                </a:solidFill>
                <a:highlight>
                  <a:srgbClr val="FFFFF3"/>
                </a:highlight>
                <a:latin typeface="Courier New" panose="02070309020205020404" pitchFamily="49" charset="0"/>
                <a:cs typeface="Courier New" panose="02070309020205020404" pitchFamily="49" charset="0"/>
              </a:rPr>
              <a:t>for</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j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j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&lt;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MAX_N</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j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7</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euler</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euler</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j</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8</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9</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dirty="0">
              <a:solidFill>
                <a:srgbClr val="000000"/>
              </a:solidFill>
              <a:highlight>
                <a:srgbClr val="FFFFF3"/>
              </a:highlight>
              <a:latin typeface="Courier New" panose="02070309020205020404" pitchFamily="49" charset="0"/>
              <a:cs typeface="Courier New" panose="02070309020205020404" pitchFamily="49" charset="0"/>
            </a:endParaRPr>
          </a:p>
          <a:p>
            <a:pPr marL="0" indent="0">
              <a:lnSpc>
                <a:spcPct val="100000"/>
              </a:lnSpc>
              <a:spcBef>
                <a:spcPts val="0"/>
              </a:spcBef>
              <a:buNone/>
            </a:pPr>
            <a:r>
              <a:rPr lang="en-US" altLang="zh-CN" dirty="0">
                <a:solidFill>
                  <a:srgbClr val="FF8000"/>
                </a:solidFill>
                <a:highlight>
                  <a:srgbClr val="FFFFF3"/>
                </a:highlight>
                <a:latin typeface="Courier New" panose="02070309020205020404" pitchFamily="49" charset="0"/>
                <a:cs typeface="Courier New" panose="02070309020205020404" pitchFamily="49" charset="0"/>
              </a:rPr>
              <a:t>10</a:t>
            </a:r>
            <a:r>
              <a:rPr lang="zh-CN" altLang="en-US"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noProof="1">
              <a:latin typeface="Courier New" panose="02070309020205020404" pitchFamily="49" charset="0"/>
              <a:cs typeface="Courier New" panose="02070309020205020404" pitchFamily="49" charset="0"/>
            </a:endParaRPr>
          </a:p>
        </p:txBody>
      </p:sp>
      <mc:AlternateContent xmlns:mc="http://schemas.openxmlformats.org/markup-compatibility/2006">
        <mc:Choice xmlns:a14="http://schemas.microsoft.com/office/drawing/2010/main" Requires="a14">
          <p:sp>
            <p:nvSpPr>
              <p:cNvPr id="4" name="内容占位符 2"/>
              <p:cNvSpPr txBox="1">
                <a:spLocks/>
              </p:cNvSpPr>
              <p:nvPr/>
            </p:nvSpPr>
            <p:spPr>
              <a:xfrm>
                <a:off x="1103382" y="1577235"/>
                <a:ext cx="9982200" cy="1090809"/>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a:lstStyle>
              <a:p>
                <a:pPr>
                  <a:lnSpc>
                    <a:spcPct val="150000"/>
                  </a:lnSpc>
                </a:pPr>
                <a:r>
                  <a:rPr lang="zh-CN" altLang="en-US" dirty="0"/>
                  <a:t>利用埃氏筛法，每次发现素因子时就把它的倍数的欧拉函数乘上</a:t>
                </a:r>
                <a:r>
                  <a:rPr lang="zh-Hans" altLang="en-US" dirty="0"/>
                  <a:t>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𝑝</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𝑝</m:t>
                    </m:r>
                  </m:oMath>
                </a14:m>
                <a:r>
                  <a:rPr lang="zh-CN" altLang="en-US" dirty="0"/>
                  <a:t>，这样就可以一次性求出</a:t>
                </a:r>
                <a14:m>
                  <m:oMath xmlns:m="http://schemas.openxmlformats.org/officeDocument/2006/math">
                    <m:r>
                      <a:rPr lang="zh-Hans" altLang="en-US" b="0" i="0" dirty="0" smtClean="0">
                        <a:latin typeface="Cambria Math" panose="02040503050406030204" pitchFamily="18" charset="0"/>
                      </a:rPr>
                      <m:t> </m:t>
                    </m:r>
                    <m:r>
                      <a:rPr lang="en-US" altLang="zh-CN" i="1" dirty="0" smtClean="0">
                        <a:latin typeface="Cambria Math" panose="02040503050406030204" pitchFamily="18" charset="0"/>
                      </a:rPr>
                      <m:t>1~</m:t>
                    </m:r>
                    <m:r>
                      <a:rPr lang="en-US" altLang="zh-CN" b="0" i="1" dirty="0" smtClean="0">
                        <a:latin typeface="Cambria Math" panose="02040503050406030204" pitchFamily="18" charset="0"/>
                      </a:rPr>
                      <m:t>𝑛</m:t>
                    </m:r>
                    <m:r>
                      <a:rPr lang="zh-Hans" altLang="en-US" b="0" i="1" dirty="0" smtClean="0">
                        <a:latin typeface="Cambria Math" panose="02040503050406030204" pitchFamily="18" charset="0"/>
                      </a:rPr>
                      <m:t> </m:t>
                    </m:r>
                  </m:oMath>
                </a14:m>
                <a:r>
                  <a:rPr lang="zh-CN" altLang="en-US" dirty="0"/>
                  <a:t>的欧拉函数值的表了。实现如下：</a:t>
                </a:r>
              </a:p>
            </p:txBody>
          </p:sp>
        </mc:Choice>
        <mc:Fallback>
          <p:sp>
            <p:nvSpPr>
              <p:cNvPr id="4" name="内容占位符 2"/>
              <p:cNvSpPr txBox="1">
                <a:spLocks noRot="1" noChangeAspect="1" noMove="1" noResize="1" noEditPoints="1" noAdjustHandles="1" noChangeArrowheads="1" noChangeShapeType="1" noTextEdit="1"/>
              </p:cNvSpPr>
              <p:nvPr/>
            </p:nvSpPr>
            <p:spPr>
              <a:xfrm>
                <a:off x="1103382" y="1577235"/>
                <a:ext cx="9982200" cy="1090809"/>
              </a:xfrm>
              <a:prstGeom prst="rect">
                <a:avLst/>
              </a:prstGeo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B7925102-5FC0-214B-AB85-C649B4996603}"/>
              </a:ext>
            </a:extLst>
          </p:cNvPr>
          <p:cNvSpPr>
            <a:spLocks noGrp="1"/>
          </p:cNvSpPr>
          <p:nvPr>
            <p:ph type="sldNum" sz="quarter" idx="12"/>
          </p:nvPr>
        </p:nvSpPr>
        <p:spPr/>
        <p:txBody>
          <a:bodyPr/>
          <a:lstStyle/>
          <a:p>
            <a:fld id="{0FF54DE5-C571-48E8-A5BC-B369434E2F44}" type="slidenum">
              <a:rPr lang="en-US" altLang="zh-CN" smtClean="0"/>
              <a:pPr/>
              <a:t>50</a:t>
            </a:fld>
            <a:endParaRPr lang="zh-CN" altLang="en-US" dirty="0"/>
          </a:p>
        </p:txBody>
      </p:sp>
    </p:spTree>
    <p:extLst>
      <p:ext uri="{BB962C8B-B14F-4D97-AF65-F5344CB8AC3E}">
        <p14:creationId xmlns:p14="http://schemas.microsoft.com/office/powerpoint/2010/main" val="80593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欧拉函数</a:t>
            </a:r>
            <a:r>
              <a:rPr lang="zh-Hans" altLang="en-US" dirty="0"/>
              <a:t>的性质</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2456"/>
              </a:xfrm>
            </p:spPr>
            <p:txBody>
              <a:bodyPr>
                <a:normAutofit/>
              </a:bodyPr>
              <a:lstStyle/>
              <a:p>
                <a:pPr>
                  <a:lnSpc>
                    <a:spcPct val="150000"/>
                  </a:lnSpc>
                  <a:spcBef>
                    <a:spcPts val="600"/>
                  </a:spcBef>
                </a:pPr>
                <a:r>
                  <a:rPr lang="zh-CN" altLang="en-US" dirty="0">
                    <a:sym typeface="宋体" panose="02010600030101010101" pitchFamily="2" charset="-122"/>
                  </a:rPr>
                  <a:t>若</a:t>
                </a:r>
                <a:r>
                  <a:rPr lang="zh-Hans" altLang="en-US" dirty="0">
                    <a:sym typeface="宋体" panose="02010600030101010101" pitchFamily="2" charset="-122"/>
                  </a:rPr>
                  <a:t>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𝑏</m:t>
                    </m:r>
                  </m:oMath>
                </a14:m>
                <a:r>
                  <a:rPr lang="zh-Hans" altLang="en-US" i="1" dirty="0"/>
                  <a:t> </a:t>
                </a:r>
                <a:r>
                  <a:rPr lang="zh-CN" altLang="en-US" dirty="0">
                    <a:sym typeface="宋体" panose="02010600030101010101" pitchFamily="2" charset="-122"/>
                  </a:rPr>
                  <a:t>，则：</a:t>
                </a:r>
                <a:endParaRPr lang="en-US" altLang="zh-CN" dirty="0">
                  <a:sym typeface="宋体" panose="02010600030101010101" pitchFamily="2" charset="-122"/>
                </a:endParaRPr>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𝑎𝑏</m:t>
                          </m:r>
                        </m:e>
                      </m:d>
                      <m:r>
                        <a:rPr lang="en-US" altLang="zh-CN" b="0" i="1" smtClean="0">
                          <a:latin typeface="Cambria Math" panose="02040503050406030204" pitchFamily="18" charset="0"/>
                        </a:rPr>
                        <m:t>=</m:t>
                      </m:r>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𝑎</m:t>
                          </m:r>
                        </m:e>
                      </m:d>
                      <m:r>
                        <m:rPr>
                          <m:sty m:val="p"/>
                        </m:rPr>
                        <a:rPr lang="en-US" altLang="zh-CN">
                          <a:latin typeface="Cambria Math" panose="02040503050406030204" pitchFamily="18" charset="0"/>
                        </a:rPr>
                        <m:t>φ</m:t>
                      </m:r>
                      <m:d>
                        <m:dPr>
                          <m:ctrlPr>
                            <a:rPr lang="zh-CN" altLang="zh-CN" i="1">
                              <a:latin typeface="Cambria Math" panose="02040503050406030204" pitchFamily="18" charset="0"/>
                            </a:rPr>
                          </m:ctrlPr>
                        </m:dPr>
                        <m:e>
                          <m:r>
                            <a:rPr lang="en-US" altLang="zh-CN" b="0" i="1" smtClean="0">
                              <a:latin typeface="Cambria Math" panose="02040503050406030204" pitchFamily="18" charset="0"/>
                            </a:rPr>
                            <m:t>𝑏</m:t>
                          </m:r>
                        </m:e>
                      </m:d>
                    </m:oMath>
                  </m:oMathPara>
                </a14:m>
                <a:endParaRPr lang="en-US" altLang="zh-CN" dirty="0">
                  <a:sym typeface="宋体" panose="02010600030101010101" pitchFamily="2" charset="-122"/>
                </a:endParaRPr>
              </a:p>
              <a:p>
                <a:pPr>
                  <a:lnSpc>
                    <a:spcPct val="150000"/>
                  </a:lnSpc>
                  <a:spcBef>
                    <a:spcPts val="600"/>
                  </a:spcBef>
                </a:pPr>
                <a:r>
                  <a:rPr lang="zh-Hans" altLang="en-US" dirty="0"/>
                  <a:t>将 </a:t>
                </a:r>
                <a14:m>
                  <m:oMath xmlns:m="http://schemas.openxmlformats.org/officeDocument/2006/math">
                    <m:r>
                      <a:rPr lang="en-US" altLang="zh-CN" i="1" dirty="0">
                        <a:latin typeface="Cambria Math" panose="02040503050406030204" pitchFamily="18" charset="0"/>
                        <a:sym typeface="宋体" panose="02010600030101010101" pitchFamily="2" charset="-122"/>
                      </a:rPr>
                      <m:t>𝑎</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𝑏</m:t>
                    </m:r>
                  </m:oMath>
                </a14:m>
                <a:r>
                  <a:rPr lang="zh-Hans" altLang="en-US" dirty="0"/>
                  <a:t> 各自分解素因数，利用欧拉函数计算式即可得证。</a:t>
                </a:r>
                <a:endParaRPr lang="en-US" altLang="zh-Hans" dirty="0"/>
              </a:p>
              <a:p>
                <a:pPr>
                  <a:lnSpc>
                    <a:spcPct val="150000"/>
                  </a:lnSpc>
                  <a:spcBef>
                    <a:spcPts val="600"/>
                  </a:spcBef>
                </a:pPr>
                <a:r>
                  <a:rPr lang="zh-CN" altLang="en-US" dirty="0">
                    <a:sym typeface="宋体" panose="02010600030101010101" pitchFamily="2" charset="-122"/>
                  </a:rPr>
                  <a:t>欧拉函数是积性函数</a:t>
                </a:r>
                <a:endParaRPr lang="zh-CN"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B077EE38-BAED-5E41-9CD4-257558F5E26B}"/>
              </a:ext>
            </a:extLst>
          </p:cNvPr>
          <p:cNvSpPr>
            <a:spLocks noGrp="1"/>
          </p:cNvSpPr>
          <p:nvPr>
            <p:ph type="sldNum" sz="quarter" idx="12"/>
          </p:nvPr>
        </p:nvSpPr>
        <p:spPr/>
        <p:txBody>
          <a:bodyPr/>
          <a:lstStyle/>
          <a:p>
            <a:fld id="{0FF54DE5-C571-48E8-A5BC-B369434E2F44}" type="slidenum">
              <a:rPr lang="en-US" altLang="zh-CN" smtClean="0"/>
              <a:pPr/>
              <a:t>51</a:t>
            </a:fld>
            <a:endParaRPr lang="zh-CN" altLang="en-US" dirty="0"/>
          </a:p>
        </p:txBody>
      </p:sp>
    </p:spTree>
    <p:extLst>
      <p:ext uri="{BB962C8B-B14F-4D97-AF65-F5344CB8AC3E}">
        <p14:creationId xmlns:p14="http://schemas.microsoft.com/office/powerpoint/2010/main" val="3366221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例题：</a:t>
            </a:r>
            <a:r>
              <a:rPr lang="en-US" altLang="zh-Hans" dirty="0"/>
              <a:t>[POJ 3090] Visible Lattice Points</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5172456"/>
              </a:xfrm>
            </p:spPr>
            <p:txBody>
              <a:bodyPr>
                <a:normAutofit/>
              </a:bodyPr>
              <a:lstStyle/>
              <a:p>
                <a:pPr>
                  <a:lnSpc>
                    <a:spcPct val="150000"/>
                  </a:lnSpc>
                  <a:spcBef>
                    <a:spcPts val="600"/>
                  </a:spcBef>
                </a:pPr>
                <a:r>
                  <a:rPr lang="zh-CN" altLang="en-US" dirty="0"/>
                  <a:t>在一个平面直角坐标系的以</a:t>
                </a:r>
                <a:r>
                  <a:rPr lang="zh-Hans" altLang="en-US" dirty="0"/>
                  <a:t> </a:t>
                </a:r>
                <a14:m>
                  <m:oMath xmlns:m="http://schemas.openxmlformats.org/officeDocument/2006/math">
                    <m:d>
                      <m:dPr>
                        <m:ctrlPr>
                          <a:rPr lang="en-US" altLang="zh-Hans" i="1" smtClean="0">
                            <a:latin typeface="Cambria Math" panose="02040503050406030204" pitchFamily="18" charset="0"/>
                          </a:rPr>
                        </m:ctrlPr>
                      </m:dPr>
                      <m:e>
                        <m:r>
                          <a:rPr lang="en-US" altLang="zh-Hans" b="0" i="1" smtClean="0">
                            <a:latin typeface="Cambria Math" panose="02040503050406030204" pitchFamily="18" charset="0"/>
                          </a:rPr>
                          <m:t>0,0</m:t>
                        </m:r>
                      </m:e>
                    </m:d>
                  </m:oMath>
                </a14:m>
                <a:r>
                  <a:rPr lang="zh-Hans" altLang="en-US" dirty="0"/>
                  <a:t> </a:t>
                </a:r>
                <a:r>
                  <a:rPr lang="zh-CN" altLang="en-US" dirty="0"/>
                  <a:t>为左下角、</a:t>
                </a:r>
                <a:r>
                  <a:rPr lang="en-US" altLang="zh-Hans" dirty="0"/>
                  <a:t> </a:t>
                </a:r>
                <a14:m>
                  <m:oMath xmlns:m="http://schemas.openxmlformats.org/officeDocument/2006/math">
                    <m:d>
                      <m:dPr>
                        <m:ctrlPr>
                          <a:rPr lang="en-US" altLang="zh-Hans" i="1">
                            <a:latin typeface="Cambria Math" panose="02040503050406030204" pitchFamily="18" charset="0"/>
                          </a:rPr>
                        </m:ctrlPr>
                      </m:dPr>
                      <m:e>
                        <m:r>
                          <a:rPr lang="en-US" altLang="zh-Hans" b="0" i="1" smtClean="0">
                            <a:latin typeface="Cambria Math" panose="02040503050406030204" pitchFamily="18" charset="0"/>
                          </a:rPr>
                          <m:t>𝑁</m:t>
                        </m:r>
                        <m:r>
                          <a:rPr lang="en-US" altLang="zh-Hans" i="1">
                            <a:latin typeface="Cambria Math" panose="02040503050406030204" pitchFamily="18" charset="0"/>
                          </a:rPr>
                          <m:t>,</m:t>
                        </m:r>
                        <m:r>
                          <a:rPr lang="en-US" altLang="zh-Hans" b="0" i="1" smtClean="0">
                            <a:latin typeface="Cambria Math" panose="02040503050406030204" pitchFamily="18" charset="0"/>
                          </a:rPr>
                          <m:t>𝑁</m:t>
                        </m:r>
                      </m:e>
                    </m:d>
                  </m:oMath>
                </a14:m>
                <a:r>
                  <a:rPr lang="zh-Hans" altLang="en-US" dirty="0"/>
                  <a:t> </a:t>
                </a:r>
                <a:r>
                  <a:rPr lang="zh-CN" altLang="en-US" dirty="0"/>
                  <a:t>为右上角的矩形中，除了</a:t>
                </a:r>
                <a14:m>
                  <m:oMath xmlns:m="http://schemas.openxmlformats.org/officeDocument/2006/math">
                    <m:d>
                      <m:dPr>
                        <m:ctrlPr>
                          <a:rPr lang="en-US" altLang="zh-Hans" i="1">
                            <a:latin typeface="Cambria Math" panose="02040503050406030204" pitchFamily="18" charset="0"/>
                          </a:rPr>
                        </m:ctrlPr>
                      </m:dPr>
                      <m:e>
                        <m:r>
                          <a:rPr lang="en-US" altLang="zh-Hans" i="1">
                            <a:latin typeface="Cambria Math" panose="02040503050406030204" pitchFamily="18" charset="0"/>
                          </a:rPr>
                          <m:t>0,0</m:t>
                        </m:r>
                      </m:e>
                    </m:d>
                    <m:r>
                      <a:rPr lang="en-US" altLang="zh-Hans" i="1">
                        <a:latin typeface="Cambria Math" panose="02040503050406030204" pitchFamily="18" charset="0"/>
                      </a:rPr>
                      <m:t> </m:t>
                    </m:r>
                  </m:oMath>
                </a14:m>
                <a:r>
                  <a:rPr lang="zh-CN" altLang="en-US" dirty="0"/>
                  <a:t>之外，每个坐标上都插着一个钉子，如图所示。</a:t>
                </a:r>
                <a:endParaRPr lang="en-US" altLang="zh-CN" dirty="0"/>
              </a:p>
              <a:p>
                <a:pPr>
                  <a:lnSpc>
                    <a:spcPct val="150000"/>
                  </a:lnSpc>
                  <a:spcBef>
                    <a:spcPts val="600"/>
                  </a:spcBef>
                </a:pPr>
                <a:r>
                  <a:rPr lang="zh-CN" altLang="en-US" dirty="0"/>
                  <a:t>求在原点向四周看去，能够看到多少个钉子。一个钉子能被看到，当且仅当连接它和原点的线段上没有其他钉子。</a:t>
                </a:r>
                <a:r>
                  <a:rPr lang="zh-Hans" altLang="en-US" dirty="0"/>
                  <a:t>下</a:t>
                </a:r>
                <a:r>
                  <a:rPr lang="zh-CN" altLang="en-US" dirty="0"/>
                  <a:t>图也画出了所有能看到的钉子以及实现。</a:t>
                </a:r>
                <a:endParaRPr lang="en-US" altLang="zh-CN" dirty="0"/>
              </a:p>
              <a:p>
                <a:pPr>
                  <a:lnSpc>
                    <a:spcPct val="150000"/>
                  </a:lnSpc>
                  <a:spcBef>
                    <a:spcPts val="600"/>
                  </a:spcBef>
                </a:pPr>
                <a14:m>
                  <m:oMath xmlns:m="http://schemas.openxmlformats.org/officeDocument/2006/math">
                    <m:r>
                      <a:rPr lang="zh-CN" altLang="en-US" i="1" dirty="0" smtClean="0">
                        <a:latin typeface="Cambria Math" panose="02040503050406030204" pitchFamily="18" charset="0"/>
                      </a:rPr>
                      <m:t> </m:t>
                    </m:r>
                    <m:r>
                      <a:rPr lang="en-US" altLang="zh-CN" i="1" dirty="0">
                        <a:latin typeface="Cambria Math" panose="02040503050406030204" pitchFamily="18" charset="0"/>
                      </a:rPr>
                      <m:t>1</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𝑁</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1000 </m:t>
                    </m:r>
                  </m:oMath>
                </a14:m>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r="-50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4E2F37A-62B8-C347-AC1A-A73AB42E4108}"/>
              </a:ext>
            </a:extLst>
          </p:cNvPr>
          <p:cNvPicPr>
            <a:picLocks noChangeAspect="1"/>
          </p:cNvPicPr>
          <p:nvPr/>
        </p:nvPicPr>
        <p:blipFill>
          <a:blip r:embed="rId3"/>
          <a:stretch>
            <a:fillRect/>
          </a:stretch>
        </p:blipFill>
        <p:spPr>
          <a:xfrm>
            <a:off x="8569048" y="3894206"/>
            <a:ext cx="2516534" cy="2516534"/>
          </a:xfrm>
          <a:prstGeom prst="rect">
            <a:avLst/>
          </a:prstGeom>
        </p:spPr>
      </p:pic>
      <p:sp>
        <p:nvSpPr>
          <p:cNvPr id="5" name="幻灯片编号占位符 4">
            <a:extLst>
              <a:ext uri="{FF2B5EF4-FFF2-40B4-BE49-F238E27FC236}">
                <a16:creationId xmlns:a16="http://schemas.microsoft.com/office/drawing/2014/main" id="{FB7E2379-8F78-AA47-9FE8-25781E5D4C2E}"/>
              </a:ext>
            </a:extLst>
          </p:cNvPr>
          <p:cNvSpPr>
            <a:spLocks noGrp="1"/>
          </p:cNvSpPr>
          <p:nvPr>
            <p:ph type="sldNum" sz="quarter" idx="12"/>
          </p:nvPr>
        </p:nvSpPr>
        <p:spPr/>
        <p:txBody>
          <a:bodyPr/>
          <a:lstStyle/>
          <a:p>
            <a:fld id="{0FF54DE5-C571-48E8-A5BC-B369434E2F44}" type="slidenum">
              <a:rPr lang="en-US" altLang="zh-CN" smtClean="0"/>
              <a:pPr/>
              <a:t>52</a:t>
            </a:fld>
            <a:endParaRPr lang="zh-CN" altLang="en-US" dirty="0"/>
          </a:p>
        </p:txBody>
      </p:sp>
    </p:spTree>
    <p:extLst>
      <p:ext uri="{BB962C8B-B14F-4D97-AF65-F5344CB8AC3E}">
        <p14:creationId xmlns:p14="http://schemas.microsoft.com/office/powerpoint/2010/main" val="960454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例题：</a:t>
            </a:r>
            <a:r>
              <a:rPr lang="en-US" altLang="zh-Hans" dirty="0"/>
              <a:t>[POJ 3090] Visible Lattice Points</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5172456"/>
              </a:xfrm>
            </p:spPr>
            <p:txBody>
              <a:bodyPr>
                <a:noAutofit/>
              </a:bodyPr>
              <a:lstStyle/>
              <a:p>
                <a:pPr>
                  <a:lnSpc>
                    <a:spcPct val="150000"/>
                  </a:lnSpc>
                  <a:spcBef>
                    <a:spcPts val="600"/>
                  </a:spcBef>
                </a:pPr>
                <a:r>
                  <a:rPr lang="zh-CN" altLang="en-US" dirty="0"/>
                  <a:t>分析题目容易发现，除了</a:t>
                </a:r>
                <a14:m>
                  <m:oMath xmlns:m="http://schemas.openxmlformats.org/officeDocument/2006/math">
                    <m:d>
                      <m:dPr>
                        <m:ctrlPr>
                          <a:rPr lang="en-US" altLang="zh-Hans" i="1">
                            <a:latin typeface="Cambria Math" panose="02040503050406030204" pitchFamily="18" charset="0"/>
                          </a:rPr>
                        </m:ctrlPr>
                      </m:dPr>
                      <m:e>
                        <m:r>
                          <a:rPr lang="en-US" altLang="zh-Hans" b="0" i="1" smtClean="0">
                            <a:latin typeface="Cambria Math" panose="02040503050406030204" pitchFamily="18" charset="0"/>
                          </a:rPr>
                          <m:t>1</m:t>
                        </m:r>
                        <m:r>
                          <a:rPr lang="en-US" altLang="zh-Hans" i="1">
                            <a:latin typeface="Cambria Math" panose="02040503050406030204" pitchFamily="18" charset="0"/>
                          </a:rPr>
                          <m:t>,0</m:t>
                        </m:r>
                      </m:e>
                    </m:d>
                    <m:r>
                      <a:rPr lang="en-US" altLang="zh-Hans" i="1">
                        <a:latin typeface="Cambria Math" panose="02040503050406030204" pitchFamily="18" charset="0"/>
                      </a:rPr>
                      <m:t> </m:t>
                    </m:r>
                    <m:r>
                      <a:rPr lang="en-US" altLang="zh-Hans" b="0" i="1" smtClean="0">
                        <a:latin typeface="Cambria Math" panose="02040503050406030204" pitchFamily="18" charset="0"/>
                      </a:rPr>
                      <m:t>,</m:t>
                    </m:r>
                    <m:d>
                      <m:dPr>
                        <m:ctrlPr>
                          <a:rPr lang="en-US" altLang="zh-Hans" i="1">
                            <a:latin typeface="Cambria Math" panose="02040503050406030204" pitchFamily="18" charset="0"/>
                          </a:rPr>
                        </m:ctrlPr>
                      </m:dPr>
                      <m:e>
                        <m:r>
                          <a:rPr lang="en-US" altLang="zh-Hans" i="1">
                            <a:latin typeface="Cambria Math" panose="02040503050406030204" pitchFamily="18" charset="0"/>
                          </a:rPr>
                          <m:t>0,</m:t>
                        </m:r>
                        <m:r>
                          <a:rPr lang="en-US" altLang="zh-Hans" b="0" i="1" smtClean="0">
                            <a:latin typeface="Cambria Math" panose="02040503050406030204" pitchFamily="18" charset="0"/>
                          </a:rPr>
                          <m:t>1</m:t>
                        </m:r>
                      </m:e>
                    </m:d>
                    <m:r>
                      <a:rPr lang="en-US" altLang="zh-Hans" i="1">
                        <a:latin typeface="Cambria Math" panose="02040503050406030204" pitchFamily="18" charset="0"/>
                      </a:rPr>
                      <m:t> </m:t>
                    </m:r>
                  </m:oMath>
                </a14:m>
                <a:r>
                  <a:rPr lang="zh-CN" altLang="en-US" dirty="0"/>
                  <a:t>和</a:t>
                </a:r>
                <a14:m>
                  <m:oMath xmlns:m="http://schemas.openxmlformats.org/officeDocument/2006/math">
                    <m:d>
                      <m:dPr>
                        <m:ctrlPr>
                          <a:rPr lang="en-US" altLang="zh-Hans" i="1">
                            <a:latin typeface="Cambria Math" panose="02040503050406030204" pitchFamily="18" charset="0"/>
                          </a:rPr>
                        </m:ctrlPr>
                      </m:dPr>
                      <m:e>
                        <m:r>
                          <a:rPr lang="en-US" altLang="zh-Hans" b="0" i="1" smtClean="0">
                            <a:latin typeface="Cambria Math" panose="02040503050406030204" pitchFamily="18" charset="0"/>
                          </a:rPr>
                          <m:t>1</m:t>
                        </m:r>
                        <m:r>
                          <a:rPr lang="en-US" altLang="zh-Hans" i="1">
                            <a:latin typeface="Cambria Math" panose="02040503050406030204" pitchFamily="18" charset="0"/>
                          </a:rPr>
                          <m:t>,</m:t>
                        </m:r>
                        <m:r>
                          <a:rPr lang="en-US" altLang="zh-Hans" b="0" i="1" smtClean="0">
                            <a:latin typeface="Cambria Math" panose="02040503050406030204" pitchFamily="18" charset="0"/>
                          </a:rPr>
                          <m:t>1</m:t>
                        </m:r>
                      </m:e>
                    </m:d>
                    <m:r>
                      <a:rPr lang="en-US" altLang="zh-Hans" i="1">
                        <a:latin typeface="Cambria Math" panose="02040503050406030204" pitchFamily="18" charset="0"/>
                      </a:rPr>
                      <m:t> </m:t>
                    </m:r>
                  </m:oMath>
                </a14:m>
                <a:r>
                  <a:rPr lang="zh-CN" altLang="en-US" dirty="0"/>
                  <a:t>这三个钉子外，一个钉子</a:t>
                </a:r>
                <a14:m>
                  <m:oMath xmlns:m="http://schemas.openxmlformats.org/officeDocument/2006/math">
                    <m:d>
                      <m:dPr>
                        <m:ctrlPr>
                          <a:rPr lang="en-US" altLang="zh-Hans" i="1">
                            <a:latin typeface="Cambria Math" panose="02040503050406030204" pitchFamily="18" charset="0"/>
                          </a:rPr>
                        </m:ctrlPr>
                      </m:dPr>
                      <m:e>
                        <m:r>
                          <a:rPr lang="en-US" altLang="zh-Hans" b="0" i="1" smtClean="0">
                            <a:latin typeface="Cambria Math" panose="02040503050406030204" pitchFamily="18" charset="0"/>
                          </a:rPr>
                          <m:t>𝑥</m:t>
                        </m:r>
                        <m:r>
                          <a:rPr lang="en-US" altLang="zh-Hans" i="1">
                            <a:latin typeface="Cambria Math" panose="02040503050406030204" pitchFamily="18" charset="0"/>
                          </a:rPr>
                          <m:t>,</m:t>
                        </m:r>
                        <m:r>
                          <a:rPr lang="en-US" altLang="zh-Hans" b="0" i="1" smtClean="0">
                            <a:latin typeface="Cambria Math" panose="02040503050406030204" pitchFamily="18" charset="0"/>
                          </a:rPr>
                          <m:t>𝑦</m:t>
                        </m:r>
                      </m:e>
                    </m:d>
                  </m:oMath>
                </a14:m>
                <a:r>
                  <a:rPr lang="zh-CN" altLang="en-US" dirty="0"/>
                  <a:t> 能被看到，当且仅当 </a:t>
                </a:r>
                <a14:m>
                  <m:oMath xmlns:m="http://schemas.openxmlformats.org/officeDocument/2006/math">
                    <m:r>
                      <a:rPr lang="en-US" altLang="zh-CN" i="1" dirty="0" smtClean="0">
                        <a:latin typeface="Cambria Math" panose="02040503050406030204" pitchFamily="18" charset="0"/>
                      </a:rPr>
                      <m:t>1</m:t>
                    </m:r>
                    <m:r>
                      <a:rPr lang="en-US" altLang="zh-CN" i="1" dirty="0" smtClean="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𝑥</m:t>
                    </m:r>
                    <m:r>
                      <a:rPr lang="en-US" altLang="zh-CN" i="1" dirty="0" err="1">
                        <a:latin typeface="Cambria Math" panose="02040503050406030204" pitchFamily="18" charset="0"/>
                      </a:rPr>
                      <m:t>,</m:t>
                    </m:r>
                    <m:r>
                      <a:rPr lang="en-US" altLang="zh-CN" i="1" dirty="0" err="1">
                        <a:latin typeface="Cambria Math" panose="02040503050406030204" pitchFamily="18" charset="0"/>
                      </a:rPr>
                      <m:t>𝑦</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𝑁</m:t>
                    </m:r>
                    <m:r>
                      <a:rPr lang="en-US" altLang="zh-CN" i="1" dirty="0">
                        <a:latin typeface="Cambria Math" panose="02040503050406030204" pitchFamily="18" charset="0"/>
                      </a:rPr>
                      <m:t>, </m:t>
                    </m:r>
                    <m:r>
                      <a:rPr lang="en-US" altLang="zh-CN" i="1" dirty="0" err="1">
                        <a:latin typeface="Cambria Math" panose="02040503050406030204" pitchFamily="18" charset="0"/>
                      </a:rPr>
                      <m:t>𝑥</m:t>
                    </m:r>
                    <m:r>
                      <a:rPr lang="en-US" altLang="zh-CN" i="1" dirty="0" smtClean="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𝑦</m:t>
                    </m:r>
                  </m:oMath>
                </a14:m>
                <a:r>
                  <a:rPr lang="en-US" altLang="zh-CN" dirty="0"/>
                  <a:t> </a:t>
                </a:r>
                <a:r>
                  <a:rPr lang="zh-CN" altLang="en-US" dirty="0"/>
                  <a:t>并且 </a:t>
                </a:r>
                <a14:m>
                  <m:oMath xmlns:m="http://schemas.openxmlformats.org/officeDocument/2006/math">
                    <m:r>
                      <m:rPr>
                        <m:sty m:val="p"/>
                      </m:rPr>
                      <a:rPr lang="en-US" altLang="zh-CN" i="1" dirty="0" smtClean="0">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𝑥</m:t>
                    </m:r>
                    <m:r>
                      <a:rPr lang="en-US" altLang="zh-CN" i="1" dirty="0" err="1">
                        <a:latin typeface="Cambria Math" panose="02040503050406030204" pitchFamily="18" charset="0"/>
                      </a:rPr>
                      <m:t>,</m:t>
                    </m:r>
                    <m:r>
                      <a:rPr lang="en-US" altLang="zh-CN" i="1" dirty="0" err="1">
                        <a:latin typeface="Cambria Math" panose="02040503050406030204" pitchFamily="18" charset="0"/>
                      </a:rPr>
                      <m:t>𝑦</m:t>
                    </m:r>
                    <m:r>
                      <a:rPr lang="en-US" altLang="zh-CN" i="1" dirty="0">
                        <a:latin typeface="Cambria Math" panose="02040503050406030204" pitchFamily="18" charset="0"/>
                      </a:rPr>
                      <m:t>)=1</m:t>
                    </m:r>
                  </m:oMath>
                </a14:m>
                <a:r>
                  <a:rPr lang="en-US" altLang="zh-CN" dirty="0"/>
                  <a:t> </a:t>
                </a:r>
                <a:r>
                  <a:rPr lang="zh-CN" altLang="en-US" dirty="0"/>
                  <a:t>。</a:t>
                </a:r>
                <a:endParaRPr lang="en-US" altLang="zh-CN" dirty="0"/>
              </a:p>
              <a:p>
                <a:pPr>
                  <a:lnSpc>
                    <a:spcPct val="150000"/>
                  </a:lnSpc>
                  <a:spcBef>
                    <a:spcPts val="600"/>
                  </a:spcBef>
                </a:pPr>
                <a:r>
                  <a:rPr lang="zh-CN" altLang="en-US" dirty="0"/>
                  <a:t>在 </a:t>
                </a:r>
                <a14:m>
                  <m:oMath xmlns:m="http://schemas.openxmlformats.org/officeDocument/2006/math">
                    <m:r>
                      <a:rPr lang="en-US" altLang="zh-CN" i="1" dirty="0">
                        <a:latin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𝑥</m:t>
                    </m:r>
                    <m:r>
                      <a:rPr lang="en-US" altLang="zh-CN" i="1" dirty="0" err="1">
                        <a:latin typeface="Cambria Math" panose="02040503050406030204" pitchFamily="18" charset="0"/>
                      </a:rPr>
                      <m:t>,</m:t>
                    </m:r>
                    <m:r>
                      <a:rPr lang="en-US" altLang="zh-CN" i="1" dirty="0" err="1">
                        <a:latin typeface="Cambria Math" panose="02040503050406030204" pitchFamily="18" charset="0"/>
                      </a:rPr>
                      <m:t>𝑦</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𝑁</m:t>
                    </m:r>
                    <m:r>
                      <a:rPr lang="en-US" altLang="zh-CN" i="1" dirty="0">
                        <a:latin typeface="Cambria Math" panose="02040503050406030204" pitchFamily="18" charset="0"/>
                      </a:rPr>
                      <m:t>, </m:t>
                    </m:r>
                    <m:r>
                      <a:rPr lang="en-US" altLang="zh-CN" i="1" dirty="0" err="1">
                        <a:latin typeface="Cambria Math" panose="02040503050406030204" pitchFamily="18" charset="0"/>
                      </a:rPr>
                      <m:t>𝑥</m:t>
                    </m:r>
                    <m:r>
                      <a:rPr lang="en-US" altLang="zh-CN" i="1" dirty="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𝑦</m:t>
                    </m:r>
                  </m:oMath>
                </a14:m>
                <a:r>
                  <a:rPr lang="en-US" altLang="zh-CN" dirty="0"/>
                  <a:t> </a:t>
                </a:r>
                <a:r>
                  <a:rPr lang="zh-CN" altLang="en-US" dirty="0"/>
                  <a:t>中能看到的钉子关于过</a:t>
                </a:r>
                <a:r>
                  <a:rPr lang="en-US" altLang="zh-CN" dirty="0"/>
                  <a:t> </a:t>
                </a:r>
                <a14:m>
                  <m:oMath xmlns:m="http://schemas.openxmlformats.org/officeDocument/2006/math">
                    <m:d>
                      <m:dPr>
                        <m:ctrlPr>
                          <a:rPr lang="en-US" altLang="zh-Hans" i="1">
                            <a:latin typeface="Cambria Math" panose="02040503050406030204" pitchFamily="18" charset="0"/>
                          </a:rPr>
                        </m:ctrlPr>
                      </m:dPr>
                      <m:e>
                        <m:r>
                          <a:rPr lang="en-US" altLang="zh-Hans" i="1">
                            <a:latin typeface="Cambria Math" panose="02040503050406030204" pitchFamily="18" charset="0"/>
                          </a:rPr>
                          <m:t>0,0</m:t>
                        </m:r>
                      </m:e>
                    </m:d>
                  </m:oMath>
                </a14:m>
                <a:r>
                  <a:rPr lang="en-US" altLang="zh-CN" dirty="0"/>
                  <a:t> </a:t>
                </a:r>
                <a:r>
                  <a:rPr lang="zh-CN" altLang="en-US" dirty="0"/>
                  <a:t>和</a:t>
                </a:r>
                <a14:m>
                  <m:oMath xmlns:m="http://schemas.openxmlformats.org/officeDocument/2006/math">
                    <m:d>
                      <m:dPr>
                        <m:ctrlPr>
                          <a:rPr lang="en-US" altLang="zh-Hans" i="1">
                            <a:latin typeface="Cambria Math" panose="02040503050406030204" pitchFamily="18" charset="0"/>
                          </a:rPr>
                        </m:ctrlPr>
                      </m:dPr>
                      <m:e>
                        <m:r>
                          <a:rPr lang="en-US" altLang="zh-Hans" b="0" i="1" smtClean="0">
                            <a:latin typeface="Cambria Math" panose="02040503050406030204" pitchFamily="18" charset="0"/>
                          </a:rPr>
                          <m:t>𝑁</m:t>
                        </m:r>
                        <m:r>
                          <a:rPr lang="en-US" altLang="zh-Hans" i="1">
                            <a:latin typeface="Cambria Math" panose="02040503050406030204" pitchFamily="18" charset="0"/>
                          </a:rPr>
                          <m:t>,</m:t>
                        </m:r>
                        <m:r>
                          <a:rPr lang="en-US" altLang="zh-Hans" b="0" i="1" smtClean="0">
                            <a:latin typeface="Cambria Math" panose="02040503050406030204" pitchFamily="18" charset="0"/>
                          </a:rPr>
                          <m:t>𝑁</m:t>
                        </m:r>
                      </m:e>
                    </m:d>
                  </m:oMath>
                </a14:m>
                <a:r>
                  <a:rPr lang="en-US" altLang="zh-CN" dirty="0"/>
                  <a:t> </a:t>
                </a:r>
                <a:r>
                  <a:rPr lang="zh-CN" altLang="en-US" dirty="0"/>
                  <a:t>的直线对称。考虑其中一半，即 </a:t>
                </a:r>
                <a14:m>
                  <m:oMath xmlns:m="http://schemas.openxmlformats.org/officeDocument/2006/math">
                    <m:r>
                      <a:rPr lang="en-US" altLang="zh-CN" i="1" dirty="0">
                        <a:latin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𝑥</m:t>
                    </m:r>
                    <m:r>
                      <a:rPr lang="en-US" altLang="zh-CN" i="1" dirty="0" smtClean="0">
                        <a:latin typeface="Cambria Math" panose="02040503050406030204" pitchFamily="18" charset="0"/>
                        <a:ea typeface="Cambria Math" panose="02040503050406030204" pitchFamily="18" charset="0"/>
                      </a:rPr>
                      <m:t>&lt;</m:t>
                    </m:r>
                    <m:r>
                      <a:rPr lang="en-US" altLang="zh-CN" i="1" dirty="0" err="1">
                        <a:latin typeface="Cambria Math" panose="02040503050406030204" pitchFamily="18" charset="0"/>
                      </a:rPr>
                      <m:t>𝑦</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𝑁</m:t>
                    </m:r>
                    <m:r>
                      <a:rPr lang="en-US" altLang="zh-CN" i="1" dirty="0">
                        <a:latin typeface="Cambria Math" panose="02040503050406030204" pitchFamily="18" charset="0"/>
                      </a:rPr>
                      <m:t> </m:t>
                    </m:r>
                  </m:oMath>
                </a14:m>
                <a:r>
                  <a:rPr lang="zh-CN" altLang="en-US" dirty="0"/>
                  <a:t>。</a:t>
                </a:r>
                <a:endParaRPr lang="en-US" altLang="zh-CN" dirty="0"/>
              </a:p>
              <a:p>
                <a:pPr>
                  <a:lnSpc>
                    <a:spcPct val="150000"/>
                  </a:lnSpc>
                  <a:spcBef>
                    <a:spcPts val="600"/>
                  </a:spcBef>
                </a:pPr>
                <a:r>
                  <a:rPr lang="zh-CN" altLang="en-US" dirty="0"/>
                  <a:t>换言之对于每个 </a:t>
                </a:r>
                <a14:m>
                  <m:oMath xmlns:m="http://schemas.openxmlformats.org/officeDocument/2006/math">
                    <m:r>
                      <a:rPr lang="en-US" altLang="zh-CN" i="1" dirty="0" smtClean="0">
                        <a:latin typeface="Cambria Math" panose="02040503050406030204" pitchFamily="18" charset="0"/>
                      </a:rPr>
                      <m:t>2</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𝑦</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𝑁</m:t>
                    </m:r>
                  </m:oMath>
                </a14:m>
                <a:r>
                  <a:rPr lang="en-US" altLang="zh-CN" dirty="0"/>
                  <a:t> </a:t>
                </a:r>
                <a:r>
                  <a:rPr lang="zh-CN" altLang="en-US" dirty="0"/>
                  <a:t>，需要统计有多少个 </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满足 </a:t>
                </a:r>
                <a14:m>
                  <m:oMath xmlns:m="http://schemas.openxmlformats.org/officeDocument/2006/math">
                    <m:r>
                      <a:rPr lang="en-US" altLang="zh-CN" i="1" dirty="0">
                        <a:latin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m:t>
                    </m:r>
                    <m:r>
                      <a:rPr lang="en-US" altLang="zh-CN" i="1" dirty="0" err="1">
                        <a:latin typeface="Cambria Math" panose="02040503050406030204" pitchFamily="18" charset="0"/>
                      </a:rPr>
                      <m:t>𝑥</m:t>
                    </m:r>
                    <m:r>
                      <a:rPr lang="en-US" altLang="zh-CN" i="1" dirty="0">
                        <a:latin typeface="Cambria Math" panose="02040503050406030204" pitchFamily="18" charset="0"/>
                        <a:ea typeface="Cambria Math" panose="02040503050406030204" pitchFamily="18" charset="0"/>
                      </a:rPr>
                      <m:t>&lt;</m:t>
                    </m:r>
                    <m:r>
                      <a:rPr lang="en-US" altLang="zh-CN" i="1" dirty="0" err="1">
                        <a:latin typeface="Cambria Math" panose="02040503050406030204" pitchFamily="18" charset="0"/>
                      </a:rPr>
                      <m:t>𝑦</m:t>
                    </m:r>
                  </m:oMath>
                </a14:m>
                <a:r>
                  <a:rPr lang="en-US" altLang="zh-CN" dirty="0"/>
                  <a:t> </a:t>
                </a:r>
                <a:r>
                  <a:rPr lang="zh-CN" altLang="en-US" dirty="0"/>
                  <a:t>并且 </a:t>
                </a:r>
                <a14:m>
                  <m:oMath xmlns:m="http://schemas.openxmlformats.org/officeDocument/2006/math">
                    <m:r>
                      <m:rPr>
                        <m:sty m:val="p"/>
                      </m:rPr>
                      <a:rPr lang="en-US" altLang="zh-CN" i="1" dirty="0">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𝑥</m:t>
                    </m:r>
                    <m:r>
                      <a:rPr lang="en-US" altLang="zh-CN" i="1" dirty="0" err="1">
                        <a:latin typeface="Cambria Math" panose="02040503050406030204" pitchFamily="18" charset="0"/>
                      </a:rPr>
                      <m:t>,</m:t>
                    </m:r>
                    <m:r>
                      <a:rPr lang="en-US" altLang="zh-CN" i="1" dirty="0" err="1">
                        <a:latin typeface="Cambria Math" panose="02040503050406030204" pitchFamily="18" charset="0"/>
                      </a:rPr>
                      <m:t>𝑦</m:t>
                    </m:r>
                    <m:r>
                      <a:rPr lang="en-US" altLang="zh-CN" i="1" dirty="0">
                        <a:latin typeface="Cambria Math" panose="02040503050406030204" pitchFamily="18" charset="0"/>
                      </a:rPr>
                      <m:t>)=1</m:t>
                    </m:r>
                  </m:oMath>
                </a14:m>
                <a:r>
                  <a:rPr lang="en-US" altLang="zh-CN" dirty="0"/>
                  <a:t> </a:t>
                </a:r>
                <a:r>
                  <a:rPr lang="zh-CN" altLang="en-US" dirty="0"/>
                  <a:t>。这样的 </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的数量恰好就是</a:t>
                </a:r>
                <a:r>
                  <a:rPr lang="en-US" altLang="zh-CN"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𝜑</m:t>
                    </m:r>
                    <m:d>
                      <m:dPr>
                        <m:ctrlPr>
                          <a:rPr lang="en-US" altLang="zh-CN"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𝑦</m:t>
                        </m:r>
                      </m:e>
                    </m:d>
                  </m:oMath>
                </a14:m>
                <a:r>
                  <a:rPr lang="zh-CN" altLang="en-US" dirty="0"/>
                  <a:t> 。</a:t>
                </a:r>
                <a:endParaRPr lang="en-US" altLang="zh-CN" dirty="0"/>
              </a:p>
              <a:p>
                <a:pPr>
                  <a:lnSpc>
                    <a:spcPct val="150000"/>
                  </a:lnSpc>
                  <a:spcBef>
                    <a:spcPts val="600"/>
                  </a:spcBef>
                </a:pPr>
                <a:r>
                  <a:rPr lang="zh-CN" altLang="en-US" dirty="0"/>
                  <a:t>综上所述，本题的答案就是 </a:t>
                </a:r>
                <a14:m>
                  <m:oMath xmlns:m="http://schemas.openxmlformats.org/officeDocument/2006/math">
                    <m:r>
                      <a:rPr lang="en-US" altLang="zh-CN" i="1" dirty="0" smtClean="0">
                        <a:latin typeface="Cambria Math" panose="02040503050406030204" pitchFamily="18" charset="0"/>
                      </a:rPr>
                      <m:t>3+2∗ </m:t>
                    </m:r>
                    <m:nary>
                      <m:naryPr>
                        <m:chr m:val="∑"/>
                        <m:ctrlPr>
                          <a:rPr lang="en-US" altLang="zh-CN"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𝑁</m:t>
                        </m:r>
                      </m:sup>
                      <m:e>
                        <m:r>
                          <a:rPr lang="en-US" altLang="zh-CN" i="1" dirty="0" smtClean="0">
                            <a:latin typeface="Cambria Math" panose="02040503050406030204" pitchFamily="18" charset="0"/>
                            <a:ea typeface="Cambria Math" panose="02040503050406030204" pitchFamily="18" charset="0"/>
                          </a:rPr>
                          <m:t>𝜑</m:t>
                        </m:r>
                        <m:d>
                          <m:dPr>
                            <m:ctrlPr>
                              <a:rPr lang="en-US" altLang="zh-CN"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𝑖</m:t>
                            </m:r>
                          </m:e>
                        </m:d>
                      </m:e>
                    </m:nary>
                  </m:oMath>
                </a14:m>
                <a:r>
                  <a:rPr lang="en-US" altLang="zh-CN" dirty="0"/>
                  <a:t> </a:t>
                </a:r>
                <a:r>
                  <a:rPr lang="zh-CN" altLang="en-US" dirty="0"/>
                  <a:t>。</a:t>
                </a:r>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r="-406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4711A4F3-B47F-4F49-8949-DA0FDB7B5387}"/>
              </a:ext>
            </a:extLst>
          </p:cNvPr>
          <p:cNvPicPr>
            <a:picLocks noChangeAspect="1"/>
          </p:cNvPicPr>
          <p:nvPr/>
        </p:nvPicPr>
        <p:blipFill>
          <a:blip r:embed="rId3"/>
          <a:stretch>
            <a:fillRect/>
          </a:stretch>
        </p:blipFill>
        <p:spPr>
          <a:xfrm>
            <a:off x="8761066" y="4464050"/>
            <a:ext cx="1959942" cy="1959942"/>
          </a:xfrm>
          <a:prstGeom prst="rect">
            <a:avLst/>
          </a:prstGeom>
        </p:spPr>
      </p:pic>
      <p:sp>
        <p:nvSpPr>
          <p:cNvPr id="5" name="幻灯片编号占位符 4">
            <a:extLst>
              <a:ext uri="{FF2B5EF4-FFF2-40B4-BE49-F238E27FC236}">
                <a16:creationId xmlns:a16="http://schemas.microsoft.com/office/drawing/2014/main" id="{2AAE1B14-0039-854F-97B1-F297D52C276A}"/>
              </a:ext>
            </a:extLst>
          </p:cNvPr>
          <p:cNvSpPr>
            <a:spLocks noGrp="1"/>
          </p:cNvSpPr>
          <p:nvPr>
            <p:ph type="sldNum" sz="quarter" idx="12"/>
          </p:nvPr>
        </p:nvSpPr>
        <p:spPr/>
        <p:txBody>
          <a:bodyPr/>
          <a:lstStyle/>
          <a:p>
            <a:fld id="{0FF54DE5-C571-48E8-A5BC-B369434E2F44}" type="slidenum">
              <a:rPr lang="en-US" altLang="zh-CN" smtClean="0"/>
              <a:pPr/>
              <a:t>53</a:t>
            </a:fld>
            <a:endParaRPr lang="zh-CN" altLang="en-US" dirty="0"/>
          </a:p>
        </p:txBody>
      </p:sp>
    </p:spTree>
    <p:extLst>
      <p:ext uri="{BB962C8B-B14F-4D97-AF65-F5344CB8AC3E}">
        <p14:creationId xmlns:p14="http://schemas.microsoft.com/office/powerpoint/2010/main" val="2056185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例题：</a:t>
            </a:r>
            <a:r>
              <a:rPr lang="en-US" altLang="zh-Hans" dirty="0"/>
              <a:t>[BZOJ 2705]</a:t>
            </a:r>
            <a:r>
              <a:rPr lang="zh-CN" altLang="en-US" dirty="0"/>
              <a:t> Longge的问题</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5172456"/>
              </a:xfrm>
            </p:spPr>
            <p:txBody>
              <a:bodyPr>
                <a:normAutofit/>
              </a:bodyPr>
              <a:lstStyle/>
              <a:p>
                <a:pPr>
                  <a:lnSpc>
                    <a:spcPct val="150000"/>
                  </a:lnSpc>
                  <a:spcBef>
                    <a:spcPts val="600"/>
                  </a:spcBef>
                </a:pPr>
                <a:r>
                  <a:rPr lang="zh-Hans" altLang="en-US" dirty="0"/>
                  <a:t>给定一个整数 </a:t>
                </a:r>
                <a14:m>
                  <m:oMath xmlns:m="http://schemas.openxmlformats.org/officeDocument/2006/math">
                    <m:r>
                      <a:rPr lang="en-US" altLang="zh-Hans" i="1" dirty="0" smtClean="0">
                        <a:latin typeface="Cambria Math" panose="02040503050406030204" pitchFamily="18" charset="0"/>
                      </a:rPr>
                      <m:t>𝑁</m:t>
                    </m:r>
                    <m:r>
                      <a:rPr lang="en-US" altLang="zh-Hans" b="0" i="1" dirty="0" smtClean="0">
                        <a:latin typeface="Cambria Math" panose="02040503050406030204" pitchFamily="18" charset="0"/>
                      </a:rPr>
                      <m:t>(</m:t>
                    </m:r>
                    <m:r>
                      <a:rPr lang="en-US" altLang="zh-Hans" b="0" i="1" dirty="0" smtClean="0">
                        <a:latin typeface="Cambria Math" panose="02040503050406030204" pitchFamily="18" charset="0"/>
                      </a:rPr>
                      <m:t>𝑁</m:t>
                    </m:r>
                    <m:r>
                      <a:rPr lang="en-US" altLang="zh-Hans" b="0" i="1" dirty="0" smtClean="0">
                        <a:latin typeface="Cambria Math" panose="02040503050406030204" pitchFamily="18" charset="0"/>
                        <a:ea typeface="Cambria Math" panose="02040503050406030204" pitchFamily="18" charset="0"/>
                      </a:rPr>
                      <m:t>≤</m:t>
                    </m:r>
                    <m:sSup>
                      <m:sSupPr>
                        <m:ctrlPr>
                          <a:rPr lang="en-US" altLang="zh-Hans" b="0" i="1" dirty="0" smtClean="0">
                            <a:latin typeface="Cambria Math" panose="02040503050406030204" pitchFamily="18" charset="0"/>
                            <a:ea typeface="Cambria Math" panose="02040503050406030204" pitchFamily="18" charset="0"/>
                          </a:rPr>
                        </m:ctrlPr>
                      </m:sSupPr>
                      <m:e>
                        <m:r>
                          <a:rPr lang="en-US" altLang="zh-Hans" b="0" i="1" dirty="0" smtClean="0">
                            <a:latin typeface="Cambria Math" panose="02040503050406030204" pitchFamily="18" charset="0"/>
                            <a:ea typeface="Cambria Math" panose="02040503050406030204" pitchFamily="18" charset="0"/>
                          </a:rPr>
                          <m:t>2</m:t>
                        </m:r>
                      </m:e>
                      <m:sup>
                        <m:r>
                          <a:rPr lang="en-US" altLang="zh-Hans" b="0" i="1" dirty="0" smtClean="0">
                            <a:latin typeface="Cambria Math" panose="02040503050406030204" pitchFamily="18" charset="0"/>
                            <a:ea typeface="Cambria Math" panose="02040503050406030204" pitchFamily="18" charset="0"/>
                          </a:rPr>
                          <m:t>32</m:t>
                        </m:r>
                      </m:sup>
                    </m:sSup>
                    <m:r>
                      <a:rPr lang="en-US" altLang="zh-Hans" b="0" i="1" dirty="0" smtClean="0">
                        <a:latin typeface="Cambria Math" panose="02040503050406030204" pitchFamily="18" charset="0"/>
                      </a:rPr>
                      <m:t>)</m:t>
                    </m:r>
                  </m:oMath>
                </a14:m>
                <a:r>
                  <a:rPr lang="zh-Hans" altLang="en-US" dirty="0"/>
                  <a:t>，求</a:t>
                </a:r>
                <a:r>
                  <a:rPr lang="en-US" altLang="zh-Hans" dirty="0"/>
                  <a:t> </a:t>
                </a:r>
                <a14:m>
                  <m:oMath xmlns:m="http://schemas.openxmlformats.org/officeDocument/2006/math">
                    <m:nary>
                      <m:naryPr>
                        <m:chr m:val="∑"/>
                        <m:ctrlPr>
                          <a:rPr lang="zh-Hans" altLang="en-US" i="1" smtClean="0">
                            <a:latin typeface="Cambria Math" panose="02040503050406030204" pitchFamily="18" charset="0"/>
                          </a:rPr>
                        </m:ctrlPr>
                      </m:naryPr>
                      <m:sub>
                        <m:r>
                          <m:rPr>
                            <m:brk m:alnAt="23"/>
                          </m:rPr>
                          <a:rPr lang="en-US" altLang="zh-Hans" b="0" i="1" smtClean="0">
                            <a:latin typeface="Cambria Math" panose="02040503050406030204" pitchFamily="18" charset="0"/>
                          </a:rPr>
                          <m:t>𝑖</m:t>
                        </m:r>
                        <m:r>
                          <a:rPr lang="en-US" altLang="zh-Hans" b="0" i="1" smtClean="0">
                            <a:latin typeface="Cambria Math" panose="02040503050406030204" pitchFamily="18" charset="0"/>
                          </a:rPr>
                          <m:t>=1</m:t>
                        </m:r>
                      </m:sub>
                      <m:sup>
                        <m:r>
                          <a:rPr lang="en-US" altLang="zh-Hans" b="0" i="1" smtClean="0">
                            <a:latin typeface="Cambria Math" panose="02040503050406030204" pitchFamily="18" charset="0"/>
                          </a:rPr>
                          <m:t>𝑁</m:t>
                        </m:r>
                      </m:sup>
                      <m:e>
                        <m:r>
                          <m:rPr>
                            <m:sty m:val="p"/>
                          </m:rPr>
                          <a:rPr lang="en-US" altLang="zh-Hans" i="1">
                            <a:latin typeface="Cambria Math" panose="02040503050406030204" pitchFamily="18" charset="0"/>
                          </a:rPr>
                          <m:t>gcd</m:t>
                        </m:r>
                        <m:r>
                          <a:rPr lang="en-US" altLang="zh-Hans" b="0" i="1" smtClean="0">
                            <a:latin typeface="Cambria Math" panose="02040503050406030204" pitchFamily="18" charset="0"/>
                          </a:rPr>
                          <m:t>(</m:t>
                        </m:r>
                        <m:r>
                          <a:rPr lang="en-US" altLang="zh-Hans" b="0" i="1" smtClean="0">
                            <a:latin typeface="Cambria Math" panose="02040503050406030204" pitchFamily="18" charset="0"/>
                          </a:rPr>
                          <m:t>𝑖</m:t>
                        </m:r>
                        <m:r>
                          <a:rPr lang="en-US" altLang="zh-Hans" b="0" i="1" smtClean="0">
                            <a:latin typeface="Cambria Math" panose="02040503050406030204" pitchFamily="18" charset="0"/>
                          </a:rPr>
                          <m:t>,</m:t>
                        </m:r>
                        <m:r>
                          <a:rPr lang="en-US" altLang="zh-Hans" b="0" i="1" smtClean="0">
                            <a:latin typeface="Cambria Math" panose="02040503050406030204" pitchFamily="18" charset="0"/>
                          </a:rPr>
                          <m:t>𝑁</m:t>
                        </m:r>
                        <m:r>
                          <a:rPr lang="en-US" altLang="zh-Hans" b="0" i="1" smtClean="0">
                            <a:latin typeface="Cambria Math" panose="02040503050406030204" pitchFamily="18" charset="0"/>
                          </a:rPr>
                          <m:t>)</m:t>
                        </m:r>
                      </m:e>
                    </m:nary>
                  </m:oMath>
                </a14:m>
                <a:endParaRPr lang="en-US" altLang="zh-Hans" dirty="0"/>
              </a:p>
              <a:p>
                <a:pPr>
                  <a:lnSpc>
                    <a:spcPct val="150000"/>
                  </a:lnSpc>
                  <a:spcBef>
                    <a:spcPts val="600"/>
                  </a:spcBef>
                </a:pPr>
                <a:r>
                  <a:rPr lang="zh-Hans" altLang="en-US" dirty="0"/>
                  <a:t>分析：</a:t>
                </a:r>
                <a:endParaRPr lang="en-US" altLang="zh-Hans" dirty="0"/>
              </a:p>
              <a:p>
                <a:pPr>
                  <a:lnSpc>
                    <a:spcPct val="150000"/>
                  </a:lnSpc>
                  <a:spcBef>
                    <a:spcPts val="600"/>
                  </a:spcBef>
                </a:pPr>
                <a:r>
                  <a:rPr lang="zh-Hans" altLang="en-US" dirty="0"/>
                  <a:t>设 </a:t>
                </a:r>
                <a14:m>
                  <m:oMath xmlns:m="http://schemas.openxmlformats.org/officeDocument/2006/math">
                    <m:r>
                      <m:rPr>
                        <m:sty m:val="p"/>
                      </m:rPr>
                      <a:rPr lang="en-US" altLang="zh-Hans" i="1">
                        <a:latin typeface="Cambria Math" panose="02040503050406030204" pitchFamily="18" charset="0"/>
                      </a:rPr>
                      <m:t>gcd</m:t>
                    </m:r>
                    <m:d>
                      <m:dPr>
                        <m:ctrlPr>
                          <a:rPr lang="en-US" altLang="zh-Hans" i="1">
                            <a:latin typeface="Cambria Math" panose="02040503050406030204" pitchFamily="18" charset="0"/>
                          </a:rPr>
                        </m:ctrlPr>
                      </m:dPr>
                      <m:e>
                        <m:r>
                          <a:rPr lang="en-US" altLang="zh-Hans" i="1">
                            <a:latin typeface="Cambria Math" panose="02040503050406030204" pitchFamily="18" charset="0"/>
                          </a:rPr>
                          <m:t>𝑖</m:t>
                        </m:r>
                        <m:r>
                          <a:rPr lang="en-US" altLang="zh-Hans" i="1">
                            <a:latin typeface="Cambria Math" panose="02040503050406030204" pitchFamily="18" charset="0"/>
                          </a:rPr>
                          <m:t>,</m:t>
                        </m:r>
                        <m:r>
                          <a:rPr lang="en-US" altLang="zh-Hans" i="1">
                            <a:latin typeface="Cambria Math" panose="02040503050406030204" pitchFamily="18" charset="0"/>
                          </a:rPr>
                          <m:t>𝑁</m:t>
                        </m:r>
                      </m:e>
                    </m:d>
                    <m:r>
                      <a:rPr lang="en-US" altLang="zh-Hans" i="1">
                        <a:latin typeface="Cambria Math" panose="02040503050406030204" pitchFamily="18" charset="0"/>
                      </a:rPr>
                      <m:t>=</m:t>
                    </m:r>
                    <m:r>
                      <a:rPr lang="en-US" altLang="zh-Hans" i="1">
                        <a:latin typeface="Cambria Math" panose="02040503050406030204" pitchFamily="18" charset="0"/>
                      </a:rPr>
                      <m:t>𝑑</m:t>
                    </m:r>
                  </m:oMath>
                </a14:m>
                <a:r>
                  <a:rPr lang="en-US" altLang="zh-Hans" dirty="0"/>
                  <a:t> </a:t>
                </a:r>
                <a:r>
                  <a:rPr lang="zh-Hans" altLang="en-US" dirty="0"/>
                  <a:t>，可得 </a:t>
                </a:r>
                <a14:m>
                  <m:oMath xmlns:m="http://schemas.openxmlformats.org/officeDocument/2006/math">
                    <m:r>
                      <m:rPr>
                        <m:sty m:val="p"/>
                      </m:rPr>
                      <a:rPr lang="en-US" altLang="zh-Hans" i="1">
                        <a:latin typeface="Cambria Math" panose="02040503050406030204" pitchFamily="18" charset="0"/>
                      </a:rPr>
                      <m:t>gcd</m:t>
                    </m:r>
                    <m:d>
                      <m:dPr>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𝑖</m:t>
                            </m:r>
                          </m:num>
                          <m:den>
                            <m:r>
                              <a:rPr lang="en-US" altLang="zh-Hans" i="1">
                                <a:latin typeface="Cambria Math" panose="02040503050406030204" pitchFamily="18" charset="0"/>
                              </a:rPr>
                              <m:t>𝑑</m:t>
                            </m:r>
                          </m:den>
                        </m:f>
                        <m:r>
                          <a:rPr lang="en-US" altLang="zh-Hans" i="1">
                            <a:latin typeface="Cambria Math" panose="02040503050406030204" pitchFamily="18" charset="0"/>
                          </a:rPr>
                          <m:t>,</m:t>
                        </m:r>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e>
                    </m:d>
                    <m:r>
                      <a:rPr lang="en-US" altLang="zh-Hans" i="1">
                        <a:latin typeface="Cambria Math" panose="02040503050406030204" pitchFamily="18" charset="0"/>
                      </a:rPr>
                      <m:t>=</m:t>
                    </m:r>
                    <m:r>
                      <a:rPr lang="en-US" altLang="zh-Hans" i="1">
                        <a:latin typeface="Cambria Math" panose="02040503050406030204" pitchFamily="18" charset="0"/>
                      </a:rPr>
                      <m:t>1</m:t>
                    </m:r>
                  </m:oMath>
                </a14:m>
                <a:r>
                  <a:rPr lang="en-US" altLang="zh-Hans" dirty="0"/>
                  <a:t> </a:t>
                </a:r>
                <a:r>
                  <a:rPr lang="zh-Hans" altLang="en-US" dirty="0"/>
                  <a:t>，即 </a:t>
                </a:r>
                <a14:m>
                  <m:oMath xmlns:m="http://schemas.openxmlformats.org/officeDocument/2006/math">
                    <m:r>
                      <m:rPr>
                        <m:sty m:val="p"/>
                      </m:rPr>
                      <a:rPr lang="en-US" altLang="zh-Hans" i="1">
                        <a:latin typeface="Cambria Math" panose="02040503050406030204" pitchFamily="18" charset="0"/>
                      </a:rPr>
                      <m:t>gcd</m:t>
                    </m:r>
                    <m:d>
                      <m:dPr>
                        <m:ctrlPr>
                          <a:rPr lang="en-US" altLang="zh-Hans" i="1">
                            <a:latin typeface="Cambria Math" panose="02040503050406030204" pitchFamily="18" charset="0"/>
                          </a:rPr>
                        </m:ctrlPr>
                      </m:dPr>
                      <m:e>
                        <m:r>
                          <a:rPr lang="en-US" altLang="zh-Hans" i="1">
                            <a:latin typeface="Cambria Math" panose="02040503050406030204" pitchFamily="18" charset="0"/>
                          </a:rPr>
                          <m:t>𝑖</m:t>
                        </m:r>
                        <m:r>
                          <a:rPr lang="en-US" altLang="zh-Hans" i="1">
                            <a:latin typeface="Cambria Math" panose="02040503050406030204" pitchFamily="18" charset="0"/>
                          </a:rPr>
                          <m:t>,</m:t>
                        </m:r>
                        <m:r>
                          <a:rPr lang="en-US" altLang="zh-Hans" i="1">
                            <a:latin typeface="Cambria Math" panose="02040503050406030204" pitchFamily="18" charset="0"/>
                          </a:rPr>
                          <m:t>𝑁</m:t>
                        </m:r>
                      </m:e>
                    </m:d>
                    <m:r>
                      <a:rPr lang="en-US" altLang="zh-Hans" i="1">
                        <a:latin typeface="Cambria Math" panose="02040503050406030204" pitchFamily="18" charset="0"/>
                      </a:rPr>
                      <m:t>=</m:t>
                    </m:r>
                    <m:r>
                      <a:rPr lang="en-US" altLang="zh-Hans" i="1">
                        <a:latin typeface="Cambria Math" panose="02040503050406030204" pitchFamily="18" charset="0"/>
                      </a:rPr>
                      <m:t>𝑑</m:t>
                    </m:r>
                    <m:r>
                      <a:rPr lang="en-US" altLang="zh-Hans" i="1">
                        <a:latin typeface="Cambria Math" panose="02040503050406030204" pitchFamily="18" charset="0"/>
                        <a:ea typeface="Cambria Math" panose="02040503050406030204" pitchFamily="18" charset="0"/>
                      </a:rPr>
                      <m:t>×</m:t>
                    </m:r>
                    <m:r>
                      <m:rPr>
                        <m:sty m:val="p"/>
                      </m:rPr>
                      <a:rPr lang="en-US" altLang="zh-Hans" i="1">
                        <a:latin typeface="Cambria Math" panose="02040503050406030204" pitchFamily="18" charset="0"/>
                      </a:rPr>
                      <m:t>gcd</m:t>
                    </m:r>
                    <m:d>
                      <m:dPr>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𝑖</m:t>
                            </m:r>
                          </m:num>
                          <m:den>
                            <m:r>
                              <a:rPr lang="en-US" altLang="zh-Hans" i="1">
                                <a:latin typeface="Cambria Math" panose="02040503050406030204" pitchFamily="18" charset="0"/>
                              </a:rPr>
                              <m:t>𝑑</m:t>
                            </m:r>
                          </m:den>
                        </m:f>
                        <m:r>
                          <a:rPr lang="en-US" altLang="zh-Hans" i="1">
                            <a:latin typeface="Cambria Math" panose="02040503050406030204" pitchFamily="18" charset="0"/>
                          </a:rPr>
                          <m:t>,</m:t>
                        </m:r>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e>
                    </m:d>
                  </m:oMath>
                </a14:m>
                <a:endParaRPr lang="en-US" altLang="zh-Hans" dirty="0"/>
              </a:p>
              <a:p>
                <a:pPr>
                  <a:lnSpc>
                    <a:spcPct val="150000"/>
                  </a:lnSpc>
                  <a:spcBef>
                    <a:spcPts val="600"/>
                  </a:spcBef>
                </a:pPr>
                <a:r>
                  <a:rPr lang="zh-Hans" altLang="en-US" dirty="0"/>
                  <a:t>因为 </a:t>
                </a:r>
                <a14:m>
                  <m:oMath xmlns:m="http://schemas.openxmlformats.org/officeDocument/2006/math">
                    <m:f>
                      <m:fPr>
                        <m:ctrlPr>
                          <a:rPr lang="en-US" altLang="zh-Hans" i="1">
                            <a:latin typeface="Cambria Math" panose="02040503050406030204" pitchFamily="18" charset="0"/>
                          </a:rPr>
                        </m:ctrlPr>
                      </m:fPr>
                      <m:num>
                        <m:r>
                          <a:rPr lang="en-US" altLang="zh-Hans" i="1">
                            <a:latin typeface="Cambria Math" panose="02040503050406030204" pitchFamily="18" charset="0"/>
                          </a:rPr>
                          <m:t>𝑖</m:t>
                        </m:r>
                      </m:num>
                      <m:den>
                        <m:r>
                          <a:rPr lang="en-US" altLang="zh-Hans" i="1">
                            <a:latin typeface="Cambria Math" panose="02040503050406030204" pitchFamily="18" charset="0"/>
                          </a:rPr>
                          <m:t>𝑑</m:t>
                        </m:r>
                      </m:den>
                    </m:f>
                    <m:r>
                      <a:rPr lang="en-US" altLang="zh-Hans" i="1">
                        <a:latin typeface="Cambria Math" panose="02040503050406030204" pitchFamily="18" charset="0"/>
                        <a:ea typeface="Cambria Math" panose="02040503050406030204" pitchFamily="18" charset="0"/>
                      </a:rPr>
                      <m:t>≤</m:t>
                    </m:r>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oMath>
                </a14:m>
                <a:r>
                  <a:rPr lang="zh-Hans" altLang="en-US" dirty="0"/>
                  <a:t> ，所以共有 </a:t>
                </a:r>
                <a14:m>
                  <m:oMath xmlns:m="http://schemas.openxmlformats.org/officeDocument/2006/math">
                    <m:r>
                      <a:rPr lang="zh-Hans" altLang="en-US" i="1">
                        <a:latin typeface="Cambria Math" panose="02040503050406030204" pitchFamily="18" charset="0"/>
                      </a:rPr>
                      <m:t>𝜑</m:t>
                    </m:r>
                    <m:d>
                      <m:dPr>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e>
                    </m:d>
                  </m:oMath>
                </a14:m>
                <a:r>
                  <a:rPr lang="zh-Hans" altLang="en-US" dirty="0"/>
                  <a:t> 个</a:t>
                </a:r>
                <a:r>
                  <a:rPr lang="en-US" altLang="zh-Hans" dirty="0"/>
                  <a:t> </a:t>
                </a:r>
                <a14:m>
                  <m:oMath xmlns:m="http://schemas.openxmlformats.org/officeDocument/2006/math">
                    <m:r>
                      <a:rPr lang="en-US" altLang="zh-Hans" i="1" dirty="0">
                        <a:latin typeface="Cambria Math" panose="02040503050406030204" pitchFamily="18" charset="0"/>
                      </a:rPr>
                      <m:t>𝑖</m:t>
                    </m:r>
                  </m:oMath>
                </a14:m>
                <a:r>
                  <a:rPr lang="en-US" altLang="zh-Hans" dirty="0"/>
                  <a:t> </a:t>
                </a:r>
                <a:r>
                  <a:rPr lang="zh-Hans" altLang="en-US" dirty="0"/>
                  <a:t>满足条件，因此：</a:t>
                </a:r>
                <a:endParaRPr lang="en-US" altLang="zh-Hans" dirty="0"/>
              </a:p>
              <a:p>
                <a:pPr marL="0" indent="0">
                  <a:lnSpc>
                    <a:spcPct val="120000"/>
                  </a:lnSpc>
                  <a:spcBef>
                    <a:spcPts val="600"/>
                  </a:spcBef>
                  <a:buNone/>
                </a:pPr>
                <a14:m>
                  <m:oMathPara xmlns:m="http://schemas.openxmlformats.org/officeDocument/2006/math">
                    <m:oMathParaPr>
                      <m:jc m:val="centerGroup"/>
                    </m:oMathParaPr>
                    <m:oMath xmlns:m="http://schemas.openxmlformats.org/officeDocument/2006/math">
                      <m:nary>
                        <m:naryPr>
                          <m:chr m:val="∑"/>
                          <m:ctrlPr>
                            <a:rPr lang="zh-Hans" altLang="en-US" i="1">
                              <a:latin typeface="Cambria Math" panose="02040503050406030204" pitchFamily="18" charset="0"/>
                            </a:rPr>
                          </m:ctrlPr>
                        </m:naryPr>
                        <m:sub>
                          <m:r>
                            <m:rPr>
                              <m:brk m:alnAt="23"/>
                            </m:rPr>
                            <a:rPr lang="en-US" altLang="zh-Hans" i="1">
                              <a:latin typeface="Cambria Math" panose="02040503050406030204" pitchFamily="18" charset="0"/>
                            </a:rPr>
                            <m:t>𝑖</m:t>
                          </m:r>
                          <m:r>
                            <a:rPr lang="en-US" altLang="zh-Hans" i="1">
                              <a:latin typeface="Cambria Math" panose="02040503050406030204" pitchFamily="18" charset="0"/>
                            </a:rPr>
                            <m:t>=1</m:t>
                          </m:r>
                        </m:sub>
                        <m:sup>
                          <m:r>
                            <a:rPr lang="en-US" altLang="zh-Hans" i="1">
                              <a:latin typeface="Cambria Math" panose="02040503050406030204" pitchFamily="18" charset="0"/>
                            </a:rPr>
                            <m:t>𝑁</m:t>
                          </m:r>
                        </m:sup>
                        <m:e>
                          <m:r>
                            <m:rPr>
                              <m:sty m:val="p"/>
                            </m:rPr>
                            <a:rPr lang="en-US" altLang="zh-Hans" i="1">
                              <a:latin typeface="Cambria Math" panose="02040503050406030204" pitchFamily="18" charset="0"/>
                            </a:rPr>
                            <m:t>gcd</m:t>
                          </m:r>
                          <m:r>
                            <a:rPr lang="en-US" altLang="zh-Hans" i="1">
                              <a:latin typeface="Cambria Math" panose="02040503050406030204" pitchFamily="18" charset="0"/>
                            </a:rPr>
                            <m:t>(</m:t>
                          </m:r>
                          <m:r>
                            <a:rPr lang="en-US" altLang="zh-Hans" i="1">
                              <a:latin typeface="Cambria Math" panose="02040503050406030204" pitchFamily="18" charset="0"/>
                            </a:rPr>
                            <m:t>𝑖</m:t>
                          </m:r>
                          <m:r>
                            <a:rPr lang="en-US" altLang="zh-Hans" i="1">
                              <a:latin typeface="Cambria Math" panose="02040503050406030204" pitchFamily="18" charset="0"/>
                            </a:rPr>
                            <m:t>,</m:t>
                          </m:r>
                          <m:r>
                            <a:rPr lang="en-US" altLang="zh-Hans" i="1">
                              <a:latin typeface="Cambria Math" panose="02040503050406030204" pitchFamily="18" charset="0"/>
                            </a:rPr>
                            <m:t>𝑁</m:t>
                          </m:r>
                          <m:r>
                            <a:rPr lang="en-US" altLang="zh-Hans" i="1">
                              <a:latin typeface="Cambria Math" panose="02040503050406030204" pitchFamily="18" charset="0"/>
                            </a:rPr>
                            <m:t>)</m:t>
                          </m:r>
                        </m:e>
                      </m:nary>
                      <m:r>
                        <a:rPr lang="en-US" altLang="zh-Hans" i="1">
                          <a:latin typeface="Cambria Math" panose="02040503050406030204" pitchFamily="18" charset="0"/>
                        </a:rPr>
                        <m:t>=</m:t>
                      </m:r>
                      <m:nary>
                        <m:naryPr>
                          <m:chr m:val="∑"/>
                          <m:supHide m:val="on"/>
                          <m:ctrlPr>
                            <a:rPr lang="zh-Hans" altLang="en-US" i="1">
                              <a:latin typeface="Cambria Math" panose="02040503050406030204" pitchFamily="18" charset="0"/>
                            </a:rPr>
                          </m:ctrlPr>
                        </m:naryPr>
                        <m:sub>
                          <m:r>
                            <a:rPr lang="en-US" altLang="zh-Hans" i="1">
                              <a:latin typeface="Cambria Math" panose="02040503050406030204" pitchFamily="18" charset="0"/>
                            </a:rPr>
                            <m:t>𝑑</m:t>
                          </m:r>
                          <m:r>
                            <a:rPr lang="en-US" altLang="zh-Hans" i="1">
                              <a:latin typeface="Cambria Math" panose="02040503050406030204" pitchFamily="18" charset="0"/>
                            </a:rPr>
                            <m:t>|</m:t>
                          </m:r>
                          <m:r>
                            <a:rPr lang="en-US" altLang="zh-Hans" i="1">
                              <a:latin typeface="Cambria Math" panose="02040503050406030204" pitchFamily="18" charset="0"/>
                            </a:rPr>
                            <m:t>𝑁</m:t>
                          </m:r>
                        </m:sub>
                        <m:sup/>
                        <m:e>
                          <m:r>
                            <a:rPr lang="en-US" altLang="zh-Hans" i="1">
                              <a:latin typeface="Cambria Math" panose="02040503050406030204" pitchFamily="18" charset="0"/>
                            </a:rPr>
                            <m:t>𝑑</m:t>
                          </m:r>
                          <m:r>
                            <a:rPr lang="zh-Hans" altLang="en-US" i="1">
                              <a:latin typeface="Cambria Math" panose="02040503050406030204" pitchFamily="18" charset="0"/>
                            </a:rPr>
                            <m:t>𝜑</m:t>
                          </m:r>
                          <m:d>
                            <m:dPr>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e>
                          </m:d>
                        </m:e>
                      </m:nary>
                    </m:oMath>
                  </m:oMathPara>
                </a14:m>
                <a:endParaRPr lang="en-US" altLang="zh-Hans" dirty="0"/>
              </a:p>
              <a:p>
                <a:pPr>
                  <a:lnSpc>
                    <a:spcPct val="150000"/>
                  </a:lnSpc>
                  <a:spcBef>
                    <a:spcPts val="600"/>
                  </a:spcBef>
                </a:pPr>
                <a:r>
                  <a:rPr lang="zh-Hans" altLang="en-US" dirty="0">
                    <a:latin typeface="Cambria Math" panose="02040503050406030204" pitchFamily="18" charset="0"/>
                  </a:rPr>
                  <a:t>利用素因数分解求出每个</a:t>
                </a:r>
                <a14:m>
                  <m:oMath xmlns:m="http://schemas.openxmlformats.org/officeDocument/2006/math">
                    <m:r>
                      <a:rPr lang="zh-Hans" altLang="en-US" i="1">
                        <a:latin typeface="Cambria Math" panose="02040503050406030204" pitchFamily="18" charset="0"/>
                      </a:rPr>
                      <m:t>𝜑</m:t>
                    </m:r>
                    <m:d>
                      <m:dPr>
                        <m:ctrlPr>
                          <a:rPr lang="en-US" altLang="zh-Hans" i="1">
                            <a:latin typeface="Cambria Math" panose="02040503050406030204" pitchFamily="18" charset="0"/>
                          </a:rPr>
                        </m:ctrlPr>
                      </m:dPr>
                      <m:e>
                        <m:f>
                          <m:fPr>
                            <m:ctrlPr>
                              <a:rPr lang="en-US" altLang="zh-Hans" i="1">
                                <a:latin typeface="Cambria Math" panose="02040503050406030204" pitchFamily="18" charset="0"/>
                              </a:rPr>
                            </m:ctrlPr>
                          </m:fPr>
                          <m:num>
                            <m:r>
                              <a:rPr lang="en-US" altLang="zh-Hans" i="1">
                                <a:latin typeface="Cambria Math" panose="02040503050406030204" pitchFamily="18" charset="0"/>
                              </a:rPr>
                              <m:t>𝑁</m:t>
                            </m:r>
                          </m:num>
                          <m:den>
                            <m:r>
                              <a:rPr lang="en-US" altLang="zh-Hans" i="1">
                                <a:latin typeface="Cambria Math" panose="02040503050406030204" pitchFamily="18" charset="0"/>
                              </a:rPr>
                              <m:t>𝑑</m:t>
                            </m:r>
                          </m:den>
                        </m:f>
                      </m:e>
                    </m:d>
                  </m:oMath>
                </a14:m>
                <a:r>
                  <a:rPr lang="zh-Hans" altLang="en-US" dirty="0"/>
                  <a:t> 即可。</a:t>
                </a:r>
                <a:endParaRPr lang="en-US" altLang="zh-Hans" dirty="0"/>
              </a:p>
              <a:p>
                <a:pPr>
                  <a:lnSpc>
                    <a:spcPct val="150000"/>
                  </a:lnSpc>
                  <a:spcBef>
                    <a:spcPts val="600"/>
                  </a:spcBef>
                </a:pPr>
                <a:r>
                  <a:rPr lang="zh-Hans" altLang="en-US" dirty="0"/>
                  <a:t>时间复杂度为</a:t>
                </a:r>
                <a:r>
                  <a:rPr lang="en-US" altLang="zh-Hans" dirty="0"/>
                  <a:t> </a:t>
                </a:r>
                <a14:m>
                  <m:oMath xmlns:m="http://schemas.openxmlformats.org/officeDocument/2006/math">
                    <m:nary>
                      <m:naryPr>
                        <m:chr m:val="∑"/>
                        <m:supHide m:val="on"/>
                        <m:ctrlPr>
                          <a:rPr lang="zh-Hans" altLang="en-US" i="1">
                            <a:latin typeface="Cambria Math" panose="02040503050406030204" pitchFamily="18" charset="0"/>
                          </a:rPr>
                        </m:ctrlPr>
                      </m:naryPr>
                      <m:sub>
                        <m:r>
                          <a:rPr lang="en-US" altLang="zh-Hans" i="1">
                            <a:latin typeface="Cambria Math" panose="02040503050406030204" pitchFamily="18" charset="0"/>
                          </a:rPr>
                          <m:t>𝑑</m:t>
                        </m:r>
                        <m:r>
                          <a:rPr lang="en-US" altLang="zh-Hans" i="1">
                            <a:latin typeface="Cambria Math" panose="02040503050406030204" pitchFamily="18" charset="0"/>
                          </a:rPr>
                          <m:t>|</m:t>
                        </m:r>
                        <m:r>
                          <a:rPr lang="en-US" altLang="zh-Hans" i="1">
                            <a:latin typeface="Cambria Math" panose="02040503050406030204" pitchFamily="18" charset="0"/>
                          </a:rPr>
                          <m:t>𝑁</m:t>
                        </m:r>
                      </m:sub>
                      <m:sup/>
                      <m:e>
                        <m:rad>
                          <m:radPr>
                            <m:degHide m:val="on"/>
                            <m:ctrlPr>
                              <a:rPr lang="en-US" altLang="zh-Hans" i="1">
                                <a:latin typeface="Cambria Math" panose="02040503050406030204" pitchFamily="18" charset="0"/>
                              </a:rPr>
                            </m:ctrlPr>
                          </m:radPr>
                          <m:deg/>
                          <m:e>
                            <m:r>
                              <a:rPr lang="en-US" altLang="zh-Hans" i="1">
                                <a:latin typeface="Cambria Math" panose="02040503050406030204" pitchFamily="18" charset="0"/>
                              </a:rPr>
                              <m:t>𝑑</m:t>
                            </m:r>
                          </m:e>
                        </m:rad>
                      </m:e>
                    </m:nary>
                  </m:oMath>
                </a14:m>
                <a:endParaRPr lang="en-US" altLang="zh-Hans" dirty="0"/>
              </a:p>
              <a:p>
                <a:pPr>
                  <a:lnSpc>
                    <a:spcPct val="150000"/>
                  </a:lnSpc>
                  <a:spcBef>
                    <a:spcPts val="600"/>
                  </a:spcBef>
                </a:pPr>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2456"/>
              </a:xfrm>
              <a:blipFill>
                <a:blip r:embed="rId2"/>
                <a:stretch>
                  <a:fillRect l="-1398" t="-6863" b="-11029"/>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1F43CFBA-7A6C-4545-99AF-B20DDE1F3E6A}"/>
              </a:ext>
            </a:extLst>
          </p:cNvPr>
          <p:cNvSpPr>
            <a:spLocks noGrp="1"/>
          </p:cNvSpPr>
          <p:nvPr>
            <p:ph type="sldNum" sz="quarter" idx="12"/>
          </p:nvPr>
        </p:nvSpPr>
        <p:spPr/>
        <p:txBody>
          <a:bodyPr/>
          <a:lstStyle/>
          <a:p>
            <a:fld id="{0FF54DE5-C571-48E8-A5BC-B369434E2F44}" type="slidenum">
              <a:rPr lang="en-US" altLang="zh-CN" smtClean="0"/>
              <a:pPr/>
              <a:t>54</a:t>
            </a:fld>
            <a:endParaRPr lang="zh-CN" altLang="en-US" dirty="0"/>
          </a:p>
        </p:txBody>
      </p:sp>
    </p:spTree>
    <p:extLst>
      <p:ext uri="{BB962C8B-B14F-4D97-AF65-F5344CB8AC3E}">
        <p14:creationId xmlns:p14="http://schemas.microsoft.com/office/powerpoint/2010/main" val="2705107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Hans" altLang="en-US" dirty="0"/>
              <a:t>同余</a:t>
            </a:r>
            <a:endParaRPr lang="en-US" dirty="0"/>
          </a:p>
        </p:txBody>
      </p:sp>
      <p:sp>
        <p:nvSpPr>
          <p:cNvPr id="3" name="幻灯片编号占位符 2">
            <a:extLst>
              <a:ext uri="{FF2B5EF4-FFF2-40B4-BE49-F238E27FC236}">
                <a16:creationId xmlns:a16="http://schemas.microsoft.com/office/drawing/2014/main" id="{A76AEC76-B383-164B-B41C-816AF6BDB4C6}"/>
              </a:ext>
            </a:extLst>
          </p:cNvPr>
          <p:cNvSpPr>
            <a:spLocks noGrp="1"/>
          </p:cNvSpPr>
          <p:nvPr>
            <p:ph type="sldNum" sz="quarter" idx="12"/>
          </p:nvPr>
        </p:nvSpPr>
        <p:spPr/>
        <p:txBody>
          <a:bodyPr/>
          <a:lstStyle/>
          <a:p>
            <a:fld id="{0FF54DE5-C571-48E8-A5BC-B369434E2F44}" type="slidenum">
              <a:rPr lang="en-US" altLang="zh-CN" smtClean="0"/>
              <a:pPr/>
              <a:t>55</a:t>
            </a:fld>
            <a:endParaRPr lang="zh-CN" altLang="en-US" dirty="0"/>
          </a:p>
        </p:txBody>
      </p:sp>
    </p:spTree>
    <p:extLst>
      <p:ext uri="{BB962C8B-B14F-4D97-AF65-F5344CB8AC3E}">
        <p14:creationId xmlns:p14="http://schemas.microsoft.com/office/powerpoint/2010/main" val="967877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基本概念</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5167994"/>
              </a:xfrm>
            </p:spPr>
            <p:txBody>
              <a:bodyPr rtlCol="0">
                <a:normAutofit/>
              </a:bodyPr>
              <a:lstStyle/>
              <a:p>
                <a:pPr>
                  <a:lnSpc>
                    <a:spcPct val="150000"/>
                  </a:lnSpc>
                </a:pPr>
                <a:r>
                  <a:rPr lang="zh-CN" altLang="en-US" b="1" dirty="0"/>
                  <a:t>除法定理</a:t>
                </a:r>
                <a:r>
                  <a:rPr lang="zh-CN" altLang="en-US" dirty="0"/>
                  <a:t>：</a:t>
                </a:r>
                <a:br>
                  <a:rPr lang="en-US" altLang="zh-CN" dirty="0"/>
                </a:br>
                <a:r>
                  <a:rPr lang="zh-CN" altLang="en-US" dirty="0"/>
                  <a:t>对于任何整数</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 </m:t>
                    </m:r>
                  </m:oMath>
                </a14:m>
                <a:r>
                  <a:rPr lang="zh-CN" altLang="en-US" dirty="0"/>
                  <a:t>和任何正整数 </a:t>
                </a:r>
                <a14:m>
                  <m:oMath xmlns:m="http://schemas.openxmlformats.org/officeDocument/2006/math">
                    <m:r>
                      <a:rPr lang="en-US" altLang="zh-CN" i="1" dirty="0" smtClean="0">
                        <a:latin typeface="Cambria Math" panose="02040503050406030204" pitchFamily="18" charset="0"/>
                      </a:rPr>
                      <m:t>𝑚</m:t>
                    </m:r>
                  </m:oMath>
                </a14:m>
                <a:r>
                  <a:rPr lang="zh-CN" altLang="en-US" dirty="0"/>
                  <a:t>，存在唯一整数 </a:t>
                </a:r>
                <a14:m>
                  <m:oMath xmlns:m="http://schemas.openxmlformats.org/officeDocument/2006/math">
                    <m:r>
                      <a:rPr lang="en-US" altLang="zh-CN" i="1" dirty="0" smtClean="0">
                        <a:latin typeface="Cambria Math" panose="02040503050406030204" pitchFamily="18" charset="0"/>
                      </a:rPr>
                      <m:t>𝑞</m:t>
                    </m:r>
                    <m:r>
                      <a:rPr lang="en-US" altLang="zh-CN" b="0" i="1" dirty="0" smtClean="0">
                        <a:latin typeface="Cambria Math" panose="02040503050406030204" pitchFamily="18" charset="0"/>
                      </a:rPr>
                      <m:t> </m:t>
                    </m:r>
                  </m:oMath>
                </a14:m>
                <a:r>
                  <a:rPr lang="en-US" altLang="zh-CN" dirty="0" err="1">
                    <a:latin typeface="Times New Roman" panose="02020603050405020304" pitchFamily="18" charset="0"/>
                  </a:rPr>
                  <a:t>和</a:t>
                </a:r>
                <a:r>
                  <a:rPr lang="en-US" altLang="zh-CN" dirty="0">
                    <a:latin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rPr>
                      <m:t>𝑟</m:t>
                    </m:r>
                  </m:oMath>
                </a14:m>
                <a:r>
                  <a:rPr lang="zh-CN" altLang="en-US" dirty="0"/>
                  <a:t>，</a:t>
                </a:r>
                <a:r>
                  <a:rPr lang="zh-CN" altLang="zh-CN" dirty="0"/>
                  <a:t>满足</a:t>
                </a:r>
                <a:r>
                  <a:rPr lang="zh-CN" altLang="en-US" dirty="0"/>
                  <a:t> </a:t>
                </a:r>
                <a14:m>
                  <m:oMath xmlns:m="http://schemas.openxmlformats.org/officeDocument/2006/math">
                    <m:r>
                      <a:rPr lang="en-US" altLang="zh-CN" i="1" dirty="0" smtClean="0">
                        <a:latin typeface="Cambria Math" panose="02040503050406030204" pitchFamily="18" charset="0"/>
                      </a:rPr>
                      <m:t>0</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𝑟</m:t>
                    </m:r>
                    <m:r>
                      <a:rPr lang="en-US" altLang="zh-CN" i="1" dirty="0" smtClean="0">
                        <a:latin typeface="Cambria Math" panose="02040503050406030204" pitchFamily="18" charset="0"/>
                      </a:rPr>
                      <m:t>&lt;</m:t>
                    </m:r>
                    <m:r>
                      <a:rPr lang="en-US" altLang="zh-CN" i="1" dirty="0">
                        <a:latin typeface="Cambria Math" panose="02040503050406030204" pitchFamily="18" charset="0"/>
                      </a:rPr>
                      <m:t>𝑚</m:t>
                    </m:r>
                  </m:oMath>
                </a14:m>
                <a:r>
                  <a:rPr lang="zh-Hans" altLang="en-US" dirty="0">
                    <a:latin typeface="Times New Roman" panose="02020603050405020304" pitchFamily="18" charset="0"/>
                  </a:rPr>
                  <a:t> </a:t>
                </a:r>
                <a:r>
                  <a:rPr lang="en-US" altLang="zh-CN" dirty="0" err="1">
                    <a:latin typeface="Times New Roman" panose="02020603050405020304" pitchFamily="18" charset="0"/>
                  </a:rPr>
                  <a:t>且</a:t>
                </a:r>
                <a:r>
                  <a:rPr lang="zh-Hans" altLang="en-US" dirty="0">
                    <a:latin typeface="Times New Roman" panose="02020603050405020304" pitchFamily="18" charset="0"/>
                  </a:rPr>
                  <a:t> </a:t>
                </a:r>
                <a14:m>
                  <m:oMath xmlns:m="http://schemas.openxmlformats.org/officeDocument/2006/math">
                    <m:r>
                      <a:rPr lang="en-US" altLang="zh-CN" i="1" dirty="0" smtClean="0">
                        <a:latin typeface="Cambria Math" panose="02040503050406030204" pitchFamily="18" charset="0"/>
                      </a:rPr>
                      <m:t>𝑎</m:t>
                    </m:r>
                    <m:r>
                      <a:rPr lang="en-US" altLang="zh-CN" i="1" dirty="0">
                        <a:latin typeface="Cambria Math" panose="02040503050406030204" pitchFamily="18" charset="0"/>
                      </a:rPr>
                      <m:t>=</m:t>
                    </m:r>
                    <m:r>
                      <a:rPr lang="en-US" altLang="zh-CN" i="1" dirty="0" err="1">
                        <a:latin typeface="Cambria Math" panose="02040503050406030204" pitchFamily="18" charset="0"/>
                      </a:rPr>
                      <m:t>𝑞</m:t>
                    </m:r>
                    <m:r>
                      <a:rPr lang="en-US" altLang="zh-CN" i="1" dirty="0" err="1" smtClean="0">
                        <a:latin typeface="Cambria Math" panose="02040503050406030204" pitchFamily="18" charset="0"/>
                      </a:rPr>
                      <m:t>𝑚</m:t>
                    </m:r>
                    <m:r>
                      <a:rPr lang="en-US" altLang="zh-CN" i="1" dirty="0" err="1">
                        <a:latin typeface="Cambria Math" panose="02040503050406030204" pitchFamily="18" charset="0"/>
                      </a:rPr>
                      <m:t>+</m:t>
                    </m:r>
                    <m:r>
                      <a:rPr lang="en-US" altLang="zh-CN" i="1" dirty="0" err="1">
                        <a:latin typeface="Cambria Math" panose="02040503050406030204" pitchFamily="18" charset="0"/>
                      </a:rPr>
                      <m:t>𝑟</m:t>
                    </m:r>
                  </m:oMath>
                </a14:m>
                <a:r>
                  <a:rPr lang="en-US" altLang="zh-CN" dirty="0"/>
                  <a:t>,</a:t>
                </a:r>
                <a:r>
                  <a:rPr lang="zh-CN" altLang="zh-CN" dirty="0"/>
                  <a:t>其中</a:t>
                </a:r>
                <a:r>
                  <a:rPr lang="zh-CN" altLang="en-US" dirty="0"/>
                  <a:t> </a:t>
                </a:r>
                <a14:m>
                  <m:oMath xmlns:m="http://schemas.openxmlformats.org/officeDocument/2006/math">
                    <m:r>
                      <a:rPr lang="en-US" altLang="zh-CN" i="1" dirty="0" smtClean="0">
                        <a:latin typeface="Cambria Math" panose="02040503050406030204" pitchFamily="18" charset="0"/>
                      </a:rPr>
                      <m:t>𝑞</m:t>
                    </m:r>
                    <m:r>
                      <a:rPr lang="en-US" altLang="zh-Hans" b="0" i="1" dirty="0" smtClean="0">
                        <a:latin typeface="Cambria Math" panose="02040503050406030204" pitchFamily="18" charset="0"/>
                      </a:rPr>
                      <m:t>=</m:t>
                    </m:r>
                    <m:d>
                      <m:dPr>
                        <m:begChr m:val="⌊"/>
                        <m:endChr m:val="⌋"/>
                        <m:ctrlPr>
                          <a:rPr lang="en-US" altLang="zh-Hans" b="0" i="1" dirty="0" smtClean="0">
                            <a:latin typeface="Cambria Math" panose="02040503050406030204" pitchFamily="18" charset="0"/>
                          </a:rPr>
                        </m:ctrlPr>
                      </m:dPr>
                      <m:e>
                        <m:f>
                          <m:fPr>
                            <m:ctrlPr>
                              <a:rPr lang="en-US" altLang="zh-Hans" b="0" i="1" dirty="0" smtClean="0">
                                <a:latin typeface="Cambria Math" panose="02040503050406030204" pitchFamily="18" charset="0"/>
                              </a:rPr>
                            </m:ctrlPr>
                          </m:fPr>
                          <m:num>
                            <m:r>
                              <a:rPr lang="en-US" altLang="zh-Hans" b="0" i="1" dirty="0" smtClean="0">
                                <a:latin typeface="Cambria Math" panose="02040503050406030204" pitchFamily="18" charset="0"/>
                              </a:rPr>
                              <m:t>𝑎</m:t>
                            </m:r>
                          </m:num>
                          <m:den>
                            <m:r>
                              <a:rPr lang="en-US" altLang="zh-Hans" b="0" i="1" dirty="0" smtClean="0">
                                <a:latin typeface="Cambria Math" panose="02040503050406030204" pitchFamily="18" charset="0"/>
                              </a:rPr>
                              <m:t>𝑚</m:t>
                            </m:r>
                          </m:den>
                        </m:f>
                      </m:e>
                    </m:d>
                  </m:oMath>
                </a14:m>
                <a:r>
                  <a:rPr lang="zh-CN" altLang="en-US" dirty="0"/>
                  <a:t> </a:t>
                </a:r>
                <a:r>
                  <a:rPr lang="zh-CN" altLang="zh-CN" dirty="0"/>
                  <a:t>为商</a:t>
                </a:r>
                <a:r>
                  <a:rPr lang="en-US" altLang="zh-CN" dirty="0"/>
                  <a:t>, </a:t>
                </a:r>
                <a14:m>
                  <m:oMath xmlns:m="http://schemas.openxmlformats.org/officeDocument/2006/math">
                    <m:r>
                      <a:rPr lang="en-US" altLang="zh-CN" i="1" dirty="0" smtClean="0">
                        <a:latin typeface="Cambria Math" panose="02040503050406030204" pitchFamily="18" charset="0"/>
                      </a:rPr>
                      <m:t>𝑟</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mod</m:t>
                    </m:r>
                    <m:r>
                      <a:rPr lang="en-US" altLang="zh-CN" i="1" dirty="0" smtClean="0">
                        <a:latin typeface="Cambria Math" panose="02040503050406030204" pitchFamily="18" charset="0"/>
                      </a:rPr>
                      <m:t> </m:t>
                    </m:r>
                    <m:r>
                      <a:rPr lang="en-US" altLang="zh-CN" i="1" dirty="0">
                        <a:latin typeface="Cambria Math" panose="02040503050406030204" pitchFamily="18" charset="0"/>
                      </a:rPr>
                      <m:t>𝑚</m:t>
                    </m:r>
                  </m:oMath>
                </a14:m>
                <a:r>
                  <a:rPr lang="zh-CN" altLang="en-US" dirty="0"/>
                  <a:t>为余数。</a:t>
                </a:r>
                <a:endParaRPr lang="en-US" altLang="zh-CN" b="1" dirty="0"/>
              </a:p>
              <a:p>
                <a:pPr>
                  <a:lnSpc>
                    <a:spcPct val="150000"/>
                  </a:lnSpc>
                </a:pPr>
                <a:r>
                  <a:rPr lang="zh-CN" altLang="en-US" b="1" dirty="0"/>
                  <a:t>余数</a:t>
                </a:r>
                <a:r>
                  <a:rPr lang="zh-CN" altLang="en-US" dirty="0"/>
                  <a:t>：我们把 </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 </m:t>
                    </m:r>
                  </m:oMath>
                </a14:m>
                <a:r>
                  <a:rPr lang="zh-CN" altLang="en-US" dirty="0"/>
                  <a:t>除以 </a:t>
                </a:r>
                <a14:m>
                  <m:oMath xmlns:m="http://schemas.openxmlformats.org/officeDocument/2006/math">
                    <m:r>
                      <a:rPr lang="en-US" altLang="zh-CN" i="1" dirty="0" smtClean="0">
                        <a:latin typeface="Cambria Math" panose="02040503050406030204" pitchFamily="18" charset="0"/>
                      </a:rPr>
                      <m:t>𝑚</m:t>
                    </m:r>
                  </m:oMath>
                </a14:m>
                <a:r>
                  <a:rPr lang="zh-CN" altLang="en-US" dirty="0"/>
                  <a:t> 所得的余数 </a:t>
                </a:r>
                <a14:m>
                  <m:oMath xmlns:m="http://schemas.openxmlformats.org/officeDocument/2006/math">
                    <m:r>
                      <a:rPr lang="en-US" altLang="zh-CN" i="1" dirty="0" smtClean="0">
                        <a:latin typeface="Cambria Math" panose="02040503050406030204" pitchFamily="18" charset="0"/>
                      </a:rPr>
                      <m:t>𝑟</m:t>
                    </m:r>
                  </m:oMath>
                </a14:m>
                <a:r>
                  <a:rPr lang="zh-CN" altLang="en-US" dirty="0"/>
                  <a:t> 记作</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mod</m:t>
                    </m:r>
                    <m:r>
                      <a:rPr lang="en-US" altLang="zh-CN" i="1" dirty="0" smtClean="0">
                        <a:latin typeface="Cambria Math" panose="02040503050406030204" pitchFamily="18" charset="0"/>
                      </a:rPr>
                      <m:t> </m:t>
                    </m:r>
                    <m:r>
                      <a:rPr lang="en-US" altLang="zh-CN" i="1" dirty="0">
                        <a:latin typeface="Cambria Math" panose="02040503050406030204" pitchFamily="18" charset="0"/>
                      </a:rPr>
                      <m:t>𝑚</m:t>
                    </m:r>
                  </m:oMath>
                </a14:m>
                <a:r>
                  <a:rPr lang="zh-Hans" altLang="en-US" dirty="0"/>
                  <a:t> </a:t>
                </a:r>
                <a:r>
                  <a:rPr lang="zh-CN" altLang="en-US" dirty="0"/>
                  <a:t>。</a:t>
                </a:r>
                <a:endParaRPr lang="en-US" altLang="zh-CN" dirty="0"/>
              </a:p>
              <a:p>
                <a:pPr>
                  <a:lnSpc>
                    <a:spcPct val="150000"/>
                  </a:lnSpc>
                </a:pPr>
                <a:r>
                  <a:rPr lang="zh-CN" altLang="en-US" b="1" dirty="0"/>
                  <a:t>同余</a:t>
                </a:r>
                <a:r>
                  <a:rPr lang="zh-CN" altLang="en-US" dirty="0"/>
                  <a:t>：如果</a:t>
                </a:r>
                <a:r>
                  <a:rPr lang="zh-Hans" altLang="en-US" dirty="0"/>
                  <a:t>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rPr>
                      <m:t> </m:t>
                    </m:r>
                    <m:r>
                      <m:rPr>
                        <m:sty m:val="p"/>
                      </m:rPr>
                      <a:rPr lang="en-US" altLang="zh-CN" dirty="0">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𝑚</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i="1" dirty="0">
                        <a:latin typeface="Cambria Math" panose="02040503050406030204" pitchFamily="18" charset="0"/>
                      </a:rPr>
                      <m:t> </m:t>
                    </m:r>
                    <m:r>
                      <m:rPr>
                        <m:sty m:val="p"/>
                      </m:rPr>
                      <a:rPr lang="en-US" altLang="zh-CN" b="0" i="0" dirty="0" smtClean="0">
                        <a:latin typeface="Cambria Math" panose="02040503050406030204" pitchFamily="18" charset="0"/>
                      </a:rPr>
                      <m:t>mod</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𝑚</m:t>
                    </m:r>
                  </m:oMath>
                </a14:m>
                <a:r>
                  <a:rPr lang="zh-CN" altLang="en-US" dirty="0"/>
                  <a:t>，即</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zh-CN" altLang="en-US" dirty="0"/>
                  <a:t> 除以 </a:t>
                </a:r>
                <a14:m>
                  <m:oMath xmlns:m="http://schemas.openxmlformats.org/officeDocument/2006/math">
                    <m:r>
                      <a:rPr lang="en-US" altLang="zh-CN" i="1" dirty="0" smtClean="0">
                        <a:latin typeface="Cambria Math" panose="02040503050406030204" pitchFamily="18" charset="0"/>
                      </a:rPr>
                      <m:t>𝑚</m:t>
                    </m:r>
                  </m:oMath>
                </a14:m>
                <a:r>
                  <a:rPr lang="zh-CN" altLang="en-US" dirty="0"/>
                  <a:t> 所得的余数相等，记作：</a:t>
                </a:r>
                <a:br>
                  <a:rPr lang="en-US" altLang="zh-CN" dirty="0"/>
                </a:br>
                <a14:m>
                  <m:oMath xmlns:m="http://schemas.openxmlformats.org/officeDocument/2006/math">
                    <m:r>
                      <a:rPr lang="en-US" altLang="zh-CN" i="1" dirty="0">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r>
                      <m:rPr>
                        <m:sty m:val="p"/>
                      </m:rPr>
                      <a:rPr lang="en-US" altLang="zh-CN" dirty="0" err="1">
                        <a:latin typeface="Cambria Math" panose="02040503050406030204" pitchFamily="18" charset="0"/>
                      </a:rPr>
                      <m:t>mod</m:t>
                    </m:r>
                    <m:r>
                      <a:rPr lang="en-US" altLang="zh-CN" i="1" dirty="0">
                        <a:latin typeface="Cambria Math" panose="02040503050406030204" pitchFamily="18" charset="0"/>
                      </a:rPr>
                      <m:t> </m:t>
                    </m:r>
                    <m:r>
                      <a:rPr lang="en-US" altLang="zh-CN" i="1" dirty="0" err="1">
                        <a:latin typeface="Cambria Math" panose="02040503050406030204" pitchFamily="18" charset="0"/>
                      </a:rPr>
                      <m:t>𝑚</m:t>
                    </m:r>
                    <m:r>
                      <a:rPr lang="en-US" altLang="zh-CN" i="1" dirty="0">
                        <a:latin typeface="Cambria Math" panose="02040503050406030204" pitchFamily="18" charset="0"/>
                      </a:rPr>
                      <m:t>)</m:t>
                    </m:r>
                  </m:oMath>
                </a14:m>
                <a:endParaRPr lang="en-US" altLang="zh-CN" dirty="0"/>
              </a:p>
              <a:p>
                <a:pPr lvl="1">
                  <a:lnSpc>
                    <a:spcPct val="150000"/>
                  </a:lnSpc>
                  <a:spcBef>
                    <a:spcPts val="1800"/>
                  </a:spcBef>
                </a:pPr>
                <a:r>
                  <a:rPr lang="zh-CN" altLang="zh-CN" sz="2000" dirty="0"/>
                  <a:t>若</a:t>
                </a:r>
                <a:r>
                  <a:rPr lang="zh-CN" altLang="en-US" sz="2000" dirty="0"/>
                  <a:t> </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𝑚</m:t>
                        </m:r>
                      </m:e>
                    </m:d>
                  </m:oMath>
                </a14:m>
                <a:r>
                  <a:rPr lang="zh-CN" altLang="zh-CN" sz="2000" dirty="0"/>
                  <a:t>，则</a:t>
                </a:r>
                <a:r>
                  <a:rPr lang="zh-CN" altLang="en-US" sz="2000" dirty="0"/>
                  <a:t> </a:t>
                </a:r>
                <a14:m>
                  <m:oMath xmlns:m="http://schemas.openxmlformats.org/officeDocument/2006/math">
                    <m:d>
                      <m:dPr>
                        <m:ctrlPr>
                          <a:rPr lang="zh-CN" altLang="zh-CN" sz="2000" i="1">
                            <a:latin typeface="Cambria Math" panose="02040503050406030204" pitchFamily="18" charset="0"/>
                          </a:rPr>
                        </m:ctrlPr>
                      </m:dPr>
                      <m:e>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𝑚</m:t>
                        </m:r>
                      </m:e>
                    </m:d>
                    <m:r>
                      <a:rPr lang="en-US" altLang="zh-CN" sz="2000" i="1">
                        <a:latin typeface="Cambria Math" panose="02040503050406030204" pitchFamily="18" charset="0"/>
                      </a:rPr>
                      <m:t>=</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𝑏</m:t>
                        </m:r>
                        <m:r>
                          <a:rPr lang="en-US" altLang="zh-CN" sz="2000" i="1">
                            <a:latin typeface="Cambria Math" panose="02040503050406030204" pitchFamily="18" charset="0"/>
                          </a:rPr>
                          <m:t>,</m:t>
                        </m:r>
                        <m:r>
                          <a:rPr lang="en-US" altLang="zh-CN" sz="2000" i="1">
                            <a:latin typeface="Cambria Math" panose="02040503050406030204" pitchFamily="18" charset="0"/>
                          </a:rPr>
                          <m:t>𝑚</m:t>
                        </m:r>
                      </m:e>
                    </m:d>
                  </m:oMath>
                </a14:m>
                <a:r>
                  <a:rPr lang="zh-Hans" altLang="en-US" sz="2000" dirty="0"/>
                  <a:t> 。</a:t>
                </a:r>
                <a:endParaRPr lang="en-US" altLang="zh-CN" sz="2000" dirty="0"/>
              </a:p>
              <a:p>
                <a:pPr lvl="1">
                  <a:lnSpc>
                    <a:spcPct val="150000"/>
                  </a:lnSpc>
                  <a:spcBef>
                    <a:spcPts val="1800"/>
                  </a:spcBef>
                </a:pPr>
                <a:r>
                  <a:rPr lang="zh-CN" altLang="zh-CN" sz="2000" dirty="0"/>
                  <a:t>若</a:t>
                </a:r>
                <a:r>
                  <a:rPr lang="zh-CN" altLang="en-US" sz="2000" dirty="0"/>
                  <a:t> </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𝑚</m:t>
                        </m:r>
                      </m:e>
                    </m:d>
                  </m:oMath>
                </a14:m>
                <a:r>
                  <a:rPr lang="zh-CN" altLang="zh-CN" sz="2000" dirty="0"/>
                  <a:t>，且</a:t>
                </a:r>
                <a:r>
                  <a:rPr lang="zh-CN" altLang="en-US" sz="2000" dirty="0"/>
                  <a:t> </a:t>
                </a:r>
                <a14:m>
                  <m:oMath xmlns:m="http://schemas.openxmlformats.org/officeDocument/2006/math">
                    <m:r>
                      <a:rPr lang="en-US" altLang="zh-CN" sz="2000" i="1">
                        <a:latin typeface="Cambria Math" panose="02040503050406030204" pitchFamily="18" charset="0"/>
                      </a:rPr>
                      <m:t>𝑑</m:t>
                    </m:r>
                    <m:r>
                      <a:rPr lang="en-US" altLang="zh-CN" sz="2000" i="1">
                        <a:latin typeface="Cambria Math" panose="02040503050406030204" pitchFamily="18" charset="0"/>
                      </a:rPr>
                      <m:t>|</m:t>
                    </m:r>
                    <m:r>
                      <a:rPr lang="en-US" altLang="zh-CN" sz="2000" i="1">
                        <a:latin typeface="Cambria Math" panose="02040503050406030204" pitchFamily="18" charset="0"/>
                      </a:rPr>
                      <m:t>𝑚</m:t>
                    </m:r>
                  </m:oMath>
                </a14:m>
                <a:r>
                  <a:rPr lang="zh-CN" altLang="zh-CN" sz="2000" dirty="0"/>
                  <a:t>，则</a:t>
                </a:r>
                <a:r>
                  <a:rPr lang="zh-CN" altLang="en-US" sz="2000" dirty="0"/>
                  <a:t> </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𝑏</m:t>
                    </m:r>
                    <m:d>
                      <m:dPr>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𝑑</m:t>
                        </m:r>
                      </m:e>
                    </m:d>
                  </m:oMath>
                </a14:m>
                <a:r>
                  <a:rPr lang="zh-Hans" altLang="en-US" dirty="0"/>
                  <a:t> 。</a:t>
                </a:r>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167994"/>
              </a:xfrm>
              <a:blipFill>
                <a:blip r:embed="rId2"/>
                <a:stretch>
                  <a:fillRect l="-1398" r="-2033"/>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1A9EEE75-2F74-1943-9B7F-FCBB320CAE5B}"/>
              </a:ext>
            </a:extLst>
          </p:cNvPr>
          <p:cNvSpPr>
            <a:spLocks noGrp="1"/>
          </p:cNvSpPr>
          <p:nvPr>
            <p:ph type="sldNum" sz="quarter" idx="12"/>
          </p:nvPr>
        </p:nvSpPr>
        <p:spPr/>
        <p:txBody>
          <a:bodyPr/>
          <a:lstStyle/>
          <a:p>
            <a:fld id="{0FF54DE5-C571-48E8-A5BC-B369434E2F44}" type="slidenum">
              <a:rPr lang="en-US" altLang="zh-CN" smtClean="0"/>
              <a:pPr/>
              <a:t>56</a:t>
            </a:fld>
            <a:endParaRPr lang="zh-CN" altLang="en-US" dirty="0"/>
          </a:p>
        </p:txBody>
      </p:sp>
    </p:spTree>
    <p:extLst>
      <p:ext uri="{BB962C8B-B14F-4D97-AF65-F5344CB8AC3E}">
        <p14:creationId xmlns:p14="http://schemas.microsoft.com/office/powerpoint/2010/main" val="4392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剩余系</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5167994"/>
              </a:xfrm>
            </p:spPr>
            <p:txBody>
              <a:bodyPr rtlCol="0">
                <a:normAutofit/>
              </a:bodyPr>
              <a:lstStyle/>
              <a:p>
                <a:pPr>
                  <a:lnSpc>
                    <a:spcPct val="150000"/>
                  </a:lnSpc>
                </a:pPr>
                <a:r>
                  <a:rPr lang="zh-Hans" altLang="en-US" b="1" dirty="0"/>
                  <a:t>剩余系</a:t>
                </a:r>
                <a:r>
                  <a:rPr lang="zh-Hans" altLang="en-US" dirty="0"/>
                  <a:t>是指模</a:t>
                </a:r>
                <a:r>
                  <a:rPr lang="zh-CN" altLang="en-US" dirty="0"/>
                  <a:t>正整数</a:t>
                </a:r>
                <a14:m>
                  <m:oMath xmlns:m="http://schemas.openxmlformats.org/officeDocument/2006/math">
                    <m:r>
                      <a:rPr lang="en-US" altLang="zh-CN" dirty="0">
                        <a:latin typeface="Cambria Math" panose="02040503050406030204" pitchFamily="18" charset="0"/>
                      </a:rPr>
                      <m:t> </m:t>
                    </m:r>
                    <m:r>
                      <a:rPr lang="en-US" altLang="zh-CN" i="1" dirty="0">
                        <a:latin typeface="Cambria Math" panose="02040503050406030204" pitchFamily="18" charset="0"/>
                      </a:rPr>
                      <m:t>𝑛</m:t>
                    </m:r>
                  </m:oMath>
                </a14:m>
                <a:r>
                  <a:rPr lang="zh-Hans" altLang="en-US" dirty="0"/>
                  <a:t> 的余数所组成的集合。</a:t>
                </a:r>
                <a:r>
                  <a:rPr lang="zh-CN" altLang="en-US" dirty="0"/>
                  <a:t> </a:t>
                </a:r>
                <a:endParaRPr lang="en-US" altLang="zh-CN" dirty="0"/>
              </a:p>
              <a:p>
                <a:pPr>
                  <a:lnSpc>
                    <a:spcPct val="150000"/>
                  </a:lnSpc>
                </a:pPr>
                <a:r>
                  <a:rPr lang="zh-CN" altLang="en-US" dirty="0"/>
                  <a:t>如果一个剩余系中包含了这个正整数</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𝑛</m:t>
                    </m:r>
                  </m:oMath>
                </a14:m>
                <a:r>
                  <a:rPr lang="zh-CN" altLang="en-US" dirty="0"/>
                  <a:t> 所有可能的余数（一般地，对于任意正整数 </a:t>
                </a:r>
                <a14:m>
                  <m:oMath xmlns:m="http://schemas.openxmlformats.org/officeDocument/2006/math">
                    <m:r>
                      <a:rPr lang="en-US" altLang="zh-CN" i="1" dirty="0" smtClean="0">
                        <a:latin typeface="Cambria Math" panose="02040503050406030204" pitchFamily="18" charset="0"/>
                      </a:rPr>
                      <m:t>𝑛</m:t>
                    </m:r>
                  </m:oMath>
                </a14:m>
                <a:r>
                  <a:rPr lang="zh-CN" altLang="en-US" dirty="0"/>
                  <a:t>，有 </a:t>
                </a:r>
                <a14:m>
                  <m:oMath xmlns:m="http://schemas.openxmlformats.org/officeDocument/2006/math">
                    <m:r>
                      <a:rPr lang="en-US" altLang="zh-CN" i="1" dirty="0" smtClean="0">
                        <a:latin typeface="Cambria Math" panose="02040503050406030204" pitchFamily="18" charset="0"/>
                      </a:rPr>
                      <m:t>𝑛</m:t>
                    </m:r>
                  </m:oMath>
                </a14:m>
                <a:r>
                  <a:rPr lang="zh-CN" altLang="en-US" dirty="0"/>
                  <a:t> 个余数：</a:t>
                </a:r>
                <a14:m>
                  <m:oMath xmlns:m="http://schemas.openxmlformats.org/officeDocument/2006/math">
                    <m:r>
                      <a:rPr lang="en-US" altLang="zh-CN" i="1" dirty="0" smtClean="0">
                        <a:latin typeface="Cambria Math" panose="02040503050406030204" pitchFamily="18" charset="0"/>
                      </a:rPr>
                      <m:t>0,1,2,…,</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−1</m:t>
                    </m:r>
                  </m:oMath>
                </a14:m>
                <a:r>
                  <a:rPr lang="zh-CN" altLang="en-US" dirty="0"/>
                  <a:t>），那么就被称为是模</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𝑛</m:t>
                    </m:r>
                  </m:oMath>
                </a14:m>
                <a:r>
                  <a:rPr lang="zh-CN" altLang="en-US" dirty="0"/>
                  <a:t> 的一个</a:t>
                </a:r>
                <a:r>
                  <a:rPr lang="zh-CN" altLang="en-US" b="1" dirty="0"/>
                  <a:t>完全剩余系</a:t>
                </a:r>
                <a:r>
                  <a:rPr lang="zh-CN" altLang="en-US" dirty="0"/>
                  <a:t>，记作</a:t>
                </a:r>
                <a:r>
                  <a:rPr lang="zh-Hans"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𝑛</m:t>
                        </m:r>
                      </m:sub>
                    </m:sSub>
                    <m:r>
                      <a:rPr lang="zh-CN" altLang="en-US" i="1">
                        <a:latin typeface="Cambria Math" panose="02040503050406030204" pitchFamily="18" charset="0"/>
                      </a:rPr>
                      <m:t>；</m:t>
                    </m:r>
                  </m:oMath>
                </a14:m>
                <a:r>
                  <a:rPr lang="zh-CN" altLang="en-US" dirty="0"/>
                  <a:t>而</a:t>
                </a:r>
                <a:r>
                  <a:rPr lang="zh-CN" altLang="en-US" b="1" dirty="0"/>
                  <a:t>简化剩余系</a:t>
                </a:r>
                <a:r>
                  <a:rPr lang="zh-CN" altLang="en-US" dirty="0"/>
                  <a:t>就是完全剩余系中与</a:t>
                </a:r>
                <a14:m>
                  <m:oMath xmlns:m="http://schemas.openxmlformats.org/officeDocument/2006/math">
                    <m:r>
                      <a:rPr lang="en-US" altLang="zh-CN" b="0" i="0" dirty="0" smtClean="0">
                        <a:latin typeface="Cambria Math" panose="02040503050406030204" pitchFamily="18" charset="0"/>
                      </a:rPr>
                      <m:t> </m:t>
                    </m:r>
                    <m:r>
                      <a:rPr lang="en-US" altLang="zh-CN" i="1" dirty="0">
                        <a:latin typeface="Cambria Math" panose="02040503050406030204" pitchFamily="18" charset="0"/>
                      </a:rPr>
                      <m:t>𝑛</m:t>
                    </m:r>
                    <m:r>
                      <a:rPr lang="en-US" altLang="zh-CN" i="1" dirty="0">
                        <a:latin typeface="Cambria Math" panose="02040503050406030204" pitchFamily="18" charset="0"/>
                      </a:rPr>
                      <m:t> </m:t>
                    </m:r>
                  </m:oMath>
                </a14:m>
                <a:r>
                  <a:rPr lang="zh-CN" altLang="en-US" dirty="0"/>
                  <a:t>互素的数，记作</a:t>
                </a:r>
                <a:r>
                  <a:rPr lang="zh-Hans" altLang="en-US" dirty="0"/>
                  <a:t> </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𝑍</m:t>
                        </m:r>
                      </m:e>
                      <m:sub>
                        <m:r>
                          <a:rPr lang="en-US" altLang="zh-CN" b="0" i="1" smtClean="0">
                            <a:latin typeface="Cambria Math" panose="02040503050406030204" pitchFamily="18" charset="0"/>
                          </a:rPr>
                          <m:t>𝑛</m:t>
                        </m:r>
                      </m:sub>
                      <m:sup>
                        <m:r>
                          <a:rPr lang="en-US" altLang="zh-CN" b="0" i="1" smtClean="0">
                            <a:latin typeface="Cambria Math" panose="02040503050406030204" pitchFamily="18" charset="0"/>
                          </a:rPr>
                          <m:t>∗</m:t>
                        </m:r>
                      </m:sup>
                    </m:sSubSup>
                  </m:oMath>
                </a14:m>
                <a:r>
                  <a:rPr lang="en-US" altLang="zh-CN" dirty="0"/>
                  <a:t> </a:t>
                </a:r>
                <a:r>
                  <a:rPr lang="zh-CN" altLang="en-US" dirty="0"/>
                  <a:t>。</a:t>
                </a:r>
                <a:endParaRPr lang="en-US" altLang="zh-CN" dirty="0"/>
              </a:p>
              <a:p>
                <a:pPr>
                  <a:lnSpc>
                    <a:spcPct val="150000"/>
                  </a:lnSpc>
                </a:pPr>
                <a:r>
                  <a:rPr lang="en-US" altLang="zh-CN" dirty="0"/>
                  <a:t>​</a:t>
                </a:r>
                <a:r>
                  <a:rPr lang="zh-CN" altLang="en-US"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𝑛</m:t>
                        </m:r>
                      </m:sub>
                    </m:sSub>
                  </m:oMath>
                </a14:m>
                <a:r>
                  <a:rPr lang="zh-CN" altLang="en-US" dirty="0"/>
                  <a:t> 里面的每一个元素代表所有模 </a:t>
                </a:r>
                <a14:m>
                  <m:oMath xmlns:m="http://schemas.openxmlformats.org/officeDocument/2006/math">
                    <m:r>
                      <a:rPr lang="en-US" altLang="zh-CN" i="1" dirty="0" smtClean="0">
                        <a:latin typeface="Cambria Math" panose="02040503050406030204" pitchFamily="18" charset="0"/>
                      </a:rPr>
                      <m:t>𝑛</m:t>
                    </m:r>
                  </m:oMath>
                </a14:m>
                <a:r>
                  <a:rPr lang="zh-CN" altLang="en-US" dirty="0"/>
                  <a:t> 意义下与它同余的整数。例如</a:t>
                </a:r>
                <a:r>
                  <a:rPr lang="zh-Hans" altLang="en-US" dirty="0"/>
                  <a:t>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=5</m:t>
                    </m:r>
                  </m:oMath>
                </a14:m>
                <a:r>
                  <a:rPr lang="zh-Hans" altLang="en-US" dirty="0"/>
                  <a:t> </a:t>
                </a:r>
                <a:r>
                  <a:rPr lang="zh-CN" altLang="en-US" dirty="0"/>
                  <a:t>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5</m:t>
                        </m:r>
                      </m:sub>
                    </m:sSub>
                  </m:oMath>
                </a14:m>
                <a:r>
                  <a:rPr lang="zh-Hans" altLang="en-US" dirty="0"/>
                  <a:t> </a:t>
                </a:r>
                <a:r>
                  <a:rPr lang="zh-CN" altLang="en-US" dirty="0"/>
                  <a:t>的元素</a:t>
                </a:r>
                <a14:m>
                  <m:oMath xmlns:m="http://schemas.openxmlformats.org/officeDocument/2006/math">
                    <m:r>
                      <a:rPr lang="en-US" altLang="zh-CN" i="1" dirty="0" smtClean="0">
                        <a:latin typeface="Cambria Math" panose="02040503050406030204" pitchFamily="18" charset="0"/>
                      </a:rPr>
                      <m:t>3</m:t>
                    </m:r>
                  </m:oMath>
                </a14:m>
                <a:r>
                  <a:rPr lang="zh-Hans" altLang="en-US" dirty="0"/>
                  <a:t> </a:t>
                </a:r>
                <a:r>
                  <a:rPr lang="zh-CN" altLang="en-US" dirty="0"/>
                  <a:t>实际上代表了 </a:t>
                </a:r>
                <a14:m>
                  <m:oMath xmlns:m="http://schemas.openxmlformats.org/officeDocument/2006/math">
                    <m:r>
                      <a:rPr lang="en-US" altLang="zh-CN" i="1" dirty="0" smtClean="0">
                        <a:latin typeface="Cambria Math" panose="02040503050406030204" pitchFamily="18" charset="0"/>
                      </a:rPr>
                      <m:t>3,8,13,18,….,5</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+3(</m:t>
                    </m:r>
                    <m:r>
                      <a:rPr lang="en-US" altLang="zh-CN" i="1" dirty="0" err="1">
                        <a:latin typeface="Cambria Math" panose="02040503050406030204" pitchFamily="18" charset="0"/>
                      </a:rPr>
                      <m:t>𝑘</m:t>
                    </m:r>
                    <m:r>
                      <a:rPr lang="en-US" altLang="zh-CN" i="1" dirty="0" err="1">
                        <a:latin typeface="Cambria Math" panose="02040503050406030204" pitchFamily="18" charset="0"/>
                      </a:rPr>
                      <m:t>∈</m:t>
                    </m:r>
                    <m:r>
                      <a:rPr lang="en-US" altLang="zh-CN" i="1" dirty="0" err="1">
                        <a:latin typeface="Cambria Math" panose="02040503050406030204" pitchFamily="18" charset="0"/>
                      </a:rPr>
                      <m:t>𝑁</m:t>
                    </m:r>
                    <m:r>
                      <a:rPr lang="en-US" altLang="zh-CN" i="1" dirty="0" smtClean="0">
                        <a:latin typeface="Cambria Math" panose="02040503050406030204" pitchFamily="18" charset="0"/>
                      </a:rPr>
                      <m:t>) </m:t>
                    </m:r>
                  </m:oMath>
                </a14:m>
                <a:r>
                  <a:rPr lang="zh-Hans" altLang="en-US" dirty="0"/>
                  <a:t> </a:t>
                </a:r>
                <a:r>
                  <a:rPr lang="zh-CN" altLang="en-US" dirty="0"/>
                  <a:t>这些模 </a:t>
                </a:r>
                <a14:m>
                  <m:oMath xmlns:m="http://schemas.openxmlformats.org/officeDocument/2006/math">
                    <m:r>
                      <a:rPr lang="en-US" altLang="zh-CN" i="1" dirty="0" smtClean="0">
                        <a:latin typeface="Cambria Math" panose="02040503050406030204" pitchFamily="18" charset="0"/>
                      </a:rPr>
                      <m:t>5</m:t>
                    </m:r>
                  </m:oMath>
                </a14:m>
                <a:r>
                  <a:rPr lang="zh-CN" altLang="en-US" dirty="0"/>
                  <a:t> 余</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3</m:t>
                    </m:r>
                    <m:r>
                      <a:rPr lang="en-US" altLang="zh-CN" b="0" i="1" dirty="0" smtClean="0">
                        <a:latin typeface="Cambria Math" panose="02040503050406030204" pitchFamily="18" charset="0"/>
                      </a:rPr>
                      <m:t> </m:t>
                    </m:r>
                  </m:oMath>
                </a14:m>
                <a:r>
                  <a:rPr lang="zh-CN" altLang="en-US" dirty="0"/>
                  <a:t>的数。我们把满足同余关系的所有整数看作一个</a:t>
                </a:r>
                <a:r>
                  <a:rPr lang="zh-CN" altLang="en-US" b="1" dirty="0"/>
                  <a:t>同余等价类</a:t>
                </a:r>
                <a:r>
                  <a:rPr lang="zh-CN" altLang="en-US" dirty="0"/>
                  <a:t>。</a:t>
                </a:r>
                <a:endParaRPr lang="en-US" altLang="zh-CN" dirty="0"/>
              </a:p>
              <a:p>
                <a:pPr>
                  <a:lnSpc>
                    <a:spcPct val="150000"/>
                  </a:lnSpc>
                </a:pPr>
                <a:r>
                  <a:rPr lang="zh-CN" altLang="en-US" dirty="0"/>
                  <a:t>自然地，在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𝑛</m:t>
                        </m:r>
                      </m:sub>
                    </m:sSub>
                  </m:oMath>
                </a14:m>
                <a:r>
                  <a:rPr lang="zh-CN" altLang="en-US" dirty="0"/>
                  <a:t>中的加法，减法，乘法，结果全部要在模 </a:t>
                </a:r>
                <a14:m>
                  <m:oMath xmlns:m="http://schemas.openxmlformats.org/officeDocument/2006/math">
                    <m:r>
                      <a:rPr lang="en-US" altLang="zh-CN" i="1" dirty="0" smtClean="0">
                        <a:latin typeface="Cambria Math" panose="02040503050406030204" pitchFamily="18" charset="0"/>
                      </a:rPr>
                      <m:t>𝑛</m:t>
                    </m:r>
                    <m:r>
                      <a:rPr lang="en-US" altLang="zh-CN" b="0" i="1" dirty="0" smtClean="0">
                        <a:latin typeface="Cambria Math" panose="02040503050406030204" pitchFamily="18" charset="0"/>
                      </a:rPr>
                      <m:t> </m:t>
                    </m:r>
                  </m:oMath>
                </a14:m>
                <a:r>
                  <a:rPr lang="zh-CN" altLang="en-US" dirty="0"/>
                  <a:t>意义下面了</a:t>
                </a:r>
                <a:br>
                  <a:rPr lang="en-US" altLang="zh-CN" dirty="0"/>
                </a:br>
                <a:r>
                  <a:rPr lang="zh-CN" altLang="en-US" dirty="0"/>
                  <a:t>例如在</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𝑍</m:t>
                        </m:r>
                      </m:e>
                      <m:sub>
                        <m:r>
                          <a:rPr lang="en-US" altLang="zh-CN" i="1">
                            <a:latin typeface="Cambria Math" panose="02040503050406030204" pitchFamily="18" charset="0"/>
                          </a:rPr>
                          <m:t>5</m:t>
                        </m:r>
                      </m:sub>
                    </m:sSub>
                  </m:oMath>
                </a14:m>
                <a:r>
                  <a:rPr lang="zh-CN" altLang="en-US" dirty="0"/>
                  <a:t>中，</a:t>
                </a:r>
                <a14:m>
                  <m:oMath xmlns:m="http://schemas.openxmlformats.org/officeDocument/2006/math">
                    <m:r>
                      <a:rPr lang="en-US" altLang="zh-CN" i="1" dirty="0" smtClean="0">
                        <a:latin typeface="Cambria Math" panose="02040503050406030204" pitchFamily="18" charset="0"/>
                      </a:rPr>
                      <m:t>3+2=0</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m:t>
                    </m:r>
                    <m:r>
                      <a:rPr lang="en-US" altLang="zh-CN" b="0" i="1" dirty="0" smtClean="0">
                        <a:latin typeface="Cambria Math" panose="02040503050406030204" pitchFamily="18" charset="0"/>
                      </a:rPr>
                      <m:t>  </m:t>
                    </m:r>
                    <m:r>
                      <a:rPr lang="en-US" altLang="zh-CN" i="1" dirty="0" smtClean="0">
                        <a:latin typeface="Cambria Math" panose="02040503050406030204" pitchFamily="18" charset="0"/>
                      </a:rPr>
                      <m:t>3×2=1</m:t>
                    </m:r>
                  </m:oMath>
                </a14:m>
                <a:r>
                  <a:rPr lang="zh-Hans" altLang="en-US" dirty="0"/>
                  <a:t> 。</a:t>
                </a:r>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167994"/>
              </a:xfrm>
              <a:blipFill>
                <a:blip r:embed="rId2"/>
                <a:stretch>
                  <a:fillRect l="-1398" r="-50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0FEA5832-D952-B84B-8363-74BF92F12FD2}"/>
              </a:ext>
            </a:extLst>
          </p:cNvPr>
          <p:cNvSpPr>
            <a:spLocks noGrp="1"/>
          </p:cNvSpPr>
          <p:nvPr>
            <p:ph type="sldNum" sz="quarter" idx="12"/>
          </p:nvPr>
        </p:nvSpPr>
        <p:spPr/>
        <p:txBody>
          <a:bodyPr/>
          <a:lstStyle/>
          <a:p>
            <a:fld id="{0FF54DE5-C571-48E8-A5BC-B369434E2F44}" type="slidenum">
              <a:rPr lang="en-US" altLang="zh-CN" smtClean="0"/>
              <a:pPr/>
              <a:t>57</a:t>
            </a:fld>
            <a:endParaRPr lang="zh-CN" altLang="en-US" dirty="0"/>
          </a:p>
        </p:txBody>
      </p:sp>
    </p:spTree>
    <p:extLst>
      <p:ext uri="{BB962C8B-B14F-4D97-AF65-F5344CB8AC3E}">
        <p14:creationId xmlns:p14="http://schemas.microsoft.com/office/powerpoint/2010/main" val="4129288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模运算</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4903471"/>
              </a:xfrm>
            </p:spPr>
            <p:txBody>
              <a:bodyPr rtlCol="0">
                <a:normAutofit/>
              </a:bodyPr>
              <a:lstStyle/>
              <a:p>
                <a:pPr>
                  <a:lnSpc>
                    <a:spcPct val="150000"/>
                  </a:lnSpc>
                </a:pPr>
                <a:r>
                  <a:rPr lang="zh-CN" altLang="en-US" dirty="0"/>
                  <a:t>如果 </a:t>
                </a:r>
                <a14:m>
                  <m:oMath xmlns:m="http://schemas.openxmlformats.org/officeDocument/2006/math">
                    <m:r>
                      <a:rPr lang="zh-CN" altLang="en-US" i="1" dirty="0" smtClean="0">
                        <a:latin typeface="Cambria Math" panose="02040503050406030204" pitchFamily="18" charset="0"/>
                      </a:rPr>
                      <m:t>𝑎</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𝑏</m:t>
                    </m:r>
                    <m:r>
                      <a:rPr lang="en-US" altLang="zh-CN" i="1" dirty="0">
                        <a:latin typeface="Cambria Math" panose="02040503050406030204" pitchFamily="18" charset="0"/>
                      </a:rPr>
                      <m:t>(</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a:latin typeface="Cambria Math" panose="02040503050406030204" pitchFamily="18" charset="0"/>
                      </a:rPr>
                      <m:t>)</m:t>
                    </m:r>
                  </m:oMath>
                </a14:m>
                <a:r>
                  <a:rPr lang="zh-CN" altLang="en-US" dirty="0"/>
                  <a:t> 且有</a:t>
                </a:r>
                <a14:m>
                  <m:oMath xmlns:m="http://schemas.openxmlformats.org/officeDocument/2006/math">
                    <m:r>
                      <a:rPr lang="en-US" altLang="zh-CN" b="0" i="0" dirty="0" smtClean="0">
                        <a:latin typeface="Cambria Math" panose="02040503050406030204" pitchFamily="18" charset="0"/>
                      </a:rPr>
                      <m:t> </m:t>
                    </m:r>
                    <m:r>
                      <a:rPr lang="zh-CN" altLang="en-US" i="1" dirty="0" smtClean="0">
                        <a:latin typeface="Cambria Math" panose="02040503050406030204" pitchFamily="18" charset="0"/>
                      </a:rPr>
                      <m:t>𝑐</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𝑑</m:t>
                    </m:r>
                    <m:r>
                      <a:rPr lang="en-US" altLang="zh-CN" i="1" dirty="0">
                        <a:latin typeface="Cambria Math" panose="02040503050406030204" pitchFamily="18" charset="0"/>
                      </a:rPr>
                      <m:t>(</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a:latin typeface="Cambria Math" panose="02040503050406030204" pitchFamily="18" charset="0"/>
                      </a:rPr>
                      <m:t>)</m:t>
                    </m:r>
                  </m:oMath>
                </a14:m>
                <a:r>
                  <a:rPr lang="zh-CN" altLang="en-US" dirty="0"/>
                  <a:t>，那么下面的模运算律成立：</a:t>
                </a:r>
                <a:br>
                  <a:rPr lang="en-US" altLang="zh-CN" dirty="0"/>
                </a:br>
                <a14:m>
                  <m:oMath xmlns:m="http://schemas.openxmlformats.org/officeDocument/2006/math">
                    <m:r>
                      <a:rPr lang="zh-CN" altLang="en-US" i="1" dirty="0" smtClean="0">
                        <a:latin typeface="Cambria Math" panose="02040503050406030204" pitchFamily="18" charset="0"/>
                      </a:rPr>
                      <m:t>𝑎</m:t>
                    </m:r>
                    <m:r>
                      <a:rPr lang="en-US" altLang="zh-CN" i="1" dirty="0">
                        <a:latin typeface="Cambria Math" panose="02040503050406030204" pitchFamily="18" charset="0"/>
                      </a:rPr>
                      <m:t>+</m:t>
                    </m:r>
                    <m:r>
                      <a:rPr lang="zh-CN" altLang="en-US" i="1" dirty="0">
                        <a:latin typeface="Cambria Math" panose="02040503050406030204" pitchFamily="18" charset="0"/>
                      </a:rPr>
                      <m:t>𝑐</m:t>
                    </m:r>
                    <m:r>
                      <a:rPr lang="zh-CN" altLang="en-US" i="1" dirty="0">
                        <a:latin typeface="Cambria Math" panose="02040503050406030204" pitchFamily="18" charset="0"/>
                      </a:rPr>
                      <m:t>≡</m:t>
                    </m:r>
                    <m:r>
                      <a:rPr lang="zh-CN" altLang="en-US" i="1" dirty="0">
                        <a:latin typeface="Cambria Math" panose="02040503050406030204" pitchFamily="18" charset="0"/>
                      </a:rPr>
                      <m:t>𝑏</m:t>
                    </m:r>
                    <m:r>
                      <a:rPr lang="en-US" altLang="zh-CN" i="1" dirty="0">
                        <a:latin typeface="Cambria Math" panose="02040503050406030204" pitchFamily="18" charset="0"/>
                      </a:rPr>
                      <m:t>+</m:t>
                    </m:r>
                    <m:r>
                      <a:rPr lang="zh-CN" altLang="en-US" i="1" dirty="0">
                        <a:latin typeface="Cambria Math" panose="02040503050406030204" pitchFamily="18" charset="0"/>
                      </a:rPr>
                      <m:t>𝑑</m:t>
                    </m:r>
                    <m:r>
                      <a:rPr lang="en-US" altLang="zh-CN" i="1" dirty="0">
                        <a:latin typeface="Cambria Math" panose="02040503050406030204" pitchFamily="18" charset="0"/>
                      </a:rPr>
                      <m:t>(</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smtClean="0">
                        <a:latin typeface="Cambria Math" panose="02040503050406030204" pitchFamily="18" charset="0"/>
                      </a:rPr>
                      <m:t>)</m:t>
                    </m:r>
                  </m:oMath>
                </a14:m>
                <a:br>
                  <a:rPr lang="en-US" altLang="zh-CN" dirty="0"/>
                </a:br>
                <a14:m>
                  <m:oMath xmlns:m="http://schemas.openxmlformats.org/officeDocument/2006/math">
                    <m:r>
                      <a:rPr lang="zh-CN" altLang="en-US" i="1" dirty="0" smtClean="0">
                        <a:latin typeface="Cambria Math" panose="02040503050406030204" pitchFamily="18" charset="0"/>
                      </a:rPr>
                      <m:t>𝑎</m:t>
                    </m:r>
                    <m:r>
                      <a:rPr lang="zh-CN" altLang="en-US" i="1" dirty="0">
                        <a:latin typeface="Cambria Math" panose="02040503050406030204" pitchFamily="18" charset="0"/>
                      </a:rPr>
                      <m:t>−</m:t>
                    </m:r>
                    <m:r>
                      <a:rPr lang="zh-CN" altLang="en-US" i="1" dirty="0">
                        <a:latin typeface="Cambria Math" panose="02040503050406030204" pitchFamily="18" charset="0"/>
                      </a:rPr>
                      <m:t>𝑐</m:t>
                    </m:r>
                    <m:r>
                      <a:rPr lang="zh-CN" altLang="en-US" i="1" dirty="0">
                        <a:latin typeface="Cambria Math" panose="02040503050406030204" pitchFamily="18" charset="0"/>
                      </a:rPr>
                      <m:t>≡</m:t>
                    </m:r>
                    <m:r>
                      <a:rPr lang="zh-CN" altLang="en-US" i="1" dirty="0">
                        <a:latin typeface="Cambria Math" panose="02040503050406030204" pitchFamily="18" charset="0"/>
                      </a:rPr>
                      <m:t>𝑏</m:t>
                    </m:r>
                    <m:r>
                      <a:rPr lang="zh-CN" altLang="en-US" i="1" dirty="0">
                        <a:latin typeface="Cambria Math" panose="02040503050406030204" pitchFamily="18" charset="0"/>
                      </a:rPr>
                      <m:t>−</m:t>
                    </m:r>
                    <m:r>
                      <a:rPr lang="zh-CN" altLang="en-US" i="1" dirty="0">
                        <a:latin typeface="Cambria Math" panose="02040503050406030204" pitchFamily="18" charset="0"/>
                      </a:rPr>
                      <m:t>𝑑</m:t>
                    </m:r>
                    <m:r>
                      <a:rPr lang="en-US" altLang="zh-CN" i="1" dirty="0">
                        <a:latin typeface="Cambria Math" panose="02040503050406030204" pitchFamily="18" charset="0"/>
                      </a:rPr>
                      <m:t>(</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smtClean="0">
                        <a:latin typeface="Cambria Math" panose="02040503050406030204" pitchFamily="18" charset="0"/>
                      </a:rPr>
                      <m:t>)</m:t>
                    </m:r>
                  </m:oMath>
                </a14:m>
                <a:br>
                  <a:rPr lang="en-US" altLang="zh-CN" dirty="0"/>
                </a:br>
                <a14:m>
                  <m:oMath xmlns:m="http://schemas.openxmlformats.org/officeDocument/2006/math">
                    <m:r>
                      <a:rPr lang="zh-CN" altLang="en-US" i="1" dirty="0" smtClean="0">
                        <a:latin typeface="Cambria Math" panose="02040503050406030204" pitchFamily="18" charset="0"/>
                      </a:rPr>
                      <m:t>𝑎</m:t>
                    </m:r>
                    <m:r>
                      <a:rPr lang="zh-Hans" altLang="en-US" b="0" i="1" dirty="0" smtClean="0">
                        <a:latin typeface="Cambria Math" panose="02040503050406030204" pitchFamily="18" charset="0"/>
                      </a:rPr>
                      <m:t> </m:t>
                    </m:r>
                    <m:r>
                      <a:rPr lang="en-US" altLang="zh-CN" i="1" dirty="0">
                        <a:latin typeface="Cambria Math" panose="02040503050406030204" pitchFamily="18" charset="0"/>
                      </a:rPr>
                      <m:t>×</m:t>
                    </m:r>
                    <m:r>
                      <a:rPr lang="zh-Hans" altLang="en-US" b="0" i="1" dirty="0" smtClean="0">
                        <a:latin typeface="Cambria Math" panose="02040503050406030204" pitchFamily="18" charset="0"/>
                      </a:rPr>
                      <m:t> </m:t>
                    </m:r>
                    <m:r>
                      <a:rPr lang="zh-CN" altLang="en-US" i="1" dirty="0">
                        <a:latin typeface="Cambria Math" panose="02040503050406030204" pitchFamily="18" charset="0"/>
                      </a:rPr>
                      <m:t>𝑐</m:t>
                    </m:r>
                    <m:r>
                      <a:rPr lang="zh-CN" altLang="en-US" i="1" dirty="0">
                        <a:latin typeface="Cambria Math" panose="02040503050406030204" pitchFamily="18" charset="0"/>
                      </a:rPr>
                      <m:t>≡</m:t>
                    </m:r>
                    <m:r>
                      <a:rPr lang="zh-CN" altLang="en-US" i="1" dirty="0">
                        <a:latin typeface="Cambria Math" panose="02040503050406030204" pitchFamily="18" charset="0"/>
                      </a:rPr>
                      <m:t>𝑏</m:t>
                    </m:r>
                    <m:r>
                      <a:rPr lang="zh-Hans" altLang="en-US" b="0" i="1" dirty="0" smtClean="0">
                        <a:latin typeface="Cambria Math" panose="02040503050406030204" pitchFamily="18" charset="0"/>
                      </a:rPr>
                      <m:t> </m:t>
                    </m:r>
                    <m:r>
                      <a:rPr lang="en-US" altLang="zh-CN" i="1" dirty="0">
                        <a:latin typeface="Cambria Math" panose="02040503050406030204" pitchFamily="18" charset="0"/>
                      </a:rPr>
                      <m:t>×</m:t>
                    </m:r>
                    <m:r>
                      <a:rPr lang="zh-Hans" altLang="en-US" b="0" i="1" dirty="0" smtClean="0">
                        <a:latin typeface="Cambria Math" panose="02040503050406030204" pitchFamily="18" charset="0"/>
                      </a:rPr>
                      <m:t> </m:t>
                    </m:r>
                    <m:r>
                      <a:rPr lang="zh-CN" altLang="en-US" i="1" dirty="0">
                        <a:latin typeface="Cambria Math" panose="02040503050406030204" pitchFamily="18" charset="0"/>
                      </a:rPr>
                      <m:t>𝑑</m:t>
                    </m:r>
                    <m:r>
                      <a:rPr lang="en-US" altLang="zh-CN" i="1" dirty="0">
                        <a:latin typeface="Cambria Math" panose="02040503050406030204" pitchFamily="18" charset="0"/>
                      </a:rPr>
                      <m:t>(</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a:latin typeface="Cambria Math" panose="02040503050406030204" pitchFamily="18" charset="0"/>
                      </a:rPr>
                      <m:t>)</m:t>
                    </m:r>
                  </m:oMath>
                </a14:m>
                <a:endParaRPr lang="en-US" altLang="zh-CN" dirty="0"/>
              </a:p>
              <a:p>
                <a:pPr>
                  <a:lnSpc>
                    <a:spcPct val="150000"/>
                  </a:lnSpc>
                </a:pPr>
                <a:r>
                  <a:rPr lang="zh-CN" altLang="en-US" dirty="0"/>
                  <a:t>以下用“</a:t>
                </a:r>
                <a14:m>
                  <m:oMath xmlns:m="http://schemas.openxmlformats.org/officeDocument/2006/math">
                    <m:r>
                      <a:rPr lang="en-US" altLang="zh-CN" i="1">
                        <a:latin typeface="Cambria Math" panose="02040503050406030204" pitchFamily="18" charset="0"/>
                      </a:rPr>
                      <m:t>% </m:t>
                    </m:r>
                    <m:r>
                      <a:rPr lang="en-US" altLang="zh-CN" i="1">
                        <a:latin typeface="Cambria Math" panose="02040503050406030204" pitchFamily="18" charset="0"/>
                      </a:rPr>
                      <m:t>𝑚</m:t>
                    </m:r>
                  </m:oMath>
                </a14:m>
                <a:r>
                  <a:rPr lang="zh-CN" altLang="en-US" dirty="0"/>
                  <a:t>”代表 </a:t>
                </a:r>
                <a14:m>
                  <m:oMath xmlns:m="http://schemas.openxmlformats.org/officeDocument/2006/math">
                    <m:r>
                      <a:rPr lang="en-US" altLang="zh-CN" i="1" dirty="0">
                        <a:latin typeface="Cambria Math" panose="02040503050406030204" pitchFamily="18" charset="0"/>
                      </a:rPr>
                      <m:t>(</m:t>
                    </m:r>
                    <m:r>
                      <m:rPr>
                        <m:sty m:val="p"/>
                      </m:rPr>
                      <a:rPr lang="en-US" altLang="zh-CN" dirty="0">
                        <a:latin typeface="Cambria Math" panose="02040503050406030204" pitchFamily="18" charset="0"/>
                      </a:rPr>
                      <m:t>mod</m:t>
                    </m:r>
                    <m:r>
                      <a:rPr lang="en-US" altLang="zh-CN" i="1" dirty="0">
                        <a:latin typeface="Cambria Math" panose="02040503050406030204" pitchFamily="18" charset="0"/>
                      </a:rPr>
                      <m:t> </m:t>
                    </m:r>
                    <m:r>
                      <a:rPr lang="zh-CN" altLang="en-US" i="1" dirty="0">
                        <a:latin typeface="Cambria Math" panose="02040503050406030204" pitchFamily="18" charset="0"/>
                      </a:rPr>
                      <m:t>𝑚</m:t>
                    </m:r>
                    <m:r>
                      <a:rPr lang="en-US" altLang="zh-CN" i="1" dirty="0">
                        <a:latin typeface="Cambria Math" panose="02040503050406030204" pitchFamily="18" charset="0"/>
                      </a:rPr>
                      <m:t>)</m:t>
                    </m:r>
                  </m:oMath>
                </a14:m>
                <a:r>
                  <a:rPr lang="zh-CN" altLang="en-US" dirty="0"/>
                  <a:t>：</a:t>
                </a:r>
                <a:endParaRPr lang="en-US" altLang="zh-CN" dirty="0"/>
              </a:p>
              <a:p>
                <a:pPr marL="3297238" lvl="0" indent="-47625">
                  <a:lnSpc>
                    <a:spcPct val="150000"/>
                  </a:lnSpc>
                  <a:buNone/>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e>
                      </m:d>
                      <m:r>
                        <a:rPr lang="en-US" altLang="zh-CN" i="1" smtClean="0">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𝑚</m:t>
                      </m:r>
                      <m:r>
                        <a:rPr lang="en-US" altLang="zh-CN" i="1">
                          <a:latin typeface="Cambria Math" panose="02040503050406030204" pitchFamily="18" charset="0"/>
                        </a:rPr>
                        <m:t>=</m:t>
                      </m:r>
                      <m:d>
                        <m:dPr>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 % </m:t>
                              </m:r>
                              <m:r>
                                <a:rPr lang="en-US" altLang="zh-CN" i="1">
                                  <a:latin typeface="Cambria Math" panose="02040503050406030204" pitchFamily="18" charset="0"/>
                                </a:rPr>
                                <m:t>𝑚</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𝑏</m:t>
                              </m:r>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𝑚</m:t>
                              </m:r>
                            </m:e>
                          </m:d>
                        </m:e>
                      </m:d>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𝑚</m:t>
                      </m:r>
                    </m:oMath>
                  </m:oMathPara>
                </a14:m>
                <a:endParaRPr lang="en-US" altLang="zh-CN" i="1" dirty="0">
                  <a:latin typeface="Cambria Math" panose="02040503050406030204" pitchFamily="18" charset="0"/>
                </a:endParaRPr>
              </a:p>
              <a:p>
                <a:pPr marL="3297238" lvl="0" indent="-47625">
                  <a:lnSpc>
                    <a:spcPct val="150000"/>
                  </a:lnSpc>
                  <a:buNone/>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e>
                      </m:d>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𝑚</m:t>
                      </m:r>
                      <m:r>
                        <a:rPr lang="en-US" altLang="zh-CN" i="1">
                          <a:latin typeface="Cambria Math" panose="02040503050406030204" pitchFamily="18" charset="0"/>
                        </a:rPr>
                        <m:t>=</m:t>
                      </m:r>
                      <m:d>
                        <m:dPr>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b="0" i="1" smtClean="0">
                                  <a:latin typeface="Cambria Math" panose="02040503050406030204" pitchFamily="18" charset="0"/>
                                </a:rPr>
                                <m:t> </m:t>
                              </m:r>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𝑚</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𝑏</m:t>
                              </m:r>
                              <m:r>
                                <a:rPr lang="en-US" altLang="zh-CN" i="1">
                                  <a:latin typeface="Cambria Math" panose="02040503050406030204" pitchFamily="18" charset="0"/>
                                </a:rPr>
                                <m:t> % </m:t>
                              </m:r>
                              <m:r>
                                <a:rPr lang="en-US" altLang="zh-CN" i="1">
                                  <a:latin typeface="Cambria Math" panose="02040503050406030204" pitchFamily="18" charset="0"/>
                                </a:rPr>
                                <m:t>𝑚</m:t>
                              </m:r>
                            </m:e>
                          </m:d>
                          <m:r>
                            <a:rPr lang="en-US" altLang="zh-CN" i="1">
                              <a:latin typeface="Cambria Math" panose="02040503050406030204" pitchFamily="18" charset="0"/>
                            </a:rPr>
                            <m:t>+</m:t>
                          </m:r>
                          <m:r>
                            <a:rPr lang="en-US" altLang="zh-CN" b="0" i="1" smtClean="0">
                              <a:latin typeface="Cambria Math" panose="02040503050406030204" pitchFamily="18" charset="0"/>
                            </a:rPr>
                            <m:t>𝑚</m:t>
                          </m:r>
                        </m:e>
                      </m:d>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𝑚</m:t>
                      </m:r>
                    </m:oMath>
                  </m:oMathPara>
                </a14:m>
                <a:endParaRPr lang="zh-CN" altLang="zh-CN" dirty="0"/>
              </a:p>
              <a:p>
                <a:pPr marL="3297238" lvl="0" indent="-47625">
                  <a:lnSpc>
                    <a:spcPct val="150000"/>
                  </a:lnSpc>
                  <a:buNone/>
                </a:pPr>
                <a14:m>
                  <m:oMathPara xmlns:m="http://schemas.openxmlformats.org/officeDocument/2006/math">
                    <m:oMathParaPr>
                      <m:jc m:val="centerGroup"/>
                    </m:oMathParaPr>
                    <m:oMath xmlns:m="http://schemas.openxmlformats.org/officeDocument/2006/math">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zh-Hans" altLang="en-US" b="0" i="1" smtClean="0">
                              <a:latin typeface="Cambria Math" panose="02040503050406030204" pitchFamily="18" charset="0"/>
                            </a:rPr>
                            <m:t> </m:t>
                          </m:r>
                          <m:r>
                            <a:rPr lang="en-US" altLang="zh-CN" i="1">
                              <a:latin typeface="Cambria Math" panose="02040503050406030204" pitchFamily="18" charset="0"/>
                            </a:rPr>
                            <m:t>×</m:t>
                          </m:r>
                          <m:r>
                            <a:rPr lang="zh-Hans" altLang="en-US" b="0" i="1" smtClean="0">
                              <a:latin typeface="Cambria Math" panose="02040503050406030204" pitchFamily="18" charset="0"/>
                            </a:rPr>
                            <m:t> </m:t>
                          </m:r>
                          <m:r>
                            <a:rPr lang="en-US" altLang="zh-CN" i="1">
                              <a:latin typeface="Cambria Math" panose="02040503050406030204" pitchFamily="18" charset="0"/>
                            </a:rPr>
                            <m:t>𝑏</m:t>
                          </m:r>
                        </m:e>
                      </m:d>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i="1">
                          <a:latin typeface="Cambria Math" panose="02040503050406030204" pitchFamily="18" charset="0"/>
                        </a:rPr>
                        <m:t>𝑚</m:t>
                      </m:r>
                      <m:r>
                        <a:rPr lang="en-US" altLang="zh-CN" i="1">
                          <a:latin typeface="Cambria Math" panose="02040503050406030204" pitchFamily="18" charset="0"/>
                        </a:rPr>
                        <m:t>=</m:t>
                      </m:r>
                      <m:d>
                        <m:dPr>
                          <m:ctrlPr>
                            <a:rPr lang="zh-CN" altLang="zh-CN" i="1">
                              <a:latin typeface="Cambria Math" panose="02040503050406030204" pitchFamily="18" charset="0"/>
                            </a:rPr>
                          </m:ctrlPr>
                        </m:dPr>
                        <m:e>
                          <m:d>
                            <m:dPr>
                              <m:ctrlPr>
                                <a:rPr lang="zh-CN"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rPr>
                                <m:t> % </m:t>
                              </m:r>
                              <m:r>
                                <a:rPr lang="en-US" altLang="zh-CN" i="1">
                                  <a:latin typeface="Cambria Math" panose="02040503050406030204" pitchFamily="18" charset="0"/>
                                </a:rPr>
                                <m:t>𝑚</m:t>
                              </m:r>
                            </m:e>
                          </m:d>
                          <m:r>
                            <a:rPr lang="en-US" altLang="zh-CN" i="1">
                              <a:latin typeface="Cambria Math" panose="02040503050406030204" pitchFamily="18" charset="0"/>
                            </a:rPr>
                            <m:t>×</m:t>
                          </m:r>
                          <m:d>
                            <m:dPr>
                              <m:ctrlPr>
                                <a:rPr lang="zh-CN" altLang="zh-CN" i="1">
                                  <a:latin typeface="Cambria Math" panose="02040503050406030204" pitchFamily="18" charset="0"/>
                                </a:rPr>
                              </m:ctrlPr>
                            </m:dPr>
                            <m:e>
                              <m:r>
                                <a:rPr lang="en-US" altLang="zh-CN" i="1">
                                  <a:latin typeface="Cambria Math" panose="02040503050406030204" pitchFamily="18" charset="0"/>
                                </a:rPr>
                                <m:t>𝑏</m:t>
                              </m:r>
                              <m:r>
                                <a:rPr lang="en-US" altLang="zh-CN" i="1">
                                  <a:latin typeface="Cambria Math" panose="02040503050406030204" pitchFamily="18" charset="0"/>
                                </a:rPr>
                                <m:t> % </m:t>
                              </m:r>
                              <m:r>
                                <a:rPr lang="en-US" altLang="zh-CN" i="1">
                                  <a:latin typeface="Cambria Math" panose="02040503050406030204" pitchFamily="18" charset="0"/>
                                </a:rPr>
                                <m:t>𝑚</m:t>
                              </m:r>
                            </m:e>
                          </m:d>
                        </m:e>
                      </m:d>
                      <m:r>
                        <a:rPr lang="en-US" altLang="zh-CN" i="1">
                          <a:latin typeface="Cambria Math" panose="02040503050406030204" pitchFamily="18" charset="0"/>
                        </a:rPr>
                        <m:t>%</m:t>
                      </m:r>
                      <m:r>
                        <a:rPr lang="en-US" altLang="zh-CN" b="0" i="1" smtClean="0">
                          <a:latin typeface="Cambria Math" panose="02040503050406030204" pitchFamily="18" charset="0"/>
                        </a:rPr>
                        <m:t> </m:t>
                      </m:r>
                      <m:r>
                        <a:rPr lang="en-US" altLang="zh-CN" b="0" i="1" smtClean="0">
                          <a:latin typeface="Cambria Math" panose="02040503050406030204" pitchFamily="18" charset="0"/>
                        </a:rPr>
                        <m:t>𝑚</m:t>
                      </m:r>
                    </m:oMath>
                  </m:oMathPara>
                </a14:m>
                <a:endParaRPr lang="zh-CN"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4903471"/>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A79B14C9-58B9-1641-BAB8-BC63BB737EBB}"/>
              </a:ext>
            </a:extLst>
          </p:cNvPr>
          <p:cNvSpPr>
            <a:spLocks noGrp="1"/>
          </p:cNvSpPr>
          <p:nvPr>
            <p:ph type="sldNum" sz="quarter" idx="12"/>
          </p:nvPr>
        </p:nvSpPr>
        <p:spPr/>
        <p:txBody>
          <a:bodyPr/>
          <a:lstStyle/>
          <a:p>
            <a:fld id="{0FF54DE5-C571-48E8-A5BC-B369434E2F44}" type="slidenum">
              <a:rPr lang="en-US" altLang="zh-CN" smtClean="0"/>
              <a:pPr/>
              <a:t>58</a:t>
            </a:fld>
            <a:endParaRPr lang="zh-CN" altLang="en-US" dirty="0"/>
          </a:p>
        </p:txBody>
      </p:sp>
    </p:spTree>
    <p:extLst>
      <p:ext uri="{BB962C8B-B14F-4D97-AF65-F5344CB8AC3E}">
        <p14:creationId xmlns:p14="http://schemas.microsoft.com/office/powerpoint/2010/main" val="292308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模运算</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1383633"/>
              </a:xfrm>
            </p:spPr>
            <p:txBody>
              <a:bodyPr rtlCol="0">
                <a:normAutofit/>
              </a:bodyPr>
              <a:lstStyle/>
              <a:p>
                <a:pPr>
                  <a:lnSpc>
                    <a:spcPct val="150000"/>
                  </a:lnSpc>
                </a:pPr>
                <a:r>
                  <a:rPr lang="zh-CN" altLang="en-US" dirty="0"/>
                  <a:t>在乘法中，需要注意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mod</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m:t>
                    </m:r>
                  </m:oMath>
                </a14:m>
                <a:r>
                  <a:rPr lang="zh-CN" altLang="en-US" dirty="0"/>
                  <a:t> 和 </a:t>
                </a:r>
                <a14:m>
                  <m:oMath xmlns:m="http://schemas.openxmlformats.org/officeDocument/2006/math">
                    <m:r>
                      <a:rPr lang="en-US" altLang="zh-CN" i="1" dirty="0" smtClean="0">
                        <a:latin typeface="Cambria Math" panose="02040503050406030204" pitchFamily="18" charset="0"/>
                      </a:rPr>
                      <m:t>𝑏</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mod</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𝑚</m:t>
                    </m:r>
                  </m:oMath>
                </a14:m>
                <a:r>
                  <a:rPr lang="zh-CN" altLang="en-US" dirty="0"/>
                  <a:t> 相乘是否会超出</a:t>
                </a:r>
                <a:r>
                  <a:rPr lang="zh-Hans" altLang="en-US" dirty="0"/>
                  <a:t> </a:t>
                </a:r>
                <a14:m>
                  <m:oMath xmlns:m="http://schemas.openxmlformats.org/officeDocument/2006/math">
                    <m:r>
                      <a:rPr lang="en-US" altLang="zh-CN" i="1" dirty="0" smtClean="0">
                        <a:latin typeface="Cambria Math" panose="02040503050406030204" pitchFamily="18" charset="0"/>
                      </a:rPr>
                      <m:t>32</m:t>
                    </m:r>
                  </m:oMath>
                </a14:m>
                <a:r>
                  <a:rPr lang="zh-Hans" altLang="en-US" dirty="0"/>
                  <a:t> </a:t>
                </a:r>
                <a:r>
                  <a:rPr lang="zh-CN" altLang="en-US" dirty="0"/>
                  <a:t>位带符号整数所能表示的范围，一般需要用</a:t>
                </a:r>
                <a:r>
                  <a:rPr lang="zh-Hans" altLang="en-US" dirty="0"/>
                  <a:t> </a:t>
                </a:r>
                <a14:m>
                  <m:oMath xmlns:m="http://schemas.openxmlformats.org/officeDocument/2006/math">
                    <m:r>
                      <a:rPr lang="en-US" altLang="zh-CN" i="1" dirty="0" smtClean="0">
                        <a:latin typeface="Cambria Math" panose="02040503050406030204" pitchFamily="18" charset="0"/>
                      </a:rPr>
                      <m:t>64</m:t>
                    </m:r>
                  </m:oMath>
                </a14:m>
                <a:r>
                  <a:rPr lang="zh-Hans" altLang="en-US" dirty="0"/>
                  <a:t> </a:t>
                </a:r>
                <a:r>
                  <a:rPr lang="zh-CN" altLang="en-US" dirty="0"/>
                  <a:t>位整数类型即</a:t>
                </a:r>
                <a:r>
                  <a:rPr lang="zh-Hans" altLang="en-US" dirty="0"/>
                  <a:t> </a:t>
                </a:r>
                <a:r>
                  <a:rPr lang="en-US" altLang="zh-CN" b="1" dirty="0">
                    <a:latin typeface="Courier New" panose="02070309020205020404" pitchFamily="49" charset="0"/>
                    <a:cs typeface="Courier New" panose="02070309020205020404" pitchFamily="49" charset="0"/>
                  </a:rPr>
                  <a:t>long long</a:t>
                </a:r>
                <a:r>
                  <a:rPr lang="zh-Hans" altLang="en-US" b="1" dirty="0">
                    <a:latin typeface="Courier New" panose="02070309020205020404" pitchFamily="49" charset="0"/>
                    <a:cs typeface="Courier New" panose="02070309020205020404" pitchFamily="49" charset="0"/>
                  </a:rPr>
                  <a:t> </a:t>
                </a:r>
                <a:r>
                  <a:rPr lang="zh-CN" altLang="en-US" dirty="0"/>
                  <a:t>保存中间结果，如下所示：</a:t>
                </a:r>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1383633"/>
              </a:xfrm>
              <a:blipFill>
                <a:blip r:embed="rId2"/>
                <a:stretch>
                  <a:fillRect l="-1398"/>
                </a:stretch>
              </a:blipFill>
            </p:spPr>
            <p:txBody>
              <a:bodyPr/>
              <a:lstStyle/>
              <a:p>
                <a:r>
                  <a:rPr lang="zh-CN" altLang="en-US">
                    <a:noFill/>
                  </a:rPr>
                  <a:t> </a:t>
                </a:r>
              </a:p>
            </p:txBody>
          </p:sp>
        </mc:Fallback>
      </mc:AlternateContent>
      <p:sp>
        <p:nvSpPr>
          <p:cNvPr id="4" name="矩形 3"/>
          <p:cNvSpPr/>
          <p:nvPr/>
        </p:nvSpPr>
        <p:spPr>
          <a:xfrm>
            <a:off x="1104900" y="3120190"/>
            <a:ext cx="8015592" cy="1323439"/>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mul_mod</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a</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b</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pt-BR"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pt-BR" altLang="zh-CN" sz="2000" dirty="0">
                <a:solidFill>
                  <a:srgbClr val="000000"/>
                </a:solidFill>
                <a:highlight>
                  <a:srgbClr val="FFFFF3"/>
                </a:highlight>
                <a:latin typeface="Courier New" panose="02070309020205020404" pitchFamily="49" charset="0"/>
                <a:cs typeface="Courier New" panose="02070309020205020404" pitchFamily="49" charset="0"/>
              </a:rPr>
              <a:t>	a </a:t>
            </a:r>
            <a:r>
              <a:rPr lang="pt-B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pt-B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sz="2000" dirty="0">
                <a:solidFill>
                  <a:srgbClr val="000000"/>
                </a:solidFill>
                <a:highlight>
                  <a:srgbClr val="FFFFF3"/>
                </a:highlight>
                <a:latin typeface="Courier New" panose="02070309020205020404" pitchFamily="49" charset="0"/>
                <a:cs typeface="Courier New" panose="02070309020205020404" pitchFamily="49" charset="0"/>
              </a:rPr>
              <a:t> b </a:t>
            </a:r>
            <a:r>
              <a:rPr lang="pt-B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pt-BR"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pt-BR"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pt-BR"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a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b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48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B0E94B57-94BC-D245-B189-5D16730332F6}"/>
              </a:ext>
            </a:extLst>
          </p:cNvPr>
          <p:cNvSpPr>
            <a:spLocks noGrp="1"/>
          </p:cNvSpPr>
          <p:nvPr>
            <p:ph type="sldNum" sz="quarter" idx="12"/>
          </p:nvPr>
        </p:nvSpPr>
        <p:spPr/>
        <p:txBody>
          <a:bodyPr/>
          <a:lstStyle/>
          <a:p>
            <a:fld id="{0FF54DE5-C571-48E8-A5BC-B369434E2F44}" type="slidenum">
              <a:rPr lang="en-US" altLang="zh-CN" smtClean="0"/>
              <a:pPr/>
              <a:t>59</a:t>
            </a:fld>
            <a:endParaRPr lang="zh-CN" altLang="en-US" dirty="0"/>
          </a:p>
        </p:txBody>
      </p:sp>
    </p:spTree>
    <p:extLst>
      <p:ext uri="{BB962C8B-B14F-4D97-AF65-F5344CB8AC3E}">
        <p14:creationId xmlns:p14="http://schemas.microsoft.com/office/powerpoint/2010/main" val="1500563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zh-CN" dirty="0"/>
              <a:t>幂取模</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4599433"/>
              </a:xfrm>
            </p:spPr>
            <p:txBody>
              <a:bodyPr rtlCol="0">
                <a:normAutofit/>
              </a:bodyPr>
              <a:lstStyle/>
              <a:p>
                <a:pPr>
                  <a:lnSpc>
                    <a:spcPct val="150000"/>
                  </a:lnSpc>
                </a:pPr>
                <a:r>
                  <a:rPr lang="zh-CN" altLang="zh-CN" dirty="0">
                    <a:cs typeface="Times New Roman" panose="02020603050405020304" pitchFamily="18" charset="0"/>
                  </a:rPr>
                  <a:t>计算</a:t>
                </a:r>
                <a:r>
                  <a:rPr lang="zh-CN" altLang="en-US" dirty="0">
                    <a:cs typeface="Times New Roman" panose="02020603050405020304" pitchFamily="18" charset="0"/>
                  </a:rPr>
                  <a:t> </a:t>
                </a:r>
                <a14:m>
                  <m:oMath xmlns:m="http://schemas.openxmlformats.org/officeDocument/2006/math">
                    <m:sSup>
                      <m:sSupPr>
                        <m:ctrlPr>
                          <a:rPr lang="zh-CN" altLang="zh-CN" i="1">
                            <a:effectLst/>
                            <a:latin typeface="Cambria Math" panose="02040503050406030204" pitchFamily="18" charset="0"/>
                            <a:ea typeface="Cambria Math" panose="02040503050406030204" pitchFamily="18" charset="0"/>
                          </a:rPr>
                        </m:ctrlPr>
                      </m:s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𝑛</m:t>
                        </m:r>
                      </m:sup>
                    </m:s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 </m:t>
                    </m:r>
                    <m:r>
                      <m:rPr>
                        <m:sty m:val="p"/>
                      </m:rPr>
                      <a:rPr lang="en-US" altLang="zh-CN">
                        <a:effectLst/>
                        <a:latin typeface="Cambria Math" panose="02040503050406030204" pitchFamily="18" charset="0"/>
                        <a:ea typeface="宋体" panose="02010600030101010101" pitchFamily="2" charset="-122"/>
                        <a:cs typeface="Times New Roman" panose="02020603050405020304" pitchFamily="18" charset="0"/>
                      </a:rPr>
                      <m:t>mod</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𝑚</m:t>
                    </m:r>
                  </m:oMath>
                </a14:m>
                <a:r>
                  <a:rPr lang="zh-CN" altLang="en-US" dirty="0">
                    <a:effectLst/>
                    <a:cs typeface="Times New Roman" panose="02020603050405020304" pitchFamily="18" charset="0"/>
                  </a:rPr>
                  <a:t> </a:t>
                </a:r>
                <a:r>
                  <a:rPr lang="zh-CN" altLang="zh-CN" dirty="0">
                    <a:effectLst/>
                    <a:cs typeface="Times New Roman" panose="02020603050405020304" pitchFamily="18" charset="0"/>
                  </a:rPr>
                  <a:t>的值，</a:t>
                </a:r>
                <a14:m>
                  <m:oMath xmlns:m="http://schemas.openxmlformats.org/officeDocument/2006/math">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a:effectLst/>
                            <a:latin typeface="Cambria Math" panose="02040503050406030204" pitchFamily="18" charset="0"/>
                            <a:ea typeface="Cambria Math" panose="02040503050406030204" pitchFamily="18" charset="0"/>
                          </a:rPr>
                        </m:ctrlPr>
                      </m:sSupPr>
                      <m:e>
                        <m:r>
                          <a:rPr lang="en-US" altLang="zh-CN" i="1">
                            <a:effectLst/>
                            <a:latin typeface="Cambria Math" panose="02040503050406030204" pitchFamily="18" charset="0"/>
                            <a:ea typeface="宋体" panose="02010600030101010101" pitchFamily="2" charset="-122"/>
                            <a:cs typeface="Times New Roman" panose="02020603050405020304" pitchFamily="18" charset="0"/>
                          </a:rPr>
                          <m:t>10</m:t>
                        </m:r>
                      </m:e>
                      <m:sup>
                        <m:r>
                          <a:rPr lang="en-US" altLang="zh-CN" i="1">
                            <a:effectLst/>
                            <a:latin typeface="Cambria Math" panose="02040503050406030204" pitchFamily="18" charset="0"/>
                            <a:ea typeface="宋体" panose="02010600030101010101" pitchFamily="2" charset="-122"/>
                            <a:cs typeface="Times New Roman" panose="02020603050405020304" pitchFamily="18" charset="0"/>
                          </a:rPr>
                          <m:t>9</m:t>
                        </m:r>
                      </m:sup>
                    </m:sSup>
                  </m:oMath>
                </a14:m>
                <a:r>
                  <a:rPr lang="en-US" altLang="zh-CN" dirty="0"/>
                  <a:t> </a:t>
                </a:r>
                <a:r>
                  <a:rPr lang="zh-CN" altLang="en-US" dirty="0"/>
                  <a:t>。</a:t>
                </a:r>
                <a:endParaRPr lang="en-US" altLang="zh-CN" dirty="0"/>
              </a:p>
              <a:p>
                <a:pPr>
                  <a:lnSpc>
                    <a:spcPct val="150000"/>
                  </a:lnSpc>
                </a:pPr>
                <a:r>
                  <a:rPr lang="zh-CN" altLang="zh-CN" dirty="0">
                    <a:cs typeface="Times New Roman" panose="02020603050405020304" pitchFamily="18" charset="0"/>
                  </a:rPr>
                  <a:t>如果简单地使用上述方法进行次</a:t>
                </a:r>
                <a:r>
                  <a:rPr lang="zh-CN" altLang="en-US" dirty="0">
                    <a:cs typeface="Times New Roman" panose="02020603050405020304" pitchFamily="18" charset="0"/>
                  </a:rPr>
                  <a:t> </a:t>
                </a:r>
                <a14:m>
                  <m:oMath xmlns:m="http://schemas.openxmlformats.org/officeDocument/2006/math">
                    <m:r>
                      <m:rPr>
                        <m:sty m:val="p"/>
                      </m:rPr>
                      <a:rPr lang="en-US" altLang="zh-CN" i="0">
                        <a:latin typeface="Cambria Math" panose="02040503050406030204" pitchFamily="18" charset="0"/>
                        <a:cs typeface="Times New Roman" panose="02020603050405020304" pitchFamily="18" charset="0"/>
                      </a:rPr>
                      <m:t>O</m:t>
                    </m:r>
                    <m:d>
                      <m:dPr>
                        <m:ctrlPr>
                          <a:rPr lang="zh-CN" altLang="zh-CN" i="1">
                            <a:latin typeface="Cambria Math" panose="02040503050406030204" pitchFamily="18" charset="0"/>
                            <a:cs typeface="Times New Roman" panose="02020603050405020304" pitchFamily="18" charset="0"/>
                          </a:rPr>
                        </m:ctrlPr>
                      </m:dPr>
                      <m:e>
                        <m:r>
                          <a:rPr lang="en-US" altLang="zh-CN">
                            <a:latin typeface="Cambria Math" panose="02040503050406030204" pitchFamily="18" charset="0"/>
                            <a:cs typeface="Times New Roman" panose="02020603050405020304" pitchFamily="18" charset="0"/>
                          </a:rPr>
                          <m:t>𝑛</m:t>
                        </m:r>
                      </m:e>
                    </m:d>
                  </m:oMath>
                </a14:m>
                <a:r>
                  <a:rPr lang="zh-CN" altLang="en-US" dirty="0">
                    <a:cs typeface="Times New Roman" panose="02020603050405020304" pitchFamily="18" charset="0"/>
                  </a:rPr>
                  <a:t> </a:t>
                </a:r>
                <a:r>
                  <a:rPr lang="zh-CN" altLang="zh-CN" dirty="0">
                    <a:cs typeface="Times New Roman" panose="02020603050405020304" pitchFamily="18" charset="0"/>
                  </a:rPr>
                  <a:t>乘法，时间复杂度是很不理想的。我们可以利用下面的递归函数来优化：</a:t>
                </a:r>
                <a:endParaRPr lang="en-US" altLang="zh-CN" dirty="0">
                  <a:cs typeface="Times New Roman" panose="02020603050405020304" pitchFamily="18" charset="0"/>
                </a:endParaRPr>
              </a:p>
              <a:p>
                <a:pPr>
                  <a:lnSpc>
                    <a:spcPct val="150000"/>
                  </a:lnSpc>
                </a:pPr>
                <a:endParaRPr lang="en-US" altLang="zh-CN" dirty="0">
                  <a:cs typeface="Times New Roman" panose="02020603050405020304" pitchFamily="18" charset="0"/>
                </a:endParaRPr>
              </a:p>
              <a:p>
                <a:pPr>
                  <a:lnSpc>
                    <a:spcPct val="150000"/>
                  </a:lnSpc>
                </a:pPr>
                <a:endParaRPr lang="en-US" altLang="zh-CN" dirty="0">
                  <a:cs typeface="Times New Roman" panose="02020603050405020304" pitchFamily="18" charset="0"/>
                </a:endParaRPr>
              </a:p>
              <a:p>
                <a:pPr>
                  <a:lnSpc>
                    <a:spcPct val="150000"/>
                  </a:lnSpc>
                </a:pPr>
                <a:r>
                  <a:rPr lang="zh-Hans" altLang="en-US" i="0" dirty="0">
                    <a:cs typeface="Times New Roman" panose="02020603050405020304" pitchFamily="18" charset="0"/>
                  </a:rPr>
                  <a:t>上述算法称之为“快速幂”，</a:t>
                </a:r>
                <a:r>
                  <a:rPr lang="zh-CN" altLang="zh-CN" i="0" dirty="0">
                    <a:cs typeface="Times New Roman" panose="02020603050405020304" pitchFamily="18" charset="0"/>
                  </a:rPr>
                  <a:t>时间复杂度优化到</a:t>
                </a:r>
                <a:r>
                  <a:rPr lang="zh-CN" altLang="en-US" i="0" dirty="0">
                    <a:cs typeface="Times New Roman" panose="02020603050405020304" pitchFamily="18" charset="0"/>
                  </a:rPr>
                  <a:t> </a:t>
                </a:r>
                <a14:m>
                  <m:oMath xmlns:m="http://schemas.openxmlformats.org/officeDocument/2006/math">
                    <m:r>
                      <m:rPr>
                        <m:sty m:val="p"/>
                      </m:rPr>
                      <a:rPr lang="en-US" altLang="zh-CN" i="0">
                        <a:effectLst/>
                        <a:latin typeface="Cambria Math" panose="02040503050406030204" pitchFamily="18" charset="0"/>
                        <a:ea typeface="宋体" panose="02010600030101010101" pitchFamily="2" charset="-122"/>
                        <a:cs typeface="Times New Roman" panose="02020603050405020304" pitchFamily="18" charset="0"/>
                      </a:rPr>
                      <m:t>O</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r>
                      <m:rPr>
                        <m:sty m:val="p"/>
                      </m:rPr>
                      <a:rPr lang="en-US" altLang="zh-CN" i="0">
                        <a:effectLst/>
                        <a:latin typeface="Cambria Math" panose="02040503050406030204" pitchFamily="18" charset="0"/>
                        <a:ea typeface="宋体" panose="02010600030101010101" pitchFamily="2" charset="-122"/>
                        <a:cs typeface="Times New Roman" panose="02020603050405020304" pitchFamily="18" charset="0"/>
                      </a:rPr>
                      <m:t>log</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i="1">
                        <a:effectLst/>
                        <a:latin typeface="Cambria Math" panose="02040503050406030204" pitchFamily="18" charset="0"/>
                        <a:ea typeface="宋体" panose="02010600030101010101" pitchFamily="2" charset="-122"/>
                        <a:cs typeface="Times New Roman" panose="02020603050405020304" pitchFamily="18" charset="0"/>
                      </a:rPr>
                      <m:t>)</m:t>
                    </m:r>
                  </m:oMath>
                </a14:m>
                <a:r>
                  <a:rPr lang="zh-Hans" altLang="en-US" dirty="0">
                    <a:cs typeface="Times New Roman" panose="02020603050405020304" pitchFamily="18" charset="0"/>
                  </a:rPr>
                  <a:t> 。</a:t>
                </a:r>
                <a:endParaRPr lang="en-US" altLang="zh-CN" dirty="0">
                  <a:cs typeface="Times New Roman" panose="02020603050405020304" pitchFamily="18" charset="0"/>
                </a:endParaRPr>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4599433"/>
              </a:xfrm>
              <a:blipFill>
                <a:blip r:embed="rId2"/>
                <a:stretch>
                  <a:fillRect l="-139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2712721" y="3505200"/>
                <a:ext cx="6722560" cy="12320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𝑝𝑜𝑤</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𝑥</m:t>
                          </m:r>
                          <m:r>
                            <a:rPr lang="zh-CN" altLang="en-US" sz="2000" i="0">
                              <a:latin typeface="Cambria Math" panose="02040503050406030204" pitchFamily="18" charset="0"/>
                            </a:rPr>
                            <m:t>,</m:t>
                          </m:r>
                          <m:r>
                            <a:rPr lang="zh-CN" altLang="en-US" sz="2000" i="1">
                              <a:latin typeface="Cambria Math" panose="02040503050406030204" pitchFamily="18" charset="0"/>
                            </a:rPr>
                            <m:t>𝑛</m:t>
                          </m:r>
                        </m:e>
                      </m:d>
                      <m:r>
                        <a:rPr lang="zh-CN" altLang="en-US" sz="2000" i="0">
                          <a:latin typeface="Cambria Math" panose="02040503050406030204" pitchFamily="18" charset="0"/>
                        </a:rPr>
                        <m:t>=</m:t>
                      </m:r>
                      <m:d>
                        <m:dPr>
                          <m:begChr m:val="{"/>
                          <m:endChr m:val=""/>
                          <m:ctrlPr>
                            <a:rPr lang="zh-CN" altLang="en-US" sz="2000" i="1">
                              <a:latin typeface="Cambria Math" panose="02040503050406030204" pitchFamily="18" charset="0"/>
                            </a:rPr>
                          </m:ctrlPr>
                        </m:dPr>
                        <m:e>
                          <m:eqArr>
                            <m:eqArrPr>
                              <m:ctrlPr>
                                <a:rPr lang="zh-CN" altLang="en-US" sz="2000" i="1">
                                  <a:latin typeface="Cambria Math" panose="02040503050406030204" pitchFamily="18" charset="0"/>
                                </a:rPr>
                              </m:ctrlPr>
                            </m:eqArrPr>
                            <m:e>
                              <m:r>
                                <a:rPr lang="zh-CN" altLang="en-US" sz="2000" i="0">
                                  <a:latin typeface="Cambria Math" panose="02040503050406030204" pitchFamily="18" charset="0"/>
                                </a:rPr>
                                <m:t>&amp;</m:t>
                              </m:r>
                              <m:d>
                                <m:dPr>
                                  <m:begChr m:val=""/>
                                  <m:ctrlPr>
                                    <a:rPr lang="zh-CN" altLang="en-US" sz="2000" i="1">
                                      <a:latin typeface="Cambria Math" panose="02040503050406030204" pitchFamily="18" charset="0"/>
                                    </a:rPr>
                                  </m:ctrlPr>
                                </m:dPr>
                                <m:e>
                                  <m:r>
                                    <a:rPr lang="zh-CN" altLang="en-US" sz="2000" i="0">
                                      <a:latin typeface="Cambria Math" panose="02040503050406030204" pitchFamily="18" charset="0"/>
                                    </a:rPr>
                                    <m:t>1                                             (</m:t>
                                  </m:r>
                                  <m:r>
                                    <a:rPr lang="zh-CN" altLang="en-US" sz="2000" i="1">
                                      <a:latin typeface="Cambria Math" panose="02040503050406030204" pitchFamily="18" charset="0"/>
                                    </a:rPr>
                                    <m:t>𝑛</m:t>
                                  </m:r>
                                  <m:r>
                                    <a:rPr lang="zh-CN" altLang="en-US" sz="2000" i="0">
                                      <a:latin typeface="Cambria Math" panose="02040503050406030204" pitchFamily="18" charset="0"/>
                                    </a:rPr>
                                    <m:t>=0</m:t>
                                  </m:r>
                                  <m:r>
                                    <a:rPr lang="zh-CN" altLang="en-US" sz="2000" i="0">
                                      <a:latin typeface="Cambria Math" panose="02040503050406030204" pitchFamily="18" charset="0"/>
                                    </a:rPr>
                                    <m:t>时</m:t>
                                  </m:r>
                                </m:e>
                              </m:d>
                            </m:e>
                            <m:e>
                              <m:r>
                                <a:rPr lang="zh-CN" altLang="en-US" sz="2000" i="0">
                                  <a:latin typeface="Cambria Math" panose="02040503050406030204" pitchFamily="18" charset="0"/>
                                </a:rPr>
                                <m:t>&amp; </m:t>
                              </m:r>
                              <m:r>
                                <a:rPr lang="zh-CN" altLang="en-US" sz="2000" i="1">
                                  <a:latin typeface="Cambria Math" panose="02040503050406030204" pitchFamily="18" charset="0"/>
                                </a:rPr>
                                <m:t>𝑝𝑜𝑤</m:t>
                              </m:r>
                              <m:d>
                                <m:dPr>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r>
                                    <a:rPr lang="zh-CN" altLang="en-US" sz="2000" i="0">
                                      <a:latin typeface="Cambria Math" panose="02040503050406030204" pitchFamily="18" charset="0"/>
                                    </a:rPr>
                                    <m:t>,</m:t>
                                  </m:r>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𝑛</m:t>
                                      </m:r>
                                    </m:num>
                                    <m:den>
                                      <m:r>
                                        <a:rPr lang="zh-CN" altLang="en-US" sz="2000" i="0">
                                          <a:latin typeface="Cambria Math" panose="02040503050406030204" pitchFamily="18" charset="0"/>
                                        </a:rPr>
                                        <m:t>2</m:t>
                                      </m:r>
                                    </m:den>
                                  </m:f>
                                </m:e>
                              </m:d>
                              <m:r>
                                <a:rPr lang="zh-CN" altLang="en-US" sz="2000" i="0">
                                  <a:latin typeface="Cambria Math" panose="02040503050406030204" pitchFamily="18" charset="0"/>
                                </a:rPr>
                                <m:t>                    (</m:t>
                              </m:r>
                              <m:r>
                                <a:rPr lang="zh-CN" altLang="en-US" sz="2000" i="1">
                                  <a:latin typeface="Cambria Math" panose="02040503050406030204" pitchFamily="18" charset="0"/>
                                </a:rPr>
                                <m:t>𝑛</m:t>
                              </m:r>
                              <m:r>
                                <a:rPr lang="zh-CN" altLang="en-US" sz="2000" i="0">
                                  <a:latin typeface="Cambria Math" panose="02040503050406030204" pitchFamily="18" charset="0"/>
                                </a:rPr>
                                <m:t>为偶数时</m:t>
                              </m:r>
                              <m:r>
                                <a:rPr lang="zh-CN" altLang="en-US" sz="2000" i="0">
                                  <a:latin typeface="Cambria Math" panose="02040503050406030204" pitchFamily="18" charset="0"/>
                                </a:rPr>
                                <m:t>) </m:t>
                              </m:r>
                            </m:e>
                            <m:e>
                              <m:r>
                                <a:rPr lang="zh-CN" altLang="en-US" sz="2000" i="0">
                                  <a:latin typeface="Cambria Math" panose="02040503050406030204" pitchFamily="18" charset="0"/>
                                </a:rPr>
                                <m:t>&amp;</m:t>
                              </m:r>
                              <m:d>
                                <m:dPr>
                                  <m:begChr m:val=""/>
                                  <m:ctrlPr>
                                    <a:rPr lang="zh-CN" altLang="en-US" sz="2000" i="1">
                                      <a:latin typeface="Cambria Math" panose="02040503050406030204" pitchFamily="18" charset="0"/>
                                    </a:rPr>
                                  </m:ctrlPr>
                                </m:dPr>
                                <m:e>
                                  <m:r>
                                    <a:rPr lang="zh-CN" altLang="en-US" sz="2000" i="1">
                                      <a:latin typeface="Cambria Math" panose="02040503050406030204" pitchFamily="18" charset="0"/>
                                    </a:rPr>
                                    <m:t>𝑝𝑜𝑤</m:t>
                                  </m:r>
                                  <m:d>
                                    <m:dPr>
                                      <m:ctrlPr>
                                        <a:rPr lang="zh-CN" altLang="en-US" sz="2000" i="1">
                                          <a:latin typeface="Cambria Math" panose="02040503050406030204" pitchFamily="18" charset="0"/>
                                        </a:rPr>
                                      </m:ctrlPr>
                                    </m:dPr>
                                    <m:e>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i="0">
                                              <a:latin typeface="Cambria Math" panose="02040503050406030204" pitchFamily="18" charset="0"/>
                                            </a:rPr>
                                            <m:t>2</m:t>
                                          </m:r>
                                        </m:sup>
                                      </m:sSup>
                                      <m:r>
                                        <a:rPr lang="zh-CN" altLang="en-US" sz="2000" i="0">
                                          <a:latin typeface="Cambria Math" panose="02040503050406030204" pitchFamily="18" charset="0"/>
                                        </a:rPr>
                                        <m:t>,</m:t>
                                      </m:r>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𝑛</m:t>
                                          </m:r>
                                        </m:num>
                                        <m:den>
                                          <m:r>
                                            <a:rPr lang="zh-CN" altLang="en-US" sz="2000" i="0">
                                              <a:latin typeface="Cambria Math" panose="02040503050406030204" pitchFamily="18" charset="0"/>
                                            </a:rPr>
                                            <m:t>2</m:t>
                                          </m:r>
                                        </m:den>
                                      </m:f>
                                    </m:e>
                                  </m:d>
                                  <m:r>
                                    <a:rPr lang="zh-Hans" altLang="en-US" sz="2000" b="0" i="0" smtClean="0">
                                      <a:latin typeface="Cambria Math" panose="02040503050406030204" pitchFamily="18" charset="0"/>
                                    </a:rPr>
                                    <m:t>∗</m:t>
                                  </m:r>
                                  <m:r>
                                    <a:rPr lang="zh-CN" altLang="en-US" sz="2000" i="1">
                                      <a:latin typeface="Cambria Math" panose="02040503050406030204" pitchFamily="18" charset="0"/>
                                    </a:rPr>
                                    <m:t>𝑥</m:t>
                                  </m:r>
                                  <m:r>
                                    <a:rPr lang="zh-CN" altLang="en-US" sz="2000" i="0">
                                      <a:latin typeface="Cambria Math" panose="02040503050406030204" pitchFamily="18" charset="0"/>
                                    </a:rPr>
                                    <m:t>               (</m:t>
                                  </m:r>
                                  <m:r>
                                    <a:rPr lang="zh-CN" altLang="en-US" sz="2000" i="1">
                                      <a:latin typeface="Cambria Math" panose="02040503050406030204" pitchFamily="18" charset="0"/>
                                    </a:rPr>
                                    <m:t>𝑛</m:t>
                                  </m:r>
                                  <m:r>
                                    <a:rPr lang="zh-CN" altLang="en-US" sz="2000" i="0">
                                      <a:latin typeface="Cambria Math" panose="02040503050406030204" pitchFamily="18" charset="0"/>
                                    </a:rPr>
                                    <m:t>为奇数时</m:t>
                                  </m:r>
                                </m:e>
                              </m:d>
                            </m:e>
                          </m:eqArr>
                        </m:e>
                      </m:d>
                    </m:oMath>
                  </m:oMathPara>
                </a14:m>
                <a:endParaRPr lang="zh-CN" altLang="en-US" sz="2000" dirty="0">
                  <a:latin typeface="微软雅黑" panose="020B0503020204020204" pitchFamily="34" charset="-122"/>
                  <a:ea typeface="微软雅黑" panose="020B0503020204020204" pitchFamily="34" charset="-122"/>
                </a:endParaRPr>
              </a:p>
            </p:txBody>
          </p:sp>
        </mc:Choice>
        <mc:Fallback>
          <p:sp>
            <p:nvSpPr>
              <p:cNvPr id="2" name="矩形 1"/>
              <p:cNvSpPr>
                <a:spLocks noRot="1" noChangeAspect="1" noMove="1" noResize="1" noEditPoints="1" noAdjustHandles="1" noChangeArrowheads="1" noChangeShapeType="1" noTextEdit="1"/>
              </p:cNvSpPr>
              <p:nvPr/>
            </p:nvSpPr>
            <p:spPr>
              <a:xfrm>
                <a:off x="2712721" y="3505200"/>
                <a:ext cx="6722560" cy="1232004"/>
              </a:xfrm>
              <a:prstGeom prst="rect">
                <a:avLst/>
              </a:prstGeom>
              <a:blipFill>
                <a:blip r:embed="rId3"/>
                <a:stretch>
                  <a:fillRect l="-3585" t="-215464" b="-305155"/>
                </a:stretch>
              </a:blipFill>
            </p:spPr>
            <p:txBody>
              <a:bodyPr/>
              <a:lstStyle/>
              <a:p>
                <a:r>
                  <a:rPr lang="zh-CN" altLang="en-US">
                    <a:noFill/>
                  </a:rPr>
                  <a:t> </a:t>
                </a:r>
              </a:p>
            </p:txBody>
          </p:sp>
        </mc:Fallback>
      </mc:AlternateContent>
      <p:sp>
        <p:nvSpPr>
          <p:cNvPr id="3" name="幻灯片编号占位符 2">
            <a:extLst>
              <a:ext uri="{FF2B5EF4-FFF2-40B4-BE49-F238E27FC236}">
                <a16:creationId xmlns:a16="http://schemas.microsoft.com/office/drawing/2014/main" id="{63A162F1-F7DA-CD43-9668-B73770D76979}"/>
              </a:ext>
            </a:extLst>
          </p:cNvPr>
          <p:cNvSpPr>
            <a:spLocks noGrp="1"/>
          </p:cNvSpPr>
          <p:nvPr>
            <p:ph type="sldNum" sz="quarter" idx="12"/>
          </p:nvPr>
        </p:nvSpPr>
        <p:spPr/>
        <p:txBody>
          <a:bodyPr/>
          <a:lstStyle/>
          <a:p>
            <a:fld id="{0FF54DE5-C571-48E8-A5BC-B369434E2F44}" type="slidenum">
              <a:rPr lang="en-US" altLang="zh-CN" smtClean="0"/>
              <a:pPr/>
              <a:t>60</a:t>
            </a:fld>
            <a:endParaRPr lang="zh-CN" altLang="en-US" dirty="0"/>
          </a:p>
        </p:txBody>
      </p:sp>
    </p:spTree>
    <p:extLst>
      <p:ext uri="{BB962C8B-B14F-4D97-AF65-F5344CB8AC3E}">
        <p14:creationId xmlns:p14="http://schemas.microsoft.com/office/powerpoint/2010/main" val="369656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cs typeface="Times New Roman" panose="02020603050405020304" pitchFamily="18" charset="0"/>
              </a:rPr>
              <a:t>快速幂</a:t>
            </a:r>
            <a:endParaRPr lang="en-US" altLang="zh-CN" dirty="0"/>
          </a:p>
        </p:txBody>
      </p:sp>
      <p:sp>
        <p:nvSpPr>
          <p:cNvPr id="4" name="矩形 3"/>
          <p:cNvSpPr/>
          <p:nvPr/>
        </p:nvSpPr>
        <p:spPr>
          <a:xfrm>
            <a:off x="1104900" y="1766878"/>
            <a:ext cx="8015592" cy="830997"/>
          </a:xfrm>
          <a:prstGeom prst="rect">
            <a:avLst/>
          </a:prstGeom>
        </p:spPr>
        <p:txBody>
          <a:bodyPr wrap="square">
            <a:spAutoFit/>
          </a:bodyPr>
          <a:lstStyle/>
          <a:p>
            <a:endParaRPr lang="zh-CN" altLang="en-US" sz="4800" dirty="0">
              <a:latin typeface="Courier New" panose="02070309020205020404" pitchFamily="49" charset="0"/>
              <a:cs typeface="Courier New" panose="02070309020205020404" pitchFamily="49" charset="0"/>
            </a:endParaRPr>
          </a:p>
        </p:txBody>
      </p:sp>
      <p:sp>
        <p:nvSpPr>
          <p:cNvPr id="5" name="矩形 4"/>
          <p:cNvSpPr/>
          <p:nvPr/>
        </p:nvSpPr>
        <p:spPr>
          <a:xfrm>
            <a:off x="1104900" y="1766878"/>
            <a:ext cx="7949184" cy="2246769"/>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pow_mod</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a</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n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x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pow_mod</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a</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ans</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cs typeface="Courier New" panose="02070309020205020404" pitchFamily="49" charset="0"/>
              </a:rPr>
              <a:t>long</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x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x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fr-FR"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fr-FR"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n </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fr-FR"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fr-FR"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ans </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ans </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a </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fr-FR"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fr-FR"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fr-FR"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ans</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F85884B8-794B-AE46-8AA0-DFEBA76DE819}"/>
              </a:ext>
            </a:extLst>
          </p:cNvPr>
          <p:cNvSpPr>
            <a:spLocks noGrp="1"/>
          </p:cNvSpPr>
          <p:nvPr>
            <p:ph type="sldNum" sz="quarter" idx="12"/>
          </p:nvPr>
        </p:nvSpPr>
        <p:spPr/>
        <p:txBody>
          <a:bodyPr/>
          <a:lstStyle/>
          <a:p>
            <a:fld id="{0FF54DE5-C571-48E8-A5BC-B369434E2F44}" type="slidenum">
              <a:rPr lang="en-US" altLang="zh-CN" smtClean="0"/>
              <a:pPr/>
              <a:t>61</a:t>
            </a:fld>
            <a:endParaRPr lang="zh-CN" altLang="en-US" dirty="0"/>
          </a:p>
        </p:txBody>
      </p:sp>
    </p:spTree>
    <p:extLst>
      <p:ext uri="{BB962C8B-B14F-4D97-AF65-F5344CB8AC3E}">
        <p14:creationId xmlns:p14="http://schemas.microsoft.com/office/powerpoint/2010/main" val="88213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 [NOIP2013 D1T1] </a:t>
            </a:r>
            <a:r>
              <a:rPr lang="zh-Hans" altLang="en-US" dirty="0"/>
              <a:t>转圈游戏</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5170550"/>
              </a:xfrm>
            </p:spPr>
            <p:txBody>
              <a:bodyPr rtlCol="0">
                <a:normAutofit fontScale="92500"/>
              </a:bodyPr>
              <a:lstStyle/>
              <a:p>
                <a:pPr>
                  <a:lnSpc>
                    <a:spcPct val="150000"/>
                  </a:lnSpc>
                  <a:spcBef>
                    <a:spcPts val="600"/>
                  </a:spcBef>
                </a:pP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oMath>
                </a14:m>
                <a:r>
                  <a:rPr lang="zh-CN" altLang="en-US" dirty="0"/>
                  <a:t>个小伙伴（编号从 </a:t>
                </a:r>
                <a14:m>
                  <m:oMath xmlns:m="http://schemas.openxmlformats.org/officeDocument/2006/math">
                    <m:r>
                      <a:rPr lang="en-US" altLang="zh-CN" i="1" dirty="0" smtClean="0">
                        <a:latin typeface="Cambria Math" panose="02040503050406030204" pitchFamily="18" charset="0"/>
                      </a:rPr>
                      <m:t>0 </m:t>
                    </m:r>
                  </m:oMath>
                </a14:m>
                <a:r>
                  <a:rPr lang="zh-CN" altLang="en-US" dirty="0"/>
                  <a:t>到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−1</m:t>
                    </m:r>
                  </m:oMath>
                </a14:m>
                <a:r>
                  <a:rPr lang="zh-CN" altLang="en-US" dirty="0"/>
                  <a:t>）围坐一圈玩游戏。按照顺时针方向给 </a:t>
                </a:r>
                <a14:m>
                  <m:oMath xmlns:m="http://schemas.openxmlformats.org/officeDocument/2006/math">
                    <m:r>
                      <a:rPr lang="en-US" altLang="zh-CN" i="1" dirty="0" smtClean="0">
                        <a:latin typeface="Cambria Math" panose="02040503050406030204" pitchFamily="18" charset="0"/>
                      </a:rPr>
                      <m:t>𝑛</m:t>
                    </m:r>
                  </m:oMath>
                </a14:m>
                <a:r>
                  <a:rPr lang="en-US" altLang="zh-CN" dirty="0"/>
                  <a:t> </a:t>
                </a:r>
                <a:r>
                  <a:rPr lang="zh-CN" altLang="en-US" dirty="0"/>
                  <a:t>个位置编号，从</a:t>
                </a:r>
                <a:r>
                  <a:rPr lang="zh-Hans" altLang="en-US" dirty="0"/>
                  <a:t> </a:t>
                </a:r>
                <a14:m>
                  <m:oMath xmlns:m="http://schemas.openxmlformats.org/officeDocument/2006/math">
                    <m:r>
                      <a:rPr lang="en-US" altLang="zh-CN" i="1" dirty="0" smtClean="0">
                        <a:latin typeface="Cambria Math" panose="02040503050406030204" pitchFamily="18" charset="0"/>
                      </a:rPr>
                      <m:t>0 </m:t>
                    </m:r>
                  </m:oMath>
                </a14:m>
                <a:r>
                  <a:rPr lang="zh-CN" altLang="en-US" dirty="0"/>
                  <a:t>到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−1</m:t>
                    </m:r>
                  </m:oMath>
                </a14:m>
                <a:r>
                  <a:rPr lang="zh-CN" altLang="en-US" dirty="0"/>
                  <a:t>。最初，第 </a:t>
                </a:r>
                <a14:m>
                  <m:oMath xmlns:m="http://schemas.openxmlformats.org/officeDocument/2006/math">
                    <m:r>
                      <a:rPr lang="en-US" altLang="zh-CN" i="1" dirty="0" smtClean="0">
                        <a:latin typeface="Cambria Math" panose="02040503050406030204" pitchFamily="18" charset="0"/>
                      </a:rPr>
                      <m:t>0</m:t>
                    </m:r>
                  </m:oMath>
                </a14:m>
                <a:r>
                  <a:rPr lang="en-US" altLang="zh-CN" dirty="0"/>
                  <a:t> </a:t>
                </a:r>
                <a:r>
                  <a:rPr lang="zh-CN" altLang="en-US" dirty="0"/>
                  <a:t>号小伙伴在第</a:t>
                </a:r>
                <a14:m>
                  <m:oMath xmlns:m="http://schemas.openxmlformats.org/officeDocument/2006/math">
                    <m:r>
                      <a:rPr lang="zh-CN" altLang="en-US" i="1" dirty="0" smtClean="0">
                        <a:latin typeface="Cambria Math" panose="02040503050406030204" pitchFamily="18" charset="0"/>
                      </a:rPr>
                      <m:t> </m:t>
                    </m:r>
                    <m:r>
                      <a:rPr lang="en-US" altLang="zh-CN" i="1" dirty="0">
                        <a:latin typeface="Cambria Math" panose="02040503050406030204" pitchFamily="18" charset="0"/>
                      </a:rPr>
                      <m:t>0 </m:t>
                    </m:r>
                  </m:oMath>
                </a14:m>
                <a:r>
                  <a:rPr lang="zh-CN" altLang="en-US" dirty="0"/>
                  <a:t>号位置，第 </a:t>
                </a:r>
                <a14:m>
                  <m:oMath xmlns:m="http://schemas.openxmlformats.org/officeDocument/2006/math">
                    <m:r>
                      <a:rPr lang="en-US" altLang="zh-CN" i="1" dirty="0" smtClean="0">
                        <a:latin typeface="Cambria Math" panose="02040503050406030204" pitchFamily="18" charset="0"/>
                      </a:rPr>
                      <m:t>1 </m:t>
                    </m:r>
                  </m:oMath>
                </a14:m>
                <a:r>
                  <a:rPr lang="zh-CN" altLang="en-US" dirty="0"/>
                  <a:t>号小伙伴在第 </a:t>
                </a:r>
                <a14:m>
                  <m:oMath xmlns:m="http://schemas.openxmlformats.org/officeDocument/2006/math">
                    <m:r>
                      <a:rPr lang="en-US" altLang="zh-CN" i="1" dirty="0" smtClean="0">
                        <a:latin typeface="Cambria Math" panose="02040503050406030204" pitchFamily="18" charset="0"/>
                      </a:rPr>
                      <m:t>1</m:t>
                    </m:r>
                  </m:oMath>
                </a14:m>
                <a:r>
                  <a:rPr lang="en-US" altLang="zh-CN" dirty="0"/>
                  <a:t> </a:t>
                </a:r>
                <a:r>
                  <a:rPr lang="zh-CN" altLang="en-US" dirty="0"/>
                  <a:t>号位置，</a:t>
                </a:r>
                <a:r>
                  <a:rPr lang="en-US" altLang="zh-CN" dirty="0"/>
                  <a:t>……</a:t>
                </a:r>
                <a:r>
                  <a:rPr lang="zh-CN" altLang="en-US" dirty="0"/>
                  <a:t>，依此类推。</a:t>
                </a:r>
              </a:p>
              <a:p>
                <a:pPr>
                  <a:lnSpc>
                    <a:spcPct val="150000"/>
                  </a:lnSpc>
                  <a:spcBef>
                    <a:spcPts val="600"/>
                  </a:spcBef>
                </a:pPr>
                <a:r>
                  <a:rPr lang="zh-CN" altLang="en-US" dirty="0"/>
                  <a:t>游戏规则如下：每一轮第 </a:t>
                </a:r>
                <a14:m>
                  <m:oMath xmlns:m="http://schemas.openxmlformats.org/officeDocument/2006/math">
                    <m:r>
                      <a:rPr lang="en-US" altLang="zh-CN" i="1" dirty="0" smtClean="0">
                        <a:latin typeface="Cambria Math" panose="02040503050406030204" pitchFamily="18" charset="0"/>
                      </a:rPr>
                      <m:t>0</m:t>
                    </m:r>
                  </m:oMath>
                </a14:m>
                <a:r>
                  <a:rPr lang="en-US" altLang="zh-CN" dirty="0"/>
                  <a:t> </a:t>
                </a:r>
                <a:r>
                  <a:rPr lang="zh-CN" altLang="en-US" dirty="0"/>
                  <a:t>号位置上的小伙伴顺时针走到第 </a:t>
                </a:r>
                <a14:m>
                  <m:oMath xmlns:m="http://schemas.openxmlformats.org/officeDocument/2006/math">
                    <m:r>
                      <a:rPr lang="en-US" altLang="zh-CN" i="1" dirty="0" smtClean="0">
                        <a:latin typeface="Cambria Math" panose="02040503050406030204" pitchFamily="18" charset="0"/>
                      </a:rPr>
                      <m:t>𝑚</m:t>
                    </m:r>
                  </m:oMath>
                </a14:m>
                <a:r>
                  <a:rPr lang="en-US" altLang="zh-CN" dirty="0"/>
                  <a:t> </a:t>
                </a:r>
                <a:r>
                  <a:rPr lang="zh-CN" altLang="en-US" dirty="0"/>
                  <a:t>号位置，第 </a:t>
                </a:r>
                <a14:m>
                  <m:oMath xmlns:m="http://schemas.openxmlformats.org/officeDocument/2006/math">
                    <m:r>
                      <a:rPr lang="en-US" altLang="zh-CN" i="1" dirty="0" smtClean="0">
                        <a:latin typeface="Cambria Math" panose="02040503050406030204" pitchFamily="18" charset="0"/>
                      </a:rPr>
                      <m:t>1</m:t>
                    </m:r>
                  </m:oMath>
                </a14:m>
                <a:r>
                  <a:rPr lang="en-US" altLang="zh-CN" dirty="0"/>
                  <a:t> </a:t>
                </a:r>
                <a:r>
                  <a:rPr lang="zh-CN" altLang="en-US" dirty="0"/>
                  <a:t>号位置小伙伴走到第 </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+1</m:t>
                    </m:r>
                  </m:oMath>
                </a14:m>
                <a:r>
                  <a:rPr lang="en-US" altLang="zh-CN" dirty="0"/>
                  <a:t> </a:t>
                </a:r>
                <a:r>
                  <a:rPr lang="zh-CN" altLang="en-US" dirty="0"/>
                  <a:t>号位置，</a:t>
                </a:r>
                <a:r>
                  <a:rPr lang="en-US" altLang="zh-CN" dirty="0"/>
                  <a:t>……</a:t>
                </a:r>
                <a:r>
                  <a:rPr lang="zh-CN" altLang="en-US" dirty="0"/>
                  <a:t>，依此类推，第</a:t>
                </a:r>
                <a:r>
                  <a:rPr lang="zh-Hans" altLang="en-US" dirty="0"/>
                  <a:t>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𝑚</m:t>
                    </m:r>
                  </m:oMath>
                </a14:m>
                <a:r>
                  <a:rPr lang="zh-CN" altLang="en-US" dirty="0"/>
                  <a:t>号位置上的小伙伴走到第 </a:t>
                </a:r>
                <a14:m>
                  <m:oMath xmlns:m="http://schemas.openxmlformats.org/officeDocument/2006/math">
                    <m:r>
                      <a:rPr lang="en-US" altLang="zh-CN" i="1" dirty="0" smtClean="0">
                        <a:latin typeface="Cambria Math" panose="02040503050406030204" pitchFamily="18" charset="0"/>
                      </a:rPr>
                      <m:t>0</m:t>
                    </m:r>
                  </m:oMath>
                </a14:m>
                <a:r>
                  <a:rPr lang="en-US" altLang="zh-CN" dirty="0"/>
                  <a:t> </a:t>
                </a:r>
                <a:r>
                  <a:rPr lang="zh-CN" altLang="en-US" dirty="0"/>
                  <a:t>号位置，第</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𝑚</m:t>
                    </m:r>
                    <m:r>
                      <a:rPr lang="en-US" altLang="zh-CN" i="1" dirty="0" smtClean="0">
                        <a:latin typeface="Cambria Math" panose="02040503050406030204" pitchFamily="18" charset="0"/>
                      </a:rPr>
                      <m:t>+1</m:t>
                    </m:r>
                  </m:oMath>
                </a14:m>
                <a:r>
                  <a:rPr lang="en-US" altLang="zh-CN" dirty="0"/>
                  <a:t> </a:t>
                </a:r>
                <a:r>
                  <a:rPr lang="zh-CN" altLang="en-US" dirty="0"/>
                  <a:t>号位置上的小伙伴走到第 </a:t>
                </a:r>
                <a14:m>
                  <m:oMath xmlns:m="http://schemas.openxmlformats.org/officeDocument/2006/math">
                    <m:r>
                      <a:rPr lang="en-US" altLang="zh-CN" i="1" dirty="0" smtClean="0">
                        <a:latin typeface="Cambria Math" panose="02040503050406030204" pitchFamily="18" charset="0"/>
                      </a:rPr>
                      <m:t>1</m:t>
                    </m:r>
                  </m:oMath>
                </a14:m>
                <a:r>
                  <a:rPr lang="en-US" altLang="zh-CN" dirty="0"/>
                  <a:t> </a:t>
                </a:r>
                <a:r>
                  <a:rPr lang="zh-CN" altLang="en-US" dirty="0"/>
                  <a:t>号位置，</a:t>
                </a:r>
                <a:r>
                  <a:rPr lang="en-US" altLang="zh-CN" dirty="0"/>
                  <a:t>……</a:t>
                </a:r>
                <a:r>
                  <a:rPr lang="zh-CN" altLang="en-US" dirty="0"/>
                  <a:t>，第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−1</m:t>
                    </m:r>
                  </m:oMath>
                </a14:m>
                <a:r>
                  <a:rPr lang="en-US" altLang="zh-CN" dirty="0"/>
                  <a:t> </a:t>
                </a:r>
                <a:r>
                  <a:rPr lang="zh-CN" altLang="en-US" dirty="0"/>
                  <a:t>号位置上的小伙伴顺时针走到第</a:t>
                </a:r>
                <a14:m>
                  <m:oMath xmlns:m="http://schemas.openxmlformats.org/officeDocument/2006/math">
                    <m:r>
                      <a:rPr lang="en-US" altLang="zh-CN" i="1" dirty="0" smtClean="0">
                        <a:latin typeface="Cambria Math" panose="02040503050406030204" pitchFamily="18" charset="0"/>
                      </a:rPr>
                      <m:t>𝑚</m:t>
                    </m:r>
                    <m:r>
                      <a:rPr lang="en-US" altLang="zh-CN" i="1" dirty="0" smtClean="0">
                        <a:latin typeface="Cambria Math" panose="02040503050406030204" pitchFamily="18" charset="0"/>
                      </a:rPr>
                      <m:t>−1</m:t>
                    </m:r>
                  </m:oMath>
                </a14:m>
                <a:r>
                  <a:rPr lang="en-US" altLang="zh-CN" dirty="0"/>
                  <a:t> </a:t>
                </a:r>
                <a:r>
                  <a:rPr lang="zh-CN" altLang="en-US" dirty="0"/>
                  <a:t>号位置。</a:t>
                </a:r>
              </a:p>
              <a:p>
                <a:pPr>
                  <a:lnSpc>
                    <a:spcPct val="150000"/>
                  </a:lnSpc>
                  <a:spcBef>
                    <a:spcPts val="600"/>
                  </a:spcBef>
                </a:pPr>
                <a:r>
                  <a:rPr lang="zh-CN" altLang="en-US" dirty="0"/>
                  <a:t>现在，一共进行了 </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1</m:t>
                        </m:r>
                        <m:r>
                          <a:rPr lang="en-US" altLang="zh-CN" i="1" dirty="0" smtClean="0">
                            <a:latin typeface="Cambria Math" panose="02040503050406030204" pitchFamily="18" charset="0"/>
                          </a:rPr>
                          <m:t>0</m:t>
                        </m:r>
                      </m:e>
                      <m:sup>
                        <m:r>
                          <a:rPr lang="en-US" altLang="zh-CN" b="0" i="1" dirty="0" smtClean="0">
                            <a:latin typeface="Cambria Math" panose="02040503050406030204" pitchFamily="18" charset="0"/>
                          </a:rPr>
                          <m:t>𝑘</m:t>
                        </m:r>
                      </m:sup>
                    </m:sSup>
                  </m:oMath>
                </a14:m>
                <a:r>
                  <a:rPr lang="en-US" altLang="zh-CN" dirty="0"/>
                  <a:t> </a:t>
                </a:r>
                <a:r>
                  <a:rPr lang="zh-CN" altLang="en-US" dirty="0"/>
                  <a:t>轮，请问 </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号小伙伴最后走到了第几号位置。</a:t>
                </a:r>
                <a:endParaRPr lang="en-US" altLang="zh-CN" dirty="0"/>
              </a:p>
              <a:p>
                <a:pPr>
                  <a:lnSpc>
                    <a:spcPct val="150000"/>
                  </a:lnSpc>
                  <a:spcBef>
                    <a:spcPts val="600"/>
                  </a:spcBef>
                </a:pPr>
                <a14:m>
                  <m:oMath xmlns:m="http://schemas.openxmlformats.org/officeDocument/2006/math">
                    <m:r>
                      <a:rPr lang="pt-BR" altLang="zh-CN" i="1" dirty="0" smtClean="0">
                        <a:latin typeface="Cambria Math" panose="02040503050406030204" pitchFamily="18" charset="0"/>
                      </a:rPr>
                      <m:t>1 &lt; </m:t>
                    </m:r>
                    <m:r>
                      <a:rPr lang="pt-BR" altLang="zh-CN" i="1" dirty="0" smtClean="0">
                        <a:latin typeface="Cambria Math" panose="02040503050406030204" pitchFamily="18" charset="0"/>
                      </a:rPr>
                      <m:t>𝑛</m:t>
                    </m:r>
                    <m:r>
                      <a:rPr lang="pt-BR" altLang="zh-CN" i="1" dirty="0" smtClean="0">
                        <a:latin typeface="Cambria Math" panose="02040503050406030204" pitchFamily="18" charset="0"/>
                      </a:rPr>
                      <m:t> &lt;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b="0" i="1" dirty="0" smtClean="0">
                            <a:latin typeface="Cambria Math" panose="02040503050406030204" pitchFamily="18" charset="0"/>
                          </a:rPr>
                          <m:t>6</m:t>
                        </m:r>
                      </m:sup>
                    </m:sSup>
                    <m:r>
                      <a:rPr lang="zh-CN" altLang="pt-BR" i="1" dirty="0">
                        <a:latin typeface="Cambria Math" panose="02040503050406030204" pitchFamily="18" charset="0"/>
                      </a:rPr>
                      <m:t>，</m:t>
                    </m:r>
                    <m:r>
                      <a:rPr lang="pt-BR" altLang="zh-CN" i="1" dirty="0">
                        <a:latin typeface="Cambria Math" panose="02040503050406030204" pitchFamily="18" charset="0"/>
                      </a:rPr>
                      <m:t>0 &lt; </m:t>
                    </m:r>
                    <m:r>
                      <a:rPr lang="pt-BR" altLang="zh-CN" i="1" dirty="0">
                        <a:latin typeface="Cambria Math" panose="02040503050406030204" pitchFamily="18" charset="0"/>
                      </a:rPr>
                      <m:t>𝑚</m:t>
                    </m:r>
                    <m:r>
                      <a:rPr lang="pt-BR" altLang="zh-CN" i="1" dirty="0">
                        <a:latin typeface="Cambria Math" panose="02040503050406030204" pitchFamily="18" charset="0"/>
                      </a:rPr>
                      <m:t> &lt; </m:t>
                    </m:r>
                    <m:r>
                      <a:rPr lang="pt-BR" altLang="zh-CN" i="1" dirty="0">
                        <a:latin typeface="Cambria Math" panose="02040503050406030204" pitchFamily="18" charset="0"/>
                      </a:rPr>
                      <m:t>𝑛</m:t>
                    </m:r>
                    <m:r>
                      <a:rPr lang="zh-CN" altLang="pt-BR" i="1" dirty="0">
                        <a:latin typeface="Cambria Math" panose="02040503050406030204" pitchFamily="18" charset="0"/>
                      </a:rPr>
                      <m:t>，</m:t>
                    </m:r>
                    <m:r>
                      <a:rPr lang="pt-BR" altLang="zh-CN" i="1" dirty="0">
                        <a:latin typeface="Cambria Math" panose="02040503050406030204" pitchFamily="18" charset="0"/>
                      </a:rPr>
                      <m:t>1 </m:t>
                    </m:r>
                    <m:r>
                      <a:rPr lang="pt-BR" altLang="zh-CN" i="1" dirty="0" smtClean="0">
                        <a:latin typeface="Cambria Math" panose="02040503050406030204" pitchFamily="18" charset="0"/>
                        <a:ea typeface="Cambria Math" panose="02040503050406030204" pitchFamily="18" charset="0"/>
                      </a:rPr>
                      <m:t>≤</m:t>
                    </m:r>
                    <m:r>
                      <a:rPr lang="pt-BR" altLang="zh-CN" i="1" dirty="0">
                        <a:latin typeface="Cambria Math" panose="02040503050406030204" pitchFamily="18" charset="0"/>
                      </a:rPr>
                      <m:t> </m:t>
                    </m:r>
                    <m:r>
                      <a:rPr lang="pt-BR" altLang="zh-CN" i="1" dirty="0">
                        <a:latin typeface="Cambria Math" panose="02040503050406030204" pitchFamily="18" charset="0"/>
                      </a:rPr>
                      <m:t>𝑥</m:t>
                    </m:r>
                    <m:r>
                      <a:rPr lang="pt-BR" altLang="zh-CN" i="1" dirty="0">
                        <a:latin typeface="Cambria Math" panose="02040503050406030204" pitchFamily="18" charset="0"/>
                      </a:rPr>
                      <m:t> ≤</m:t>
                    </m:r>
                    <m:r>
                      <a:rPr lang="pt-BR" altLang="zh-CN" i="1" dirty="0">
                        <a:latin typeface="Cambria Math" panose="02040503050406030204" pitchFamily="18" charset="0"/>
                      </a:rPr>
                      <m:t>𝑛</m:t>
                    </m:r>
                    <m:r>
                      <a:rPr lang="zh-CN" altLang="pt-BR" i="1" dirty="0">
                        <a:latin typeface="Cambria Math" panose="02040503050406030204" pitchFamily="18" charset="0"/>
                      </a:rPr>
                      <m:t>，</m:t>
                    </m:r>
                    <m:r>
                      <a:rPr lang="pt-BR" altLang="zh-CN" i="1" dirty="0">
                        <a:latin typeface="Cambria Math" panose="02040503050406030204" pitchFamily="18" charset="0"/>
                      </a:rPr>
                      <m:t>0 &lt; </m:t>
                    </m:r>
                    <m:r>
                      <a:rPr lang="pt-BR" altLang="zh-CN" i="1" dirty="0">
                        <a:latin typeface="Cambria Math" panose="02040503050406030204" pitchFamily="18" charset="0"/>
                      </a:rPr>
                      <m:t>𝑘</m:t>
                    </m:r>
                    <m:r>
                      <a:rPr lang="pt-BR" altLang="zh-CN" i="1" dirty="0">
                        <a:latin typeface="Cambria Math" panose="02040503050406030204" pitchFamily="18" charset="0"/>
                      </a:rPr>
                      <m:t> &lt;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b="0" i="1" dirty="0" smtClean="0">
                            <a:latin typeface="Cambria Math" panose="02040503050406030204" pitchFamily="18" charset="0"/>
                          </a:rPr>
                          <m:t>9</m:t>
                        </m:r>
                      </m:sup>
                    </m:sSup>
                  </m:oMath>
                </a14:m>
                <a:r>
                  <a:rPr lang="zh-Hans" altLang="en-US" dirty="0"/>
                  <a:t>。</a:t>
                </a:r>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170550"/>
              </a:xfrm>
              <a:blipFill>
                <a:blip r:embed="rId2"/>
                <a:stretch>
                  <a:fillRect l="-1271" r="-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78C9851A-45A6-A94F-8B0B-88AFCB8820F0}"/>
              </a:ext>
            </a:extLst>
          </p:cNvPr>
          <p:cNvSpPr>
            <a:spLocks noGrp="1"/>
          </p:cNvSpPr>
          <p:nvPr>
            <p:ph type="sldNum" sz="quarter" idx="12"/>
          </p:nvPr>
        </p:nvSpPr>
        <p:spPr/>
        <p:txBody>
          <a:bodyPr/>
          <a:lstStyle/>
          <a:p>
            <a:fld id="{0FF54DE5-C571-48E8-A5BC-B369434E2F44}" type="slidenum">
              <a:rPr lang="en-US" altLang="zh-CN" smtClean="0"/>
              <a:pPr/>
              <a:t>62</a:t>
            </a:fld>
            <a:endParaRPr lang="zh-CN" altLang="en-US" dirty="0"/>
          </a:p>
        </p:txBody>
      </p:sp>
    </p:spTree>
    <p:extLst>
      <p:ext uri="{BB962C8B-B14F-4D97-AF65-F5344CB8AC3E}">
        <p14:creationId xmlns:p14="http://schemas.microsoft.com/office/powerpoint/2010/main" val="1742274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 [NOIP2013 D1T1] </a:t>
            </a:r>
            <a:r>
              <a:rPr lang="zh-Hans" altLang="en-US" dirty="0"/>
              <a:t>转圈游戏</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5170550"/>
              </a:xfrm>
            </p:spPr>
            <p:txBody>
              <a:bodyPr rtlCol="0">
                <a:normAutofit/>
              </a:bodyPr>
              <a:lstStyle/>
              <a:p>
                <a:pPr>
                  <a:lnSpc>
                    <a:spcPct val="150000"/>
                  </a:lnSpc>
                  <a:spcBef>
                    <a:spcPts val="600"/>
                  </a:spcBef>
                </a:pPr>
                <a:r>
                  <a:rPr lang="zh-Hans" altLang="en-US" dirty="0"/>
                  <a:t>分析：</a:t>
                </a:r>
                <a:endParaRPr lang="en-US" altLang="zh-CN" dirty="0"/>
              </a:p>
              <a:p>
                <a:pPr>
                  <a:lnSpc>
                    <a:spcPct val="150000"/>
                  </a:lnSpc>
                  <a:spcBef>
                    <a:spcPts val="600"/>
                  </a:spcBef>
                </a:pPr>
                <a:r>
                  <a:rPr lang="zh-CN" altLang="en-US" dirty="0"/>
                  <a:t>不难发现答案即为</a:t>
                </a:r>
                <a:r>
                  <a:rPr lang="zh-Hans" altLang="en-US" dirty="0"/>
                  <a:t> </a:t>
                </a:r>
                <a14:m>
                  <m:oMath xmlns:m="http://schemas.openxmlformats.org/officeDocument/2006/math">
                    <m:d>
                      <m:dPr>
                        <m:ctrlPr>
                          <a:rPr lang="en-US" altLang="zh-CN" i="1" dirty="0" smtClean="0">
                            <a:latin typeface="Cambria Math" panose="02040503050406030204" pitchFamily="18" charset="0"/>
                          </a:rPr>
                        </m:ctrlPr>
                      </m:dPr>
                      <m:e>
                        <m:r>
                          <a:rPr lang="en-US" altLang="zh-CN" i="1" dirty="0" err="1">
                            <a:latin typeface="Cambria Math" panose="02040503050406030204" pitchFamily="18" charset="0"/>
                          </a:rPr>
                          <m:t>𝑥</m:t>
                        </m:r>
                        <m:r>
                          <a:rPr lang="en-US" altLang="zh-CN" i="1" dirty="0" err="1">
                            <a:latin typeface="Cambria Math" panose="02040503050406030204" pitchFamily="18" charset="0"/>
                          </a:rPr>
                          <m:t>+</m:t>
                        </m:r>
                        <m:r>
                          <a:rPr lang="en-US" altLang="zh-CN" i="1" dirty="0" err="1">
                            <a:latin typeface="Cambria Math" panose="02040503050406030204" pitchFamily="18" charset="0"/>
                          </a:rPr>
                          <m:t>𝑚</m:t>
                        </m:r>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𝑘</m:t>
                            </m:r>
                          </m:sup>
                        </m:sSup>
                      </m:e>
                    </m:d>
                    <m:r>
                      <m:rPr>
                        <m:sty m:val="p"/>
                      </m:rPr>
                      <a:rPr lang="en-US" altLang="zh-Hans" i="1" dirty="0">
                        <a:latin typeface="Cambria Math" panose="02040503050406030204" pitchFamily="18" charset="0"/>
                      </a:rPr>
                      <m:t>mod</m:t>
                    </m:r>
                    <m:r>
                      <a:rPr lang="zh-Hans" altLang="en-US" b="0" i="1" dirty="0" smtClean="0">
                        <a:latin typeface="Cambria Math" panose="02040503050406030204" pitchFamily="18" charset="0"/>
                      </a:rPr>
                      <m:t> </m:t>
                    </m:r>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oMath>
                </a14:m>
                <a:r>
                  <a:rPr lang="zh-CN" altLang="en-US" dirty="0"/>
                  <a:t>，化简一下，就成了</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m:t>
                      </m:r>
                      <m:r>
                        <a:rPr lang="en-US" altLang="zh-CN" i="1" dirty="0">
                          <a:latin typeface="Cambria Math" panose="02040503050406030204" pitchFamily="18" charset="0"/>
                        </a:rPr>
                        <m:t>𝑥</m:t>
                      </m:r>
                      <m:r>
                        <a:rPr lang="en-US" altLang="zh-CN" i="1" dirty="0">
                          <a:latin typeface="Cambria Math" panose="02040503050406030204" pitchFamily="18" charset="0"/>
                        </a:rPr>
                        <m:t> + </m:t>
                      </m:r>
                      <m:r>
                        <a:rPr lang="en-US" altLang="zh-CN" i="1" dirty="0">
                          <a:latin typeface="Cambria Math" panose="02040503050406030204" pitchFamily="18" charset="0"/>
                        </a:rPr>
                        <m:t>𝑚</m:t>
                      </m:r>
                      <m:r>
                        <a:rPr lang="en-US" altLang="zh-CN" i="1" dirty="0">
                          <a:latin typeface="Cambria Math" panose="02040503050406030204" pitchFamily="18" charset="0"/>
                        </a:rPr>
                        <m:t> (</m:t>
                      </m:r>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𝑘</m:t>
                          </m:r>
                        </m:sup>
                      </m:sSup>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𝑛</m:t>
                      </m:r>
                      <m:r>
                        <a:rPr lang="en-US" altLang="zh-CN" i="1" dirty="0">
                          <a:latin typeface="Cambria Math" panose="02040503050406030204" pitchFamily="18" charset="0"/>
                        </a:rPr>
                        <m:t>) </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𝑛</m:t>
                      </m:r>
                      <m:r>
                        <a:rPr lang="en-US" altLang="zh-CN" i="1" dirty="0">
                          <a:latin typeface="Cambria Math" panose="02040503050406030204" pitchFamily="18" charset="0"/>
                        </a:rPr>
                        <m:t>) </m:t>
                      </m:r>
                      <m:r>
                        <m:rPr>
                          <m:sty m:val="p"/>
                        </m:rPr>
                        <a:rPr lang="en-US" altLang="zh-CN" i="0" dirty="0">
                          <a:latin typeface="Cambria Math" panose="02040503050406030204" pitchFamily="18" charset="0"/>
                        </a:rPr>
                        <m:t>mod</m:t>
                      </m:r>
                      <m:r>
                        <a:rPr lang="en-US" altLang="zh-CN" i="1" dirty="0">
                          <a:latin typeface="Cambria Math" panose="02040503050406030204" pitchFamily="18" charset="0"/>
                        </a:rPr>
                        <m:t> </m:t>
                      </m:r>
                      <m:r>
                        <a:rPr lang="en-US" altLang="zh-CN" i="1" dirty="0" smtClean="0">
                          <a:latin typeface="Cambria Math" panose="02040503050406030204" pitchFamily="18" charset="0"/>
                        </a:rPr>
                        <m:t>𝑛</m:t>
                      </m:r>
                    </m:oMath>
                  </m:oMathPara>
                </a14:m>
                <a:endParaRPr lang="en-US" altLang="zh-CN" dirty="0"/>
              </a:p>
              <a:p>
                <a:pPr>
                  <a:lnSpc>
                    <a:spcPct val="150000"/>
                  </a:lnSpc>
                  <a:spcBef>
                    <a:spcPts val="600"/>
                  </a:spcBef>
                </a:pPr>
                <a:r>
                  <a:rPr lang="zh-CN" altLang="en-US" dirty="0"/>
                  <a:t>所以，只需要求出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𝑘</m:t>
                        </m:r>
                      </m:sup>
                    </m:sSup>
                    <m:r>
                      <m:rPr>
                        <m:sty m:val="p"/>
                      </m:rPr>
                      <a:rPr lang="en-US" altLang="zh-CN" dirty="0">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𝑛</m:t>
                    </m:r>
                  </m:oMath>
                </a14:m>
                <a:r>
                  <a:rPr lang="en-US" altLang="zh-CN" dirty="0"/>
                  <a:t> </a:t>
                </a:r>
                <a:r>
                  <a:rPr lang="zh-CN" altLang="en-US" dirty="0"/>
                  <a:t>即可，可以使用快速幂来求解</a:t>
                </a:r>
                <a:r>
                  <a:rPr lang="zh-Hans" altLang="en-US" dirty="0"/>
                  <a:t>，</a:t>
                </a:r>
                <a:r>
                  <a:rPr lang="zh-CN" altLang="en-US" dirty="0"/>
                  <a:t>复杂度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m:rPr>
                        <m:sty m:val="p"/>
                      </m:rPr>
                      <a:rPr lang="en-US" altLang="zh-CN" i="1" dirty="0" smtClean="0">
                        <a:latin typeface="Cambria Math" panose="02040503050406030204" pitchFamily="18" charset="0"/>
                      </a:rPr>
                      <m:t>log</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m:t>
                    </m:r>
                  </m:oMath>
                </a14:m>
                <a:r>
                  <a:rPr lang="zh-Hans" altLang="en-US" dirty="0"/>
                  <a:t> </a:t>
                </a:r>
                <a:r>
                  <a:rPr lang="zh-CN" altLang="en-US" dirty="0"/>
                  <a:t>。 </a:t>
                </a:r>
                <a:endParaRPr lang="en-US" altLang="zh-CN" dirty="0"/>
              </a:p>
              <a:p>
                <a:pPr>
                  <a:lnSpc>
                    <a:spcPct val="150000"/>
                  </a:lnSpc>
                  <a:spcBef>
                    <a:spcPts val="600"/>
                  </a:spcBef>
                </a:pPr>
                <a:endParaRPr lang="zh-CN" altLang="en-US"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170550"/>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507DD139-6109-2547-9C8A-E92EF2824A8B}"/>
              </a:ext>
            </a:extLst>
          </p:cNvPr>
          <p:cNvSpPr>
            <a:spLocks noGrp="1"/>
          </p:cNvSpPr>
          <p:nvPr>
            <p:ph type="sldNum" sz="quarter" idx="12"/>
          </p:nvPr>
        </p:nvSpPr>
        <p:spPr/>
        <p:txBody>
          <a:bodyPr/>
          <a:lstStyle/>
          <a:p>
            <a:fld id="{0FF54DE5-C571-48E8-A5BC-B369434E2F44}" type="slidenum">
              <a:rPr lang="en-US" altLang="zh-CN" smtClean="0"/>
              <a:pPr/>
              <a:t>63</a:t>
            </a:fld>
            <a:endParaRPr lang="zh-CN" altLang="en-US" dirty="0"/>
          </a:p>
        </p:txBody>
      </p:sp>
    </p:spTree>
    <p:extLst>
      <p:ext uri="{BB962C8B-B14F-4D97-AF65-F5344CB8AC3E}">
        <p14:creationId xmlns:p14="http://schemas.microsoft.com/office/powerpoint/2010/main" val="165035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 </a:t>
            </a:r>
            <a:r>
              <a:rPr lang="zh-Hans" altLang="en-US" dirty="0"/>
              <a:t>越狱</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5170550"/>
              </a:xfrm>
            </p:spPr>
            <p:txBody>
              <a:bodyPr rtlCol="0">
                <a:normAutofit/>
              </a:bodyPr>
              <a:lstStyle/>
              <a:p>
                <a:pPr>
                  <a:lnSpc>
                    <a:spcPct val="150000"/>
                  </a:lnSpc>
                  <a:spcBef>
                    <a:spcPts val="200"/>
                  </a:spcBef>
                </a:pPr>
                <a:r>
                  <a:rPr lang="zh-CN" altLang="en-US" noProof="1"/>
                  <a:t>监狱有连续编号为</a:t>
                </a:r>
                <a:r>
                  <a:rPr lang="zh-Hans" altLang="en-US" noProof="1"/>
                  <a:t> </a:t>
                </a:r>
                <a14:m>
                  <m:oMath xmlns:m="http://schemas.openxmlformats.org/officeDocument/2006/math">
                    <m:r>
                      <a:rPr lang="en-US" altLang="en-US" i="1" noProof="1" smtClean="0">
                        <a:latin typeface="Cambria Math" panose="02040503050406030204" pitchFamily="18" charset="0"/>
                      </a:rPr>
                      <m:t>1</m:t>
                    </m:r>
                    <m:r>
                      <a:rPr lang="en-US" altLang="en-US" i="1" noProof="1">
                        <a:latin typeface="Cambria Math" panose="02040503050406030204" pitchFamily="18" charset="0"/>
                      </a:rPr>
                      <m:t>..</m:t>
                    </m:r>
                    <m:r>
                      <a:rPr lang="en-US" altLang="en-US" i="1" noProof="1">
                        <a:latin typeface="Cambria Math" panose="02040503050406030204" pitchFamily="18" charset="0"/>
                      </a:rPr>
                      <m:t>𝑛</m:t>
                    </m:r>
                  </m:oMath>
                </a14:m>
                <a:r>
                  <a:rPr lang="zh-Hans" altLang="en-US" noProof="1"/>
                  <a:t> </a:t>
                </a:r>
                <a:r>
                  <a:rPr lang="zh-CN" altLang="en-US" noProof="1"/>
                  <a:t>的</a:t>
                </a:r>
                <a:r>
                  <a:rPr lang="zh-Hans" altLang="en-US" noProof="1"/>
                  <a:t> </a:t>
                </a:r>
                <a14:m>
                  <m:oMath xmlns:m="http://schemas.openxmlformats.org/officeDocument/2006/math">
                    <m:r>
                      <a:rPr lang="en-US" altLang="en-US" i="1" noProof="1" smtClean="0">
                        <a:latin typeface="Cambria Math" panose="02040503050406030204" pitchFamily="18" charset="0"/>
                      </a:rPr>
                      <m:t>𝑛</m:t>
                    </m:r>
                  </m:oMath>
                </a14:m>
                <a:r>
                  <a:rPr lang="zh-Hans" altLang="en-US" noProof="1"/>
                  <a:t> </a:t>
                </a:r>
                <a:r>
                  <a:rPr lang="zh-CN" altLang="en-US" noProof="1"/>
                  <a:t>个房间，每个房间关押一个犯人。有</a:t>
                </a:r>
                <a:r>
                  <a:rPr lang="zh-Hans" altLang="en-US" noProof="1"/>
                  <a:t> </a:t>
                </a:r>
                <a14:m>
                  <m:oMath xmlns:m="http://schemas.openxmlformats.org/officeDocument/2006/math">
                    <m:r>
                      <a:rPr lang="en-US" altLang="en-US" i="1" noProof="1" smtClean="0">
                        <a:latin typeface="Cambria Math" panose="02040503050406030204" pitchFamily="18" charset="0"/>
                      </a:rPr>
                      <m:t>𝑚</m:t>
                    </m:r>
                  </m:oMath>
                </a14:m>
                <a:r>
                  <a:rPr lang="zh-Hans" altLang="en-US" noProof="1"/>
                  <a:t> </a:t>
                </a:r>
                <a:r>
                  <a:rPr lang="zh-CN" altLang="en-US" noProof="1"/>
                  <a:t>种宗教，每个犯人信仰其中一种。如果相邻房间的犯人信仰的宗教相同，就可能发生越狱。求有多少种状态可能发生越狱。</a:t>
                </a:r>
                <a:endParaRPr lang="en-US" altLang="zh-CN" noProof="1"/>
              </a:p>
              <a:p>
                <a:pPr>
                  <a:lnSpc>
                    <a:spcPct val="150000"/>
                  </a:lnSpc>
                  <a:spcBef>
                    <a:spcPts val="200"/>
                  </a:spcBef>
                </a:pPr>
                <a:r>
                  <a:rPr lang="zh-CN" altLang="en-US" noProof="1"/>
                  <a:t>输入两个整数</a:t>
                </a:r>
                <a:r>
                  <a:rPr lang="zh-Hans" altLang="en-US" noProof="1"/>
                  <a:t> </a:t>
                </a:r>
                <a14:m>
                  <m:oMath xmlns:m="http://schemas.openxmlformats.org/officeDocument/2006/math">
                    <m:r>
                      <a:rPr lang="en-US" altLang="en-US" i="1" noProof="1" smtClean="0">
                        <a:latin typeface="Cambria Math" panose="02040503050406030204" pitchFamily="18" charset="0"/>
                      </a:rPr>
                      <m:t>𝑚</m:t>
                    </m:r>
                  </m:oMath>
                </a14:m>
                <a:r>
                  <a:rPr lang="zh-Hans" altLang="en-US" noProof="1"/>
                  <a:t> </a:t>
                </a:r>
                <a:r>
                  <a:rPr lang="zh-CN" altLang="en-US" noProof="1"/>
                  <a:t>和</a:t>
                </a:r>
                <a:r>
                  <a:rPr lang="zh-Hans" altLang="en-US" noProof="1"/>
                  <a:t> </a:t>
                </a:r>
                <a14:m>
                  <m:oMath xmlns:m="http://schemas.openxmlformats.org/officeDocument/2006/math">
                    <m:r>
                      <a:rPr lang="en-US" altLang="en-US" i="1" noProof="1" smtClean="0">
                        <a:latin typeface="Cambria Math" panose="02040503050406030204" pitchFamily="18" charset="0"/>
                      </a:rPr>
                      <m:t>𝑛</m:t>
                    </m:r>
                  </m:oMath>
                </a14:m>
                <a:r>
                  <a:rPr lang="zh-Hans" altLang="en-US" noProof="1"/>
                  <a:t> </a:t>
                </a:r>
                <a:r>
                  <a:rPr lang="en-US" altLang="en-US" noProof="1"/>
                  <a:t>。</a:t>
                </a:r>
                <a:r>
                  <a:rPr lang="zh-Hans" altLang="en-US" noProof="1"/>
                  <a:t>对</a:t>
                </a:r>
                <a:r>
                  <a:rPr lang="zh-CN" altLang="en-US" noProof="1"/>
                  <a:t>可能越狱的状态数，模</a:t>
                </a:r>
                <a:r>
                  <a:rPr lang="zh-Hans" altLang="en-US" noProof="1"/>
                  <a:t> </a:t>
                </a:r>
                <a14:m>
                  <m:oMath xmlns:m="http://schemas.openxmlformats.org/officeDocument/2006/math">
                    <m:r>
                      <a:rPr lang="zh-CN" altLang="en-US" i="1" noProof="1" smtClean="0">
                        <a:latin typeface="Cambria Math" panose="02040503050406030204" pitchFamily="18" charset="0"/>
                      </a:rPr>
                      <m:t>100003</m:t>
                    </m:r>
                  </m:oMath>
                </a14:m>
                <a:r>
                  <a:rPr lang="zh-Hans" altLang="en-US" noProof="1"/>
                  <a:t> </a:t>
                </a:r>
                <a:r>
                  <a:rPr lang="zh-CN" altLang="en-US" noProof="1"/>
                  <a:t>取余。</a:t>
                </a:r>
              </a:p>
              <a:p>
                <a:pPr>
                  <a:lnSpc>
                    <a:spcPct val="150000"/>
                  </a:lnSpc>
                  <a:spcBef>
                    <a:spcPts val="200"/>
                  </a:spcBef>
                </a:pPr>
                <a14:m>
                  <m:oMath xmlns:m="http://schemas.openxmlformats.org/officeDocument/2006/math">
                    <m:r>
                      <a:rPr lang="zh-CN" altLang="zh-CN" i="1" noProof="1" smtClean="0">
                        <a:latin typeface="Cambria Math" panose="02040503050406030204" pitchFamily="18" charset="0"/>
                      </a:rPr>
                      <m:t>1</m:t>
                    </m:r>
                    <m:r>
                      <a:rPr lang="zh-CN" altLang="en-US" i="1" noProof="1">
                        <a:latin typeface="Cambria Math" panose="02040503050406030204" pitchFamily="18" charset="0"/>
                      </a:rPr>
                      <m:t>00%</m:t>
                    </m:r>
                  </m:oMath>
                </a14:m>
                <a:r>
                  <a:rPr lang="zh-Hans" altLang="en-US" noProof="1"/>
                  <a:t> </a:t>
                </a:r>
                <a:r>
                  <a:rPr lang="zh-CN" altLang="en-US" noProof="1"/>
                  <a:t>的数据：</a:t>
                </a:r>
                <a14:m>
                  <m:oMath xmlns:m="http://schemas.openxmlformats.org/officeDocument/2006/math">
                    <m:r>
                      <a:rPr lang="zh-CN" altLang="en-US" i="1" noProof="1" smtClean="0">
                        <a:latin typeface="Cambria Math" panose="02040503050406030204" pitchFamily="18" charset="0"/>
                      </a:rPr>
                      <m:t>1≤</m:t>
                    </m:r>
                    <m:r>
                      <a:rPr lang="en-US" altLang="en-US" i="1" noProof="1">
                        <a:latin typeface="Cambria Math" panose="02040503050406030204" pitchFamily="18" charset="0"/>
                      </a:rPr>
                      <m:t>𝑚</m:t>
                    </m:r>
                    <m:r>
                      <a:rPr lang="en-US" altLang="en-US" i="1" noProof="1">
                        <a:latin typeface="Cambria Math" panose="02040503050406030204" pitchFamily="18" charset="0"/>
                      </a:rPr>
                      <m:t>≤</m:t>
                    </m:r>
                    <m:sSup>
                      <m:sSupPr>
                        <m:ctrlPr>
                          <a:rPr lang="en-US" altLang="en-US" i="1" noProof="1" smtClean="0">
                            <a:latin typeface="Cambria Math" panose="02040503050406030204" pitchFamily="18" charset="0"/>
                          </a:rPr>
                        </m:ctrlPr>
                      </m:sSupPr>
                      <m:e>
                        <m:r>
                          <a:rPr lang="en-US" altLang="zh-Hans" b="0" i="1" noProof="1" smtClean="0">
                            <a:latin typeface="Cambria Math" panose="02040503050406030204" pitchFamily="18" charset="0"/>
                          </a:rPr>
                          <m:t>10</m:t>
                        </m:r>
                      </m:e>
                      <m:sup>
                        <m:r>
                          <a:rPr lang="en-US" altLang="zh-Hans" b="0" i="1" noProof="1" smtClean="0">
                            <a:latin typeface="Cambria Math" panose="02040503050406030204" pitchFamily="18" charset="0"/>
                          </a:rPr>
                          <m:t>8</m:t>
                        </m:r>
                      </m:sup>
                    </m:sSup>
                  </m:oMath>
                </a14:m>
                <a:r>
                  <a:rPr lang="en-US" altLang="en-US" noProof="1"/>
                  <a:t>，</a:t>
                </a:r>
                <a14:m>
                  <m:oMath xmlns:m="http://schemas.openxmlformats.org/officeDocument/2006/math">
                    <m:r>
                      <a:rPr lang="en-US" altLang="en-US" i="1" noProof="1" smtClean="0">
                        <a:latin typeface="Cambria Math" panose="02040503050406030204" pitchFamily="18" charset="0"/>
                      </a:rPr>
                      <m:t>1≤</m:t>
                    </m:r>
                    <m:r>
                      <a:rPr lang="en-US" altLang="en-US" i="1" noProof="1" smtClean="0">
                        <a:latin typeface="Cambria Math" panose="02040503050406030204" pitchFamily="18" charset="0"/>
                      </a:rPr>
                      <m:t>𝑛</m:t>
                    </m:r>
                    <m:r>
                      <a:rPr lang="en-US" altLang="en-US" i="1" noProof="1" smtClean="0">
                        <a:latin typeface="Cambria Math" panose="02040503050406030204" pitchFamily="18" charset="0"/>
                      </a:rPr>
                      <m:t>≤</m:t>
                    </m:r>
                    <m:sSup>
                      <m:sSupPr>
                        <m:ctrlPr>
                          <a:rPr lang="en-US" altLang="en-US" i="1" noProof="1" smtClean="0">
                            <a:latin typeface="Cambria Math" panose="02040503050406030204" pitchFamily="18" charset="0"/>
                          </a:rPr>
                        </m:ctrlPr>
                      </m:sSupPr>
                      <m:e>
                        <m:r>
                          <a:rPr lang="en-US" altLang="zh-Hans" b="0" i="1" noProof="1" smtClean="0">
                            <a:latin typeface="Cambria Math" panose="02040503050406030204" pitchFamily="18" charset="0"/>
                          </a:rPr>
                          <m:t>10</m:t>
                        </m:r>
                      </m:e>
                      <m:sup>
                        <m:r>
                          <a:rPr lang="en-US" altLang="zh-Hans" b="0" i="1" noProof="1" smtClean="0">
                            <a:latin typeface="Cambria Math" panose="02040503050406030204" pitchFamily="18" charset="0"/>
                          </a:rPr>
                          <m:t>12</m:t>
                        </m:r>
                      </m:sup>
                    </m:sSup>
                  </m:oMath>
                </a14:m>
                <a:r>
                  <a:rPr lang="zh-Hans" altLang="en-US" noProof="1"/>
                  <a:t> </a:t>
                </a:r>
                <a:r>
                  <a:rPr lang="en-US" altLang="en-US" noProof="1"/>
                  <a:t>。</a:t>
                </a:r>
                <a:r>
                  <a:rPr lang="zh-CN" altLang="en-US" dirty="0"/>
                  <a:t> </a:t>
                </a:r>
                <a:endParaRPr lang="en-US" altLang="zh-CN" dirty="0"/>
              </a:p>
              <a:p>
                <a:pPr>
                  <a:lnSpc>
                    <a:spcPct val="150000"/>
                  </a:lnSpc>
                  <a:spcBef>
                    <a:spcPts val="600"/>
                  </a:spcBef>
                </a:pPr>
                <a:endParaRPr lang="zh-CN" altLang="en-US"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5170550"/>
              </a:xfrm>
              <a:blipFill>
                <a:blip r:embed="rId2"/>
                <a:stretch>
                  <a:fillRect l="-1398" r="-762"/>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51838F43-A295-C348-9E17-C5528F93F154}"/>
              </a:ext>
            </a:extLst>
          </p:cNvPr>
          <p:cNvSpPr>
            <a:spLocks noGrp="1"/>
          </p:cNvSpPr>
          <p:nvPr>
            <p:ph type="sldNum" sz="quarter" idx="12"/>
          </p:nvPr>
        </p:nvSpPr>
        <p:spPr/>
        <p:txBody>
          <a:bodyPr/>
          <a:lstStyle/>
          <a:p>
            <a:fld id="{0FF54DE5-C571-48E8-A5BC-B369434E2F44}" type="slidenum">
              <a:rPr lang="en-US" altLang="zh-CN" smtClean="0"/>
              <a:pPr/>
              <a:t>64</a:t>
            </a:fld>
            <a:endParaRPr lang="zh-CN" altLang="en-US" dirty="0"/>
          </a:p>
        </p:txBody>
      </p:sp>
    </p:spTree>
    <p:extLst>
      <p:ext uri="{BB962C8B-B14F-4D97-AF65-F5344CB8AC3E}">
        <p14:creationId xmlns:p14="http://schemas.microsoft.com/office/powerpoint/2010/main" val="1228736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 </a:t>
            </a:r>
            <a:r>
              <a:rPr lang="zh-Hans" altLang="en-US" dirty="0"/>
              <a:t>越狱</a:t>
            </a:r>
            <a:endParaRPr lang="en-US" altLang="zh-CN" dirty="0"/>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3417278"/>
              </a:xfrm>
            </p:spPr>
            <p:txBody>
              <a:bodyPr rtlCol="0">
                <a:normAutofit/>
              </a:bodyPr>
              <a:lstStyle/>
              <a:p>
                <a:pPr>
                  <a:lnSpc>
                    <a:spcPct val="150000"/>
                  </a:lnSpc>
                  <a:spcBef>
                    <a:spcPts val="800"/>
                  </a:spcBef>
                </a:pPr>
                <a:r>
                  <a:rPr lang="zh-Hans" altLang="en-US" noProof="1"/>
                  <a:t>分析：</a:t>
                </a:r>
                <a:endParaRPr lang="en-US" altLang="zh-CN" noProof="1"/>
              </a:p>
              <a:p>
                <a:pPr>
                  <a:lnSpc>
                    <a:spcPct val="150000"/>
                  </a:lnSpc>
                  <a:spcBef>
                    <a:spcPts val="800"/>
                  </a:spcBef>
                </a:pPr>
                <a:r>
                  <a:rPr lang="zh-CN" altLang="en-US" noProof="1"/>
                  <a:t>所有方案数有：</a:t>
                </a:r>
                <a14:m>
                  <m:oMath xmlns:m="http://schemas.openxmlformats.org/officeDocument/2006/math">
                    <m:sSup>
                      <m:sSupPr>
                        <m:ctrlPr>
                          <a:rPr lang="en-US" altLang="en-US" i="1" noProof="1" smtClean="0">
                            <a:latin typeface="Cambria Math" panose="02040503050406030204" pitchFamily="18" charset="0"/>
                          </a:rPr>
                        </m:ctrlPr>
                      </m:sSupPr>
                      <m:e>
                        <m:r>
                          <a:rPr lang="en-US" altLang="en-US" b="0" i="1" noProof="1" smtClean="0">
                            <a:latin typeface="Cambria Math" panose="02040503050406030204" pitchFamily="18" charset="0"/>
                          </a:rPr>
                          <m:t>𝑚</m:t>
                        </m:r>
                      </m:e>
                      <m:sup>
                        <m:r>
                          <a:rPr lang="en-US" altLang="en-US" b="0" i="1" noProof="1" smtClean="0">
                            <a:latin typeface="Cambria Math" panose="02040503050406030204" pitchFamily="18" charset="0"/>
                          </a:rPr>
                          <m:t>𝑛</m:t>
                        </m:r>
                      </m:sup>
                    </m:sSup>
                    <m:r>
                      <a:rPr lang="en-US" altLang="en-US" i="1" noProof="1">
                        <a:latin typeface="Cambria Math" panose="02040503050406030204" pitchFamily="18" charset="0"/>
                      </a:rPr>
                      <m:t>=</m:t>
                    </m:r>
                    <m:r>
                      <a:rPr lang="en-US" altLang="en-US" b="0" i="1" noProof="1" smtClean="0">
                        <a:latin typeface="Cambria Math" panose="02040503050406030204" pitchFamily="18" charset="0"/>
                      </a:rPr>
                      <m:t>𝑚</m:t>
                    </m:r>
                    <m:r>
                      <a:rPr lang="en-US" altLang="en-US" b="0" i="1" noProof="1" smtClean="0">
                        <a:latin typeface="Cambria Math" panose="02040503050406030204" pitchFamily="18" charset="0"/>
                      </a:rPr>
                      <m:t>∗</m:t>
                    </m:r>
                    <m:sSup>
                      <m:sSupPr>
                        <m:ctrlPr>
                          <a:rPr lang="en-US" altLang="en-US" i="1" noProof="1" smtClean="0">
                            <a:latin typeface="Cambria Math" panose="02040503050406030204" pitchFamily="18" charset="0"/>
                          </a:rPr>
                        </m:ctrlPr>
                      </m:sSupPr>
                      <m:e>
                        <m:r>
                          <a:rPr lang="en-US" altLang="en-US" b="0" i="1" noProof="1" smtClean="0">
                            <a:latin typeface="Cambria Math" panose="02040503050406030204" pitchFamily="18" charset="0"/>
                          </a:rPr>
                          <m:t>𝑚</m:t>
                        </m:r>
                      </m:e>
                      <m:sup>
                        <m:r>
                          <a:rPr lang="en-US" altLang="en-US" b="0" i="1" noProof="1" smtClean="0">
                            <a:latin typeface="Cambria Math" panose="02040503050406030204" pitchFamily="18" charset="0"/>
                          </a:rPr>
                          <m:t>𝑛</m:t>
                        </m:r>
                        <m:r>
                          <a:rPr lang="en-US" altLang="en-US" b="0" i="1" noProof="1" smtClean="0">
                            <a:latin typeface="Cambria Math" panose="02040503050406030204" pitchFamily="18" charset="0"/>
                          </a:rPr>
                          <m:t>−1</m:t>
                        </m:r>
                      </m:sup>
                    </m:sSup>
                  </m:oMath>
                </a14:m>
                <a:r>
                  <a:rPr lang="zh-CN" altLang="en-US" noProof="1"/>
                  <a:t>种；</a:t>
                </a:r>
              </a:p>
              <a:p>
                <a:pPr>
                  <a:lnSpc>
                    <a:spcPct val="150000"/>
                  </a:lnSpc>
                  <a:spcBef>
                    <a:spcPts val="800"/>
                  </a:spcBef>
                </a:pPr>
                <a:r>
                  <a:rPr lang="zh-CN" altLang="en-US" noProof="1"/>
                  <a:t>所有不发生越狱的方案数为：</a:t>
                </a:r>
                <a14:m>
                  <m:oMath xmlns:m="http://schemas.openxmlformats.org/officeDocument/2006/math">
                    <m:r>
                      <a:rPr lang="en-US" altLang="zh-CN" b="0" i="1" noProof="1" smtClean="0">
                        <a:latin typeface="Cambria Math" panose="02040503050406030204" pitchFamily="18" charset="0"/>
                      </a:rPr>
                      <m:t>𝑚</m:t>
                    </m:r>
                    <m:r>
                      <a:rPr lang="en-US" altLang="zh-CN" b="0" i="1" noProof="1" smtClean="0">
                        <a:latin typeface="Cambria Math" panose="02040503050406030204" pitchFamily="18" charset="0"/>
                      </a:rPr>
                      <m:t> ∗</m:t>
                    </m:r>
                    <m:sSup>
                      <m:sSupPr>
                        <m:ctrlPr>
                          <a:rPr lang="en-US" altLang="zh-CN" b="0" i="1" noProof="1" smtClean="0">
                            <a:latin typeface="Cambria Math" panose="02040503050406030204" pitchFamily="18" charset="0"/>
                          </a:rPr>
                        </m:ctrlPr>
                      </m:sSupPr>
                      <m:e>
                        <m:r>
                          <a:rPr lang="en-US" altLang="zh-CN" b="0" i="1" noProof="1" smtClean="0">
                            <a:latin typeface="Cambria Math" panose="02040503050406030204" pitchFamily="18" charset="0"/>
                          </a:rPr>
                          <m:t>(</m:t>
                        </m:r>
                        <m:r>
                          <a:rPr lang="en-US" altLang="zh-CN" b="0" i="1" noProof="1" smtClean="0">
                            <a:latin typeface="Cambria Math" panose="02040503050406030204" pitchFamily="18" charset="0"/>
                          </a:rPr>
                          <m:t>𝑚</m:t>
                        </m:r>
                        <m:r>
                          <a:rPr lang="en-US" altLang="zh-CN" b="0" i="1" noProof="1" smtClean="0">
                            <a:latin typeface="Cambria Math" panose="02040503050406030204" pitchFamily="18" charset="0"/>
                          </a:rPr>
                          <m:t>−1)</m:t>
                        </m:r>
                      </m:e>
                      <m:sup>
                        <m:r>
                          <a:rPr lang="en-US" altLang="zh-CN" b="0" i="1" noProof="1" smtClean="0">
                            <a:latin typeface="Cambria Math" panose="02040503050406030204" pitchFamily="18" charset="0"/>
                          </a:rPr>
                          <m:t>𝑛</m:t>
                        </m:r>
                        <m:r>
                          <a:rPr lang="en-US" altLang="zh-CN" b="0" i="1" noProof="1" smtClean="0">
                            <a:latin typeface="Cambria Math" panose="02040503050406030204" pitchFamily="18" charset="0"/>
                          </a:rPr>
                          <m:t>−1</m:t>
                        </m:r>
                      </m:sup>
                    </m:sSup>
                  </m:oMath>
                </a14:m>
                <a:r>
                  <a:rPr lang="en-US" altLang="zh-CN" noProof="1"/>
                  <a:t> </a:t>
                </a:r>
                <a:r>
                  <a:rPr lang="zh-CN" altLang="en-US" noProof="1"/>
                  <a:t>种；</a:t>
                </a:r>
              </a:p>
              <a:p>
                <a:pPr>
                  <a:lnSpc>
                    <a:spcPct val="150000"/>
                  </a:lnSpc>
                  <a:spcBef>
                    <a:spcPts val="800"/>
                  </a:spcBef>
                </a:pPr>
                <a:r>
                  <a:rPr lang="zh-CN" altLang="en-US" noProof="1"/>
                  <a:t>发生越狱的方案数为：</a:t>
                </a:r>
                <a:r>
                  <a:rPr lang="en-US" altLang="en-US" noProof="1"/>
                  <a:t> </a:t>
                </a:r>
                <a14:m>
                  <m:oMath xmlns:m="http://schemas.openxmlformats.org/officeDocument/2006/math">
                    <m:r>
                      <a:rPr lang="en-US" altLang="en-US" i="1" noProof="1">
                        <a:latin typeface="Cambria Math" panose="02040503050406030204" pitchFamily="18" charset="0"/>
                      </a:rPr>
                      <m:t>𝑚</m:t>
                    </m:r>
                    <m:r>
                      <a:rPr lang="en-US" altLang="en-US" i="1" noProof="1">
                        <a:latin typeface="Cambria Math" panose="02040503050406030204" pitchFamily="18" charset="0"/>
                      </a:rPr>
                      <m:t>∗</m:t>
                    </m:r>
                    <m:sSup>
                      <m:sSupPr>
                        <m:ctrlPr>
                          <a:rPr lang="en-US" altLang="en-US" i="1" noProof="1">
                            <a:latin typeface="Cambria Math" panose="02040503050406030204" pitchFamily="18" charset="0"/>
                          </a:rPr>
                        </m:ctrlPr>
                      </m:sSupPr>
                      <m:e>
                        <m:r>
                          <a:rPr lang="en-US" altLang="en-US" i="1" noProof="1">
                            <a:latin typeface="Cambria Math" panose="02040503050406030204" pitchFamily="18" charset="0"/>
                          </a:rPr>
                          <m:t>𝑚</m:t>
                        </m:r>
                      </m:e>
                      <m:sup>
                        <m:r>
                          <a:rPr lang="en-US" altLang="en-US" i="1" noProof="1">
                            <a:latin typeface="Cambria Math" panose="02040503050406030204" pitchFamily="18" charset="0"/>
                          </a:rPr>
                          <m:t>𝑛</m:t>
                        </m:r>
                        <m:r>
                          <a:rPr lang="en-US" altLang="en-US" i="1" noProof="1">
                            <a:latin typeface="Cambria Math" panose="02040503050406030204" pitchFamily="18" charset="0"/>
                          </a:rPr>
                          <m:t>−1</m:t>
                        </m:r>
                      </m:sup>
                    </m:sSup>
                    <m:r>
                      <a:rPr lang="en-US" altLang="en-US" b="0" i="0" noProof="1" smtClean="0">
                        <a:latin typeface="Cambria Math" panose="02040503050406030204" pitchFamily="18" charset="0"/>
                      </a:rPr>
                      <m:t>−</m:t>
                    </m:r>
                    <m:r>
                      <a:rPr lang="en-US" altLang="zh-CN" i="1" noProof="1">
                        <a:latin typeface="Cambria Math" panose="02040503050406030204" pitchFamily="18" charset="0"/>
                      </a:rPr>
                      <m:t>𝑚</m:t>
                    </m:r>
                    <m:r>
                      <a:rPr lang="en-US" altLang="zh-CN" i="1" noProof="1">
                        <a:latin typeface="Cambria Math" panose="02040503050406030204" pitchFamily="18" charset="0"/>
                      </a:rPr>
                      <m:t> ∗</m:t>
                    </m:r>
                    <m:sSup>
                      <m:sSupPr>
                        <m:ctrlPr>
                          <a:rPr lang="en-US" altLang="zh-CN" i="1" noProof="1">
                            <a:latin typeface="Cambria Math" panose="02040503050406030204" pitchFamily="18" charset="0"/>
                          </a:rPr>
                        </m:ctrlPr>
                      </m:sSupPr>
                      <m:e>
                        <m:d>
                          <m:dPr>
                            <m:ctrlPr>
                              <a:rPr lang="en-US" altLang="zh-CN" i="1" noProof="1">
                                <a:latin typeface="Cambria Math" panose="02040503050406030204" pitchFamily="18" charset="0"/>
                              </a:rPr>
                            </m:ctrlPr>
                          </m:dPr>
                          <m:e>
                            <m:r>
                              <a:rPr lang="en-US" altLang="zh-CN" i="1" noProof="1">
                                <a:latin typeface="Cambria Math" panose="02040503050406030204" pitchFamily="18" charset="0"/>
                              </a:rPr>
                              <m:t>𝑚</m:t>
                            </m:r>
                            <m:r>
                              <a:rPr lang="en-US" altLang="zh-CN" i="1" noProof="1">
                                <a:latin typeface="Cambria Math" panose="02040503050406030204" pitchFamily="18" charset="0"/>
                              </a:rPr>
                              <m:t>−1</m:t>
                            </m:r>
                          </m:e>
                        </m:d>
                      </m:e>
                      <m:sup>
                        <m:r>
                          <a:rPr lang="en-US" altLang="zh-CN" i="1" noProof="1">
                            <a:latin typeface="Cambria Math" panose="02040503050406030204" pitchFamily="18" charset="0"/>
                          </a:rPr>
                          <m:t>𝑛</m:t>
                        </m:r>
                        <m:r>
                          <a:rPr lang="en-US" altLang="zh-CN" i="1" noProof="1">
                            <a:latin typeface="Cambria Math" panose="02040503050406030204" pitchFamily="18" charset="0"/>
                          </a:rPr>
                          <m:t>−1</m:t>
                        </m:r>
                      </m:sup>
                    </m:sSup>
                    <m:r>
                      <a:rPr lang="en-US" altLang="zh-CN" b="0" i="1" noProof="1" smtClean="0">
                        <a:latin typeface="Cambria Math" panose="02040503050406030204" pitchFamily="18" charset="0"/>
                      </a:rPr>
                      <m:t> </m:t>
                    </m:r>
                  </m:oMath>
                </a14:m>
                <a:endParaRPr lang="en-US" altLang="zh-CN" noProof="1"/>
              </a:p>
              <a:p>
                <a:pPr>
                  <a:lnSpc>
                    <a:spcPct val="150000"/>
                  </a:lnSpc>
                  <a:spcBef>
                    <a:spcPts val="800"/>
                  </a:spcBef>
                </a:pPr>
                <a:r>
                  <a:rPr lang="zh-CN" altLang="en-US" noProof="1"/>
                  <a:t>分别对</a:t>
                </a:r>
                <a:r>
                  <a:rPr lang="en-US" altLang="zh-CN" noProof="1"/>
                  <a:t> </a:t>
                </a:r>
                <a14:m>
                  <m:oMath xmlns:m="http://schemas.openxmlformats.org/officeDocument/2006/math">
                    <m:sSup>
                      <m:sSupPr>
                        <m:ctrlPr>
                          <a:rPr lang="en-US" altLang="en-US" i="1" noProof="1">
                            <a:latin typeface="Cambria Math" panose="02040503050406030204" pitchFamily="18" charset="0"/>
                          </a:rPr>
                        </m:ctrlPr>
                      </m:sSupPr>
                      <m:e>
                        <m:r>
                          <a:rPr lang="en-US" altLang="en-US" i="1" noProof="1">
                            <a:latin typeface="Cambria Math" panose="02040503050406030204" pitchFamily="18" charset="0"/>
                          </a:rPr>
                          <m:t>𝑚</m:t>
                        </m:r>
                      </m:e>
                      <m:sup>
                        <m:r>
                          <a:rPr lang="en-US" altLang="en-US" i="1" noProof="1">
                            <a:latin typeface="Cambria Math" panose="02040503050406030204" pitchFamily="18" charset="0"/>
                          </a:rPr>
                          <m:t>𝑛</m:t>
                        </m:r>
                        <m:r>
                          <a:rPr lang="en-US" altLang="en-US" i="1" noProof="1">
                            <a:latin typeface="Cambria Math" panose="02040503050406030204" pitchFamily="18" charset="0"/>
                          </a:rPr>
                          <m:t>−1</m:t>
                        </m:r>
                      </m:sup>
                    </m:sSup>
                  </m:oMath>
                </a14:m>
                <a:r>
                  <a:rPr lang="en-US" altLang="zh-CN" noProof="1"/>
                  <a:t> </a:t>
                </a:r>
                <a:r>
                  <a:rPr lang="zh-CN" altLang="en-US" noProof="1">
                    <a:sym typeface="+mn-ea"/>
                  </a:rPr>
                  <a:t>和</a:t>
                </a:r>
                <a:r>
                  <a:rPr lang="en-US" altLang="zh-CN" noProof="1">
                    <a:sym typeface="+mn-ea"/>
                  </a:rPr>
                  <a:t> </a:t>
                </a:r>
                <a14:m>
                  <m:oMath xmlns:m="http://schemas.openxmlformats.org/officeDocument/2006/math">
                    <m:sSup>
                      <m:sSupPr>
                        <m:ctrlPr>
                          <a:rPr lang="en-US" altLang="zh-CN" i="1" noProof="1">
                            <a:latin typeface="Cambria Math" panose="02040503050406030204" pitchFamily="18" charset="0"/>
                          </a:rPr>
                        </m:ctrlPr>
                      </m:sSupPr>
                      <m:e>
                        <m:d>
                          <m:dPr>
                            <m:ctrlPr>
                              <a:rPr lang="en-US" altLang="zh-CN" i="1" noProof="1">
                                <a:latin typeface="Cambria Math" panose="02040503050406030204" pitchFamily="18" charset="0"/>
                              </a:rPr>
                            </m:ctrlPr>
                          </m:dPr>
                          <m:e>
                            <m:r>
                              <a:rPr lang="en-US" altLang="zh-CN" i="1" noProof="1">
                                <a:latin typeface="Cambria Math" panose="02040503050406030204" pitchFamily="18" charset="0"/>
                              </a:rPr>
                              <m:t>𝑚</m:t>
                            </m:r>
                            <m:r>
                              <a:rPr lang="en-US" altLang="zh-CN" i="1" noProof="1">
                                <a:latin typeface="Cambria Math" panose="02040503050406030204" pitchFamily="18" charset="0"/>
                              </a:rPr>
                              <m:t>−1</m:t>
                            </m:r>
                          </m:e>
                        </m:d>
                      </m:e>
                      <m:sup>
                        <m:r>
                          <a:rPr lang="en-US" altLang="zh-CN" i="1" noProof="1">
                            <a:latin typeface="Cambria Math" panose="02040503050406030204" pitchFamily="18" charset="0"/>
                          </a:rPr>
                          <m:t>𝑛</m:t>
                        </m:r>
                        <m:r>
                          <a:rPr lang="en-US" altLang="zh-CN" i="1" noProof="1">
                            <a:latin typeface="Cambria Math" panose="02040503050406030204" pitchFamily="18" charset="0"/>
                          </a:rPr>
                          <m:t>−1</m:t>
                        </m:r>
                      </m:sup>
                    </m:sSup>
                  </m:oMath>
                </a14:m>
                <a:r>
                  <a:rPr lang="en-US" altLang="zh-CN" noProof="1">
                    <a:sym typeface="+mn-ea"/>
                  </a:rPr>
                  <a:t> </a:t>
                </a:r>
                <a:r>
                  <a:rPr lang="zh-CN" altLang="en-US" noProof="1">
                    <a:sym typeface="+mn-ea"/>
                  </a:rPr>
                  <a:t>快速幂即可。</a:t>
                </a:r>
                <a:endParaRPr lang="zh-CN" altLang="en-US"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3417278"/>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4B2D6C66-FEB7-D949-BB6D-2CD156A1A75C}"/>
              </a:ext>
            </a:extLst>
          </p:cNvPr>
          <p:cNvSpPr>
            <a:spLocks noGrp="1"/>
          </p:cNvSpPr>
          <p:nvPr>
            <p:ph type="sldNum" sz="quarter" idx="12"/>
          </p:nvPr>
        </p:nvSpPr>
        <p:spPr/>
        <p:txBody>
          <a:bodyPr/>
          <a:lstStyle/>
          <a:p>
            <a:fld id="{0FF54DE5-C571-48E8-A5BC-B369434E2F44}" type="slidenum">
              <a:rPr lang="en-US" altLang="zh-CN" smtClean="0"/>
              <a:pPr/>
              <a:t>65</a:t>
            </a:fld>
            <a:endParaRPr lang="zh-CN" altLang="en-US" dirty="0"/>
          </a:p>
        </p:txBody>
      </p:sp>
    </p:spTree>
    <p:extLst>
      <p:ext uri="{BB962C8B-B14F-4D97-AF65-F5344CB8AC3E}">
        <p14:creationId xmlns:p14="http://schemas.microsoft.com/office/powerpoint/2010/main" val="1445246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费马小定理</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572181"/>
                <a:ext cx="9980682" cy="5215062"/>
              </a:xfrm>
            </p:spPr>
            <p:txBody>
              <a:bodyPr>
                <a:normAutofit/>
              </a:bodyPr>
              <a:lstStyle/>
              <a:p>
                <a:pPr>
                  <a:lnSpc>
                    <a:spcPct val="150000"/>
                  </a:lnSpc>
                  <a:spcBef>
                    <a:spcPts val="600"/>
                  </a:spcBef>
                </a:pPr>
                <a:r>
                  <a:rPr lang="zh-CN" altLang="zh-CN" dirty="0"/>
                  <a:t>若</a:t>
                </a:r>
                <a:r>
                  <a:rPr lang="zh-CN" altLang="en-US" dirty="0"/>
                  <a:t> </a:t>
                </a:r>
                <a14:m>
                  <m:oMath xmlns:m="http://schemas.openxmlformats.org/officeDocument/2006/math">
                    <m:r>
                      <a:rPr lang="en-US" altLang="zh-CN" i="1" dirty="0" smtClean="0">
                        <a:latin typeface="Cambria Math" panose="02040503050406030204" pitchFamily="18" charset="0"/>
                      </a:rPr>
                      <m:t>𝑝</m:t>
                    </m:r>
                  </m:oMath>
                </a14:m>
                <a:r>
                  <a:rPr lang="zh-CN" altLang="en-US" dirty="0"/>
                  <a:t> </a:t>
                </a:r>
                <a:r>
                  <a:rPr lang="zh-CN" altLang="zh-CN" dirty="0"/>
                  <a:t>为</a:t>
                </a:r>
                <a:r>
                  <a:rPr lang="zh-CN" altLang="en-US" dirty="0"/>
                  <a:t>素</a:t>
                </a:r>
                <a:r>
                  <a:rPr lang="zh-CN" altLang="zh-CN" dirty="0"/>
                  <a:t>数，且</a:t>
                </a:r>
                <a:r>
                  <a:rPr lang="zh-CN" altLang="en-US" dirty="0"/>
                  <a:t> </a:t>
                </a:r>
                <a14:m>
                  <m:oMath xmlns:m="http://schemas.openxmlformats.org/officeDocument/2006/math">
                    <m:r>
                      <a:rPr lang="en-US" altLang="zh-CN" i="1">
                        <a:latin typeface="Cambria Math" panose="02040503050406030204" pitchFamily="18" charset="0"/>
                      </a:rPr>
                      <m:t>𝑎</m:t>
                    </m:r>
                  </m:oMath>
                </a14:m>
                <a:r>
                  <a:rPr lang="zh-CN" altLang="en-US" dirty="0"/>
                  <a:t> </a:t>
                </a:r>
                <a:r>
                  <a:rPr lang="zh-CN" altLang="zh-CN" dirty="0"/>
                  <a:t>和</a:t>
                </a:r>
                <a:r>
                  <a:rPr lang="zh-CN" altLang="en-US" dirty="0"/>
                  <a:t> </a:t>
                </a:r>
                <a14:m>
                  <m:oMath xmlns:m="http://schemas.openxmlformats.org/officeDocument/2006/math">
                    <m:r>
                      <a:rPr lang="en-US" altLang="zh-CN" i="1">
                        <a:latin typeface="Cambria Math" panose="02040503050406030204" pitchFamily="18" charset="0"/>
                      </a:rPr>
                      <m:t>𝑝</m:t>
                    </m:r>
                  </m:oMath>
                </a14:m>
                <a:r>
                  <a:rPr lang="zh-CN" altLang="en-US" dirty="0"/>
                  <a:t> </a:t>
                </a:r>
                <a:r>
                  <a:rPr lang="zh-CN" altLang="zh-CN" dirty="0"/>
                  <a:t>互</a:t>
                </a:r>
                <a:r>
                  <a:rPr lang="zh-CN" altLang="en-US" dirty="0"/>
                  <a:t>素</a:t>
                </a:r>
                <a:r>
                  <a:rPr lang="zh-CN" altLang="zh-CN" dirty="0"/>
                  <a:t>，则可以得到</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𝑝</m:t>
                          </m:r>
                          <m:r>
                            <a:rPr lang="en-US" altLang="zh-CN" i="1">
                              <a:latin typeface="Cambria Math" panose="02040503050406030204" pitchFamily="18" charset="0"/>
                            </a:rPr>
                            <m:t>−1</m:t>
                          </m:r>
                        </m:sup>
                      </m:sSup>
                      <m:r>
                        <a:rPr lang="en-US" altLang="zh-CN" i="1">
                          <a:latin typeface="Cambria Math" panose="02040503050406030204" pitchFamily="18" charset="0"/>
                        </a:rPr>
                        <m:t>≡1</m:t>
                      </m:r>
                      <m:d>
                        <m:dPr>
                          <m:ctrlPr>
                            <a:rPr lang="zh-CN" altLang="zh-CN" i="1">
                              <a:latin typeface="Cambria Math" panose="02040503050406030204" pitchFamily="18" charset="0"/>
                            </a:rPr>
                          </m:ctrlPr>
                        </m:dPr>
                        <m:e>
                          <m:r>
                            <m:rPr>
                              <m:sty m:val="p"/>
                            </m:rPr>
                            <a:rPr lang="en-US" altLang="zh-CN" i="0">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𝑝</m:t>
                          </m:r>
                        </m:e>
                      </m:d>
                    </m:oMath>
                  </m:oMathPara>
                </a14:m>
                <a:endParaRPr lang="en-US" altLang="zh-CN" dirty="0"/>
              </a:p>
              <a:p>
                <a:pPr>
                  <a:lnSpc>
                    <a:spcPct val="150000"/>
                  </a:lnSpc>
                  <a:spcBef>
                    <a:spcPts val="600"/>
                  </a:spcBef>
                </a:pPr>
                <a:r>
                  <a:rPr lang="zh-CN" altLang="en-US" dirty="0"/>
                  <a:t>证明：</a:t>
                </a:r>
                <a:endParaRPr lang="en-US" altLang="zh-CN" dirty="0"/>
              </a:p>
              <a:p>
                <a:pPr lvl="1">
                  <a:lnSpc>
                    <a:spcPct val="150000"/>
                  </a:lnSpc>
                </a:pPr>
                <a14:m>
                  <m:oMath xmlns:m="http://schemas.openxmlformats.org/officeDocument/2006/math">
                    <m:r>
                      <a:rPr lang="en-US" altLang="zh-CN" sz="2000" i="1">
                        <a:latin typeface="Cambria Math" panose="02040503050406030204" pitchFamily="18" charset="0"/>
                      </a:rPr>
                      <m:t>𝑝</m:t>
                    </m:r>
                    <m:r>
                      <a:rPr lang="en-US" altLang="zh-CN" sz="2000" i="1">
                        <a:latin typeface="Cambria Math" panose="02040503050406030204" pitchFamily="18" charset="0"/>
                      </a:rPr>
                      <m:t>−1</m:t>
                    </m:r>
                  </m:oMath>
                </a14:m>
                <a:r>
                  <a:rPr lang="zh-CN" altLang="zh-CN" sz="2000" dirty="0"/>
                  <a:t>个整数，</a:t>
                </a:r>
                <a14:m>
                  <m:oMath xmlns:m="http://schemas.openxmlformats.org/officeDocument/2006/math">
                    <m:r>
                      <a:rPr lang="en-US" altLang="zh-CN" sz="2000" i="1">
                        <a:latin typeface="Cambria Math" panose="02040503050406030204" pitchFamily="18" charset="0"/>
                      </a:rPr>
                      <m:t>𝑎</m:t>
                    </m:r>
                    <m:r>
                      <a:rPr lang="en-US" altLang="zh-CN" sz="2000" i="1">
                        <a:latin typeface="Cambria Math" panose="02040503050406030204" pitchFamily="18" charset="0"/>
                      </a:rPr>
                      <m:t>,2</m:t>
                    </m:r>
                    <m:r>
                      <a:rPr lang="en-US" altLang="zh-CN" sz="2000" i="1">
                        <a:latin typeface="Cambria Math" panose="02040503050406030204" pitchFamily="18" charset="0"/>
                      </a:rPr>
                      <m:t>𝑎</m:t>
                    </m:r>
                    <m:r>
                      <a:rPr lang="en-US" altLang="zh-CN" sz="2000" i="1">
                        <a:latin typeface="Cambria Math" panose="02040503050406030204" pitchFamily="18" charset="0"/>
                      </a:rPr>
                      <m:t>,3</m:t>
                    </m:r>
                    <m:r>
                      <a:rPr lang="en-US" altLang="zh-CN" sz="2000" i="1">
                        <a:latin typeface="Cambria Math" panose="02040503050406030204" pitchFamily="18" charset="0"/>
                      </a:rPr>
                      <m:t>𝑎</m:t>
                    </m:r>
                    <m:r>
                      <a:rPr lang="en-US" altLang="zh-CN" sz="2000" i="1">
                        <a:latin typeface="Cambria Math" panose="02040503050406030204" pitchFamily="18" charset="0"/>
                      </a:rPr>
                      <m:t>,…(</m:t>
                    </m:r>
                    <m:r>
                      <a:rPr lang="en-US" altLang="zh-CN" sz="2000" i="1">
                        <a:latin typeface="Cambria Math" panose="02040503050406030204" pitchFamily="18" charset="0"/>
                      </a:rPr>
                      <m:t>𝑝</m:t>
                    </m:r>
                    <m:r>
                      <a:rPr lang="en-US" altLang="zh-CN" sz="2000" i="1">
                        <a:latin typeface="Cambria Math" panose="02040503050406030204" pitchFamily="18" charset="0"/>
                      </a:rPr>
                      <m:t>−1)</m:t>
                    </m:r>
                    <m:r>
                      <a:rPr lang="en-US" altLang="zh-CN" sz="2000" i="1">
                        <a:latin typeface="Cambria Math" panose="02040503050406030204" pitchFamily="18" charset="0"/>
                      </a:rPr>
                      <m:t>𝑎</m:t>
                    </m:r>
                  </m:oMath>
                </a14:m>
                <a:r>
                  <a:rPr lang="zh-CN" altLang="en-US" sz="2000" dirty="0"/>
                  <a:t> </a:t>
                </a:r>
                <a:r>
                  <a:rPr lang="zh-CN" altLang="zh-CN" sz="2000" dirty="0"/>
                  <a:t>中没有一个是</a:t>
                </a:r>
                <a:r>
                  <a:rPr lang="zh-CN" altLang="en-US" sz="2000" dirty="0"/>
                  <a:t> </a:t>
                </a:r>
                <a14:m>
                  <m:oMath xmlns:m="http://schemas.openxmlformats.org/officeDocument/2006/math">
                    <m:r>
                      <a:rPr lang="en-US" altLang="zh-CN" sz="2000" i="1">
                        <a:latin typeface="Cambria Math" panose="02040503050406030204" pitchFamily="18" charset="0"/>
                      </a:rPr>
                      <m:t>𝑝</m:t>
                    </m:r>
                  </m:oMath>
                </a14:m>
                <a:r>
                  <a:rPr lang="zh-CN" altLang="en-US" sz="2000" dirty="0"/>
                  <a:t> </a:t>
                </a:r>
                <a:r>
                  <a:rPr lang="zh-CN" altLang="zh-CN" sz="2000" dirty="0"/>
                  <a:t>的倍数，而且没有任意两个模</a:t>
                </a:r>
                <a:r>
                  <a:rPr lang="zh-CN" altLang="en-US" sz="2000" dirty="0"/>
                  <a:t> </a:t>
                </a:r>
                <a14:m>
                  <m:oMath xmlns:m="http://schemas.openxmlformats.org/officeDocument/2006/math">
                    <m:r>
                      <a:rPr lang="en-US" altLang="zh-CN" sz="2000" i="1">
                        <a:latin typeface="Cambria Math" panose="02040503050406030204" pitchFamily="18" charset="0"/>
                      </a:rPr>
                      <m:t>𝑝</m:t>
                    </m:r>
                  </m:oMath>
                </a14:m>
                <a:r>
                  <a:rPr lang="zh-CN" altLang="zh-CN" sz="2000" dirty="0"/>
                  <a:t>同余</a:t>
                </a:r>
                <a:r>
                  <a:rPr lang="zh-CN" altLang="en-US" sz="2000" dirty="0"/>
                  <a:t>。</a:t>
                </a:r>
                <a:endParaRPr lang="en-US" altLang="zh-CN" sz="2000" dirty="0"/>
              </a:p>
              <a:p>
                <a:pPr lvl="1">
                  <a:lnSpc>
                    <a:spcPct val="150000"/>
                  </a:lnSpc>
                </a:pPr>
                <a:r>
                  <a:rPr lang="zh-CN" altLang="zh-CN" sz="2000" dirty="0"/>
                  <a:t>所以这</a:t>
                </a:r>
                <a:r>
                  <a:rPr lang="zh-CN" altLang="en-US" sz="2000" dirty="0"/>
                  <a:t> </a:t>
                </a:r>
                <a14:m>
                  <m:oMath xmlns:m="http://schemas.openxmlformats.org/officeDocument/2006/math">
                    <m:r>
                      <a:rPr lang="en-US" altLang="zh-CN" sz="2000" i="1">
                        <a:latin typeface="Cambria Math" panose="02040503050406030204" pitchFamily="18" charset="0"/>
                      </a:rPr>
                      <m:t>𝑝</m:t>
                    </m:r>
                    <m:r>
                      <a:rPr lang="en-US" altLang="zh-CN" sz="2000" i="1">
                        <a:latin typeface="Cambria Math" panose="02040503050406030204" pitchFamily="18" charset="0"/>
                      </a:rPr>
                      <m:t>−1</m:t>
                    </m:r>
                  </m:oMath>
                </a14:m>
                <a:r>
                  <a:rPr lang="zh-CN" altLang="en-US" sz="2000" dirty="0"/>
                  <a:t> </a:t>
                </a:r>
                <a:r>
                  <a:rPr lang="zh-CN" altLang="zh-CN" sz="2000" dirty="0"/>
                  <a:t>个数对模</a:t>
                </a:r>
                <a:r>
                  <a:rPr lang="zh-CN" altLang="en-US" sz="2000" dirty="0"/>
                  <a:t> </a:t>
                </a:r>
                <a14:m>
                  <m:oMath xmlns:m="http://schemas.openxmlformats.org/officeDocument/2006/math">
                    <m:r>
                      <a:rPr lang="en-US" altLang="zh-CN" sz="2000" i="1">
                        <a:latin typeface="Cambria Math" panose="02040503050406030204" pitchFamily="18" charset="0"/>
                      </a:rPr>
                      <m:t>𝑝</m:t>
                    </m:r>
                  </m:oMath>
                </a14:m>
                <a:r>
                  <a:rPr lang="zh-CN" altLang="en-US" sz="2000" dirty="0"/>
                  <a:t> </a:t>
                </a:r>
                <a:r>
                  <a:rPr lang="zh-CN" altLang="zh-CN" sz="2000" dirty="0"/>
                  <a:t>的同余是</a:t>
                </a:r>
                <a:r>
                  <a:rPr lang="zh-CN" altLang="en-US" sz="2000" dirty="0"/>
                  <a:t> </a:t>
                </a:r>
                <a14:m>
                  <m:oMath xmlns:m="http://schemas.openxmlformats.org/officeDocument/2006/math">
                    <m:r>
                      <a:rPr lang="en-US" altLang="zh-CN" sz="2000" i="1">
                        <a:latin typeface="Cambria Math" panose="02040503050406030204" pitchFamily="18" charset="0"/>
                      </a:rPr>
                      <m:t>1,2,3…(</m:t>
                    </m:r>
                    <m:r>
                      <a:rPr lang="en-US" altLang="zh-CN" sz="2000" i="1">
                        <a:latin typeface="Cambria Math" panose="02040503050406030204" pitchFamily="18" charset="0"/>
                      </a:rPr>
                      <m:t>𝑝</m:t>
                    </m:r>
                    <m:r>
                      <a:rPr lang="en-US" altLang="zh-CN" sz="2000" i="1">
                        <a:latin typeface="Cambria Math" panose="02040503050406030204" pitchFamily="18" charset="0"/>
                      </a:rPr>
                      <m:t>−1)</m:t>
                    </m:r>
                  </m:oMath>
                </a14:m>
                <a:r>
                  <a:rPr lang="zh-CN" altLang="en-US" sz="2000" dirty="0"/>
                  <a:t> </a:t>
                </a:r>
                <a:r>
                  <a:rPr lang="zh-CN" altLang="zh-CN" sz="2000" dirty="0"/>
                  <a:t>的排列</a:t>
                </a:r>
                <a:r>
                  <a:rPr lang="zh-CN" altLang="en-US" sz="2000" dirty="0"/>
                  <a:t>。</a:t>
                </a:r>
                <a:endParaRPr lang="en-US" altLang="zh-CN" sz="2000" dirty="0"/>
              </a:p>
              <a:p>
                <a:pPr lvl="1">
                  <a:lnSpc>
                    <a:spcPct val="150000"/>
                  </a:lnSpc>
                </a:pPr>
                <a:r>
                  <a:rPr lang="zh-CN" altLang="zh-CN" sz="2000" dirty="0"/>
                  <a:t>可得：</a:t>
                </a:r>
                <a14:m>
                  <m:oMath xmlns:m="http://schemas.openxmlformats.org/officeDocument/2006/math">
                    <m:r>
                      <a:rPr lang="en-US" altLang="zh-CN" sz="2000" i="1">
                        <a:latin typeface="Cambria Math" panose="02040503050406030204" pitchFamily="18" charset="0"/>
                      </a:rPr>
                      <m:t>𝑎</m:t>
                    </m:r>
                    <m:r>
                      <a:rPr lang="zh-Hans" altLang="en-US" sz="2000" b="0" i="1" smtClean="0">
                        <a:latin typeface="Cambria Math" panose="02040503050406030204" pitchFamily="18" charset="0"/>
                      </a:rPr>
                      <m:t>∗</m:t>
                    </m:r>
                    <m:r>
                      <a:rPr lang="en-US" altLang="zh-CN" sz="2000" i="1">
                        <a:latin typeface="Cambria Math" panose="02040503050406030204" pitchFamily="18" charset="0"/>
                      </a:rPr>
                      <m:t>2</m:t>
                    </m:r>
                    <m:r>
                      <a:rPr lang="en-US" altLang="zh-CN" sz="2000" i="1">
                        <a:latin typeface="Cambria Math" panose="02040503050406030204" pitchFamily="18" charset="0"/>
                      </a:rPr>
                      <m:t>𝑎</m:t>
                    </m:r>
                    <m:r>
                      <a:rPr lang="zh-Hans" altLang="en-US" sz="2000" i="1">
                        <a:latin typeface="Cambria Math" panose="02040503050406030204" pitchFamily="18" charset="0"/>
                      </a:rPr>
                      <m:t>∗</m:t>
                    </m:r>
                    <m:r>
                      <a:rPr lang="en-US" altLang="zh-CN" sz="2000" i="1">
                        <a:latin typeface="Cambria Math" panose="02040503050406030204" pitchFamily="18" charset="0"/>
                      </a:rPr>
                      <m:t>3</m:t>
                    </m:r>
                    <m:r>
                      <a:rPr lang="en-US" altLang="zh-CN" sz="2000" i="1">
                        <a:latin typeface="Cambria Math" panose="02040503050406030204" pitchFamily="18" charset="0"/>
                      </a:rPr>
                      <m:t>𝑎</m:t>
                    </m:r>
                    <m:r>
                      <a:rPr lang="zh-Hans" altLang="en-US" sz="2000" i="1">
                        <a:latin typeface="Cambria Math" panose="02040503050406030204" pitchFamily="18" charset="0"/>
                      </a:rPr>
                      <m:t>∗</m:t>
                    </m:r>
                    <m:r>
                      <a:rPr lang="en-US" altLang="zh-CN" sz="2000" i="1">
                        <a:latin typeface="Cambria Math" panose="02040503050406030204" pitchFamily="18" charset="0"/>
                      </a:rPr>
                      <m:t>…</m:t>
                    </m:r>
                    <m:r>
                      <a:rPr lang="zh-Hans" altLang="en-US" sz="2000" i="1">
                        <a:latin typeface="Cambria Math" panose="02040503050406030204" pitchFamily="18" charset="0"/>
                      </a:rPr>
                      <m:t>∗</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𝑝</m:t>
                        </m:r>
                        <m:r>
                          <a:rPr lang="en-US" altLang="zh-CN" sz="2000" i="1">
                            <a:latin typeface="Cambria Math" panose="02040503050406030204" pitchFamily="18" charset="0"/>
                          </a:rPr>
                          <m:t>−1</m:t>
                        </m:r>
                      </m:e>
                    </m:d>
                    <m:r>
                      <a:rPr lang="en-US" altLang="zh-CN" sz="2000" i="1">
                        <a:latin typeface="Cambria Math" panose="02040503050406030204" pitchFamily="18" charset="0"/>
                      </a:rPr>
                      <m:t>𝑎</m:t>
                    </m:r>
                    <m:r>
                      <a:rPr lang="en-US" altLang="zh-CN" sz="2000" i="1">
                        <a:latin typeface="Cambria Math" panose="02040503050406030204" pitchFamily="18" charset="0"/>
                      </a:rPr>
                      <m:t>≡1</m:t>
                    </m:r>
                    <m:r>
                      <a:rPr lang="zh-Hans" altLang="en-US" sz="2000" i="1">
                        <a:latin typeface="Cambria Math" panose="02040503050406030204" pitchFamily="18" charset="0"/>
                      </a:rPr>
                      <m:t>∗</m:t>
                    </m:r>
                    <m:r>
                      <a:rPr lang="en-US" altLang="zh-CN" sz="2000" i="1">
                        <a:latin typeface="Cambria Math" panose="02040503050406030204" pitchFamily="18" charset="0"/>
                      </a:rPr>
                      <m:t>2</m:t>
                    </m:r>
                    <m:r>
                      <a:rPr lang="zh-Hans" altLang="en-US" sz="2000" i="1">
                        <a:latin typeface="Cambria Math" panose="02040503050406030204" pitchFamily="18" charset="0"/>
                      </a:rPr>
                      <m:t>∗</m:t>
                    </m:r>
                    <m:r>
                      <a:rPr lang="en-US" altLang="zh-CN" sz="2000" i="1">
                        <a:latin typeface="Cambria Math" panose="02040503050406030204" pitchFamily="18" charset="0"/>
                      </a:rPr>
                      <m:t>3</m:t>
                    </m:r>
                    <m:r>
                      <a:rPr lang="zh-Hans" altLang="en-US" sz="2000" i="1">
                        <a:latin typeface="Cambria Math" panose="02040503050406030204" pitchFamily="18" charset="0"/>
                      </a:rPr>
                      <m:t>∗</m:t>
                    </m:r>
                    <m:r>
                      <a:rPr lang="en-US" altLang="zh-CN" sz="2000" i="1">
                        <a:latin typeface="Cambria Math" panose="02040503050406030204" pitchFamily="18" charset="0"/>
                      </a:rPr>
                      <m:t>…</m:t>
                    </m:r>
                    <m:r>
                      <a:rPr lang="zh-Hans" altLang="en-US" sz="2000" i="1">
                        <a:latin typeface="Cambria Math" panose="02040503050406030204" pitchFamily="18" charset="0"/>
                      </a:rPr>
                      <m:t>∗</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𝑝</m:t>
                        </m:r>
                        <m:r>
                          <a:rPr lang="en-US" altLang="zh-CN" sz="2000" i="1">
                            <a:latin typeface="Cambria Math" panose="02040503050406030204" pitchFamily="18" charset="0"/>
                          </a:rPr>
                          <m:t>−1</m:t>
                        </m:r>
                      </m:e>
                    </m:d>
                    <m:d>
                      <m:dPr>
                        <m:ctrlPr>
                          <a:rPr lang="en-US" altLang="zh-CN" sz="2000" i="1">
                            <a:latin typeface="Cambria Math" panose="02040503050406030204" pitchFamily="18" charset="0"/>
                          </a:rPr>
                        </m:ctrlPr>
                      </m:dPr>
                      <m:e>
                        <m:r>
                          <m:rPr>
                            <m:sty m:val="p"/>
                          </m:rPr>
                          <a:rPr lang="en-US" altLang="zh-CN" sz="2000" i="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e>
                    </m:d>
                  </m:oMath>
                </a14:m>
                <a:endParaRPr lang="en-US" altLang="zh-CN" sz="2000" dirty="0"/>
              </a:p>
              <a:p>
                <a:pPr lvl="1">
                  <a:lnSpc>
                    <a:spcPct val="150000"/>
                  </a:lnSpc>
                </a:pPr>
                <a:r>
                  <a:rPr lang="zh-CN" altLang="zh-CN" sz="2000" dirty="0"/>
                  <a:t>可化简为：</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𝑝</m:t>
                        </m:r>
                        <m:r>
                          <a:rPr lang="en-US" altLang="zh-CN" sz="2000" i="1">
                            <a:latin typeface="Cambria Math" panose="02040503050406030204" pitchFamily="18" charset="0"/>
                          </a:rPr>
                          <m:t>−1</m:t>
                        </m:r>
                      </m:sup>
                    </m:sSup>
                    <m:r>
                      <a:rPr lang="zh-Hans" altLang="en-US" sz="2000" i="1">
                        <a:latin typeface="Cambria Math" panose="02040503050406030204" pitchFamily="18" charset="0"/>
                      </a:rPr>
                      <m:t>∗</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𝑝</m:t>
                        </m:r>
                        <m:r>
                          <a:rPr lang="en-US" altLang="zh-CN" sz="2000" i="1">
                            <a:latin typeface="Cambria Math" panose="02040503050406030204" pitchFamily="18" charset="0"/>
                          </a:rPr>
                          <m:t>−1</m:t>
                        </m:r>
                      </m:e>
                    </m:d>
                    <m:r>
                      <a:rPr lang="en-US" altLang="zh-CN" sz="2000" i="1">
                        <a:latin typeface="Cambria Math" panose="02040503050406030204" pitchFamily="18" charset="0"/>
                      </a:rPr>
                      <m:t>!≡</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𝑝</m:t>
                        </m:r>
                        <m:r>
                          <a:rPr lang="en-US" altLang="zh-CN" sz="2000" i="1">
                            <a:latin typeface="Cambria Math" panose="02040503050406030204" pitchFamily="18" charset="0"/>
                          </a:rPr>
                          <m:t>−1</m:t>
                        </m:r>
                      </m:e>
                    </m:d>
                    <m:r>
                      <a:rPr lang="en-US" altLang="zh-CN" sz="2000" i="1">
                        <a:latin typeface="Cambria Math" panose="02040503050406030204" pitchFamily="18" charset="0"/>
                      </a:rPr>
                      <m:t>!</m:t>
                    </m:r>
                    <m:d>
                      <m:dPr>
                        <m:ctrlPr>
                          <a:rPr lang="zh-CN" altLang="zh-CN" sz="2000" i="1">
                            <a:latin typeface="Cambria Math" panose="02040503050406030204" pitchFamily="18" charset="0"/>
                          </a:rPr>
                        </m:ctrlPr>
                      </m:dPr>
                      <m:e>
                        <m:r>
                          <m:rPr>
                            <m:sty m:val="p"/>
                          </m:rPr>
                          <a:rPr lang="en-US" altLang="zh-CN" sz="2000" i="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e>
                    </m:d>
                  </m:oMath>
                </a14:m>
                <a:endParaRPr lang="en-US" altLang="zh-CN" sz="2000" dirty="0"/>
              </a:p>
              <a:p>
                <a:pPr lvl="1">
                  <a:lnSpc>
                    <a:spcPct val="150000"/>
                  </a:lnSpc>
                </a:pPr>
                <a:r>
                  <a:rPr lang="zh-CN" altLang="zh-CN" sz="2000" dirty="0"/>
                  <a:t>即</a:t>
                </a:r>
                <a:r>
                  <a:rPr lang="zh-CN" altLang="en-US" sz="2000" dirty="0"/>
                  <a:t> </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𝑎</m:t>
                        </m:r>
                      </m:e>
                      <m:sup>
                        <m:r>
                          <a:rPr lang="en-US" altLang="zh-CN" sz="2000" i="1">
                            <a:latin typeface="Cambria Math" panose="02040503050406030204" pitchFamily="18" charset="0"/>
                          </a:rPr>
                          <m:t>𝑝</m:t>
                        </m:r>
                        <m:r>
                          <a:rPr lang="en-US" altLang="zh-CN" sz="2000" i="1">
                            <a:latin typeface="Cambria Math" panose="02040503050406030204" pitchFamily="18" charset="0"/>
                          </a:rPr>
                          <m:t>−1</m:t>
                        </m:r>
                      </m:sup>
                    </m:sSup>
                    <m:r>
                      <a:rPr lang="en-US" altLang="zh-CN" sz="2000" i="1">
                        <a:latin typeface="Cambria Math" panose="02040503050406030204" pitchFamily="18" charset="0"/>
                      </a:rPr>
                      <m:t>≡1</m:t>
                    </m:r>
                    <m:d>
                      <m:dPr>
                        <m:ctrlPr>
                          <a:rPr lang="zh-CN" altLang="zh-CN" sz="2000" i="1">
                            <a:latin typeface="Cambria Math" panose="02040503050406030204" pitchFamily="18" charset="0"/>
                          </a:rPr>
                        </m:ctrlPr>
                      </m:dPr>
                      <m:e>
                        <m:r>
                          <m:rPr>
                            <m:sty m:val="p"/>
                          </m:rPr>
                          <a:rPr lang="en-US" altLang="zh-CN" sz="2000" i="0">
                            <a:latin typeface="Cambria Math" panose="02040503050406030204" pitchFamily="18" charset="0"/>
                          </a:rPr>
                          <m:t>mod</m:t>
                        </m:r>
                        <m:r>
                          <a:rPr lang="en-US" altLang="zh-CN" sz="2000" i="1">
                            <a:latin typeface="Cambria Math" panose="02040503050406030204" pitchFamily="18" charset="0"/>
                          </a:rPr>
                          <m:t> </m:t>
                        </m:r>
                        <m:r>
                          <a:rPr lang="en-US" altLang="zh-CN" sz="2000" i="1">
                            <a:latin typeface="Cambria Math" panose="02040503050406030204" pitchFamily="18" charset="0"/>
                          </a:rPr>
                          <m:t>𝑝</m:t>
                        </m:r>
                      </m:e>
                    </m:d>
                  </m:oMath>
                </a14:m>
                <a:r>
                  <a:rPr lang="zh-CN" altLang="en-US" sz="2000" dirty="0"/>
                  <a:t> </a:t>
                </a:r>
                <a:r>
                  <a:rPr lang="zh-CN" altLang="zh-CN" sz="2000" dirty="0"/>
                  <a:t>得证</a:t>
                </a:r>
                <a:r>
                  <a:rPr lang="zh-CN" altLang="en-US" sz="2000" dirty="0"/>
                  <a:t>。</a:t>
                </a:r>
                <a:endParaRPr lang="zh-CN" altLang="zh-CN"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572181"/>
                <a:ext cx="9980682" cy="5215062"/>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1AE1D240-FC24-F943-B9DB-F18468C9CD72}"/>
              </a:ext>
            </a:extLst>
          </p:cNvPr>
          <p:cNvSpPr>
            <a:spLocks noGrp="1"/>
          </p:cNvSpPr>
          <p:nvPr>
            <p:ph type="sldNum" sz="quarter" idx="12"/>
          </p:nvPr>
        </p:nvSpPr>
        <p:spPr/>
        <p:txBody>
          <a:bodyPr/>
          <a:lstStyle/>
          <a:p>
            <a:fld id="{0FF54DE5-C571-48E8-A5BC-B369434E2F44}" type="slidenum">
              <a:rPr lang="en-US" altLang="zh-CN" smtClean="0"/>
              <a:pPr/>
              <a:t>66</a:t>
            </a:fld>
            <a:endParaRPr lang="zh-CN" altLang="en-US" dirty="0"/>
          </a:p>
        </p:txBody>
      </p:sp>
    </p:spTree>
    <p:extLst>
      <p:ext uri="{BB962C8B-B14F-4D97-AF65-F5344CB8AC3E}">
        <p14:creationId xmlns:p14="http://schemas.microsoft.com/office/powerpoint/2010/main" val="4207816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费马小定理</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572181"/>
                <a:ext cx="9980682" cy="5215062"/>
              </a:xfrm>
            </p:spPr>
            <p:txBody>
              <a:bodyPr>
                <a:normAutofit/>
              </a:bodyPr>
              <a:lstStyle/>
              <a:p>
                <a:pPr>
                  <a:lnSpc>
                    <a:spcPct val="150000"/>
                  </a:lnSpc>
                </a:pPr>
                <a:r>
                  <a:rPr lang="zh-CN" altLang="zh-CN" dirty="0"/>
                  <a:t>一般情况下，在</a:t>
                </a:r>
                <a:r>
                  <a:rPr lang="zh-CN" altLang="en-US" dirty="0"/>
                  <a:t> </a:t>
                </a:r>
                <a14:m>
                  <m:oMath xmlns:m="http://schemas.openxmlformats.org/officeDocument/2006/math">
                    <m:r>
                      <a:rPr lang="en-US" altLang="zh-CN" i="1">
                        <a:latin typeface="Cambria Math" panose="02040503050406030204" pitchFamily="18" charset="0"/>
                      </a:rPr>
                      <m:t>𝑝</m:t>
                    </m:r>
                  </m:oMath>
                </a14:m>
                <a:r>
                  <a:rPr lang="zh-CN" altLang="en-US" dirty="0"/>
                  <a:t> </a:t>
                </a:r>
                <a:r>
                  <a:rPr lang="zh-CN" altLang="zh-CN" dirty="0"/>
                  <a:t>是</a:t>
                </a:r>
                <a:r>
                  <a:rPr lang="zh-CN" altLang="en-US" dirty="0"/>
                  <a:t>素</a:t>
                </a:r>
                <a:r>
                  <a:rPr lang="zh-CN" altLang="zh-CN" dirty="0"/>
                  <a:t>数的情况下，对任意整数</a:t>
                </a:r>
                <a:r>
                  <a:rPr lang="zh-CN" altLang="en-US" dirty="0"/>
                  <a:t> </a:t>
                </a:r>
                <a14:m>
                  <m:oMath xmlns:m="http://schemas.openxmlformats.org/officeDocument/2006/math">
                    <m:r>
                      <a:rPr lang="en-US" altLang="zh-CN" i="1" dirty="0" smtClean="0">
                        <a:latin typeface="Cambria Math" panose="02040503050406030204" pitchFamily="18" charset="0"/>
                      </a:rPr>
                      <m:t>𝑎</m:t>
                    </m:r>
                  </m:oMath>
                </a14:m>
                <a:r>
                  <a:rPr lang="zh-CN" altLang="en-US" dirty="0"/>
                  <a:t> </a:t>
                </a:r>
                <a:r>
                  <a:rPr lang="zh-CN" altLang="zh-CN" dirty="0"/>
                  <a:t>都有</a:t>
                </a:r>
                <a:r>
                  <a:rPr lang="zh-CN" altLang="en-US" dirty="0"/>
                  <a:t> </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𝑝</m:t>
                        </m:r>
                      </m:sup>
                    </m:sSup>
                    <m:r>
                      <a:rPr lang="en-US" altLang="zh-CN" i="1">
                        <a:latin typeface="Cambria Math" panose="02040503050406030204" pitchFamily="18" charset="0"/>
                      </a:rPr>
                      <m:t>≡</m:t>
                    </m:r>
                    <m:r>
                      <a:rPr lang="en-US" altLang="zh-CN" i="1">
                        <a:latin typeface="Cambria Math" panose="02040503050406030204" pitchFamily="18" charset="0"/>
                      </a:rPr>
                      <m:t>𝑎</m:t>
                    </m:r>
                    <m:d>
                      <m:dPr>
                        <m:ctrlPr>
                          <a:rPr lang="zh-CN" altLang="zh-CN" i="1">
                            <a:latin typeface="Cambria Math" panose="02040503050406030204" pitchFamily="18" charset="0"/>
                          </a:rPr>
                        </m:ctrlPr>
                      </m:dPr>
                      <m:e>
                        <m:r>
                          <a:rPr lang="en-US" altLang="zh-CN" i="1">
                            <a:latin typeface="Cambria Math" panose="02040503050406030204" pitchFamily="18" charset="0"/>
                          </a:rPr>
                          <m:t>𝑚𝑜𝑑</m:t>
                        </m:r>
                        <m:r>
                          <a:rPr lang="en-US" altLang="zh-CN" i="1">
                            <a:latin typeface="Cambria Math" panose="02040503050406030204" pitchFamily="18" charset="0"/>
                          </a:rPr>
                          <m:t> </m:t>
                        </m:r>
                        <m:r>
                          <a:rPr lang="en-US" altLang="zh-CN" i="1">
                            <a:latin typeface="Cambria Math" panose="02040503050406030204" pitchFamily="18" charset="0"/>
                          </a:rPr>
                          <m:t>𝑝</m:t>
                        </m:r>
                      </m:e>
                    </m:d>
                  </m:oMath>
                </a14:m>
                <a:r>
                  <a:rPr lang="zh-Hans" altLang="en-US" dirty="0"/>
                  <a:t> 。</a:t>
                </a:r>
                <a:endParaRPr lang="en-US" altLang="zh-CN" dirty="0"/>
              </a:p>
              <a:p>
                <a:pPr>
                  <a:lnSpc>
                    <a:spcPct val="150000"/>
                  </a:lnSpc>
                </a:pPr>
                <a:r>
                  <a:rPr lang="zh-CN" altLang="en-US" dirty="0"/>
                  <a:t>费马小定理</a:t>
                </a:r>
                <a:r>
                  <a:rPr lang="zh-CN" altLang="en-US" noProof="1">
                    <a:solidFill>
                      <a:srgbClr val="514843"/>
                    </a:solidFill>
                    <a:latin typeface="Times New Roman" panose="02020603050405020304" charset="0"/>
                    <a:sym typeface="+mn-ea"/>
                  </a:rPr>
                  <a:t>应用：</a:t>
                </a:r>
                <a:r>
                  <a:rPr lang="en-US" altLang="zh-CN" noProof="1">
                    <a:latin typeface="Times New Roman" panose="02020603050405020304" charset="0"/>
                    <a:sym typeface="+mn-ea"/>
                  </a:rPr>
                  <a:t> </a:t>
                </a:r>
                <a14:m>
                  <m:oMath xmlns:m="http://schemas.openxmlformats.org/officeDocument/2006/math">
                    <m:r>
                      <a:rPr lang="en-US" altLang="zh-CN" i="1" noProof="1" smtClean="0">
                        <a:latin typeface="Cambria Math" panose="02040503050406030204" pitchFamily="18" charset="0"/>
                        <a:sym typeface="+mn-ea"/>
                      </a:rPr>
                      <m:t>𝑝</m:t>
                    </m:r>
                  </m:oMath>
                </a14:m>
                <a:r>
                  <a:rPr lang="zh-CN" altLang="en-US" noProof="1">
                    <a:latin typeface="Times New Roman" panose="02020603050405020304" charset="0"/>
                    <a:sym typeface="+mn-ea"/>
                  </a:rPr>
                  <a:t> </a:t>
                </a:r>
                <a:r>
                  <a:rPr lang="zh-CN" altLang="zh-CN" noProof="1">
                    <a:latin typeface="Times New Roman" panose="02020603050405020304" charset="0"/>
                    <a:sym typeface="+mn-ea"/>
                  </a:rPr>
                  <a:t>是素数</a:t>
                </a:r>
                <a:r>
                  <a:rPr lang="zh-CN" altLang="en-US" noProof="1">
                    <a:latin typeface="Times New Roman" panose="02020603050405020304" charset="0"/>
                    <a:sym typeface="+mn-ea"/>
                  </a:rPr>
                  <a:t>，</a:t>
                </a:r>
                <a14:m>
                  <m:oMath xmlns:m="http://schemas.openxmlformats.org/officeDocument/2006/math">
                    <m:r>
                      <a:rPr lang="en-US" altLang="zh-CN" i="1" noProof="1">
                        <a:latin typeface="Cambria Math" panose="02040503050406030204" pitchFamily="18" charset="0"/>
                        <a:sym typeface="+mn-ea"/>
                      </a:rPr>
                      <m:t>𝑎</m:t>
                    </m:r>
                    <m:r>
                      <a:rPr lang="en-US" altLang="zh-CN" i="1" noProof="1">
                        <a:latin typeface="Cambria Math" panose="02040503050406030204" pitchFamily="18" charset="0"/>
                        <a:sym typeface="+mn-ea"/>
                      </a:rPr>
                      <m:t>,</m:t>
                    </m:r>
                    <m:r>
                      <a:rPr lang="en-US" altLang="zh-CN" i="1" noProof="1">
                        <a:latin typeface="Cambria Math" panose="02040503050406030204" pitchFamily="18" charset="0"/>
                        <a:sym typeface="+mn-ea"/>
                      </a:rPr>
                      <m:t>𝑝</m:t>
                    </m:r>
                  </m:oMath>
                </a14:m>
                <a:r>
                  <a:rPr lang="zh-CN" altLang="zh-CN" noProof="1">
                    <a:latin typeface="Times New Roman" panose="02020603050405020304" charset="0"/>
                    <a:sym typeface="+mn-ea"/>
                  </a:rPr>
                  <a:t>互</a:t>
                </a:r>
                <a:r>
                  <a:rPr lang="zh-CN" altLang="en-US" noProof="1">
                    <a:latin typeface="Times New Roman" panose="02020603050405020304" charset="0"/>
                    <a:sym typeface="+mn-ea"/>
                  </a:rPr>
                  <a:t>素，</a:t>
                </a:r>
                <a:r>
                  <a:rPr lang="zh-CN" altLang="zh-CN" noProof="1">
                    <a:latin typeface="Times New Roman" panose="02020603050405020304" charset="0"/>
                    <a:sym typeface="+mn-ea"/>
                  </a:rPr>
                  <a:t>则</a:t>
                </a:r>
                <a:r>
                  <a:rPr lang="zh-CN" altLang="en-US" noProof="1">
                    <a:latin typeface="Times New Roman" panose="02020603050405020304" charset="0"/>
                    <a:sym typeface="+mn-ea"/>
                  </a:rPr>
                  <a:t> </a:t>
                </a:r>
                <a14:m>
                  <m:oMath xmlns:m="http://schemas.openxmlformats.org/officeDocument/2006/math">
                    <m:r>
                      <a:rPr lang="en-US" altLang="zh-CN" i="1" noProof="1">
                        <a:latin typeface="Cambria Math" panose="02040503050406030204" pitchFamily="18" charset="0"/>
                        <a:sym typeface="+mn-ea"/>
                      </a:rPr>
                      <m:t>𝑎</m:t>
                    </m:r>
                    <m:r>
                      <a:rPr lang="en-US" altLang="zh-CN" i="1" baseline="30000" noProof="1">
                        <a:latin typeface="Cambria Math" panose="02040503050406030204" pitchFamily="18" charset="0"/>
                        <a:sym typeface="+mn-ea"/>
                      </a:rPr>
                      <m:t>𝑏</m:t>
                    </m:r>
                    <m:r>
                      <a:rPr lang="en-US" altLang="zh-CN" i="1" noProof="1">
                        <a:latin typeface="Cambria Math" panose="02040503050406030204" pitchFamily="18" charset="0"/>
                        <a:sym typeface="+mn-ea"/>
                      </a:rPr>
                      <m:t> </m:t>
                    </m:r>
                    <m:r>
                      <m:rPr>
                        <m:sty m:val="p"/>
                      </m:rPr>
                      <a:rPr lang="en-US" altLang="zh-CN" noProof="1">
                        <a:latin typeface="Cambria Math" panose="02040503050406030204" pitchFamily="18" charset="0"/>
                        <a:sym typeface="+mn-ea"/>
                      </a:rPr>
                      <m:t>mod</m:t>
                    </m:r>
                    <m:r>
                      <a:rPr lang="en-US" altLang="zh-CN" i="1" noProof="1">
                        <a:latin typeface="Cambria Math" panose="02040503050406030204" pitchFamily="18" charset="0"/>
                        <a:sym typeface="+mn-ea"/>
                      </a:rPr>
                      <m:t> </m:t>
                    </m:r>
                    <m:r>
                      <a:rPr lang="en-US" altLang="zh-CN" i="1" noProof="1">
                        <a:latin typeface="Cambria Math" panose="02040503050406030204" pitchFamily="18" charset="0"/>
                        <a:sym typeface="+mn-ea"/>
                      </a:rPr>
                      <m:t>𝑝</m:t>
                    </m:r>
                    <m:r>
                      <a:rPr lang="en-US" altLang="zh-CN" i="1" noProof="1">
                        <a:latin typeface="Cambria Math" panose="02040503050406030204" pitchFamily="18" charset="0"/>
                        <a:sym typeface="+mn-ea"/>
                      </a:rPr>
                      <m:t>=</m:t>
                    </m:r>
                    <m:r>
                      <a:rPr lang="en-US" altLang="zh-CN" i="1" noProof="1">
                        <a:latin typeface="Cambria Math" panose="02040503050406030204" pitchFamily="18" charset="0"/>
                        <a:sym typeface="+mn-ea"/>
                      </a:rPr>
                      <m:t>𝑎</m:t>
                    </m:r>
                    <m:r>
                      <a:rPr lang="en-US" altLang="zh-CN" baseline="30000" noProof="1">
                        <a:latin typeface="Cambria Math" panose="02040503050406030204" pitchFamily="18" charset="0"/>
                        <a:sym typeface="+mn-ea"/>
                      </a:rPr>
                      <m:t> </m:t>
                    </m:r>
                    <m:r>
                      <a:rPr lang="en-US" altLang="zh-CN" b="0" i="1" baseline="30000" noProof="1" smtClean="0">
                        <a:latin typeface="Cambria Math" panose="02040503050406030204" pitchFamily="18" charset="0"/>
                        <a:sym typeface="+mn-ea"/>
                      </a:rPr>
                      <m:t>𝑏</m:t>
                    </m:r>
                    <m:r>
                      <a:rPr lang="en-US" altLang="zh-CN" b="0" i="0" baseline="30000" noProof="1" smtClean="0">
                        <a:latin typeface="Cambria Math" panose="02040503050406030204" pitchFamily="18" charset="0"/>
                        <a:sym typeface="+mn-ea"/>
                      </a:rPr>
                      <m:t> </m:t>
                    </m:r>
                    <m:r>
                      <m:rPr>
                        <m:sty m:val="p"/>
                      </m:rPr>
                      <a:rPr lang="en-US" altLang="zh-CN" baseline="30000" noProof="1">
                        <a:latin typeface="Cambria Math" panose="02040503050406030204" pitchFamily="18" charset="0"/>
                        <a:sym typeface="+mn-ea"/>
                      </a:rPr>
                      <m:t>mod</m:t>
                    </m:r>
                    <m:r>
                      <a:rPr lang="en-US" altLang="zh-CN" i="1" baseline="30000" noProof="1">
                        <a:latin typeface="Cambria Math" panose="02040503050406030204" pitchFamily="18" charset="0"/>
                        <a:sym typeface="+mn-ea"/>
                      </a:rPr>
                      <m:t> </m:t>
                    </m:r>
                    <m:r>
                      <a:rPr lang="en-US" altLang="zh-CN" i="1" baseline="30000" noProof="1">
                        <a:latin typeface="Cambria Math" panose="02040503050406030204" pitchFamily="18" charset="0"/>
                        <a:sym typeface="+mn-ea"/>
                      </a:rPr>
                      <m:t>𝑝</m:t>
                    </m:r>
                    <m:r>
                      <a:rPr lang="en-US" altLang="zh-CN" b="0" i="0" baseline="30000" noProof="1" smtClean="0">
                        <a:latin typeface="Cambria Math" panose="02040503050406030204" pitchFamily="18" charset="0"/>
                        <a:sym typeface="+mn-ea"/>
                      </a:rPr>
                      <m:t> </m:t>
                    </m:r>
                    <m:r>
                      <m:rPr>
                        <m:sty m:val="p"/>
                      </m:rPr>
                      <a:rPr lang="en-US" altLang="zh-CN" noProof="1">
                        <a:latin typeface="Cambria Math" panose="02040503050406030204" pitchFamily="18" charset="0"/>
                        <a:sym typeface="+mn-ea"/>
                      </a:rPr>
                      <m:t>mod</m:t>
                    </m:r>
                    <m:r>
                      <a:rPr lang="en-US" altLang="zh-CN" i="1" noProof="1">
                        <a:latin typeface="Cambria Math" panose="02040503050406030204" pitchFamily="18" charset="0"/>
                        <a:sym typeface="+mn-ea"/>
                      </a:rPr>
                      <m:t> </m:t>
                    </m:r>
                    <m:r>
                      <a:rPr lang="en-US" altLang="zh-CN" i="1" noProof="1" smtClean="0">
                        <a:latin typeface="Cambria Math" panose="02040503050406030204" pitchFamily="18" charset="0"/>
                        <a:sym typeface="+mn-ea"/>
                      </a:rPr>
                      <m:t>𝑝</m:t>
                    </m:r>
                  </m:oMath>
                </a14:m>
                <a:endParaRPr lang="en-US" altLang="zh-CN" noProof="1"/>
              </a:p>
              <a:p>
                <a:pPr>
                  <a:lnSpc>
                    <a:spcPct val="150000"/>
                  </a:lnSpc>
                </a:pPr>
                <a:r>
                  <a:rPr lang="zh-CN" altLang="zh-CN" noProof="1"/>
                  <a:t>如</a:t>
                </a:r>
                <a:r>
                  <a:rPr lang="en-US" altLang="zh-CN" noProof="1"/>
                  <a:t> </a:t>
                </a:r>
                <a14:m>
                  <m:oMath xmlns:m="http://schemas.openxmlformats.org/officeDocument/2006/math">
                    <m:r>
                      <a:rPr lang="zh-CN" altLang="zh-CN" i="1" noProof="1" smtClean="0">
                        <a:latin typeface="Cambria Math" panose="02040503050406030204" pitchFamily="18" charset="0"/>
                      </a:rPr>
                      <m:t>𝑝</m:t>
                    </m:r>
                    <m:r>
                      <a:rPr lang="zh-CN" altLang="zh-CN" i="1" noProof="1" smtClean="0">
                        <a:latin typeface="Cambria Math" panose="02040503050406030204" pitchFamily="18" charset="0"/>
                      </a:rPr>
                      <m:t>=5,</m:t>
                    </m:r>
                    <m:r>
                      <a:rPr lang="zh-CN" altLang="zh-CN" i="1" noProof="1" smtClean="0">
                        <a:latin typeface="Cambria Math" panose="02040503050406030204" pitchFamily="18" charset="0"/>
                      </a:rPr>
                      <m:t>𝑎</m:t>
                    </m:r>
                    <m:r>
                      <a:rPr lang="zh-CN" altLang="zh-CN" i="1" noProof="1" smtClean="0">
                        <a:latin typeface="Cambria Math" panose="02040503050406030204" pitchFamily="18" charset="0"/>
                      </a:rPr>
                      <m:t>=3,   </m:t>
                    </m:r>
                    <m:sSup>
                      <m:sSupPr>
                        <m:ctrlPr>
                          <a:rPr lang="en-US" altLang="zh-CN" b="0" i="1" noProof="1" smtClean="0">
                            <a:latin typeface="Cambria Math" panose="02040503050406030204" pitchFamily="18" charset="0"/>
                          </a:rPr>
                        </m:ctrlPr>
                      </m:sSupPr>
                      <m:e>
                        <m:r>
                          <a:rPr lang="en-US" altLang="zh-CN" b="0" i="1" noProof="1" smtClean="0">
                            <a:latin typeface="Cambria Math" panose="02040503050406030204" pitchFamily="18" charset="0"/>
                          </a:rPr>
                          <m:t>3</m:t>
                        </m:r>
                      </m:e>
                      <m:sup>
                        <m:r>
                          <a:rPr lang="en-US" altLang="zh-CN" b="0" i="1" noProof="1" smtClean="0">
                            <a:latin typeface="Cambria Math" panose="02040503050406030204" pitchFamily="18" charset="0"/>
                          </a:rPr>
                          <m:t>4</m:t>
                        </m:r>
                      </m:sup>
                    </m:sSup>
                    <m:r>
                      <a:rPr lang="zh-CN" altLang="zh-CN" i="1" noProof="1" smtClean="0">
                        <a:latin typeface="Cambria Math" panose="02040503050406030204" pitchFamily="18" charset="0"/>
                      </a:rPr>
                      <m:t>=81≡1</m:t>
                    </m:r>
                    <m:d>
                      <m:dPr>
                        <m:ctrlPr>
                          <a:rPr lang="zh-CN" altLang="zh-CN" i="1" noProof="1">
                            <a:latin typeface="Cambria Math" panose="02040503050406030204" pitchFamily="18" charset="0"/>
                            <a:sym typeface="+mn-ea"/>
                          </a:rPr>
                        </m:ctrlPr>
                      </m:dPr>
                      <m:e>
                        <m:r>
                          <a:rPr lang="zh-CN" altLang="zh-CN" i="1" noProof="1">
                            <a:latin typeface="Cambria Math" panose="02040503050406030204" pitchFamily="18" charset="0"/>
                            <a:sym typeface="+mn-ea"/>
                          </a:rPr>
                          <m:t>𝑚𝑜𝑑</m:t>
                        </m:r>
                        <m:r>
                          <a:rPr lang="zh-CN" altLang="zh-CN" i="1" noProof="1">
                            <a:latin typeface="Cambria Math" panose="02040503050406030204" pitchFamily="18" charset="0"/>
                            <a:sym typeface="+mn-ea"/>
                          </a:rPr>
                          <m:t> 5</m:t>
                        </m:r>
                      </m:e>
                    </m:d>
                  </m:oMath>
                </a14:m>
                <a:r>
                  <a:rPr lang="zh-Hans" altLang="en-US" i="1" noProof="1">
                    <a:latin typeface="Cambria Math" panose="02040503050406030204" pitchFamily="18" charset="0"/>
                    <a:sym typeface="+mn-ea"/>
                  </a:rPr>
                  <a:t> </a:t>
                </a:r>
                <a:endParaRPr lang="en-US" altLang="zh-CN" i="1" noProof="1">
                  <a:latin typeface="Cambria Math" panose="02040503050406030204" pitchFamily="18" charset="0"/>
                  <a:sym typeface="+mn-ea"/>
                </a:endParaRPr>
              </a:p>
              <a:p>
                <a:pPr>
                  <a:lnSpc>
                    <a:spcPct val="150000"/>
                  </a:lnSpc>
                </a:pPr>
                <a:r>
                  <a:rPr lang="zh-CN" altLang="en-US" noProof="1">
                    <a:sym typeface="+mn-ea"/>
                  </a:rPr>
                  <a:t>又如</a:t>
                </a:r>
                <a14:m>
                  <m:oMath xmlns:m="http://schemas.openxmlformats.org/officeDocument/2006/math">
                    <m:r>
                      <a:rPr lang="en-US" altLang="zh-CN" b="0" i="0" noProof="1" smtClean="0">
                        <a:latin typeface="Cambria Math" panose="02040503050406030204" pitchFamily="18" charset="0"/>
                        <a:sym typeface="+mn-ea"/>
                      </a:rPr>
                      <m:t> </m:t>
                    </m:r>
                    <m:r>
                      <a:rPr lang="zh-CN" altLang="zh-CN" i="1" noProof="1">
                        <a:latin typeface="Cambria Math" panose="02040503050406030204" pitchFamily="18" charset="0"/>
                        <a:sym typeface="+mn-ea"/>
                      </a:rPr>
                      <m:t>3</m:t>
                    </m:r>
                    <m:r>
                      <a:rPr lang="zh-CN" altLang="zh-CN" i="1" baseline="30000" noProof="1">
                        <a:latin typeface="Cambria Math" panose="02040503050406030204" pitchFamily="18" charset="0"/>
                        <a:sym typeface="+mn-ea"/>
                      </a:rPr>
                      <m:t>20</m:t>
                    </m:r>
                    <m:r>
                      <a:rPr lang="en-US" altLang="zh-CN" i="1" baseline="30000" noProof="1">
                        <a:latin typeface="Cambria Math" panose="02040503050406030204" pitchFamily="18" charset="0"/>
                        <a:sym typeface="+mn-ea"/>
                      </a:rPr>
                      <m:t>46</m:t>
                    </m:r>
                    <m:r>
                      <a:rPr lang="zh-CN" altLang="zh-CN" i="1" noProof="1">
                        <a:latin typeface="Cambria Math" panose="02040503050406030204" pitchFamily="18" charset="0"/>
                        <a:sym typeface="+mn-ea"/>
                      </a:rPr>
                      <m:t>=</m:t>
                    </m:r>
                    <m:sSup>
                      <m:sSupPr>
                        <m:ctrlPr>
                          <a:rPr lang="en-US" altLang="zh-CN" i="1" noProof="1" smtClean="0">
                            <a:latin typeface="Cambria Math" panose="02040503050406030204" pitchFamily="18" charset="0"/>
                            <a:sym typeface="+mn-ea"/>
                          </a:rPr>
                        </m:ctrlPr>
                      </m:sSupPr>
                      <m:e>
                        <m:r>
                          <a:rPr lang="en-US" altLang="zh-CN" i="1" noProof="1">
                            <a:latin typeface="Cambria Math" panose="02040503050406030204" pitchFamily="18" charset="0"/>
                            <a:sym typeface="+mn-ea"/>
                          </a:rPr>
                          <m:t>3</m:t>
                        </m:r>
                      </m:e>
                      <m:sup>
                        <m:r>
                          <a:rPr lang="en-US" altLang="zh-CN" i="1" noProof="1">
                            <a:solidFill>
                              <a:srgbClr val="514843"/>
                            </a:solidFill>
                            <a:latin typeface="Cambria Math" panose="02040503050406030204" pitchFamily="18" charset="0"/>
                            <a:sym typeface="+mn-ea"/>
                          </a:rPr>
                          <m:t>4</m:t>
                        </m:r>
                        <m:r>
                          <a:rPr lang="en-US" altLang="zh-CN" i="1" noProof="1">
                            <a:solidFill>
                              <a:srgbClr val="514843"/>
                            </a:solidFill>
                            <a:latin typeface="Cambria Math" panose="02040503050406030204" pitchFamily="18" charset="0"/>
                            <a:ea typeface="Cambria Math" panose="02040503050406030204" pitchFamily="18" charset="0"/>
                            <a:sym typeface="+mn-ea"/>
                          </a:rPr>
                          <m:t>×511+2</m:t>
                        </m:r>
                      </m:sup>
                    </m:sSup>
                    <m:r>
                      <a:rPr lang="zh-CN" altLang="zh-CN" i="1" noProof="1">
                        <a:latin typeface="Cambria Math" panose="02040503050406030204" pitchFamily="18" charset="0"/>
                        <a:sym typeface="+mn-ea"/>
                      </a:rPr>
                      <m:t>≡3</m:t>
                    </m:r>
                    <m:r>
                      <a:rPr lang="zh-CN" altLang="zh-CN" i="1" baseline="30000" noProof="1">
                        <a:latin typeface="Cambria Math" panose="02040503050406030204" pitchFamily="18" charset="0"/>
                        <a:sym typeface="+mn-ea"/>
                      </a:rPr>
                      <m:t>2</m:t>
                    </m:r>
                    <m:r>
                      <a:rPr lang="zh-CN" altLang="zh-CN" i="1" noProof="1">
                        <a:latin typeface="Cambria Math" panose="02040503050406030204" pitchFamily="18" charset="0"/>
                        <a:sym typeface="+mn-ea"/>
                      </a:rPr>
                      <m:t>(</m:t>
                    </m:r>
                    <m:r>
                      <m:rPr>
                        <m:sty m:val="p"/>
                      </m:rPr>
                      <a:rPr lang="zh-CN" altLang="zh-CN" i="0" noProof="1">
                        <a:latin typeface="Cambria Math" panose="02040503050406030204" pitchFamily="18" charset="0"/>
                        <a:sym typeface="+mn-ea"/>
                      </a:rPr>
                      <m:t>mod</m:t>
                    </m:r>
                    <m:r>
                      <a:rPr lang="zh-CN" altLang="zh-CN" i="1" noProof="1">
                        <a:latin typeface="Cambria Math" panose="02040503050406030204" pitchFamily="18" charset="0"/>
                        <a:sym typeface="+mn-ea"/>
                      </a:rPr>
                      <m:t> 5)≡4(</m:t>
                    </m:r>
                    <m:r>
                      <m:rPr>
                        <m:sty m:val="p"/>
                      </m:rPr>
                      <a:rPr lang="zh-CN" altLang="zh-CN" i="0" noProof="1">
                        <a:latin typeface="Cambria Math" panose="02040503050406030204" pitchFamily="18" charset="0"/>
                        <a:sym typeface="+mn-ea"/>
                      </a:rPr>
                      <m:t>mod</m:t>
                    </m:r>
                    <m:r>
                      <a:rPr lang="zh-CN" altLang="zh-CN" i="1" noProof="1">
                        <a:latin typeface="Cambria Math" panose="02040503050406030204" pitchFamily="18" charset="0"/>
                        <a:sym typeface="+mn-ea"/>
                      </a:rPr>
                      <m:t> 5</m:t>
                    </m:r>
                    <m:r>
                      <a:rPr lang="zh-CN" altLang="zh-CN" i="1" noProof="1" smtClean="0">
                        <a:latin typeface="Cambria Math" panose="02040503050406030204" pitchFamily="18" charset="0"/>
                        <a:sym typeface="+mn-ea"/>
                      </a:rPr>
                      <m:t>)</m:t>
                    </m:r>
                  </m:oMath>
                </a14:m>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572181"/>
                <a:ext cx="9980682" cy="5215062"/>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333B2253-4B21-0343-B233-3EE3905C088B}"/>
              </a:ext>
            </a:extLst>
          </p:cNvPr>
          <p:cNvSpPr>
            <a:spLocks noGrp="1"/>
          </p:cNvSpPr>
          <p:nvPr>
            <p:ph type="sldNum" sz="quarter" idx="12"/>
          </p:nvPr>
        </p:nvSpPr>
        <p:spPr/>
        <p:txBody>
          <a:bodyPr/>
          <a:lstStyle/>
          <a:p>
            <a:fld id="{0FF54DE5-C571-48E8-A5BC-B369434E2F44}" type="slidenum">
              <a:rPr lang="en-US" altLang="zh-CN" smtClean="0"/>
              <a:pPr/>
              <a:t>67</a:t>
            </a:fld>
            <a:endParaRPr lang="zh-CN" altLang="en-US" dirty="0"/>
          </a:p>
        </p:txBody>
      </p:sp>
    </p:spTree>
    <p:extLst>
      <p:ext uri="{BB962C8B-B14F-4D97-AF65-F5344CB8AC3E}">
        <p14:creationId xmlns:p14="http://schemas.microsoft.com/office/powerpoint/2010/main" val="32325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使用费马小定理来判定素数</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572181"/>
                <a:ext cx="9980682" cy="5215062"/>
              </a:xfrm>
            </p:spPr>
            <p:txBody>
              <a:bodyPr>
                <a:normAutofit/>
              </a:bodyPr>
              <a:lstStyle/>
              <a:p>
                <a:pPr>
                  <a:lnSpc>
                    <a:spcPct val="150000"/>
                  </a:lnSpc>
                  <a:spcBef>
                    <a:spcPts val="1200"/>
                  </a:spcBef>
                </a:pPr>
                <a:r>
                  <a:rPr lang="zh-CN" altLang="en-US" dirty="0"/>
                  <a:t>可多次选取</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检验</a:t>
                </a:r>
                <a:r>
                  <a:rPr lang="zh-Hans" altLang="en-US" dirty="0"/>
                  <a:t> </a:t>
                </a:r>
                <a14:m>
                  <m:oMath xmlns:m="http://schemas.openxmlformats.org/officeDocument/2006/math">
                    <m:r>
                      <a:rPr lang="en-US" altLang="zh-CN" i="1" dirty="0" smtClean="0">
                        <a:latin typeface="Cambria Math" panose="02040503050406030204" pitchFamily="18" charset="0"/>
                      </a:rPr>
                      <m:t>𝑝</m:t>
                    </m:r>
                  </m:oMath>
                </a14:m>
                <a:r>
                  <a:rPr lang="zh-Hans" altLang="en-US" dirty="0"/>
                  <a:t> </a:t>
                </a:r>
                <a:r>
                  <a:rPr lang="zh-CN" altLang="en-US" dirty="0"/>
                  <a:t>是否满足费马小定理，</a:t>
                </a:r>
                <a14:m>
                  <m:oMath xmlns:m="http://schemas.openxmlformats.org/officeDocument/2006/math">
                    <m:r>
                      <a:rPr lang="en-US" altLang="zh-CN" i="1" dirty="0" smtClean="0">
                        <a:latin typeface="Cambria Math" panose="02040503050406030204" pitchFamily="18" charset="0"/>
                      </a:rPr>
                      <m:t>𝑝</m:t>
                    </m:r>
                  </m:oMath>
                </a14:m>
                <a:r>
                  <a:rPr lang="zh-Hans" altLang="en-US" dirty="0"/>
                  <a:t> </a:t>
                </a:r>
                <a:r>
                  <a:rPr lang="zh-CN" altLang="en-US" dirty="0"/>
                  <a:t>为质数的概率随着选取</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的数量增加而变大。</a:t>
                </a:r>
              </a:p>
              <a:p>
                <a:pPr>
                  <a:lnSpc>
                    <a:spcPct val="150000"/>
                  </a:lnSpc>
                  <a:spcBef>
                    <a:spcPts val="1200"/>
                  </a:spcBef>
                </a:pPr>
                <a:r>
                  <a:rPr lang="zh-CN" altLang="en-US" dirty="0"/>
                  <a:t>时间复杂度为：选取</a:t>
                </a:r>
                <a:r>
                  <a:rPr lang="en-US" altLang="zh-CN" dirty="0"/>
                  <a:t> </a:t>
                </a:r>
                <a14:m>
                  <m:oMath xmlns:m="http://schemas.openxmlformats.org/officeDocument/2006/math">
                    <m:r>
                      <a:rPr lang="en-US" altLang="zh-CN" i="1" dirty="0" smtClean="0">
                        <a:latin typeface="Cambria Math" panose="02040503050406030204" pitchFamily="18" charset="0"/>
                      </a:rPr>
                      <m:t>𝑘</m:t>
                    </m:r>
                  </m:oMath>
                </a14:m>
                <a:r>
                  <a:rPr lang="en-US" altLang="zh-CN" dirty="0"/>
                  <a:t> </a:t>
                </a:r>
                <a:r>
                  <a:rPr lang="zh-CN" altLang="en-US" dirty="0"/>
                  <a:t>个</a:t>
                </a:r>
                <a:r>
                  <a:rPr lang="en-US" altLang="zh-CN" dirty="0"/>
                  <a:t> </a:t>
                </a:r>
                <a14:m>
                  <m:oMath xmlns:m="http://schemas.openxmlformats.org/officeDocument/2006/math">
                    <m:r>
                      <a:rPr lang="en-US" altLang="zh-CN" i="1" dirty="0" smtClean="0">
                        <a:latin typeface="Cambria Math" panose="02040503050406030204" pitchFamily="18" charset="0"/>
                      </a:rPr>
                      <m:t>𝑎</m:t>
                    </m:r>
                  </m:oMath>
                </a14:m>
                <a:r>
                  <a:rPr lang="zh-CN" altLang="en-US" dirty="0"/>
                  <a:t>，判断的过程代价为</a:t>
                </a:r>
                <a:r>
                  <a:rPr lang="en-US" altLang="zh-CN" dirty="0"/>
                  <a:t> </a:t>
                </a:r>
                <a14:m>
                  <m:oMath xmlns:m="http://schemas.openxmlformats.org/officeDocument/2006/math">
                    <m:r>
                      <m:rPr>
                        <m:sty m:val="p"/>
                      </m:rPr>
                      <a:rPr lang="en-US" altLang="zh-CN" i="0" dirty="0" smtClean="0">
                        <a:latin typeface="Cambria Math" panose="02040503050406030204" pitchFamily="18" charset="0"/>
                      </a:rPr>
                      <m:t>log</m:t>
                    </m:r>
                    <m:r>
                      <a:rPr lang="en-US" altLang="zh-CN" i="1" dirty="0" smtClean="0">
                        <a:latin typeface="Cambria Math" panose="02040503050406030204" pitchFamily="18" charset="0"/>
                      </a:rPr>
                      <m:t>𝑝</m:t>
                    </m:r>
                  </m:oMath>
                </a14:m>
                <a:r>
                  <a:rPr lang="zh-CN" altLang="en-US" dirty="0"/>
                  <a:t>，总的加起来为</a:t>
                </a:r>
                <a:r>
                  <a:rPr lang="zh-Hans" altLang="en-US" dirty="0"/>
                  <a:t> </a:t>
                </a:r>
                <a14:m>
                  <m:oMath xmlns:m="http://schemas.openxmlformats.org/officeDocument/2006/math">
                    <m:r>
                      <a:rPr lang="en-US" altLang="zh-CN" i="1" dirty="0">
                        <a:latin typeface="Cambria Math" panose="02040503050406030204" pitchFamily="18" charset="0"/>
                      </a:rPr>
                      <m:t>𝑂</m:t>
                    </m:r>
                    <m:r>
                      <a:rPr lang="en-US" altLang="zh-CN" i="1" dirty="0">
                        <a:latin typeface="Cambria Math" panose="02040503050406030204" pitchFamily="18" charset="0"/>
                      </a:rPr>
                      <m:t>(</m:t>
                    </m:r>
                    <m:r>
                      <a:rPr lang="en-US" altLang="zh-CN" i="1" dirty="0" err="1">
                        <a:latin typeface="Cambria Math" panose="02040503050406030204" pitchFamily="18" charset="0"/>
                      </a:rPr>
                      <m:t>𝑘</m:t>
                    </m:r>
                    <m:r>
                      <m:rPr>
                        <m:sty m:val="p"/>
                      </m:rPr>
                      <a:rPr lang="en-US" altLang="zh-CN" dirty="0">
                        <a:latin typeface="Cambria Math" panose="02040503050406030204" pitchFamily="18" charset="0"/>
                      </a:rPr>
                      <m:t>log</m:t>
                    </m:r>
                    <m:r>
                      <a:rPr lang="en-US" altLang="zh-CN" i="1" dirty="0" err="1">
                        <a:latin typeface="Cambria Math" panose="02040503050406030204" pitchFamily="18" charset="0"/>
                      </a:rPr>
                      <m:t>𝑝</m:t>
                    </m:r>
                    <m:r>
                      <a:rPr lang="en-US" altLang="zh-CN" i="1" dirty="0">
                        <a:latin typeface="Cambria Math" panose="02040503050406030204" pitchFamily="18" charset="0"/>
                      </a:rPr>
                      <m:t>)</m:t>
                    </m:r>
                  </m:oMath>
                </a14:m>
                <a:r>
                  <a:rPr lang="en-US" altLang="zh-CN" dirty="0"/>
                  <a:t> </a:t>
                </a:r>
                <a:r>
                  <a:rPr lang="zh-CN" altLang="en-US" dirty="0"/>
                  <a:t>。</a:t>
                </a:r>
              </a:p>
              <a:p>
                <a:pPr>
                  <a:lnSpc>
                    <a:spcPct val="150000"/>
                  </a:lnSpc>
                  <a:spcBef>
                    <a:spcPts val="1200"/>
                  </a:spcBef>
                </a:pPr>
                <a:r>
                  <a:rPr lang="zh-CN" altLang="en-US" dirty="0"/>
                  <a:t>但是这样的算法有缺陷，因为有</a:t>
                </a:r>
                <a:r>
                  <a:rPr lang="en-US" altLang="zh-CN" dirty="0"/>
                  <a:t>Carmichael</a:t>
                </a:r>
                <a:r>
                  <a:rPr lang="zh-CN" altLang="en-US" dirty="0"/>
                  <a:t>数的存在，可导致上述算法给出一个错误的判断，例如：</a:t>
                </a:r>
                <a14:m>
                  <m:oMath xmlns:m="http://schemas.openxmlformats.org/officeDocument/2006/math">
                    <m:r>
                      <a:rPr lang="en-US" altLang="zh-CN" i="1" dirty="0" smtClean="0">
                        <a:latin typeface="Cambria Math" panose="02040503050406030204" pitchFamily="18" charset="0"/>
                      </a:rPr>
                      <m:t>561,1105</m:t>
                    </m:r>
                    <m:r>
                      <a:rPr lang="en-US" altLang="zh-CN" i="1" dirty="0">
                        <a:latin typeface="Cambria Math" panose="02040503050406030204" pitchFamily="18" charset="0"/>
                      </a:rPr>
                      <m:t>,</m:t>
                    </m:r>
                    <m:r>
                      <a:rPr lang="en-US" altLang="zh-CN" i="1" dirty="0" smtClean="0">
                        <a:latin typeface="Cambria Math" panose="02040503050406030204" pitchFamily="18" charset="0"/>
                      </a:rPr>
                      <m:t>1729</m:t>
                    </m:r>
                  </m:oMath>
                </a14:m>
                <a:r>
                  <a:rPr lang="zh-CN" altLang="en-US" dirty="0"/>
                  <a:t>，这三个数满足费马小定理，但是它们都是合数。</a:t>
                </a:r>
              </a:p>
              <a:p>
                <a:pPr>
                  <a:lnSpc>
                    <a:spcPct val="150000"/>
                  </a:lnSpc>
                  <a:spcBef>
                    <a:spcPts val="1200"/>
                  </a:spcBef>
                </a:pPr>
                <a:r>
                  <a:rPr lang="zh-CN" altLang="en-US" dirty="0"/>
                  <a:t>这里给出</a:t>
                </a:r>
                <a:r>
                  <a:rPr lang="en-US" altLang="zh-CN" dirty="0"/>
                  <a:t> </a:t>
                </a:r>
                <a14:m>
                  <m:oMath xmlns:m="http://schemas.openxmlformats.org/officeDocument/2006/math">
                    <m:r>
                      <a:rPr lang="en-US" altLang="zh-CN" i="1" dirty="0" smtClean="0">
                        <a:latin typeface="Cambria Math" panose="02040503050406030204" pitchFamily="18" charset="0"/>
                      </a:rPr>
                      <m:t>1~10000</m:t>
                    </m:r>
                  </m:oMath>
                </a14:m>
                <a:r>
                  <a:rPr lang="en-US" altLang="zh-CN" dirty="0"/>
                  <a:t> </a:t>
                </a:r>
                <a:r>
                  <a:rPr lang="zh-CN" altLang="en-US" dirty="0"/>
                  <a:t>的</a:t>
                </a:r>
                <a:r>
                  <a:rPr lang="en-US" altLang="zh-CN" dirty="0"/>
                  <a:t>Carmichael</a:t>
                </a:r>
                <a:r>
                  <a:rPr lang="zh-CN" altLang="en-US" dirty="0"/>
                  <a:t>数：</a:t>
                </a:r>
                <a14:m>
                  <m:oMath xmlns:m="http://schemas.openxmlformats.org/officeDocument/2006/math">
                    <m:r>
                      <a:rPr lang="en-US" altLang="zh-CN" i="1" dirty="0" smtClean="0">
                        <a:latin typeface="Cambria Math" panose="02040503050406030204" pitchFamily="18" charset="0"/>
                      </a:rPr>
                      <m:t>561,1105,1729,2465,2821,6601,8911</m:t>
                    </m:r>
                  </m:oMath>
                </a14:m>
                <a:r>
                  <a:rPr lang="en-US" altLang="zh-CN" dirty="0"/>
                  <a:t> </a:t>
                </a:r>
                <a:r>
                  <a:rPr lang="zh-CN" altLang="en-US" dirty="0"/>
                  <a:t>。</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572181"/>
                <a:ext cx="9980682" cy="5215062"/>
              </a:xfrm>
              <a:blipFill>
                <a:blip r:embed="rId2"/>
                <a:stretch>
                  <a:fillRect l="-1398" r="-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FD811901-5F01-9D40-82D1-4B27B53A10A1}"/>
              </a:ext>
            </a:extLst>
          </p:cNvPr>
          <p:cNvSpPr>
            <a:spLocks noGrp="1"/>
          </p:cNvSpPr>
          <p:nvPr>
            <p:ph type="sldNum" sz="quarter" idx="12"/>
          </p:nvPr>
        </p:nvSpPr>
        <p:spPr/>
        <p:txBody>
          <a:bodyPr/>
          <a:lstStyle/>
          <a:p>
            <a:fld id="{0FF54DE5-C571-48E8-A5BC-B369434E2F44}" type="slidenum">
              <a:rPr lang="en-US" altLang="zh-CN" smtClean="0"/>
              <a:pPr/>
              <a:t>68</a:t>
            </a:fld>
            <a:endParaRPr lang="zh-CN" altLang="en-US" dirty="0"/>
          </a:p>
        </p:txBody>
      </p:sp>
    </p:spTree>
    <p:extLst>
      <p:ext uri="{BB962C8B-B14F-4D97-AF65-F5344CB8AC3E}">
        <p14:creationId xmlns:p14="http://schemas.microsoft.com/office/powerpoint/2010/main" val="20448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欧拉定理</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11427"/>
                <a:ext cx="9980682" cy="4805702"/>
              </a:xfrm>
            </p:spPr>
            <p:txBody>
              <a:bodyPr>
                <a:normAutofit/>
              </a:bodyPr>
              <a:lstStyle/>
              <a:p>
                <a:pPr>
                  <a:lnSpc>
                    <a:spcPct val="150000"/>
                  </a:lnSpc>
                </a:pPr>
                <a:r>
                  <a:rPr lang="zh-CN" altLang="zh-CN" dirty="0"/>
                  <a:t>在</a:t>
                </a:r>
                <a:r>
                  <a:rPr lang="en-US" altLang="zh-CN" dirty="0"/>
                  <a:t> </a:t>
                </a:r>
                <a14:m>
                  <m:oMath xmlns:m="http://schemas.openxmlformats.org/officeDocument/2006/math">
                    <m:r>
                      <a:rPr lang="en-US" altLang="zh-CN" i="1">
                        <a:latin typeface="Cambria Math" panose="02040503050406030204" pitchFamily="18" charset="0"/>
                      </a:rPr>
                      <m:t>𝑝</m:t>
                    </m:r>
                  </m:oMath>
                </a14:m>
                <a:r>
                  <a:rPr lang="en-US" altLang="zh-CN" dirty="0"/>
                  <a:t> </a:t>
                </a:r>
                <a:r>
                  <a:rPr lang="zh-CN" altLang="zh-CN" dirty="0"/>
                  <a:t>不是</a:t>
                </a:r>
                <a:r>
                  <a:rPr lang="zh-CN" altLang="en-US" dirty="0"/>
                  <a:t>素</a:t>
                </a:r>
                <a:r>
                  <a:rPr lang="zh-CN" altLang="zh-CN" dirty="0"/>
                  <a:t>数的情况下，可以使用欧拉定理</a:t>
                </a:r>
                <a:r>
                  <a:rPr lang="zh-Hans" altLang="en-US" dirty="0"/>
                  <a:t>：</a:t>
                </a:r>
                <a:r>
                  <a:rPr lang="zh-CN" altLang="zh-CN" dirty="0"/>
                  <a:t>对于和</a:t>
                </a:r>
                <a:r>
                  <a:rPr lang="zh-CN" altLang="en-US" dirty="0"/>
                  <a:t> </a:t>
                </a:r>
                <a14:m>
                  <m:oMath xmlns:m="http://schemas.openxmlformats.org/officeDocument/2006/math">
                    <m:r>
                      <a:rPr lang="en-US" altLang="zh-CN" i="1">
                        <a:latin typeface="Cambria Math" panose="02040503050406030204" pitchFamily="18" charset="0"/>
                      </a:rPr>
                      <m:t>𝑚</m:t>
                    </m:r>
                  </m:oMath>
                </a14:m>
                <a:r>
                  <a:rPr lang="zh-CN" altLang="en-US" dirty="0"/>
                  <a:t> </a:t>
                </a:r>
                <a:r>
                  <a:rPr lang="zh-CN" altLang="zh-CN" dirty="0"/>
                  <a:t>互</a:t>
                </a:r>
                <a:r>
                  <a:rPr lang="zh-CN" altLang="en-US" dirty="0"/>
                  <a:t>素</a:t>
                </a:r>
                <a:r>
                  <a:rPr lang="zh-CN" altLang="zh-CN" dirty="0"/>
                  <a:t>的</a:t>
                </a:r>
                <a:r>
                  <a:rPr lang="zh-CN" altLang="en-US" dirty="0"/>
                  <a:t> </a:t>
                </a:r>
                <a14:m>
                  <m:oMath xmlns:m="http://schemas.openxmlformats.org/officeDocument/2006/math">
                    <m:r>
                      <a:rPr lang="en-US" altLang="zh-CN" i="1">
                        <a:latin typeface="Cambria Math" panose="02040503050406030204" pitchFamily="18" charset="0"/>
                      </a:rPr>
                      <m:t>𝑎</m:t>
                    </m:r>
                  </m:oMath>
                </a14:m>
                <a:r>
                  <a:rPr lang="zh-CN" altLang="zh-CN" dirty="0"/>
                  <a:t>，有</a:t>
                </a:r>
                <a:r>
                  <a:rPr lang="zh-CN" altLang="en-US" dirty="0"/>
                  <a:t>： </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𝑚</m:t>
                              </m:r>
                            </m:e>
                          </m:d>
                        </m:sup>
                      </m:sSup>
                      <m:r>
                        <a:rPr lang="en-US" altLang="zh-CN" i="1">
                          <a:latin typeface="Cambria Math" panose="02040503050406030204" pitchFamily="18" charset="0"/>
                        </a:rPr>
                        <m:t>≡1</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𝑚</m:t>
                          </m:r>
                        </m:e>
                      </m:d>
                    </m:oMath>
                  </m:oMathPara>
                </a14:m>
                <a:endParaRPr lang="en-US" altLang="zh-CN" dirty="0"/>
              </a:p>
              <a:p>
                <a:pPr>
                  <a:lnSpc>
                    <a:spcPct val="150000"/>
                  </a:lnSpc>
                </a:pPr>
                <a:r>
                  <a:rPr lang="zh-CN" altLang="zh-CN" noProof="1">
                    <a:solidFill>
                      <a:srgbClr val="514843"/>
                    </a:solidFill>
                  </a:rPr>
                  <a:t>如</a:t>
                </a:r>
                <a:r>
                  <a:rPr lang="zh-CN" altLang="en-US" noProof="1">
                    <a:solidFill>
                      <a:srgbClr val="514843"/>
                    </a:solidFill>
                  </a:rPr>
                  <a:t> </a:t>
                </a:r>
                <a14:m>
                  <m:oMath xmlns:m="http://schemas.openxmlformats.org/officeDocument/2006/math">
                    <m:r>
                      <a:rPr lang="en-US" altLang="zh-CN" i="1" noProof="1">
                        <a:solidFill>
                          <a:srgbClr val="514843"/>
                        </a:solidFill>
                        <a:latin typeface="Cambria Math" panose="02040503050406030204" pitchFamily="18" charset="0"/>
                      </a:rPr>
                      <m:t>𝑚</m:t>
                    </m:r>
                    <m:r>
                      <a:rPr lang="zh-CN" altLang="zh-CN" i="1" noProof="1">
                        <a:solidFill>
                          <a:srgbClr val="514843"/>
                        </a:solidFill>
                        <a:latin typeface="Cambria Math" panose="02040503050406030204" pitchFamily="18" charset="0"/>
                      </a:rPr>
                      <m:t>=10,</m:t>
                    </m:r>
                    <m:r>
                      <a:rPr lang="zh-CN" altLang="zh-CN" i="1" noProof="1">
                        <a:solidFill>
                          <a:srgbClr val="514843"/>
                        </a:solidFill>
                        <a:latin typeface="Cambria Math" panose="02040503050406030204" pitchFamily="18" charset="0"/>
                      </a:rPr>
                      <m:t>𝑎</m:t>
                    </m:r>
                    <m:r>
                      <a:rPr lang="zh-CN" altLang="zh-CN" i="1" noProof="1">
                        <a:solidFill>
                          <a:srgbClr val="514843"/>
                        </a:solidFill>
                        <a:latin typeface="Cambria Math" panose="02040503050406030204" pitchFamily="18" charset="0"/>
                      </a:rPr>
                      <m:t>=3</m:t>
                    </m:r>
                  </m:oMath>
                </a14:m>
                <a:r>
                  <a:rPr lang="zh-Hans" altLang="en-US" noProof="1">
                    <a:solidFill>
                      <a:srgbClr val="514843"/>
                    </a:solidFill>
                  </a:rPr>
                  <a:t> </a:t>
                </a:r>
                <a:r>
                  <a:rPr lang="zh-CN" altLang="en-US" noProof="1">
                    <a:solidFill>
                      <a:srgbClr val="514843"/>
                    </a:solidFill>
                  </a:rPr>
                  <a:t>时，</a:t>
                </a:r>
                <a14:m>
                  <m:oMath xmlns:m="http://schemas.openxmlformats.org/officeDocument/2006/math">
                    <m:r>
                      <a:rPr lang="zh-CN" altLang="zh-CN" i="1" noProof="1">
                        <a:solidFill>
                          <a:srgbClr val="514843"/>
                        </a:solidFill>
                        <a:latin typeface="Cambria Math" panose="02040503050406030204" pitchFamily="18" charset="0"/>
                        <a:sym typeface="Symbol" panose="05050102010706020507" pitchFamily="18" charset="2"/>
                      </a:rPr>
                      <m:t></m:t>
                    </m:r>
                    <m:d>
                      <m:dPr>
                        <m:ctrlPr>
                          <a:rPr lang="zh-CN" altLang="zh-CN" i="1" noProof="1">
                            <a:solidFill>
                              <a:srgbClr val="514843"/>
                            </a:solidFill>
                            <a:latin typeface="Cambria Math" panose="02040503050406030204" pitchFamily="18" charset="0"/>
                            <a:sym typeface="Symbol" panose="05050102010706020507" pitchFamily="18" charset="2"/>
                          </a:rPr>
                        </m:ctrlPr>
                      </m:dPr>
                      <m:e>
                        <m:r>
                          <a:rPr lang="zh-CN" altLang="zh-CN" i="1" noProof="1">
                            <a:solidFill>
                              <a:srgbClr val="514843"/>
                            </a:solidFill>
                            <a:latin typeface="Cambria Math" panose="02040503050406030204" pitchFamily="18" charset="0"/>
                            <a:sym typeface="Symbol" panose="05050102010706020507" pitchFamily="18" charset="2"/>
                          </a:rPr>
                          <m:t>1</m:t>
                        </m:r>
                        <m:r>
                          <a:rPr lang="en-US" altLang="zh-CN" i="1" noProof="1">
                            <a:solidFill>
                              <a:srgbClr val="514843"/>
                            </a:solidFill>
                            <a:latin typeface="Cambria Math" panose="02040503050406030204" pitchFamily="18" charset="0"/>
                            <a:sym typeface="Symbol" panose="05050102010706020507" pitchFamily="18" charset="2"/>
                          </a:rPr>
                          <m:t>0</m:t>
                        </m:r>
                      </m:e>
                    </m:d>
                    <m:r>
                      <a:rPr lang="zh-CN" altLang="zh-CN" i="1" noProof="1">
                        <a:solidFill>
                          <a:srgbClr val="514843"/>
                        </a:solidFill>
                        <a:latin typeface="Cambria Math" panose="02040503050406030204" pitchFamily="18" charset="0"/>
                        <a:sym typeface="+mn-ea"/>
                      </a:rPr>
                      <m:t>=4,</m:t>
                    </m:r>
                    <m:r>
                      <a:rPr lang="en-US" altLang="zh-CN" i="1" noProof="1">
                        <a:solidFill>
                          <a:srgbClr val="514843"/>
                        </a:solidFill>
                        <a:latin typeface="Cambria Math" panose="02040503050406030204" pitchFamily="18" charset="0"/>
                        <a:sym typeface="+mn-ea"/>
                      </a:rPr>
                      <m:t>   </m:t>
                    </m:r>
                    <m:r>
                      <a:rPr lang="zh-CN" altLang="zh-CN" i="1" noProof="1">
                        <a:solidFill>
                          <a:srgbClr val="514843"/>
                        </a:solidFill>
                        <a:latin typeface="Cambria Math" panose="02040503050406030204" pitchFamily="18" charset="0"/>
                        <a:sym typeface="+mn-ea"/>
                      </a:rPr>
                      <m:t>3</m:t>
                    </m:r>
                    <m:r>
                      <a:rPr lang="zh-CN" altLang="zh-CN" i="1" baseline="30000" noProof="1">
                        <a:solidFill>
                          <a:srgbClr val="514843"/>
                        </a:solidFill>
                        <a:latin typeface="Cambria Math" panose="02040503050406030204" pitchFamily="18" charset="0"/>
                        <a:sym typeface="+mn-ea"/>
                      </a:rPr>
                      <m:t>4</m:t>
                    </m:r>
                    <m:r>
                      <a:rPr lang="zh-CN" altLang="zh-CN" i="1" noProof="1">
                        <a:solidFill>
                          <a:srgbClr val="514843"/>
                        </a:solidFill>
                        <a:latin typeface="Cambria Math" panose="02040503050406030204" pitchFamily="18" charset="0"/>
                        <a:sym typeface="+mn-ea"/>
                      </a:rPr>
                      <m:t>=81≡1</m:t>
                    </m:r>
                    <m:d>
                      <m:dPr>
                        <m:ctrlPr>
                          <a:rPr lang="zh-CN" altLang="zh-CN" i="1" noProof="1">
                            <a:solidFill>
                              <a:srgbClr val="514843"/>
                            </a:solidFill>
                            <a:latin typeface="Cambria Math" panose="02040503050406030204" pitchFamily="18" charset="0"/>
                            <a:sym typeface="+mn-ea"/>
                          </a:rPr>
                        </m:ctrlPr>
                      </m:dPr>
                      <m:e>
                        <m:r>
                          <m:rPr>
                            <m:sty m:val="p"/>
                          </m:rPr>
                          <a:rPr lang="zh-CN" altLang="zh-CN" noProof="1">
                            <a:solidFill>
                              <a:srgbClr val="514843"/>
                            </a:solidFill>
                            <a:latin typeface="Cambria Math" panose="02040503050406030204" pitchFamily="18" charset="0"/>
                            <a:sym typeface="+mn-ea"/>
                          </a:rPr>
                          <m:t>mod</m:t>
                        </m:r>
                        <m:r>
                          <a:rPr lang="zh-CN" altLang="zh-CN" i="1" noProof="1">
                            <a:solidFill>
                              <a:srgbClr val="514843"/>
                            </a:solidFill>
                            <a:latin typeface="Cambria Math" panose="02040503050406030204" pitchFamily="18" charset="0"/>
                            <a:sym typeface="+mn-ea"/>
                          </a:rPr>
                          <m:t> 10</m:t>
                        </m:r>
                      </m:e>
                    </m:d>
                  </m:oMath>
                </a14:m>
                <a:r>
                  <a:rPr lang="zh-Hans" altLang="en-US" noProof="1">
                    <a:solidFill>
                      <a:srgbClr val="514843"/>
                    </a:solidFill>
                    <a:sym typeface="+mn-ea"/>
                  </a:rPr>
                  <a:t> 。</a:t>
                </a:r>
                <a:endParaRPr lang="en-US" altLang="zh-CN" dirty="0"/>
              </a:p>
              <a:p>
                <a:pPr>
                  <a:lnSpc>
                    <a:spcPct val="150000"/>
                  </a:lnSpc>
                </a:pPr>
                <a:r>
                  <a:rPr lang="zh-CN" altLang="zh-CN" dirty="0"/>
                  <a:t>当</a:t>
                </a:r>
                <a:r>
                  <a:rPr lang="zh-CN" altLang="en-US" dirty="0"/>
                  <a:t> </a:t>
                </a:r>
                <a14:m>
                  <m:oMath xmlns:m="http://schemas.openxmlformats.org/officeDocument/2006/math">
                    <m:r>
                      <a:rPr lang="en-US" altLang="zh-CN" i="1">
                        <a:latin typeface="Cambria Math" panose="02040503050406030204" pitchFamily="18" charset="0"/>
                      </a:rPr>
                      <m:t>𝑚</m:t>
                    </m:r>
                  </m:oMath>
                </a14:m>
                <a:r>
                  <a:rPr lang="zh-CN" altLang="en-US" dirty="0"/>
                  <a:t> </a:t>
                </a:r>
                <a:r>
                  <a:rPr lang="zh-CN" altLang="zh-CN" dirty="0"/>
                  <a:t>是</a:t>
                </a:r>
                <a:r>
                  <a:rPr lang="zh-CN" altLang="en-US" dirty="0"/>
                  <a:t>素</a:t>
                </a:r>
                <a:r>
                  <a:rPr lang="zh-CN" altLang="zh-CN" dirty="0"/>
                  <a:t>数时，</a:t>
                </a:r>
                <a14:m>
                  <m:oMath xmlns:m="http://schemas.openxmlformats.org/officeDocument/2006/math">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𝑚</m:t>
                        </m:r>
                      </m:e>
                    </m:d>
                    <m:r>
                      <a:rPr lang="en-US" altLang="zh-CN" i="1">
                        <a:latin typeface="Cambria Math" panose="02040503050406030204" pitchFamily="18" charset="0"/>
                      </a:rPr>
                      <m:t>=</m:t>
                    </m:r>
                    <m:r>
                      <a:rPr lang="en-US" altLang="zh-CN" i="1">
                        <a:latin typeface="Cambria Math" panose="02040503050406030204" pitchFamily="18" charset="0"/>
                      </a:rPr>
                      <m:t>𝑚</m:t>
                    </m:r>
                    <m:r>
                      <a:rPr lang="en-US" altLang="zh-CN" i="1">
                        <a:latin typeface="Cambria Math" panose="02040503050406030204" pitchFamily="18" charset="0"/>
                      </a:rPr>
                      <m:t>−1</m:t>
                    </m:r>
                  </m:oMath>
                </a14:m>
                <a:r>
                  <a:rPr lang="zh-CN" altLang="zh-CN" dirty="0"/>
                  <a:t>，代入可得</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𝑚</m:t>
                          </m:r>
                          <m:r>
                            <a:rPr lang="en-US" altLang="zh-CN" i="1">
                              <a:latin typeface="Cambria Math" panose="02040503050406030204" pitchFamily="18" charset="0"/>
                            </a:rPr>
                            <m:t>−1</m:t>
                          </m:r>
                        </m:sup>
                      </m:sSup>
                      <m:r>
                        <a:rPr lang="en-US" altLang="zh-CN" i="1">
                          <a:latin typeface="Cambria Math" panose="02040503050406030204" pitchFamily="18" charset="0"/>
                        </a:rPr>
                        <m:t>≡1</m:t>
                      </m:r>
                      <m:d>
                        <m:dPr>
                          <m:ctrlPr>
                            <a:rPr lang="zh-CN" altLang="zh-CN" i="1">
                              <a:latin typeface="Cambria Math" panose="02040503050406030204" pitchFamily="18" charset="0"/>
                            </a:rPr>
                          </m:ctrlPr>
                        </m:dPr>
                        <m:e>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𝑚</m:t>
                          </m:r>
                        </m:e>
                      </m:d>
                    </m:oMath>
                  </m:oMathPara>
                </a14:m>
                <a:endParaRPr lang="en-US" altLang="zh-CN" dirty="0"/>
              </a:p>
              <a:p>
                <a:pPr>
                  <a:lnSpc>
                    <a:spcPct val="150000"/>
                  </a:lnSpc>
                </a:pPr>
                <a:r>
                  <a:rPr lang="zh-CN" altLang="zh-CN" dirty="0"/>
                  <a:t>因此欧拉定理也可以看作是费马小定理的</a:t>
                </a:r>
                <a:r>
                  <a:rPr lang="zh-CN" altLang="en-US" dirty="0"/>
                  <a:t>加强</a:t>
                </a:r>
                <a:r>
                  <a:rPr lang="zh-CN" altLang="zh-CN" dirty="0"/>
                  <a:t>。</a:t>
                </a:r>
                <a:endParaRPr lang="en-US" altLang="zh-CN" dirty="0"/>
              </a:p>
              <a:p>
                <a:pPr>
                  <a:lnSpc>
                    <a:spcPct val="150000"/>
                  </a:lnSpc>
                </a:pPr>
                <a:endParaRPr lang="en-US" altLang="zh-CN" dirty="0"/>
              </a:p>
              <a:p>
                <a:pPr marL="0" indent="0">
                  <a:lnSpc>
                    <a:spcPct val="150000"/>
                  </a:lnSpc>
                  <a:buNone/>
                </a:pPr>
                <a:endParaRPr lang="en-US" altLang="zh-CN" noProof="1">
                  <a:solidFill>
                    <a:srgbClr val="514843"/>
                  </a:solidFill>
                  <a:sym typeface="+mn-ea"/>
                </a:endParaRPr>
              </a:p>
              <a:p>
                <a:pPr lvl="0"/>
                <a:endParaRPr lang="en-US" altLang="zh-CN" noProof="1">
                  <a:solidFill>
                    <a:srgbClr val="514843"/>
                  </a:solidFill>
                  <a:latin typeface="Times New Roman" panose="02020603050405020304" charset="0"/>
                  <a:sym typeface="+mn-ea"/>
                </a:endParaRPr>
              </a:p>
              <a:p>
                <a:pPr>
                  <a:lnSpc>
                    <a:spcPct val="150000"/>
                  </a:lnSpc>
                </a:pPr>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11427"/>
                <a:ext cx="9980682" cy="4805702"/>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434E711B-B488-E240-8A86-6D45A54FADED}"/>
              </a:ext>
            </a:extLst>
          </p:cNvPr>
          <p:cNvSpPr>
            <a:spLocks noGrp="1"/>
          </p:cNvSpPr>
          <p:nvPr>
            <p:ph type="sldNum" sz="quarter" idx="12"/>
          </p:nvPr>
        </p:nvSpPr>
        <p:spPr/>
        <p:txBody>
          <a:bodyPr/>
          <a:lstStyle/>
          <a:p>
            <a:fld id="{0FF54DE5-C571-48E8-A5BC-B369434E2F44}" type="slidenum">
              <a:rPr lang="en-US" altLang="zh-CN" smtClean="0"/>
              <a:pPr/>
              <a:t>69</a:t>
            </a:fld>
            <a:endParaRPr lang="zh-CN" altLang="en-US" dirty="0"/>
          </a:p>
        </p:txBody>
      </p:sp>
    </p:spTree>
    <p:extLst>
      <p:ext uri="{BB962C8B-B14F-4D97-AF65-F5344CB8AC3E}">
        <p14:creationId xmlns:p14="http://schemas.microsoft.com/office/powerpoint/2010/main" val="2921143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欧拉定理</a:t>
            </a:r>
            <a:r>
              <a:rPr lang="zh-Hans" altLang="en-US" dirty="0"/>
              <a:t>的推论</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11427"/>
                <a:ext cx="9980682" cy="4805702"/>
              </a:xfrm>
            </p:spPr>
            <p:txBody>
              <a:bodyPr>
                <a:normAutofit/>
              </a:bodyPr>
              <a:lstStyle/>
              <a:p>
                <a:pPr lvl="0">
                  <a:lnSpc>
                    <a:spcPct val="150000"/>
                  </a:lnSpc>
                </a:pPr>
                <a14:m>
                  <m:oMath xmlns:m="http://schemas.openxmlformats.org/officeDocument/2006/math">
                    <m:r>
                      <a:rPr lang="en-US" altLang="zh-CN" i="1" noProof="1" smtClean="0">
                        <a:solidFill>
                          <a:srgbClr val="514843"/>
                        </a:solidFill>
                        <a:latin typeface="Cambria Math" panose="02040503050406030204" pitchFamily="18" charset="0"/>
                        <a:sym typeface="+mn-ea"/>
                      </a:rPr>
                      <m:t>𝑎</m:t>
                    </m:r>
                    <m:r>
                      <a:rPr lang="en-US" altLang="zh-CN" i="1" noProof="1" smtClean="0">
                        <a:solidFill>
                          <a:srgbClr val="514843"/>
                        </a:solidFill>
                        <a:latin typeface="Cambria Math" panose="02040503050406030204" pitchFamily="18" charset="0"/>
                        <a:sym typeface="+mn-ea"/>
                      </a:rPr>
                      <m:t>,</m:t>
                    </m:r>
                    <m:r>
                      <a:rPr lang="en-US" altLang="zh-CN" b="0" i="1" noProof="1" smtClean="0">
                        <a:solidFill>
                          <a:srgbClr val="514843"/>
                        </a:solidFill>
                        <a:latin typeface="Cambria Math" panose="02040503050406030204" pitchFamily="18" charset="0"/>
                        <a:sym typeface="+mn-ea"/>
                      </a:rPr>
                      <m:t>𝑚</m:t>
                    </m:r>
                  </m:oMath>
                </a14:m>
                <a:r>
                  <a:rPr lang="zh-CN" altLang="en-US" noProof="1">
                    <a:solidFill>
                      <a:srgbClr val="514843"/>
                    </a:solidFill>
                    <a:latin typeface="Times New Roman" panose="02020603050405020304" charset="0"/>
                    <a:sym typeface="+mn-ea"/>
                  </a:rPr>
                  <a:t> </a:t>
                </a:r>
                <a:r>
                  <a:rPr lang="zh-CN" altLang="zh-CN" noProof="1">
                    <a:solidFill>
                      <a:srgbClr val="514843"/>
                    </a:solidFill>
                    <a:latin typeface="Times New Roman" panose="02020603050405020304" charset="0"/>
                    <a:sym typeface="+mn-ea"/>
                  </a:rPr>
                  <a:t>互</a:t>
                </a:r>
                <a:r>
                  <a:rPr lang="zh-Hans" altLang="en-US" noProof="1">
                    <a:solidFill>
                      <a:srgbClr val="514843"/>
                    </a:solidFill>
                    <a:latin typeface="Times New Roman" panose="02020603050405020304" charset="0"/>
                    <a:sym typeface="+mn-ea"/>
                  </a:rPr>
                  <a:t>素</a:t>
                </a:r>
                <a:r>
                  <a:rPr lang="en-US" altLang="zh-Hans" noProof="1">
                    <a:solidFill>
                      <a:srgbClr val="514843"/>
                    </a:solidFill>
                    <a:latin typeface="Times New Roman" panose="02020603050405020304" charset="0"/>
                    <a:sym typeface="+mn-ea"/>
                  </a:rPr>
                  <a:t> </a:t>
                </a:r>
                <a14:m>
                  <m:oMath xmlns:m="http://schemas.openxmlformats.org/officeDocument/2006/math">
                    <m:r>
                      <a:rPr lang="en-US" altLang="zh-Hans" i="1" noProof="1" smtClean="0">
                        <a:solidFill>
                          <a:srgbClr val="514843"/>
                        </a:solidFill>
                        <a:latin typeface="Cambria Math" panose="02040503050406030204" pitchFamily="18" charset="0"/>
                        <a:sym typeface="+mn-ea"/>
                      </a:rPr>
                      <m:t>(</m:t>
                    </m:r>
                    <m:r>
                      <a:rPr lang="en-US" altLang="zh-CN" i="1" noProof="1">
                        <a:solidFill>
                          <a:srgbClr val="514843"/>
                        </a:solidFill>
                        <a:latin typeface="Cambria Math" panose="02040503050406030204" pitchFamily="18" charset="0"/>
                        <a:sym typeface="+mn-ea"/>
                      </a:rPr>
                      <m:t>𝑚</m:t>
                    </m:r>
                    <m:r>
                      <a:rPr lang="en-US" altLang="zh-CN" i="1" noProof="1">
                        <a:solidFill>
                          <a:srgbClr val="514843"/>
                        </a:solidFill>
                        <a:latin typeface="Cambria Math" panose="02040503050406030204" pitchFamily="18" charset="0"/>
                        <a:sym typeface="+mn-ea"/>
                      </a:rPr>
                      <m:t>&gt;1) </m:t>
                    </m:r>
                  </m:oMath>
                </a14:m>
                <a:r>
                  <a:rPr lang="zh-CN" altLang="en-US" noProof="1">
                    <a:solidFill>
                      <a:srgbClr val="514843"/>
                    </a:solidFill>
                    <a:latin typeface="Times New Roman" panose="02020603050405020304" charset="0"/>
                    <a:sym typeface="+mn-ea"/>
                  </a:rPr>
                  <a:t>，</a:t>
                </a:r>
                <a:r>
                  <a:rPr lang="zh-Hans" altLang="en-US" noProof="1">
                    <a:solidFill>
                      <a:srgbClr val="514843"/>
                    </a:solidFill>
                    <a:latin typeface="Times New Roman" panose="02020603050405020304" charset="0"/>
                    <a:sym typeface="+mn-ea"/>
                  </a:rPr>
                  <a:t>可得：</a:t>
                </a:r>
                <a:endParaRPr lang="en-US" altLang="zh-Hans" noProof="1">
                  <a:solidFill>
                    <a:srgbClr val="514843"/>
                  </a:solidFill>
                  <a:latin typeface="Times New Roman" panose="02020603050405020304" charset="0"/>
                  <a:sym typeface="+mn-ea"/>
                </a:endParaRPr>
              </a:p>
              <a:p>
                <a:pPr marL="0" lvl="0" indent="0">
                  <a:lnSpc>
                    <a:spcPct val="150000"/>
                  </a:lnSpc>
                  <a:buNone/>
                </a:pPr>
                <a14:m>
                  <m:oMathPara xmlns:m="http://schemas.openxmlformats.org/officeDocument/2006/math">
                    <m:oMathParaPr>
                      <m:jc m:val="centerGroup"/>
                    </m:oMathParaPr>
                    <m:oMath xmlns:m="http://schemas.openxmlformats.org/officeDocument/2006/math">
                      <m:r>
                        <a:rPr lang="en-US" altLang="zh-CN" i="1" noProof="1" smtClean="0">
                          <a:solidFill>
                            <a:srgbClr val="514843"/>
                          </a:solidFill>
                          <a:latin typeface="Cambria Math" panose="02040503050406030204" pitchFamily="18" charset="0"/>
                          <a:sym typeface="+mn-ea"/>
                        </a:rPr>
                        <m:t>𝑎</m:t>
                      </m:r>
                      <m:r>
                        <a:rPr lang="zh-CN" altLang="zh-CN" i="1" baseline="30000" noProof="1">
                          <a:solidFill>
                            <a:srgbClr val="514843"/>
                          </a:solidFill>
                          <a:latin typeface="Cambria Math" panose="02040503050406030204" pitchFamily="18" charset="0"/>
                          <a:sym typeface="+mn-ea"/>
                        </a:rPr>
                        <m:t>𝑏</m:t>
                      </m:r>
                      <m:r>
                        <a:rPr lang="en-US" altLang="zh-CN" i="1" noProof="1">
                          <a:solidFill>
                            <a:srgbClr val="514843"/>
                          </a:solidFill>
                          <a:latin typeface="Cambria Math" panose="02040503050406030204" pitchFamily="18" charset="0"/>
                          <a:sym typeface="+mn-ea"/>
                        </a:rPr>
                        <m:t> </m:t>
                      </m:r>
                      <m:r>
                        <a:rPr lang="en-US" altLang="zh-CN" b="0" i="0" noProof="1" smtClean="0">
                          <a:solidFill>
                            <a:srgbClr val="514843"/>
                          </a:solidFill>
                          <a:latin typeface="Cambria Math" panose="02040503050406030204" pitchFamily="18" charset="0"/>
                          <a:sym typeface="+mn-ea"/>
                        </a:rPr>
                        <m:t>(</m:t>
                      </m:r>
                      <m:r>
                        <m:rPr>
                          <m:sty m:val="p"/>
                        </m:rPr>
                        <a:rPr lang="en-US" altLang="zh-CN" i="0" noProof="1">
                          <a:solidFill>
                            <a:srgbClr val="514843"/>
                          </a:solidFill>
                          <a:latin typeface="Cambria Math" panose="02040503050406030204" pitchFamily="18" charset="0"/>
                          <a:sym typeface="+mn-ea"/>
                        </a:rPr>
                        <m:t>mod</m:t>
                      </m:r>
                      <m:r>
                        <a:rPr lang="en-US" altLang="zh-CN" i="1" noProof="1">
                          <a:solidFill>
                            <a:srgbClr val="514843"/>
                          </a:solidFill>
                          <a:latin typeface="Cambria Math" panose="02040503050406030204" pitchFamily="18" charset="0"/>
                          <a:sym typeface="+mn-ea"/>
                        </a:rPr>
                        <m:t> </m:t>
                      </m:r>
                      <m:r>
                        <a:rPr lang="en-US" altLang="zh-CN" b="0" i="1" noProof="1" smtClean="0">
                          <a:solidFill>
                            <a:srgbClr val="514843"/>
                          </a:solidFill>
                          <a:latin typeface="Cambria Math" panose="02040503050406030204" pitchFamily="18" charset="0"/>
                          <a:sym typeface="+mn-ea"/>
                        </a:rPr>
                        <m:t>𝑚</m:t>
                      </m:r>
                      <m:r>
                        <a:rPr lang="en-US" altLang="zh-CN" b="0" i="1" noProof="1" smtClean="0">
                          <a:solidFill>
                            <a:srgbClr val="514843"/>
                          </a:solidFill>
                          <a:latin typeface="Cambria Math" panose="02040503050406030204" pitchFamily="18" charset="0"/>
                          <a:sym typeface="+mn-ea"/>
                        </a:rPr>
                        <m:t>)=</m:t>
                      </m:r>
                      <m:sSup>
                        <m:sSupPr>
                          <m:ctrlPr>
                            <a:rPr lang="en-US" altLang="zh-CN" i="1" noProof="1" smtClean="0">
                              <a:solidFill>
                                <a:srgbClr val="514843"/>
                              </a:solidFill>
                              <a:latin typeface="Cambria Math" panose="02040503050406030204" pitchFamily="18" charset="0"/>
                              <a:sym typeface="+mn-ea"/>
                            </a:rPr>
                          </m:ctrlPr>
                        </m:sSupPr>
                        <m:e>
                          <m:r>
                            <a:rPr lang="en-US" altLang="zh-CN" b="0" i="1" noProof="1" smtClean="0">
                              <a:solidFill>
                                <a:srgbClr val="514843"/>
                              </a:solidFill>
                              <a:latin typeface="Cambria Math" panose="02040503050406030204" pitchFamily="18" charset="0"/>
                              <a:sym typeface="+mn-ea"/>
                            </a:rPr>
                            <m:t>𝑎</m:t>
                          </m:r>
                        </m:e>
                        <m:sup>
                          <m:r>
                            <a:rPr lang="en-US" altLang="zh-CN" i="1" noProof="1">
                              <a:solidFill>
                                <a:srgbClr val="514843"/>
                              </a:solidFill>
                              <a:latin typeface="Cambria Math" panose="02040503050406030204" pitchFamily="18" charset="0"/>
                              <a:sym typeface="+mn-ea"/>
                            </a:rPr>
                            <m:t>𝑏</m:t>
                          </m:r>
                          <m:r>
                            <a:rPr lang="en-US" altLang="zh-CN" b="0" i="1" noProof="1" smtClean="0">
                              <a:solidFill>
                                <a:srgbClr val="514843"/>
                              </a:solidFill>
                              <a:latin typeface="Cambria Math" panose="02040503050406030204" pitchFamily="18" charset="0"/>
                              <a:sym typeface="+mn-ea"/>
                            </a:rPr>
                            <m:t> </m:t>
                          </m:r>
                          <m:r>
                            <m:rPr>
                              <m:sty m:val="p"/>
                            </m:rPr>
                            <a:rPr lang="en-US" altLang="zh-CN" b="0" i="0" noProof="1" smtClean="0">
                              <a:solidFill>
                                <a:srgbClr val="514843"/>
                              </a:solidFill>
                              <a:latin typeface="Cambria Math" panose="02040503050406030204" pitchFamily="18" charset="0"/>
                              <a:sym typeface="+mn-ea"/>
                            </a:rPr>
                            <m:t>mod</m:t>
                          </m:r>
                          <m:r>
                            <a:rPr lang="en-US" altLang="zh-CN" b="0" i="1" noProof="1" smtClean="0">
                              <a:solidFill>
                                <a:srgbClr val="514843"/>
                              </a:solidFill>
                              <a:latin typeface="Cambria Math" panose="02040503050406030204" pitchFamily="18" charset="0"/>
                              <a:sym typeface="+mn-ea"/>
                            </a:rPr>
                            <m:t> </m:t>
                          </m:r>
                          <m:r>
                            <a:rPr lang="zh-CN" altLang="en-US" b="0" i="1" noProof="1" smtClean="0">
                              <a:solidFill>
                                <a:srgbClr val="514843"/>
                              </a:solidFill>
                              <a:latin typeface="Cambria Math" panose="02040503050406030204" pitchFamily="18" charset="0"/>
                              <a:sym typeface="+mn-ea"/>
                            </a:rPr>
                            <m:t>𝜑</m:t>
                          </m:r>
                          <m:r>
                            <a:rPr lang="en-US" altLang="zh-CN" b="0" i="1" noProof="1" smtClean="0">
                              <a:solidFill>
                                <a:srgbClr val="514843"/>
                              </a:solidFill>
                              <a:latin typeface="Cambria Math" panose="02040503050406030204" pitchFamily="18" charset="0"/>
                              <a:sym typeface="+mn-ea"/>
                            </a:rPr>
                            <m:t>(</m:t>
                          </m:r>
                          <m:r>
                            <a:rPr lang="en-US" altLang="zh-CN" b="0" i="1" noProof="1" smtClean="0">
                              <a:solidFill>
                                <a:srgbClr val="514843"/>
                              </a:solidFill>
                              <a:latin typeface="Cambria Math" panose="02040503050406030204" pitchFamily="18" charset="0"/>
                              <a:sym typeface="+mn-ea"/>
                            </a:rPr>
                            <m:t>𝑚</m:t>
                          </m:r>
                          <m:r>
                            <a:rPr lang="en-US" altLang="zh-CN" b="0" i="1" noProof="1" smtClean="0">
                              <a:solidFill>
                                <a:srgbClr val="514843"/>
                              </a:solidFill>
                              <a:latin typeface="Cambria Math" panose="02040503050406030204" pitchFamily="18" charset="0"/>
                              <a:sym typeface="+mn-ea"/>
                            </a:rPr>
                            <m:t>)</m:t>
                          </m:r>
                        </m:sup>
                      </m:sSup>
                      <m:r>
                        <a:rPr lang="zh-CN" altLang="zh-CN" i="1" baseline="30000" noProof="1">
                          <a:solidFill>
                            <a:srgbClr val="514843"/>
                          </a:solidFill>
                          <a:latin typeface="Cambria Math" panose="02040503050406030204" pitchFamily="18" charset="0"/>
                          <a:sym typeface="+mn-ea"/>
                        </a:rPr>
                        <m:t> </m:t>
                      </m:r>
                      <m:r>
                        <a:rPr lang="en-US" altLang="zh-CN" b="0" i="1" noProof="1" smtClean="0">
                          <a:solidFill>
                            <a:srgbClr val="514843"/>
                          </a:solidFill>
                          <a:latin typeface="Cambria Math" panose="02040503050406030204" pitchFamily="18" charset="0"/>
                          <a:sym typeface="+mn-ea"/>
                        </a:rPr>
                        <m:t>(</m:t>
                      </m:r>
                      <m:r>
                        <m:rPr>
                          <m:sty m:val="p"/>
                        </m:rPr>
                        <a:rPr lang="en-US" altLang="zh-CN" noProof="1">
                          <a:solidFill>
                            <a:srgbClr val="514843"/>
                          </a:solidFill>
                          <a:latin typeface="Cambria Math" panose="02040503050406030204" pitchFamily="18" charset="0"/>
                          <a:sym typeface="+mn-ea"/>
                        </a:rPr>
                        <m:t>mod</m:t>
                      </m:r>
                      <m:r>
                        <a:rPr lang="en-US" altLang="zh-CN" i="1" noProof="1">
                          <a:solidFill>
                            <a:srgbClr val="514843"/>
                          </a:solidFill>
                          <a:latin typeface="Cambria Math" panose="02040503050406030204" pitchFamily="18" charset="0"/>
                          <a:sym typeface="+mn-ea"/>
                        </a:rPr>
                        <m:t> </m:t>
                      </m:r>
                      <m:r>
                        <a:rPr lang="en-US" altLang="zh-CN" i="1" noProof="1">
                          <a:solidFill>
                            <a:srgbClr val="514843"/>
                          </a:solidFill>
                          <a:latin typeface="Cambria Math" panose="02040503050406030204" pitchFamily="18" charset="0"/>
                          <a:sym typeface="+mn-ea"/>
                        </a:rPr>
                        <m:t>𝑚</m:t>
                      </m:r>
                      <m:r>
                        <a:rPr lang="en-US" altLang="zh-CN" b="0" i="1" noProof="1" smtClean="0">
                          <a:solidFill>
                            <a:srgbClr val="514843"/>
                          </a:solidFill>
                          <a:latin typeface="Cambria Math" panose="02040503050406030204" pitchFamily="18" charset="0"/>
                          <a:sym typeface="+mn-ea"/>
                        </a:rPr>
                        <m:t>)</m:t>
                      </m:r>
                      <m:r>
                        <a:rPr lang="en-US" altLang="zh-CN" i="1" noProof="1">
                          <a:solidFill>
                            <a:srgbClr val="514843"/>
                          </a:solidFill>
                          <a:latin typeface="Cambria Math" panose="02040503050406030204" pitchFamily="18" charset="0"/>
                          <a:sym typeface="+mn-ea"/>
                        </a:rPr>
                        <m:t> </m:t>
                      </m:r>
                    </m:oMath>
                  </m:oMathPara>
                </a14:m>
                <a:endParaRPr lang="en-US" altLang="zh-CN" noProof="1">
                  <a:solidFill>
                    <a:srgbClr val="514843"/>
                  </a:solidFill>
                  <a:latin typeface="Times New Roman" panose="02020603050405020304" charset="0"/>
                  <a:sym typeface="+mn-ea"/>
                </a:endParaRPr>
              </a:p>
              <a:p>
                <a:pPr>
                  <a:lnSpc>
                    <a:spcPct val="150000"/>
                  </a:lnSpc>
                </a:pPr>
                <a:r>
                  <a:rPr lang="zh-CN" altLang="en-US" noProof="1">
                    <a:solidFill>
                      <a:srgbClr val="514843"/>
                    </a:solidFill>
                    <a:sym typeface="+mn-ea"/>
                  </a:rPr>
                  <a:t>如</a:t>
                </a:r>
                <a:r>
                  <a:rPr lang="zh-Hans" altLang="en-US" noProof="1">
                    <a:solidFill>
                      <a:srgbClr val="514843"/>
                    </a:solidFill>
                    <a:sym typeface="+mn-ea"/>
                  </a:rPr>
                  <a:t> </a:t>
                </a:r>
                <a14:m>
                  <m:oMath xmlns:m="http://schemas.openxmlformats.org/officeDocument/2006/math">
                    <m:r>
                      <a:rPr lang="en-US" altLang="zh-CN" i="1" noProof="1">
                        <a:solidFill>
                          <a:srgbClr val="514843"/>
                        </a:solidFill>
                        <a:latin typeface="Cambria Math" panose="02040503050406030204" pitchFamily="18" charset="0"/>
                        <a:sym typeface="+mn-ea"/>
                      </a:rPr>
                      <m:t>3</m:t>
                    </m:r>
                    <m:r>
                      <a:rPr lang="en-US" altLang="zh-CN" i="1" baseline="30000" noProof="1">
                        <a:solidFill>
                          <a:srgbClr val="514843"/>
                        </a:solidFill>
                        <a:latin typeface="Cambria Math" panose="02040503050406030204" pitchFamily="18" charset="0"/>
                        <a:sym typeface="+mn-ea"/>
                      </a:rPr>
                      <m:t>2017</m:t>
                    </m:r>
                    <m:r>
                      <a:rPr lang="en-US" altLang="zh-CN" i="1" noProof="1">
                        <a:solidFill>
                          <a:srgbClr val="514843"/>
                        </a:solidFill>
                        <a:latin typeface="Cambria Math" panose="02040503050406030204" pitchFamily="18" charset="0"/>
                        <a:sym typeface="+mn-ea"/>
                      </a:rPr>
                      <m:t>=</m:t>
                    </m:r>
                    <m:sSup>
                      <m:sSupPr>
                        <m:ctrlPr>
                          <a:rPr lang="en-US" altLang="zh-CN" i="1" noProof="1">
                            <a:solidFill>
                              <a:srgbClr val="514843"/>
                            </a:solidFill>
                            <a:latin typeface="Cambria Math" panose="02040503050406030204" pitchFamily="18" charset="0"/>
                            <a:sym typeface="+mn-ea"/>
                          </a:rPr>
                        </m:ctrlPr>
                      </m:sSupPr>
                      <m:e>
                        <m:r>
                          <a:rPr lang="en-US" altLang="zh-CN" i="1" noProof="1">
                            <a:solidFill>
                              <a:srgbClr val="514843"/>
                            </a:solidFill>
                            <a:latin typeface="Cambria Math" panose="02040503050406030204" pitchFamily="18" charset="0"/>
                            <a:sym typeface="+mn-ea"/>
                          </a:rPr>
                          <m:t>3</m:t>
                        </m:r>
                      </m:e>
                      <m:sup>
                        <m:r>
                          <a:rPr lang="en-US" altLang="zh-CN" i="1" noProof="1">
                            <a:solidFill>
                              <a:srgbClr val="514843"/>
                            </a:solidFill>
                            <a:latin typeface="Cambria Math" panose="02040503050406030204" pitchFamily="18" charset="0"/>
                            <a:sym typeface="+mn-ea"/>
                          </a:rPr>
                          <m:t>4</m:t>
                        </m:r>
                        <m:r>
                          <a:rPr lang="en-US" altLang="zh-CN" i="1" noProof="1">
                            <a:solidFill>
                              <a:srgbClr val="514843"/>
                            </a:solidFill>
                            <a:latin typeface="Cambria Math" panose="02040503050406030204" pitchFamily="18" charset="0"/>
                            <a:ea typeface="Cambria Math" panose="02040503050406030204" pitchFamily="18" charset="0"/>
                            <a:sym typeface="+mn-ea"/>
                          </a:rPr>
                          <m:t>×504+1</m:t>
                        </m:r>
                      </m:sup>
                    </m:sSup>
                    <m:r>
                      <a:rPr lang="zh-CN" altLang="zh-CN" i="1" noProof="1">
                        <a:solidFill>
                          <a:srgbClr val="514843"/>
                        </a:solidFill>
                        <a:latin typeface="Cambria Math" panose="02040503050406030204" pitchFamily="18" charset="0"/>
                        <a:sym typeface="+mn-ea"/>
                      </a:rPr>
                      <m:t>≡</m:t>
                    </m:r>
                    <m:r>
                      <a:rPr lang="en-US" altLang="zh-CN" i="1" noProof="1">
                        <a:solidFill>
                          <a:srgbClr val="514843"/>
                        </a:solidFill>
                        <a:latin typeface="Cambria Math" panose="02040503050406030204" pitchFamily="18" charset="0"/>
                        <a:sym typeface="+mn-ea"/>
                      </a:rPr>
                      <m:t>3(</m:t>
                    </m:r>
                    <m:r>
                      <m:rPr>
                        <m:sty m:val="p"/>
                      </m:rPr>
                      <a:rPr lang="en-US" altLang="zh-CN" noProof="1">
                        <a:solidFill>
                          <a:srgbClr val="514843"/>
                        </a:solidFill>
                        <a:latin typeface="Cambria Math" panose="02040503050406030204" pitchFamily="18" charset="0"/>
                        <a:sym typeface="+mn-ea"/>
                      </a:rPr>
                      <m:t>mod</m:t>
                    </m:r>
                    <m:r>
                      <a:rPr lang="en-US" altLang="zh-CN" i="1" noProof="1">
                        <a:solidFill>
                          <a:srgbClr val="514843"/>
                        </a:solidFill>
                        <a:latin typeface="Cambria Math" panose="02040503050406030204" pitchFamily="18" charset="0"/>
                        <a:sym typeface="+mn-ea"/>
                      </a:rPr>
                      <m:t> 10)</m:t>
                    </m:r>
                  </m:oMath>
                </a14:m>
                <a:endParaRPr lang="en-US" altLang="zh-CN" noProof="1">
                  <a:solidFill>
                    <a:srgbClr val="514843"/>
                  </a:solidFill>
                  <a:latin typeface="Times New Roman" panose="02020603050405020304" charset="0"/>
                  <a:sym typeface="+mn-ea"/>
                </a:endParaRPr>
              </a:p>
              <a:p>
                <a:pPr lvl="0">
                  <a:lnSpc>
                    <a:spcPct val="150000"/>
                  </a:lnSpc>
                </a:pPr>
                <a:r>
                  <a:rPr lang="zh-Hans" altLang="en-US" noProof="1">
                    <a:solidFill>
                      <a:srgbClr val="514843"/>
                    </a:solidFill>
                    <a:latin typeface="Times New Roman" panose="02020603050405020304" charset="0"/>
                    <a:sym typeface="+mn-ea"/>
                  </a:rPr>
                  <a:t>证明：</a:t>
                </a:r>
                <a:endParaRPr lang="en-US" altLang="zh-Hans" noProof="1">
                  <a:solidFill>
                    <a:srgbClr val="514843"/>
                  </a:solidFill>
                  <a:latin typeface="Times New Roman" panose="02020603050405020304" charset="0"/>
                  <a:sym typeface="+mn-ea"/>
                </a:endParaRPr>
              </a:p>
              <a:p>
                <a:pPr lvl="0">
                  <a:lnSpc>
                    <a:spcPct val="150000"/>
                  </a:lnSpc>
                </a:pPr>
                <a:r>
                  <a:rPr lang="zh-Hans" altLang="en-US" noProof="1">
                    <a:solidFill>
                      <a:srgbClr val="514843"/>
                    </a:solidFill>
                    <a:latin typeface="Times New Roman" panose="02020603050405020304" charset="0"/>
                    <a:sym typeface="+mn-ea"/>
                  </a:rPr>
                  <a:t>设 </a:t>
                </a:r>
                <a14:m>
                  <m:oMath xmlns:m="http://schemas.openxmlformats.org/officeDocument/2006/math">
                    <m:r>
                      <a:rPr lang="en-US" altLang="zh-Hans" b="0" i="1" noProof="1" smtClean="0">
                        <a:solidFill>
                          <a:srgbClr val="514843"/>
                        </a:solidFill>
                        <a:latin typeface="Cambria Math" panose="02040503050406030204" pitchFamily="18" charset="0"/>
                        <a:sym typeface="+mn-ea"/>
                      </a:rPr>
                      <m:t>𝑏</m:t>
                    </m:r>
                    <m:r>
                      <a:rPr lang="en-US" altLang="zh-Hans" b="0" i="1" noProof="1" smtClean="0">
                        <a:solidFill>
                          <a:srgbClr val="514843"/>
                        </a:solidFill>
                        <a:latin typeface="Cambria Math" panose="02040503050406030204" pitchFamily="18" charset="0"/>
                        <a:sym typeface="+mn-ea"/>
                      </a:rPr>
                      <m:t>=</m:t>
                    </m:r>
                    <m:r>
                      <a:rPr lang="en-US" altLang="zh-Hans" b="0" i="1" noProof="1" smtClean="0">
                        <a:solidFill>
                          <a:srgbClr val="514843"/>
                        </a:solidFill>
                        <a:latin typeface="Cambria Math" panose="02040503050406030204" pitchFamily="18" charset="0"/>
                        <a:sym typeface="+mn-ea"/>
                      </a:rPr>
                      <m:t>𝑞</m:t>
                    </m:r>
                    <m:r>
                      <a:rPr lang="en-US" altLang="zh-Hans" b="0" i="1" noProof="1" smtClean="0">
                        <a:solidFill>
                          <a:srgbClr val="514843"/>
                        </a:solidFill>
                        <a:latin typeface="Cambria Math" panose="02040503050406030204" pitchFamily="18" charset="0"/>
                        <a:sym typeface="+mn-ea"/>
                      </a:rPr>
                      <m:t>∗</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𝜑</m:t>
                    </m:r>
                    <m:d>
                      <m:dPr>
                        <m:ctrlPr>
                          <a:rPr lang="en-US" altLang="zh-Hans" b="0" i="1" noProof="1" smtClean="0">
                            <a:solidFill>
                              <a:srgbClr val="514843"/>
                            </a:solidFill>
                            <a:latin typeface="Cambria Math" panose="02040503050406030204" pitchFamily="18" charset="0"/>
                            <a:ea typeface="Cambria Math" panose="02040503050406030204" pitchFamily="18" charset="0"/>
                            <a:sym typeface="+mn-ea"/>
                          </a:rPr>
                        </m:ctrlPr>
                      </m:dPr>
                      <m:e>
                        <m:r>
                          <a:rPr lang="en-US" altLang="zh-Hans" b="0" i="1" noProof="1" smtClean="0">
                            <a:solidFill>
                              <a:srgbClr val="514843"/>
                            </a:solidFill>
                            <a:latin typeface="Cambria Math" panose="02040503050406030204" pitchFamily="18" charset="0"/>
                            <a:ea typeface="Cambria Math" panose="02040503050406030204" pitchFamily="18" charset="0"/>
                            <a:sym typeface="+mn-ea"/>
                          </a:rPr>
                          <m:t>𝑚</m:t>
                        </m:r>
                      </m:e>
                    </m:d>
                    <m:r>
                      <a:rPr lang="en-US" altLang="zh-Hans" b="0" i="1" noProof="1" smtClean="0">
                        <a:solidFill>
                          <a:srgbClr val="514843"/>
                        </a:solidFill>
                        <a:latin typeface="Cambria Math" panose="02040503050406030204" pitchFamily="18" charset="0"/>
                        <a:ea typeface="Cambria Math" panose="02040503050406030204" pitchFamily="18" charset="0"/>
                        <a:sym typeface="+mn-ea"/>
                      </a:rPr>
                      <m:t>+</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𝑟</m:t>
                    </m:r>
                  </m:oMath>
                </a14:m>
                <a:r>
                  <a:rPr lang="zh-Hans" altLang="en-US" noProof="1">
                    <a:solidFill>
                      <a:srgbClr val="514843"/>
                    </a:solidFill>
                    <a:latin typeface="Times New Roman" panose="02020603050405020304" charset="0"/>
                    <a:sym typeface="+mn-ea"/>
                  </a:rPr>
                  <a:t>，其中 </a:t>
                </a:r>
                <a14:m>
                  <m:oMath xmlns:m="http://schemas.openxmlformats.org/officeDocument/2006/math">
                    <m:r>
                      <a:rPr lang="en-US" altLang="zh-Hans" b="0" i="1" noProof="1" smtClean="0">
                        <a:solidFill>
                          <a:srgbClr val="514843"/>
                        </a:solidFill>
                        <a:latin typeface="Cambria Math" panose="02040503050406030204" pitchFamily="18" charset="0"/>
                        <a:sym typeface="+mn-ea"/>
                      </a:rPr>
                      <m:t>0</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𝑟</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m:t>
                    </m:r>
                    <m:r>
                      <a:rPr lang="en-US" altLang="zh-Hans" b="0" i="1" noProof="1" smtClean="0">
                        <a:solidFill>
                          <a:srgbClr val="514843"/>
                        </a:solidFill>
                        <a:latin typeface="Cambria Math" panose="02040503050406030204" pitchFamily="18" charset="0"/>
                        <a:ea typeface="Cambria Math" panose="02040503050406030204" pitchFamily="18" charset="0"/>
                        <a:sym typeface="+mn-ea"/>
                      </a:rPr>
                      <m:t>𝜑</m:t>
                    </m:r>
                    <m:d>
                      <m:dPr>
                        <m:ctrlPr>
                          <a:rPr lang="en-US" altLang="zh-Hans" b="0" i="1" noProof="1" smtClean="0">
                            <a:solidFill>
                              <a:srgbClr val="514843"/>
                            </a:solidFill>
                            <a:latin typeface="Cambria Math" panose="02040503050406030204" pitchFamily="18" charset="0"/>
                            <a:ea typeface="Cambria Math" panose="02040503050406030204" pitchFamily="18" charset="0"/>
                            <a:sym typeface="+mn-ea"/>
                          </a:rPr>
                        </m:ctrlPr>
                      </m:dPr>
                      <m:e>
                        <m:r>
                          <a:rPr lang="en-US" altLang="zh-Hans" b="0" i="1" noProof="1" smtClean="0">
                            <a:solidFill>
                              <a:srgbClr val="514843"/>
                            </a:solidFill>
                            <a:latin typeface="Cambria Math" panose="02040503050406030204" pitchFamily="18" charset="0"/>
                            <a:ea typeface="Cambria Math" panose="02040503050406030204" pitchFamily="18" charset="0"/>
                            <a:sym typeface="+mn-ea"/>
                          </a:rPr>
                          <m:t>𝑛</m:t>
                        </m:r>
                      </m:e>
                    </m:d>
                  </m:oMath>
                </a14:m>
                <a:r>
                  <a:rPr lang="zh-Hans" altLang="en-US" noProof="1">
                    <a:solidFill>
                      <a:srgbClr val="514843"/>
                    </a:solidFill>
                    <a:latin typeface="Times New Roman" panose="02020603050405020304" charset="0"/>
                    <a:sym typeface="+mn-ea"/>
                  </a:rPr>
                  <a:t>，即 </a:t>
                </a:r>
                <a14:m>
                  <m:oMath xmlns:m="http://schemas.openxmlformats.org/officeDocument/2006/math">
                    <m:r>
                      <a:rPr lang="en-US" altLang="zh-Hans" b="0" i="1" noProof="1" smtClean="0">
                        <a:solidFill>
                          <a:srgbClr val="514843"/>
                        </a:solidFill>
                        <a:latin typeface="Cambria Math" panose="02040503050406030204" pitchFamily="18" charset="0"/>
                        <a:sym typeface="+mn-ea"/>
                      </a:rPr>
                      <m:t>𝑟</m:t>
                    </m:r>
                    <m:r>
                      <a:rPr lang="en-US" altLang="zh-Hans" b="0" i="1" noProof="1" smtClean="0">
                        <a:solidFill>
                          <a:srgbClr val="514843"/>
                        </a:solidFill>
                        <a:latin typeface="Cambria Math" panose="02040503050406030204" pitchFamily="18" charset="0"/>
                        <a:sym typeface="+mn-ea"/>
                      </a:rPr>
                      <m:t>=</m:t>
                    </m:r>
                    <m:r>
                      <a:rPr lang="en-US" altLang="zh-Hans" b="0" i="1" noProof="1" smtClean="0">
                        <a:solidFill>
                          <a:srgbClr val="514843"/>
                        </a:solidFill>
                        <a:latin typeface="Cambria Math" panose="02040503050406030204" pitchFamily="18" charset="0"/>
                        <a:sym typeface="+mn-ea"/>
                      </a:rPr>
                      <m:t>𝑏</m:t>
                    </m:r>
                    <m:r>
                      <a:rPr lang="en-US" altLang="zh-Hans" b="0" i="1" noProof="1" smtClean="0">
                        <a:solidFill>
                          <a:srgbClr val="514843"/>
                        </a:solidFill>
                        <a:latin typeface="Cambria Math" panose="02040503050406030204" pitchFamily="18" charset="0"/>
                        <a:sym typeface="+mn-ea"/>
                      </a:rPr>
                      <m:t> </m:t>
                    </m:r>
                    <m:r>
                      <m:rPr>
                        <m:sty m:val="p"/>
                      </m:rPr>
                      <a:rPr lang="en-US" altLang="zh-Hans" b="0" i="0" noProof="1" smtClean="0">
                        <a:solidFill>
                          <a:srgbClr val="514843"/>
                        </a:solidFill>
                        <a:latin typeface="Cambria Math" panose="02040503050406030204" pitchFamily="18" charset="0"/>
                        <a:sym typeface="+mn-ea"/>
                      </a:rPr>
                      <m:t>mod</m:t>
                    </m:r>
                    <m:r>
                      <a:rPr lang="en-US" altLang="zh-Hans" b="0" i="0" noProof="1" smtClean="0">
                        <a:solidFill>
                          <a:srgbClr val="514843"/>
                        </a:solidFill>
                        <a:latin typeface="Cambria Math" panose="02040503050406030204" pitchFamily="18" charset="0"/>
                        <a:sym typeface="+mn-ea"/>
                      </a:rPr>
                      <m:t> </m:t>
                    </m:r>
                    <m:r>
                      <a:rPr lang="el-GR" altLang="zh-Hans" b="0" i="1" noProof="1" smtClean="0">
                        <a:solidFill>
                          <a:srgbClr val="514843"/>
                        </a:solidFill>
                        <a:latin typeface="Cambria Math" panose="02040503050406030204" pitchFamily="18" charset="0"/>
                        <a:ea typeface="Cambria Math" panose="02040503050406030204" pitchFamily="18" charset="0"/>
                        <a:sym typeface="+mn-ea"/>
                      </a:rPr>
                      <m:t>𝜑</m:t>
                    </m:r>
                    <m:d>
                      <m:dPr>
                        <m:ctrlPr>
                          <a:rPr lang="el-GR" altLang="zh-Hans" b="0" i="1" noProof="1" smtClean="0">
                            <a:solidFill>
                              <a:srgbClr val="514843"/>
                            </a:solidFill>
                            <a:latin typeface="Cambria Math" panose="02040503050406030204" pitchFamily="18" charset="0"/>
                            <a:ea typeface="Cambria Math" panose="02040503050406030204" pitchFamily="18" charset="0"/>
                            <a:sym typeface="+mn-ea"/>
                          </a:rPr>
                        </m:ctrlPr>
                      </m:dPr>
                      <m:e>
                        <m:r>
                          <a:rPr lang="en-US" altLang="zh-Hans" b="0" i="1" noProof="1" smtClean="0">
                            <a:solidFill>
                              <a:srgbClr val="514843"/>
                            </a:solidFill>
                            <a:latin typeface="Cambria Math" panose="02040503050406030204" pitchFamily="18" charset="0"/>
                            <a:ea typeface="Cambria Math" panose="02040503050406030204" pitchFamily="18" charset="0"/>
                            <a:sym typeface="+mn-ea"/>
                          </a:rPr>
                          <m:t>𝑚</m:t>
                        </m:r>
                      </m:e>
                    </m:d>
                  </m:oMath>
                </a14:m>
                <a:r>
                  <a:rPr lang="zh-Hans" altLang="en-US" noProof="1">
                    <a:solidFill>
                      <a:srgbClr val="514843"/>
                    </a:solidFill>
                    <a:latin typeface="Times New Roman" panose="02020603050405020304" charset="0"/>
                    <a:sym typeface="+mn-ea"/>
                  </a:rPr>
                  <a:t>。于是：</a:t>
                </a:r>
                <a:endParaRPr lang="en-US" altLang="zh-Hans" noProof="1">
                  <a:solidFill>
                    <a:srgbClr val="514843"/>
                  </a:solidFill>
                  <a:latin typeface="Times New Roman" panose="02020603050405020304" charset="0"/>
                  <a:sym typeface="+mn-ea"/>
                </a:endParaRPr>
              </a:p>
              <a:p>
                <a:pPr marL="0" lvl="0" indent="0">
                  <a:lnSpc>
                    <a:spcPct val="150000"/>
                  </a:lnSpc>
                  <a:buNone/>
                </a:pPr>
                <a14:m>
                  <m:oMathPara xmlns:m="http://schemas.openxmlformats.org/officeDocument/2006/math">
                    <m:oMathParaPr>
                      <m:jc m:val="centerGroup"/>
                    </m:oMathParaPr>
                    <m:oMath xmlns:m="http://schemas.openxmlformats.org/officeDocument/2006/math">
                      <m:r>
                        <a:rPr lang="en-US" altLang="zh-CN" i="1" noProof="1">
                          <a:solidFill>
                            <a:srgbClr val="514843"/>
                          </a:solidFill>
                          <a:latin typeface="Cambria Math" panose="02040503050406030204" pitchFamily="18" charset="0"/>
                          <a:sym typeface="+mn-ea"/>
                        </a:rPr>
                        <m:t>𝑎</m:t>
                      </m:r>
                      <m:r>
                        <a:rPr lang="zh-CN" altLang="zh-CN" i="1" baseline="30000" noProof="1">
                          <a:solidFill>
                            <a:srgbClr val="514843"/>
                          </a:solidFill>
                          <a:latin typeface="Cambria Math" panose="02040503050406030204" pitchFamily="18" charset="0"/>
                          <a:sym typeface="+mn-ea"/>
                        </a:rPr>
                        <m:t>𝑏</m:t>
                      </m:r>
                      <m:r>
                        <a:rPr lang="en-US" altLang="zh-CN" i="1" noProof="1">
                          <a:solidFill>
                            <a:srgbClr val="514843"/>
                          </a:solidFill>
                          <a:latin typeface="Cambria Math" panose="02040503050406030204" pitchFamily="18" charset="0"/>
                          <a:sym typeface="+mn-ea"/>
                        </a:rPr>
                        <m:t> </m:t>
                      </m:r>
                      <m:r>
                        <a:rPr lang="en-US" altLang="zh-CN"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i="1" noProof="1" smtClean="0">
                              <a:solidFill>
                                <a:srgbClr val="514843"/>
                              </a:solidFill>
                              <a:latin typeface="Cambria Math" panose="02040503050406030204" pitchFamily="18" charset="0"/>
                              <a:sym typeface="+mn-ea"/>
                            </a:rPr>
                          </m:ctrlPr>
                        </m:sSupPr>
                        <m:e>
                          <m:r>
                            <a:rPr lang="en-US" altLang="zh-CN" i="1" noProof="1">
                              <a:solidFill>
                                <a:srgbClr val="514843"/>
                              </a:solidFill>
                              <a:latin typeface="Cambria Math" panose="02040503050406030204" pitchFamily="18" charset="0"/>
                              <a:sym typeface="+mn-ea"/>
                            </a:rPr>
                            <m:t>𝑎</m:t>
                          </m:r>
                        </m:e>
                        <m:sup>
                          <m:r>
                            <a:rPr lang="en-US" altLang="zh-Hans" i="1" noProof="1">
                              <a:solidFill>
                                <a:srgbClr val="514843"/>
                              </a:solidFill>
                              <a:latin typeface="Cambria Math" panose="02040503050406030204" pitchFamily="18" charset="0"/>
                              <a:sym typeface="+mn-ea"/>
                            </a:rPr>
                            <m:t>𝑞</m:t>
                          </m:r>
                          <m:r>
                            <a:rPr lang="en-US" altLang="zh-Hans" i="1" noProof="1">
                              <a:solidFill>
                                <a:srgbClr val="514843"/>
                              </a:solidFill>
                              <a:latin typeface="Cambria Math" panose="02040503050406030204" pitchFamily="18" charset="0"/>
                              <a:sym typeface="+mn-ea"/>
                            </a:rPr>
                            <m:t>∗</m:t>
                          </m:r>
                          <m:r>
                            <a:rPr lang="en-US" altLang="zh-Hans" i="1" noProof="1">
                              <a:solidFill>
                                <a:srgbClr val="514843"/>
                              </a:solidFill>
                              <a:latin typeface="Cambria Math" panose="02040503050406030204" pitchFamily="18" charset="0"/>
                              <a:ea typeface="Cambria Math" panose="02040503050406030204" pitchFamily="18" charset="0"/>
                              <a:sym typeface="+mn-ea"/>
                            </a:rPr>
                            <m:t>𝜑</m:t>
                          </m:r>
                          <m:d>
                            <m:dPr>
                              <m:ctrlPr>
                                <a:rPr lang="en-US" altLang="zh-Hans" i="1" noProof="1">
                                  <a:solidFill>
                                    <a:srgbClr val="514843"/>
                                  </a:solidFill>
                                  <a:latin typeface="Cambria Math" panose="02040503050406030204" pitchFamily="18" charset="0"/>
                                  <a:ea typeface="Cambria Math" panose="02040503050406030204" pitchFamily="18" charset="0"/>
                                  <a:sym typeface="+mn-ea"/>
                                </a:rPr>
                              </m:ctrlPr>
                            </m:dPr>
                            <m:e>
                              <m:r>
                                <a:rPr lang="en-US" altLang="zh-Hans" i="1" noProof="1">
                                  <a:solidFill>
                                    <a:srgbClr val="514843"/>
                                  </a:solidFill>
                                  <a:latin typeface="Cambria Math" panose="02040503050406030204" pitchFamily="18" charset="0"/>
                                  <a:ea typeface="Cambria Math" panose="02040503050406030204" pitchFamily="18" charset="0"/>
                                  <a:sym typeface="+mn-ea"/>
                                </a:rPr>
                                <m:t>𝑚</m:t>
                              </m:r>
                            </m:e>
                          </m:d>
                          <m:r>
                            <a:rPr lang="en-US" altLang="zh-Hans" i="1" noProof="1">
                              <a:solidFill>
                                <a:srgbClr val="514843"/>
                              </a:solidFill>
                              <a:latin typeface="Cambria Math" panose="02040503050406030204" pitchFamily="18" charset="0"/>
                              <a:ea typeface="Cambria Math" panose="02040503050406030204" pitchFamily="18" charset="0"/>
                              <a:sym typeface="+mn-ea"/>
                            </a:rPr>
                            <m:t>+</m:t>
                          </m:r>
                          <m:r>
                            <a:rPr lang="en-US" altLang="zh-Hans" i="1" noProof="1">
                              <a:solidFill>
                                <a:srgbClr val="514843"/>
                              </a:solidFill>
                              <a:latin typeface="Cambria Math" panose="02040503050406030204" pitchFamily="18" charset="0"/>
                              <a:ea typeface="Cambria Math" panose="02040503050406030204" pitchFamily="18" charset="0"/>
                              <a:sym typeface="+mn-ea"/>
                            </a:rPr>
                            <m:t>𝑟</m:t>
                          </m:r>
                        </m:sup>
                      </m:sSup>
                      <m:r>
                        <a:rPr lang="zh-CN" altLang="zh-CN" i="1" baseline="30000" noProof="1">
                          <a:solidFill>
                            <a:srgbClr val="514843"/>
                          </a:solidFill>
                          <a:latin typeface="Cambria Math" panose="02040503050406030204" pitchFamily="18" charset="0"/>
                          <a:sym typeface="+mn-ea"/>
                        </a:rPr>
                        <m:t> </m:t>
                      </m:r>
                      <m:r>
                        <a:rPr lang="en-US" altLang="zh-CN"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i="1" noProof="1" smtClean="0">
                              <a:solidFill>
                                <a:srgbClr val="514843"/>
                              </a:solidFill>
                              <a:latin typeface="Cambria Math" panose="02040503050406030204" pitchFamily="18" charset="0"/>
                              <a:ea typeface="Cambria Math" panose="02040503050406030204" pitchFamily="18" charset="0"/>
                              <a:sym typeface="+mn-ea"/>
                            </a:rPr>
                          </m:ctrlPr>
                        </m:sSupPr>
                        <m:e>
                          <m:d>
                            <m:dPr>
                              <m:ctrlPr>
                                <a:rPr lang="en-US" altLang="zh-CN" i="1" noProof="1" smtClean="0">
                                  <a:solidFill>
                                    <a:srgbClr val="514843"/>
                                  </a:solidFill>
                                  <a:latin typeface="Cambria Math" panose="02040503050406030204" pitchFamily="18" charset="0"/>
                                  <a:ea typeface="Cambria Math" panose="02040503050406030204" pitchFamily="18" charset="0"/>
                                  <a:sym typeface="+mn-ea"/>
                                </a:rPr>
                              </m:ctrlPr>
                            </m:dPr>
                            <m:e>
                              <m:sSup>
                                <m:sSupPr>
                                  <m:ctrlPr>
                                    <a:rPr lang="en-US" altLang="zh-CN" i="1" noProof="1" smtClean="0">
                                      <a:solidFill>
                                        <a:srgbClr val="514843"/>
                                      </a:solidFill>
                                      <a:latin typeface="Cambria Math" panose="02040503050406030204" pitchFamily="18" charset="0"/>
                                      <a:ea typeface="Cambria Math" panose="02040503050406030204" pitchFamily="18" charset="0"/>
                                      <a:sym typeface="+mn-ea"/>
                                    </a:rPr>
                                  </m:ctrlPr>
                                </m:sSupPr>
                                <m:e>
                                  <m:r>
                                    <a:rPr lang="en-US" altLang="zh-CN" b="0" i="1" noProof="1" smtClean="0">
                                      <a:solidFill>
                                        <a:srgbClr val="514843"/>
                                      </a:solidFill>
                                      <a:latin typeface="Cambria Math" panose="02040503050406030204" pitchFamily="18" charset="0"/>
                                      <a:ea typeface="Cambria Math" panose="02040503050406030204" pitchFamily="18" charset="0"/>
                                      <a:sym typeface="+mn-ea"/>
                                    </a:rPr>
                                    <m:t>𝑎</m:t>
                                  </m:r>
                                </m:e>
                                <m:sup>
                                  <m:r>
                                    <a:rPr lang="en-US" altLang="zh-CN" i="1" noProof="1" smtClean="0">
                                      <a:solidFill>
                                        <a:srgbClr val="514843"/>
                                      </a:solidFill>
                                      <a:latin typeface="Cambria Math" panose="02040503050406030204" pitchFamily="18" charset="0"/>
                                      <a:ea typeface="Cambria Math" panose="02040503050406030204" pitchFamily="18" charset="0"/>
                                      <a:sym typeface="+mn-ea"/>
                                    </a:rPr>
                                    <m:t>𝜑</m:t>
                                  </m:r>
                                  <m:d>
                                    <m:dPr>
                                      <m:ctrlPr>
                                        <a:rPr lang="en-US" altLang="zh-CN" i="1" noProof="1" smtClean="0">
                                          <a:solidFill>
                                            <a:srgbClr val="514843"/>
                                          </a:solidFill>
                                          <a:latin typeface="Cambria Math" panose="02040503050406030204" pitchFamily="18" charset="0"/>
                                          <a:ea typeface="Cambria Math" panose="02040503050406030204" pitchFamily="18" charset="0"/>
                                          <a:sym typeface="+mn-ea"/>
                                        </a:rPr>
                                      </m:ctrlPr>
                                    </m:dPr>
                                    <m:e>
                                      <m:r>
                                        <a:rPr lang="en-US" altLang="zh-CN" b="0" i="1" noProof="1" smtClean="0">
                                          <a:solidFill>
                                            <a:srgbClr val="514843"/>
                                          </a:solidFill>
                                          <a:latin typeface="Cambria Math" panose="02040503050406030204" pitchFamily="18" charset="0"/>
                                          <a:ea typeface="Cambria Math" panose="02040503050406030204" pitchFamily="18" charset="0"/>
                                          <a:sym typeface="+mn-ea"/>
                                        </a:rPr>
                                        <m:t>𝑚</m:t>
                                      </m:r>
                                    </m:e>
                                  </m:d>
                                </m:sup>
                              </m:sSup>
                            </m:e>
                          </m:d>
                        </m:e>
                        <m:sup>
                          <m:r>
                            <a:rPr lang="en-US" altLang="zh-CN" b="0" i="1" noProof="1" smtClean="0">
                              <a:solidFill>
                                <a:srgbClr val="514843"/>
                              </a:solidFill>
                              <a:latin typeface="Cambria Math" panose="02040503050406030204" pitchFamily="18" charset="0"/>
                              <a:ea typeface="Cambria Math" panose="02040503050406030204" pitchFamily="18" charset="0"/>
                              <a:sym typeface="+mn-ea"/>
                            </a:rPr>
                            <m:t>𝑞</m:t>
                          </m:r>
                        </m:sup>
                      </m:sSup>
                      <m:r>
                        <a:rPr lang="en-US" altLang="zh-CN" b="0"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b="0" i="1" noProof="1" smtClean="0">
                              <a:solidFill>
                                <a:srgbClr val="514843"/>
                              </a:solidFill>
                              <a:latin typeface="Cambria Math" panose="02040503050406030204" pitchFamily="18" charset="0"/>
                              <a:ea typeface="Cambria Math" panose="02040503050406030204" pitchFamily="18" charset="0"/>
                              <a:sym typeface="+mn-ea"/>
                            </a:rPr>
                          </m:ctrlPr>
                        </m:sSupPr>
                        <m:e>
                          <m:r>
                            <a:rPr lang="en-US" altLang="zh-CN" b="0" i="1" noProof="1" smtClean="0">
                              <a:solidFill>
                                <a:srgbClr val="514843"/>
                              </a:solidFill>
                              <a:latin typeface="Cambria Math" panose="02040503050406030204" pitchFamily="18" charset="0"/>
                              <a:ea typeface="Cambria Math" panose="02040503050406030204" pitchFamily="18" charset="0"/>
                              <a:sym typeface="+mn-ea"/>
                            </a:rPr>
                            <m:t>𝑎</m:t>
                          </m:r>
                        </m:e>
                        <m:sup>
                          <m:r>
                            <a:rPr lang="en-US" altLang="zh-CN" b="0" i="1" noProof="1" smtClean="0">
                              <a:solidFill>
                                <a:srgbClr val="514843"/>
                              </a:solidFill>
                              <a:latin typeface="Cambria Math" panose="02040503050406030204" pitchFamily="18" charset="0"/>
                              <a:ea typeface="Cambria Math" panose="02040503050406030204" pitchFamily="18" charset="0"/>
                              <a:sym typeface="+mn-ea"/>
                            </a:rPr>
                            <m:t>𝑟</m:t>
                          </m:r>
                        </m:sup>
                      </m:sSup>
                      <m:r>
                        <a:rPr lang="en-US" altLang="zh-CN" b="0"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b="0" i="1" noProof="1" smtClean="0">
                              <a:solidFill>
                                <a:srgbClr val="514843"/>
                              </a:solidFill>
                              <a:latin typeface="Cambria Math" panose="02040503050406030204" pitchFamily="18" charset="0"/>
                              <a:ea typeface="Cambria Math" panose="02040503050406030204" pitchFamily="18" charset="0"/>
                              <a:sym typeface="+mn-ea"/>
                            </a:rPr>
                          </m:ctrlPr>
                        </m:sSupPr>
                        <m:e>
                          <m:r>
                            <a:rPr lang="en-US" altLang="zh-CN" b="0" i="1" noProof="1" smtClean="0">
                              <a:solidFill>
                                <a:srgbClr val="514843"/>
                              </a:solidFill>
                              <a:latin typeface="Cambria Math" panose="02040503050406030204" pitchFamily="18" charset="0"/>
                              <a:ea typeface="Cambria Math" panose="02040503050406030204" pitchFamily="18" charset="0"/>
                              <a:sym typeface="+mn-ea"/>
                            </a:rPr>
                            <m:t>1</m:t>
                          </m:r>
                        </m:e>
                        <m:sup>
                          <m:r>
                            <a:rPr lang="en-US" altLang="zh-CN" b="0" i="1" noProof="1" smtClean="0">
                              <a:solidFill>
                                <a:srgbClr val="514843"/>
                              </a:solidFill>
                              <a:latin typeface="Cambria Math" panose="02040503050406030204" pitchFamily="18" charset="0"/>
                              <a:ea typeface="Cambria Math" panose="02040503050406030204" pitchFamily="18" charset="0"/>
                              <a:sym typeface="+mn-ea"/>
                            </a:rPr>
                            <m:t>𝑞</m:t>
                          </m:r>
                        </m:sup>
                      </m:sSup>
                      <m:r>
                        <a:rPr lang="en-US" altLang="zh-CN" b="0"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i="1" noProof="1">
                              <a:solidFill>
                                <a:srgbClr val="514843"/>
                              </a:solidFill>
                              <a:latin typeface="Cambria Math" panose="02040503050406030204" pitchFamily="18" charset="0"/>
                              <a:ea typeface="Cambria Math" panose="02040503050406030204" pitchFamily="18" charset="0"/>
                              <a:sym typeface="+mn-ea"/>
                            </a:rPr>
                          </m:ctrlPr>
                        </m:sSupPr>
                        <m:e>
                          <m:r>
                            <a:rPr lang="en-US" altLang="zh-CN" i="1" noProof="1">
                              <a:solidFill>
                                <a:srgbClr val="514843"/>
                              </a:solidFill>
                              <a:latin typeface="Cambria Math" panose="02040503050406030204" pitchFamily="18" charset="0"/>
                              <a:ea typeface="Cambria Math" panose="02040503050406030204" pitchFamily="18" charset="0"/>
                              <a:sym typeface="+mn-ea"/>
                            </a:rPr>
                            <m:t>𝑎</m:t>
                          </m:r>
                        </m:e>
                        <m:sup>
                          <m:r>
                            <a:rPr lang="en-US" altLang="zh-CN" i="1" noProof="1">
                              <a:solidFill>
                                <a:srgbClr val="514843"/>
                              </a:solidFill>
                              <a:latin typeface="Cambria Math" panose="02040503050406030204" pitchFamily="18" charset="0"/>
                              <a:ea typeface="Cambria Math" panose="02040503050406030204" pitchFamily="18" charset="0"/>
                              <a:sym typeface="+mn-ea"/>
                            </a:rPr>
                            <m:t>𝑟</m:t>
                          </m:r>
                        </m:sup>
                      </m:sSup>
                      <m:r>
                        <a:rPr lang="en-US" altLang="zh-CN"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i="1" noProof="1">
                              <a:solidFill>
                                <a:srgbClr val="514843"/>
                              </a:solidFill>
                              <a:latin typeface="Cambria Math" panose="02040503050406030204" pitchFamily="18" charset="0"/>
                              <a:ea typeface="Cambria Math" panose="02040503050406030204" pitchFamily="18" charset="0"/>
                              <a:sym typeface="+mn-ea"/>
                            </a:rPr>
                          </m:ctrlPr>
                        </m:sSupPr>
                        <m:e>
                          <m:r>
                            <a:rPr lang="en-US" altLang="zh-CN" i="1" noProof="1">
                              <a:solidFill>
                                <a:srgbClr val="514843"/>
                              </a:solidFill>
                              <a:latin typeface="Cambria Math" panose="02040503050406030204" pitchFamily="18" charset="0"/>
                              <a:ea typeface="Cambria Math" panose="02040503050406030204" pitchFamily="18" charset="0"/>
                              <a:sym typeface="+mn-ea"/>
                            </a:rPr>
                            <m:t>𝑎</m:t>
                          </m:r>
                        </m:e>
                        <m:sup>
                          <m:r>
                            <a:rPr lang="en-US" altLang="zh-CN" i="1" noProof="1">
                              <a:solidFill>
                                <a:srgbClr val="514843"/>
                              </a:solidFill>
                              <a:latin typeface="Cambria Math" panose="02040503050406030204" pitchFamily="18" charset="0"/>
                              <a:ea typeface="Cambria Math" panose="02040503050406030204" pitchFamily="18" charset="0"/>
                              <a:sym typeface="+mn-ea"/>
                            </a:rPr>
                            <m:t>𝑟</m:t>
                          </m:r>
                        </m:sup>
                      </m:sSup>
                      <m:r>
                        <a:rPr lang="en-US" altLang="zh-CN" i="1" noProof="1" smtClean="0">
                          <a:solidFill>
                            <a:srgbClr val="514843"/>
                          </a:solidFill>
                          <a:latin typeface="Cambria Math" panose="02040503050406030204" pitchFamily="18" charset="0"/>
                          <a:ea typeface="Cambria Math" panose="02040503050406030204" pitchFamily="18" charset="0"/>
                          <a:sym typeface="+mn-ea"/>
                        </a:rPr>
                        <m:t>≡</m:t>
                      </m:r>
                      <m:sSup>
                        <m:sSupPr>
                          <m:ctrlPr>
                            <a:rPr lang="en-US" altLang="zh-CN" i="1" noProof="1">
                              <a:solidFill>
                                <a:srgbClr val="514843"/>
                              </a:solidFill>
                              <a:latin typeface="Cambria Math" panose="02040503050406030204" pitchFamily="18" charset="0"/>
                              <a:sym typeface="+mn-ea"/>
                            </a:rPr>
                          </m:ctrlPr>
                        </m:sSupPr>
                        <m:e>
                          <m:r>
                            <a:rPr lang="en-US" altLang="zh-CN" i="1" noProof="1">
                              <a:solidFill>
                                <a:srgbClr val="514843"/>
                              </a:solidFill>
                              <a:latin typeface="Cambria Math" panose="02040503050406030204" pitchFamily="18" charset="0"/>
                              <a:sym typeface="+mn-ea"/>
                            </a:rPr>
                            <m:t>𝑎</m:t>
                          </m:r>
                        </m:e>
                        <m:sup>
                          <m:r>
                            <a:rPr lang="en-US" altLang="zh-CN" i="1" noProof="1">
                              <a:solidFill>
                                <a:srgbClr val="514843"/>
                              </a:solidFill>
                              <a:latin typeface="Cambria Math" panose="02040503050406030204" pitchFamily="18" charset="0"/>
                              <a:sym typeface="+mn-ea"/>
                            </a:rPr>
                            <m:t>𝑏</m:t>
                          </m:r>
                          <m:r>
                            <a:rPr lang="en-US" altLang="zh-CN" i="1" noProof="1">
                              <a:solidFill>
                                <a:srgbClr val="514843"/>
                              </a:solidFill>
                              <a:latin typeface="Cambria Math" panose="02040503050406030204" pitchFamily="18" charset="0"/>
                              <a:sym typeface="+mn-ea"/>
                            </a:rPr>
                            <m:t> </m:t>
                          </m:r>
                          <m:r>
                            <m:rPr>
                              <m:sty m:val="p"/>
                            </m:rPr>
                            <a:rPr lang="en-US" altLang="zh-CN" noProof="1">
                              <a:solidFill>
                                <a:srgbClr val="514843"/>
                              </a:solidFill>
                              <a:latin typeface="Cambria Math" panose="02040503050406030204" pitchFamily="18" charset="0"/>
                              <a:sym typeface="+mn-ea"/>
                            </a:rPr>
                            <m:t>mod</m:t>
                          </m:r>
                          <m:r>
                            <a:rPr lang="en-US" altLang="zh-CN" i="1" noProof="1">
                              <a:solidFill>
                                <a:srgbClr val="514843"/>
                              </a:solidFill>
                              <a:latin typeface="Cambria Math" panose="02040503050406030204" pitchFamily="18" charset="0"/>
                              <a:sym typeface="+mn-ea"/>
                            </a:rPr>
                            <m:t> </m:t>
                          </m:r>
                          <m:r>
                            <a:rPr lang="zh-CN" altLang="en-US" i="1" noProof="1">
                              <a:solidFill>
                                <a:srgbClr val="514843"/>
                              </a:solidFill>
                              <a:latin typeface="Cambria Math" panose="02040503050406030204" pitchFamily="18" charset="0"/>
                              <a:sym typeface="+mn-ea"/>
                            </a:rPr>
                            <m:t>𝜑</m:t>
                          </m:r>
                          <m:r>
                            <a:rPr lang="en-US" altLang="zh-CN" i="1" noProof="1">
                              <a:solidFill>
                                <a:srgbClr val="514843"/>
                              </a:solidFill>
                              <a:latin typeface="Cambria Math" panose="02040503050406030204" pitchFamily="18" charset="0"/>
                              <a:sym typeface="+mn-ea"/>
                            </a:rPr>
                            <m:t>(</m:t>
                          </m:r>
                          <m:r>
                            <a:rPr lang="en-US" altLang="zh-CN" i="1" noProof="1">
                              <a:solidFill>
                                <a:srgbClr val="514843"/>
                              </a:solidFill>
                              <a:latin typeface="Cambria Math" panose="02040503050406030204" pitchFamily="18" charset="0"/>
                              <a:sym typeface="+mn-ea"/>
                            </a:rPr>
                            <m:t>𝑚</m:t>
                          </m:r>
                          <m:r>
                            <a:rPr lang="en-US" altLang="zh-CN" i="1" noProof="1">
                              <a:solidFill>
                                <a:srgbClr val="514843"/>
                              </a:solidFill>
                              <a:latin typeface="Cambria Math" panose="02040503050406030204" pitchFamily="18" charset="0"/>
                              <a:sym typeface="+mn-ea"/>
                            </a:rPr>
                            <m:t>)</m:t>
                          </m:r>
                        </m:sup>
                      </m:sSup>
                      <m:d>
                        <m:dPr>
                          <m:ctrlPr>
                            <a:rPr lang="en-US" altLang="zh-CN" i="1" noProof="1" smtClean="0">
                              <a:solidFill>
                                <a:srgbClr val="514843"/>
                              </a:solidFill>
                              <a:latin typeface="Cambria Math" panose="02040503050406030204" pitchFamily="18" charset="0"/>
                              <a:sym typeface="+mn-ea"/>
                            </a:rPr>
                          </m:ctrlPr>
                        </m:dPr>
                        <m:e>
                          <m:r>
                            <m:rPr>
                              <m:sty m:val="p"/>
                            </m:rPr>
                            <a:rPr lang="en-US" altLang="zh-CN" b="0" i="0" noProof="1" smtClean="0">
                              <a:solidFill>
                                <a:srgbClr val="514843"/>
                              </a:solidFill>
                              <a:latin typeface="Cambria Math" panose="02040503050406030204" pitchFamily="18" charset="0"/>
                              <a:sym typeface="+mn-ea"/>
                            </a:rPr>
                            <m:t>mod</m:t>
                          </m:r>
                          <m:r>
                            <a:rPr lang="en-US" altLang="zh-CN" b="0" i="1" noProof="1" smtClean="0">
                              <a:solidFill>
                                <a:srgbClr val="514843"/>
                              </a:solidFill>
                              <a:latin typeface="Cambria Math" panose="02040503050406030204" pitchFamily="18" charset="0"/>
                              <a:sym typeface="+mn-ea"/>
                            </a:rPr>
                            <m:t> </m:t>
                          </m:r>
                          <m:r>
                            <a:rPr lang="en-US" altLang="zh-CN" b="0" i="1" noProof="1" smtClean="0">
                              <a:solidFill>
                                <a:srgbClr val="514843"/>
                              </a:solidFill>
                              <a:latin typeface="Cambria Math" panose="02040503050406030204" pitchFamily="18" charset="0"/>
                              <a:sym typeface="+mn-ea"/>
                            </a:rPr>
                            <m:t>𝑚</m:t>
                          </m:r>
                        </m:e>
                      </m:d>
                    </m:oMath>
                  </m:oMathPara>
                </a14:m>
                <a:endParaRPr lang="en-US" altLang="zh-CN" noProof="1">
                  <a:solidFill>
                    <a:srgbClr val="514843"/>
                  </a:solidFill>
                  <a:latin typeface="Times New Roman" panose="02020603050405020304" charset="0"/>
                  <a:sym typeface="+mn-ea"/>
                </a:endParaRPr>
              </a:p>
              <a:p>
                <a:pPr lvl="0">
                  <a:lnSpc>
                    <a:spcPct val="150000"/>
                  </a:lnSpc>
                </a:pPr>
                <a:endParaRPr lang="en-US" altLang="zh-CN" noProof="1">
                  <a:solidFill>
                    <a:srgbClr val="514843"/>
                  </a:solidFill>
                  <a:latin typeface="Times New Roman" panose="02020603050405020304" charset="0"/>
                  <a:sym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11427"/>
                <a:ext cx="9980682" cy="4805702"/>
              </a:xfrm>
              <a:blipFill>
                <a:blip r:embed="rId2"/>
                <a:stretch>
                  <a:fillRect l="-1398"/>
                </a:stretch>
              </a:blipFill>
            </p:spPr>
            <p:txBody>
              <a:bodyPr/>
              <a:lstStyle/>
              <a:p>
                <a:r>
                  <a:rPr lang="zh-CN" altLang="en-US">
                    <a:noFill/>
                  </a:rPr>
                  <a:t> </a:t>
                </a:r>
              </a:p>
            </p:txBody>
          </p:sp>
        </mc:Fallback>
      </mc:AlternateContent>
      <p:sp>
        <p:nvSpPr>
          <p:cNvPr id="5" name="幻灯片编号占位符 4">
            <a:extLst>
              <a:ext uri="{FF2B5EF4-FFF2-40B4-BE49-F238E27FC236}">
                <a16:creationId xmlns:a16="http://schemas.microsoft.com/office/drawing/2014/main" id="{6EDAD479-E59F-1A47-9A92-DFC5E8B8AF11}"/>
              </a:ext>
            </a:extLst>
          </p:cNvPr>
          <p:cNvSpPr>
            <a:spLocks noGrp="1"/>
          </p:cNvSpPr>
          <p:nvPr>
            <p:ph type="sldNum" sz="quarter" idx="12"/>
          </p:nvPr>
        </p:nvSpPr>
        <p:spPr/>
        <p:txBody>
          <a:bodyPr/>
          <a:lstStyle/>
          <a:p>
            <a:fld id="{0FF54DE5-C571-48E8-A5BC-B369434E2F44}" type="slidenum">
              <a:rPr lang="en-US" altLang="zh-CN" smtClean="0"/>
              <a:pPr/>
              <a:t>70</a:t>
            </a:fld>
            <a:endParaRPr lang="zh-CN" altLang="en-US" dirty="0"/>
          </a:p>
        </p:txBody>
      </p:sp>
    </p:spTree>
    <p:extLst>
      <p:ext uri="{BB962C8B-B14F-4D97-AF65-F5344CB8AC3E}">
        <p14:creationId xmlns:p14="http://schemas.microsoft.com/office/powerpoint/2010/main" val="119532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例题：</a:t>
            </a:r>
            <a:r>
              <a:rPr lang="en-US" altLang="zh-Hans" dirty="0"/>
              <a:t>[POJ 3696] The Luckiest Number</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11427"/>
                <a:ext cx="9980682" cy="4805702"/>
              </a:xfrm>
            </p:spPr>
            <p:txBody>
              <a:bodyPr>
                <a:noAutofit/>
              </a:bodyPr>
              <a:lstStyle/>
              <a:p>
                <a:pPr>
                  <a:lnSpc>
                    <a:spcPct val="150000"/>
                  </a:lnSpc>
                </a:pPr>
                <a:r>
                  <a:rPr lang="zh-CN" altLang="en-US" dirty="0"/>
                  <a:t>给定一个正整数 </a:t>
                </a:r>
                <a14:m>
                  <m:oMath xmlns:m="http://schemas.openxmlformats.org/officeDocument/2006/math">
                    <m:r>
                      <a:rPr lang="en-US" altLang="zh-CN" i="1" dirty="0" smtClean="0">
                        <a:latin typeface="Cambria Math" panose="02040503050406030204" pitchFamily="18" charset="0"/>
                      </a:rPr>
                      <m:t>𝐿</m:t>
                    </m:r>
                  </m:oMath>
                </a14:m>
                <a:r>
                  <a:rPr lang="en-US" altLang="zh-CN" dirty="0"/>
                  <a:t> </a:t>
                </a:r>
                <a:r>
                  <a:rPr lang="zh-CN" altLang="en-US" dirty="0"/>
                  <a:t>，</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2∗</m:t>
                    </m:r>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9</m:t>
                        </m:r>
                      </m:sup>
                    </m:sSup>
                  </m:oMath>
                </a14:m>
                <a:r>
                  <a:rPr lang="en-US" altLang="zh-CN" dirty="0"/>
                  <a:t> </a:t>
                </a:r>
                <a:r>
                  <a:rPr lang="zh-Hans" altLang="en-US" dirty="0"/>
                  <a:t>。</a:t>
                </a:r>
                <a:r>
                  <a:rPr lang="zh-CN" altLang="en-US" dirty="0"/>
                  <a:t>问至少多少个</a:t>
                </a:r>
                <a:r>
                  <a:rPr lang="zh-Hans" altLang="en-US" dirty="0"/>
                  <a:t> </a:t>
                </a:r>
                <a14:m>
                  <m:oMath xmlns:m="http://schemas.openxmlformats.org/officeDocument/2006/math">
                    <m:r>
                      <a:rPr lang="en-US" altLang="zh-CN" i="1" dirty="0" smtClean="0">
                        <a:latin typeface="Cambria Math" panose="02040503050406030204" pitchFamily="18" charset="0"/>
                      </a:rPr>
                      <m:t>8</m:t>
                    </m:r>
                  </m:oMath>
                </a14:m>
                <a:r>
                  <a:rPr lang="zh-Hans" altLang="en-US" dirty="0"/>
                  <a:t> </a:t>
                </a:r>
                <a:r>
                  <a:rPr lang="zh-CN" altLang="en-US" dirty="0"/>
                  <a:t>连在一起组成的正整数是 </a:t>
                </a:r>
                <a14:m>
                  <m:oMath xmlns:m="http://schemas.openxmlformats.org/officeDocument/2006/math">
                    <m:r>
                      <a:rPr lang="en-US" altLang="zh-CN" i="1" dirty="0" smtClean="0">
                        <a:latin typeface="Cambria Math" panose="02040503050406030204" pitchFamily="18" charset="0"/>
                      </a:rPr>
                      <m:t>𝐿</m:t>
                    </m:r>
                  </m:oMath>
                </a14:m>
                <a:r>
                  <a:rPr lang="en-US" altLang="zh-CN" dirty="0"/>
                  <a:t> </a:t>
                </a:r>
                <a:r>
                  <a:rPr lang="zh-CN" altLang="en-US" dirty="0"/>
                  <a:t>的倍数？</a:t>
                </a:r>
                <a:endParaRPr lang="en-US" altLang="zh-CN" dirty="0"/>
              </a:p>
              <a:p>
                <a:pPr>
                  <a:lnSpc>
                    <a:spcPct val="150000"/>
                  </a:lnSpc>
                </a:pPr>
                <a:r>
                  <a:rPr lang="zh-Hans" altLang="en-US" dirty="0"/>
                  <a:t>分析：</a:t>
                </a:r>
                <a:endParaRPr lang="en-US" altLang="zh-Hans" dirty="0"/>
              </a:p>
              <a:p>
                <a:pPr>
                  <a:lnSpc>
                    <a:spcPct val="150000"/>
                  </a:lnSpc>
                </a:pP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个 </a:t>
                </a:r>
                <a14:m>
                  <m:oMath xmlns:m="http://schemas.openxmlformats.org/officeDocument/2006/math">
                    <m:r>
                      <a:rPr lang="en-US" altLang="zh-CN" i="1" dirty="0" smtClean="0">
                        <a:latin typeface="Cambria Math" panose="02040503050406030204" pitchFamily="18" charset="0"/>
                      </a:rPr>
                      <m:t>8</m:t>
                    </m:r>
                  </m:oMath>
                </a14:m>
                <a:r>
                  <a:rPr lang="en-US" altLang="zh-CN" dirty="0"/>
                  <a:t> </a:t>
                </a:r>
                <a:r>
                  <a:rPr lang="zh-CN" altLang="en-US" dirty="0"/>
                  <a:t>连在一起的正整数可写作 </a:t>
                </a:r>
                <a14:m>
                  <m:oMath xmlns:m="http://schemas.openxmlformats.org/officeDocument/2006/math">
                    <m:r>
                      <a:rPr lang="en-US" altLang="zh-CN" i="1" dirty="0" smtClean="0">
                        <a:latin typeface="Cambria Math" panose="02040503050406030204" pitchFamily="18" charset="0"/>
                      </a:rPr>
                      <m:t>8(</m:t>
                    </m:r>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𝑥</m:t>
                        </m:r>
                      </m:sup>
                    </m:sSup>
                    <m:r>
                      <a:rPr lang="en-US" altLang="zh-CN" i="1" dirty="0" smtClean="0">
                        <a:latin typeface="Cambria Math" panose="02040503050406030204" pitchFamily="18" charset="0"/>
                      </a:rPr>
                      <m:t>−1)/9</m:t>
                    </m:r>
                  </m:oMath>
                </a14:m>
                <a:r>
                  <a:rPr lang="en-US" altLang="zh-CN" dirty="0"/>
                  <a:t> </a:t>
                </a:r>
                <a:r>
                  <a:rPr lang="zh-CN" altLang="en-US" dirty="0"/>
                  <a:t>。</a:t>
                </a:r>
                <a:endParaRPr lang="en-US" altLang="zh-CN" dirty="0"/>
              </a:p>
              <a:p>
                <a:pPr>
                  <a:lnSpc>
                    <a:spcPct val="150000"/>
                  </a:lnSpc>
                </a:pPr>
                <a:r>
                  <a:rPr lang="zh-Hans" altLang="en-US" dirty="0"/>
                  <a:t>要</a:t>
                </a:r>
                <a:r>
                  <a:rPr lang="zh-CN" altLang="en-US" dirty="0"/>
                  <a:t>求出最小的 </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，满足 </a:t>
                </a:r>
                <a14:m>
                  <m:oMath xmlns:m="http://schemas.openxmlformats.org/officeDocument/2006/math">
                    <m:r>
                      <a:rPr lang="en-US" altLang="zh-CN" i="1" dirty="0" smtClean="0">
                        <a:latin typeface="Cambria Math" panose="02040503050406030204" pitchFamily="18" charset="0"/>
                      </a:rPr>
                      <m:t>𝐿</m:t>
                    </m:r>
                    <m:r>
                      <a:rPr lang="en-US" altLang="zh-CN" i="1" dirty="0" smtClean="0">
                        <a:latin typeface="Cambria Math" panose="02040503050406030204" pitchFamily="18" charset="0"/>
                      </a:rPr>
                      <m:t>|8(</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𝑥</m:t>
                        </m:r>
                      </m:sup>
                    </m:sSup>
                    <m:r>
                      <a:rPr lang="en-US" altLang="zh-CN" i="1" dirty="0" smtClean="0">
                        <a:latin typeface="Cambria Math" panose="02040503050406030204" pitchFamily="18" charset="0"/>
                      </a:rPr>
                      <m:t>−1)/9</m:t>
                    </m:r>
                  </m:oMath>
                </a14:m>
                <a:r>
                  <a:rPr lang="en-US" altLang="zh-CN" dirty="0"/>
                  <a:t> </a:t>
                </a:r>
                <a:r>
                  <a:rPr lang="zh-CN" altLang="en-US" dirty="0"/>
                  <a:t>。设 </a:t>
                </a:r>
                <a14:m>
                  <m:oMath xmlns:m="http://schemas.openxmlformats.org/officeDocument/2006/math">
                    <m:r>
                      <a:rPr lang="en-US" altLang="zh-CN" i="1" dirty="0" smtClean="0">
                        <a:latin typeface="Cambria Math" panose="02040503050406030204" pitchFamily="18" charset="0"/>
                      </a:rPr>
                      <m:t>𝑑</m:t>
                    </m:r>
                    <m:r>
                      <a:rPr lang="en-US" altLang="zh-CN" i="1" dirty="0" smtClean="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r>
                      <a:rPr lang="en-US" altLang="zh-CN" i="1" dirty="0">
                        <a:latin typeface="Cambria Math" panose="02040503050406030204" pitchFamily="18" charset="0"/>
                      </a:rPr>
                      <m:t>𝐿</m:t>
                    </m:r>
                    <m:r>
                      <a:rPr lang="en-US" altLang="zh-CN" i="1" dirty="0">
                        <a:latin typeface="Cambria Math" panose="02040503050406030204" pitchFamily="18" charset="0"/>
                      </a:rPr>
                      <m:t>,8)</m:t>
                    </m:r>
                  </m:oMath>
                </a14:m>
                <a:r>
                  <a:rPr lang="en-US" altLang="zh-CN" dirty="0"/>
                  <a:t> </a:t>
                </a:r>
                <a:r>
                  <a:rPr lang="zh-CN" altLang="en-US" dirty="0"/>
                  <a:t>。</a:t>
                </a:r>
                <a:endParaRPr lang="en-US" altLang="zh-CN" dirty="0"/>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𝐿</m:t>
                      </m:r>
                      <m:r>
                        <a:rPr lang="en-US" altLang="zh-CN" i="1">
                          <a:latin typeface="Cambria Math" panose="02040503050406030204" pitchFamily="18" charset="0"/>
                        </a:rPr>
                        <m:t> | </m:t>
                      </m:r>
                      <m:f>
                        <m:fPr>
                          <m:ctrlPr>
                            <a:rPr lang="en-US" altLang="zh-CN" i="1">
                              <a:latin typeface="Cambria Math" panose="02040503050406030204" pitchFamily="18" charset="0"/>
                            </a:rPr>
                          </m:ctrlPr>
                        </m:fPr>
                        <m:num>
                          <m:r>
                            <a:rPr lang="en-US" altLang="zh-CN" i="1">
                              <a:latin typeface="Cambria Math" panose="02040503050406030204" pitchFamily="18" charset="0"/>
                            </a:rPr>
                            <m:t>8</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𝑥</m:t>
                                  </m:r>
                                </m:sup>
                              </m:sSup>
                              <m:r>
                                <a:rPr lang="en-US" altLang="zh-CN" i="1">
                                  <a:latin typeface="Cambria Math" panose="02040503050406030204" pitchFamily="18" charset="0"/>
                                </a:rPr>
                                <m:t>−1</m:t>
                              </m:r>
                            </m:e>
                          </m:d>
                        </m:num>
                        <m:den>
                          <m:r>
                            <a:rPr lang="en-US" altLang="zh-CN" i="1">
                              <a:latin typeface="Cambria Math" panose="02040503050406030204" pitchFamily="18" charset="0"/>
                            </a:rPr>
                            <m:t>9</m:t>
                          </m:r>
                        </m:den>
                      </m:f>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9</m:t>
                      </m:r>
                      <m:r>
                        <a:rPr lang="en-US" altLang="zh-CN" i="1">
                          <a:latin typeface="Cambria Math" panose="02040503050406030204" pitchFamily="18" charset="0"/>
                        </a:rPr>
                        <m:t>𝐿</m:t>
                      </m:r>
                      <m:r>
                        <a:rPr lang="en-US" altLang="zh-CN" i="1">
                          <a:latin typeface="Cambria Math" panose="02040503050406030204" pitchFamily="18" charset="0"/>
                        </a:rPr>
                        <m:t> |</m:t>
                      </m:r>
                      <m:r>
                        <a:rPr lang="en-US" altLang="zh-CN" i="1">
                          <a:latin typeface="Cambria Math" panose="02040503050406030204" pitchFamily="18" charset="0"/>
                        </a:rPr>
                        <m:t>8</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𝑥</m:t>
                              </m:r>
                            </m:sup>
                          </m:sSup>
                          <m:r>
                            <a:rPr lang="en-US" altLang="zh-CN" i="1">
                              <a:latin typeface="Cambria Math" panose="02040503050406030204" pitchFamily="18" charset="0"/>
                            </a:rPr>
                            <m:t>−1</m:t>
                          </m:r>
                        </m:e>
                      </m:d>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9</m:t>
                          </m:r>
                          <m:r>
                            <a:rPr lang="en-US" altLang="zh-CN" i="1">
                              <a:latin typeface="Cambria Math" panose="02040503050406030204" pitchFamily="18" charset="0"/>
                            </a:rPr>
                            <m:t>𝐿</m:t>
                          </m:r>
                        </m:num>
                        <m:den>
                          <m:r>
                            <a:rPr lang="en-US" altLang="zh-CN" i="1">
                              <a:latin typeface="Cambria Math" panose="02040503050406030204" pitchFamily="18" charset="0"/>
                            </a:rPr>
                            <m:t>𝑑</m:t>
                          </m:r>
                        </m:den>
                      </m:f>
                      <m:r>
                        <a:rPr lang="en-US" altLang="zh-CN" i="1">
                          <a:latin typeface="Cambria Math" panose="02040503050406030204" pitchFamily="18" charset="0"/>
                        </a:rPr>
                        <m:t> |</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𝑥</m:t>
                              </m:r>
                            </m:sup>
                          </m:sSup>
                          <m:r>
                            <a:rPr lang="en-US" altLang="zh-CN" i="1">
                              <a:latin typeface="Cambria Math" panose="02040503050406030204" pitchFamily="18" charset="0"/>
                            </a:rPr>
                            <m:t>−1</m:t>
                          </m:r>
                        </m:e>
                      </m:d>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10</m:t>
                          </m:r>
                        </m:e>
                        <m:sup>
                          <m:r>
                            <a:rPr lang="en-US" altLang="zh-CN" i="1">
                              <a:latin typeface="Cambria Math" panose="02040503050406030204" pitchFamily="18" charset="0"/>
                            </a:rPr>
                            <m:t>𝑥</m:t>
                          </m:r>
                        </m:sup>
                      </m:sSup>
                      <m:r>
                        <a:rPr lang="en-US" altLang="zh-CN" i="1">
                          <a:latin typeface="Cambria Math" panose="02040503050406030204" pitchFamily="18" charset="0"/>
                          <a:ea typeface="Cambria Math" panose="02040503050406030204" pitchFamily="18" charset="0"/>
                        </a:rPr>
                        <m:t>≡1</m:t>
                      </m:r>
                      <m:d>
                        <m:dPr>
                          <m:ctrlPr>
                            <a:rPr lang="en-US" altLang="zh-CN" i="1">
                              <a:latin typeface="Cambria Math" panose="02040503050406030204" pitchFamily="18" charset="0"/>
                              <a:ea typeface="Cambria Math" panose="02040503050406030204" pitchFamily="18" charset="0"/>
                            </a:rPr>
                          </m:ctrlPr>
                        </m:dPr>
                        <m:e>
                          <m:r>
                            <m:rPr>
                              <m:sty m:val="p"/>
                            </m:rPr>
                            <a:rPr lang="en-US" altLang="zh-CN">
                              <a:latin typeface="Cambria Math" panose="02040503050406030204" pitchFamily="18" charset="0"/>
                              <a:ea typeface="Cambria Math" panose="02040503050406030204" pitchFamily="18" charset="0"/>
                            </a:rPr>
                            <m:t>mod</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9</m:t>
                              </m:r>
                              <m:r>
                                <a:rPr lang="en-US" altLang="zh-CN" i="1">
                                  <a:latin typeface="Cambria Math" panose="02040503050406030204" pitchFamily="18" charset="0"/>
                                  <a:ea typeface="Cambria Math" panose="02040503050406030204" pitchFamily="18" charset="0"/>
                                </a:rPr>
                                <m:t>𝐿</m:t>
                              </m:r>
                            </m:num>
                            <m:den>
                              <m:r>
                                <a:rPr lang="en-US" altLang="zh-CN" i="1">
                                  <a:latin typeface="Cambria Math" panose="02040503050406030204" pitchFamily="18" charset="0"/>
                                  <a:ea typeface="Cambria Math" panose="02040503050406030204" pitchFamily="18" charset="0"/>
                                </a:rPr>
                                <m:t>𝑑</m:t>
                              </m:r>
                            </m:den>
                          </m:f>
                        </m:e>
                      </m:d>
                    </m:oMath>
                  </m:oMathPara>
                </a14:m>
                <a:endParaRPr lang="en-US" altLang="zh-CN" dirty="0"/>
              </a:p>
              <a:p>
                <a:pPr>
                  <a:lnSpc>
                    <a:spcPct val="150000"/>
                  </a:lnSpc>
                </a:pPr>
                <a:r>
                  <a:rPr lang="zh-Hans" altLang="en-US" dirty="0"/>
                  <a:t>引理：</a:t>
                </a:r>
                <a:r>
                  <a:rPr lang="zh-CN" altLang="en-US" dirty="0"/>
                  <a:t>若 </a:t>
                </a:r>
                <a14:m>
                  <m:oMath xmlns:m="http://schemas.openxmlformats.org/officeDocument/2006/math">
                    <m:r>
                      <a:rPr lang="en-US" altLang="zh-Hans" i="1" dirty="0" smtClean="0">
                        <a:latin typeface="Cambria Math" panose="02040503050406030204" pitchFamily="18" charset="0"/>
                      </a:rPr>
                      <m:t>𝑎</m:t>
                    </m:r>
                    <m:r>
                      <a:rPr lang="en-US" altLang="zh-Hans" i="1" dirty="0" smtClean="0">
                        <a:latin typeface="Cambria Math" panose="02040503050406030204" pitchFamily="18" charset="0"/>
                      </a:rPr>
                      <m:t>,</m:t>
                    </m:r>
                    <m:r>
                      <a:rPr lang="en-US" altLang="zh-Hans" i="1" dirty="0" smtClean="0">
                        <a:latin typeface="Cambria Math" panose="02040503050406030204" pitchFamily="18" charset="0"/>
                      </a:rPr>
                      <m:t>𝑛</m:t>
                    </m:r>
                  </m:oMath>
                </a14:m>
                <a:r>
                  <a:rPr lang="en-US" altLang="zh-Hans" dirty="0"/>
                  <a:t> </a:t>
                </a:r>
                <a:r>
                  <a:rPr lang="zh-CN" altLang="en-US" dirty="0"/>
                  <a:t>互素，满足 </a:t>
                </a:r>
                <a14:m>
                  <m:oMath xmlns:m="http://schemas.openxmlformats.org/officeDocument/2006/math">
                    <m:sSup>
                      <m:sSupPr>
                        <m:ctrlPr>
                          <a:rPr lang="en-US" altLang="zh-CN" i="1" dirty="0" smtClean="0">
                            <a:latin typeface="Cambria Math" panose="02040503050406030204" pitchFamily="18" charset="0"/>
                          </a:rPr>
                        </m:ctrlPr>
                      </m:sSupPr>
                      <m:e>
                        <m:r>
                          <a:rPr lang="en-US" altLang="zh-CN" b="0" i="1" dirty="0" smtClean="0">
                            <a:latin typeface="Cambria Math" panose="02040503050406030204" pitchFamily="18" charset="0"/>
                          </a:rPr>
                          <m:t>𝑎</m:t>
                        </m:r>
                      </m:e>
                      <m:sup>
                        <m:r>
                          <a:rPr lang="en-US" altLang="zh-CN" b="0" i="1" dirty="0" smtClean="0">
                            <a:latin typeface="Cambria Math" panose="02040503050406030204" pitchFamily="18" charset="0"/>
                          </a:rPr>
                          <m:t>𝑥</m:t>
                        </m:r>
                      </m:sup>
                    </m:sSup>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1(</m:t>
                    </m:r>
                    <m:r>
                      <m:rPr>
                        <m:sty m:val="p"/>
                      </m:rPr>
                      <a:rPr lang="en-US" altLang="zh-Hans" i="0"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en-US" altLang="zh-Hans" dirty="0"/>
                  <a:t> </a:t>
                </a:r>
                <a:r>
                  <a:rPr lang="zh-CN" altLang="en-US" dirty="0"/>
                  <a:t>的最小正整数 </a:t>
                </a:r>
                <a14:m>
                  <m:oMath xmlns:m="http://schemas.openxmlformats.org/officeDocument/2006/math">
                    <m:sSub>
                      <m:sSubPr>
                        <m:ctrlPr>
                          <a:rPr lang="en-US" altLang="zh-Hans" i="1" dirty="0" smtClean="0">
                            <a:latin typeface="Cambria Math" panose="02040503050406030204" pitchFamily="18" charset="0"/>
                          </a:rPr>
                        </m:ctrlPr>
                      </m:sSubPr>
                      <m:e>
                        <m:r>
                          <a:rPr lang="en-US" altLang="zh-Hans" b="0" i="1" dirty="0" smtClean="0">
                            <a:latin typeface="Cambria Math" panose="02040503050406030204" pitchFamily="18" charset="0"/>
                          </a:rPr>
                          <m:t>𝑥</m:t>
                        </m:r>
                      </m:e>
                      <m:sub>
                        <m:r>
                          <a:rPr lang="en-US" altLang="zh-Hans" b="0" i="1" dirty="0" smtClean="0">
                            <a:latin typeface="Cambria Math" panose="02040503050406030204" pitchFamily="18" charset="0"/>
                          </a:rPr>
                          <m:t>0</m:t>
                        </m:r>
                      </m:sub>
                    </m:sSub>
                  </m:oMath>
                </a14:m>
                <a:r>
                  <a:rPr lang="en-US" altLang="zh-Hans" dirty="0"/>
                  <a:t> </a:t>
                </a:r>
                <a:r>
                  <a:rPr lang="zh-CN" altLang="en-US" dirty="0"/>
                  <a:t>是</a:t>
                </a:r>
                <a:r>
                  <a:rPr lang="zh-Hans" altLang="en-US" dirty="0"/>
                  <a:t> </a:t>
                </a:r>
                <a14:m>
                  <m:oMath xmlns:m="http://schemas.openxmlformats.org/officeDocument/2006/math">
                    <m:r>
                      <a:rPr lang="zh-Hans" altLang="en-US" i="1" smtClean="0">
                        <a:latin typeface="Cambria Math" panose="02040503050406030204" pitchFamily="18" charset="0"/>
                      </a:rPr>
                      <m:t>𝜑</m:t>
                    </m:r>
                    <m:d>
                      <m:dPr>
                        <m:ctrlPr>
                          <a:rPr lang="en-US" altLang="zh-Hans" i="1" smtClean="0">
                            <a:latin typeface="Cambria Math" panose="02040503050406030204" pitchFamily="18" charset="0"/>
                          </a:rPr>
                        </m:ctrlPr>
                      </m:dPr>
                      <m:e>
                        <m:r>
                          <a:rPr lang="en-US" altLang="zh-Hans" b="0" i="1" smtClean="0">
                            <a:latin typeface="Cambria Math" panose="02040503050406030204" pitchFamily="18" charset="0"/>
                          </a:rPr>
                          <m:t>𝑛</m:t>
                        </m:r>
                      </m:e>
                    </m:d>
                  </m:oMath>
                </a14:m>
                <a:r>
                  <a:rPr lang="zh-CN" altLang="en-US" dirty="0"/>
                  <a:t> 的约数。</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11427"/>
                <a:ext cx="9980682" cy="4805702"/>
              </a:xfrm>
              <a:blipFill>
                <a:blip r:embed="rId2"/>
                <a:stretch>
                  <a:fillRect l="-1398" r="-4066"/>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EE4438AD-45A5-B440-8939-8444A5AF8CBB}"/>
              </a:ext>
            </a:extLst>
          </p:cNvPr>
          <p:cNvSpPr>
            <a:spLocks noGrp="1"/>
          </p:cNvSpPr>
          <p:nvPr>
            <p:ph type="sldNum" sz="quarter" idx="12"/>
          </p:nvPr>
        </p:nvSpPr>
        <p:spPr/>
        <p:txBody>
          <a:bodyPr/>
          <a:lstStyle/>
          <a:p>
            <a:fld id="{0FF54DE5-C571-48E8-A5BC-B369434E2F44}" type="slidenum">
              <a:rPr lang="en-US" altLang="zh-CN" smtClean="0"/>
              <a:pPr/>
              <a:t>71</a:t>
            </a:fld>
            <a:endParaRPr lang="zh-CN" altLang="en-US" dirty="0"/>
          </a:p>
        </p:txBody>
      </p:sp>
    </p:spTree>
    <p:extLst>
      <p:ext uri="{BB962C8B-B14F-4D97-AF65-F5344CB8AC3E}">
        <p14:creationId xmlns:p14="http://schemas.microsoft.com/office/powerpoint/2010/main" val="287757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例题：</a:t>
            </a:r>
            <a:r>
              <a:rPr lang="en-US" altLang="zh-Hans" dirty="0"/>
              <a:t>[POJ 3696] The Luckiest Number</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11427"/>
                <a:ext cx="9980682" cy="4805702"/>
              </a:xfrm>
            </p:spPr>
            <p:txBody>
              <a:bodyPr>
                <a:normAutofit fontScale="92500"/>
              </a:bodyPr>
              <a:lstStyle/>
              <a:p>
                <a:pPr>
                  <a:lnSpc>
                    <a:spcPct val="150000"/>
                  </a:lnSpc>
                </a:pPr>
                <a:r>
                  <a:rPr lang="zh-Hans" altLang="en-US" dirty="0"/>
                  <a:t>证明：</a:t>
                </a:r>
                <a:endParaRPr lang="en-US" altLang="zh-Hans" dirty="0"/>
              </a:p>
              <a:p>
                <a:pPr>
                  <a:lnSpc>
                    <a:spcPct val="150000"/>
                  </a:lnSpc>
                </a:pPr>
                <a:r>
                  <a:rPr lang="zh-CN" altLang="en-US" dirty="0"/>
                  <a:t>反证法。假设满足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𝑥</m:t>
                        </m:r>
                      </m:sup>
                    </m:s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m:rPr>
                        <m:sty m:val="p"/>
                      </m:rPr>
                      <a:rPr lang="en-US" altLang="zh-Hans"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zh-CN" altLang="en-US" dirty="0"/>
                  <a:t>  的最小正整数 </a:t>
                </a:r>
                <a14:m>
                  <m:oMath xmlns:m="http://schemas.openxmlformats.org/officeDocument/2006/math">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𝑥</m:t>
                        </m:r>
                      </m:e>
                      <m:sub>
                        <m:r>
                          <a:rPr lang="en-US" altLang="zh-Hans" i="1" dirty="0">
                            <a:latin typeface="Cambria Math" panose="02040503050406030204" pitchFamily="18" charset="0"/>
                          </a:rPr>
                          <m:t>0</m:t>
                        </m:r>
                      </m:sub>
                    </m:sSub>
                  </m:oMath>
                </a14:m>
                <a:r>
                  <a:rPr lang="zh-Hans" altLang="en-US" dirty="0"/>
                  <a:t> </a:t>
                </a:r>
                <a:r>
                  <a:rPr lang="zh-CN" altLang="en-US" dirty="0"/>
                  <a:t>不能整除</a:t>
                </a:r>
                <a14:m>
                  <m:oMath xmlns:m="http://schemas.openxmlformats.org/officeDocument/2006/math">
                    <m:r>
                      <a:rPr lang="zh-Hans" altLang="en-US" i="1">
                        <a:latin typeface="Cambria Math" panose="02040503050406030204" pitchFamily="18" charset="0"/>
                      </a:rPr>
                      <m:t>𝜑</m:t>
                    </m:r>
                    <m:d>
                      <m:dPr>
                        <m:ctrlPr>
                          <a:rPr lang="en-US" altLang="zh-Hans" i="1">
                            <a:latin typeface="Cambria Math" panose="02040503050406030204" pitchFamily="18" charset="0"/>
                          </a:rPr>
                        </m:ctrlPr>
                      </m:dPr>
                      <m:e>
                        <m:r>
                          <a:rPr lang="en-US" altLang="zh-Hans" i="1">
                            <a:latin typeface="Cambria Math" panose="02040503050406030204" pitchFamily="18" charset="0"/>
                          </a:rPr>
                          <m:t>𝑛</m:t>
                        </m:r>
                      </m:e>
                    </m:d>
                    <m:r>
                      <a:rPr lang="en-US" altLang="zh-Hans" i="1">
                        <a:latin typeface="Cambria Math" panose="02040503050406030204" pitchFamily="18" charset="0"/>
                      </a:rPr>
                      <m:t> </m:t>
                    </m:r>
                  </m:oMath>
                </a14:m>
                <a:r>
                  <a:rPr lang="zh-CN" altLang="en-US" dirty="0"/>
                  <a:t>。</a:t>
                </a:r>
                <a:endParaRPr lang="en-US" altLang="zh-CN" dirty="0"/>
              </a:p>
              <a:p>
                <a:pPr>
                  <a:lnSpc>
                    <a:spcPct val="150000"/>
                  </a:lnSpc>
                </a:pPr>
                <a:r>
                  <a:rPr lang="zh-CN" altLang="en-US" dirty="0"/>
                  <a:t>设</a:t>
                </a:r>
                <a:r>
                  <a:rPr lang="zh-Hans" altLang="en-US" dirty="0"/>
                  <a:t> </a:t>
                </a:r>
                <a14:m>
                  <m:oMath xmlns:m="http://schemas.openxmlformats.org/officeDocument/2006/math">
                    <m:r>
                      <a:rPr lang="zh-Hans" altLang="en-US" i="1">
                        <a:latin typeface="Cambria Math" panose="02040503050406030204" pitchFamily="18" charset="0"/>
                      </a:rPr>
                      <m:t>𝜑</m:t>
                    </m:r>
                    <m:d>
                      <m:dPr>
                        <m:ctrlPr>
                          <a:rPr lang="en-US" altLang="zh-Hans" i="1">
                            <a:latin typeface="Cambria Math" panose="02040503050406030204" pitchFamily="18" charset="0"/>
                          </a:rPr>
                        </m:ctrlPr>
                      </m:dPr>
                      <m:e>
                        <m:r>
                          <a:rPr lang="en-US" altLang="zh-Hans" i="1">
                            <a:latin typeface="Cambria Math" panose="02040503050406030204" pitchFamily="18" charset="0"/>
                          </a:rPr>
                          <m:t>𝑛</m:t>
                        </m:r>
                      </m:e>
                    </m:d>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𝑥</m:t>
                        </m:r>
                      </m:e>
                      <m:sub>
                        <m:r>
                          <a:rPr lang="en-US" altLang="zh-Hans" i="1" dirty="0">
                            <a:latin typeface="Cambria Math" panose="02040503050406030204" pitchFamily="18" charset="0"/>
                          </a:rPr>
                          <m:t>0</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𝑟</m:t>
                    </m:r>
                    <m:r>
                      <a:rPr lang="zh-Hans" altLang="en-US" b="0" i="1" dirty="0" smtClean="0">
                        <a:latin typeface="Cambria Math" panose="02040503050406030204" pitchFamily="18" charset="0"/>
                      </a:rPr>
                      <m:t> </m:t>
                    </m:r>
                    <m:r>
                      <a:rPr lang="en-US" altLang="zh-CN" i="1" dirty="0" smtClean="0">
                        <a:latin typeface="Cambria Math" panose="02040503050406030204" pitchFamily="18" charset="0"/>
                      </a:rPr>
                      <m:t>(0&lt;</m:t>
                    </m:r>
                    <m:r>
                      <a:rPr lang="en-US" altLang="zh-CN" i="1" dirty="0" smtClean="0">
                        <a:latin typeface="Cambria Math" panose="02040503050406030204" pitchFamily="18" charset="0"/>
                      </a:rPr>
                      <m:t>𝑟</m:t>
                    </m:r>
                    <m:r>
                      <a:rPr lang="en-US" altLang="zh-CN" i="1" dirty="0" smtClean="0">
                        <a:latin typeface="Cambria Math" panose="02040503050406030204" pitchFamily="18" charset="0"/>
                      </a:rPr>
                      <m:t>&lt;</m:t>
                    </m:r>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𝑥</m:t>
                        </m:r>
                      </m:e>
                      <m:sub>
                        <m:r>
                          <a:rPr lang="en-US" altLang="zh-Hans" i="1" dirty="0">
                            <a:latin typeface="Cambria Math" panose="02040503050406030204" pitchFamily="18" charset="0"/>
                          </a:rPr>
                          <m:t>0</m:t>
                        </m:r>
                      </m:sub>
                    </m:sSub>
                    <m:r>
                      <a:rPr lang="en-US" altLang="zh-CN" i="1" dirty="0" smtClean="0">
                        <a:latin typeface="Cambria Math" panose="02040503050406030204" pitchFamily="18" charset="0"/>
                      </a:rPr>
                      <m:t>)</m:t>
                    </m:r>
                  </m:oMath>
                </a14:m>
                <a:r>
                  <a:rPr lang="en-US" altLang="zh-CN" dirty="0"/>
                  <a:t> </a:t>
                </a:r>
                <a:r>
                  <a:rPr lang="zh-CN" altLang="en-US" dirty="0"/>
                  <a:t>。因为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Hans" b="0" i="1" dirty="0" smtClean="0">
                                <a:latin typeface="Cambria Math" panose="02040503050406030204" pitchFamily="18" charset="0"/>
                              </a:rPr>
                              <m:t>0</m:t>
                            </m:r>
                          </m:sub>
                        </m:sSub>
                      </m:sup>
                    </m:s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m:rPr>
                        <m:sty m:val="p"/>
                      </m:rPr>
                      <a:rPr lang="en-US" altLang="zh-Hans"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zh-CN" altLang="en-US" dirty="0"/>
                  <a:t> ，所以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b="0" i="1" dirty="0" smtClean="0">
                            <a:latin typeface="Cambria Math" panose="02040503050406030204" pitchFamily="18" charset="0"/>
                          </a:rPr>
                          <m:t>𝑞</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𝑥</m:t>
                            </m:r>
                          </m:e>
                          <m:sub>
                            <m:r>
                              <a:rPr lang="en-US" altLang="zh-CN" b="0" i="1" dirty="0" smtClean="0">
                                <a:latin typeface="Cambria Math" panose="02040503050406030204" pitchFamily="18" charset="0"/>
                              </a:rPr>
                              <m:t>0</m:t>
                            </m:r>
                          </m:sub>
                        </m:sSub>
                      </m:sup>
                    </m:s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m:rPr>
                        <m:sty m:val="p"/>
                      </m:rPr>
                      <a:rPr lang="en-US" altLang="zh-Hans"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zh-CN" altLang="en-US" dirty="0"/>
                  <a:t> 。</a:t>
                </a:r>
                <a:endParaRPr lang="en-US" altLang="zh-CN" dirty="0"/>
              </a:p>
              <a:p>
                <a:pPr>
                  <a:lnSpc>
                    <a:spcPct val="150000"/>
                  </a:lnSpc>
                </a:pPr>
                <a:r>
                  <a:rPr lang="zh-CN" altLang="en-US" dirty="0"/>
                  <a:t>根据欧拉定理，有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zh-Hans" altLang="en-US" i="1">
                            <a:latin typeface="Cambria Math" panose="02040503050406030204" pitchFamily="18" charset="0"/>
                          </a:rPr>
                          <m:t>𝜑</m:t>
                        </m:r>
                        <m:d>
                          <m:dPr>
                            <m:ctrlPr>
                              <a:rPr lang="en-US" altLang="zh-Hans" i="1">
                                <a:latin typeface="Cambria Math" panose="02040503050406030204" pitchFamily="18" charset="0"/>
                              </a:rPr>
                            </m:ctrlPr>
                          </m:dPr>
                          <m:e>
                            <m:r>
                              <a:rPr lang="en-US" altLang="zh-Hans" i="1">
                                <a:latin typeface="Cambria Math" panose="02040503050406030204" pitchFamily="18" charset="0"/>
                              </a:rPr>
                              <m:t>𝑛</m:t>
                            </m:r>
                          </m:e>
                        </m:d>
                      </m:sup>
                    </m:s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m:rPr>
                        <m:sty m:val="p"/>
                      </m:rPr>
                      <a:rPr lang="en-US" altLang="zh-Hans"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zh-CN" altLang="en-US" dirty="0"/>
                  <a:t> ，所以</a:t>
                </a:r>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b="0" i="1" dirty="0" smtClean="0">
                            <a:latin typeface="Cambria Math" panose="02040503050406030204" pitchFamily="18" charset="0"/>
                          </a:rPr>
                          <m:t>𝑟</m:t>
                        </m:r>
                      </m:sup>
                    </m:sSup>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1(</m:t>
                    </m:r>
                    <m:r>
                      <m:rPr>
                        <m:sty m:val="p"/>
                      </m:rPr>
                      <a:rPr lang="en-US" altLang="zh-Hans" dirty="0">
                        <a:latin typeface="Cambria Math" panose="02040503050406030204" pitchFamily="18" charset="0"/>
                      </a:rPr>
                      <m:t>mod</m:t>
                    </m:r>
                    <m:r>
                      <a:rPr lang="en-US" altLang="zh-Hans" i="1" dirty="0">
                        <a:latin typeface="Cambria Math" panose="02040503050406030204" pitchFamily="18" charset="0"/>
                      </a:rPr>
                      <m:t> </m:t>
                    </m:r>
                    <m:r>
                      <a:rPr lang="en-US" altLang="zh-Hans" i="1" dirty="0">
                        <a:latin typeface="Cambria Math" panose="02040503050406030204" pitchFamily="18" charset="0"/>
                      </a:rPr>
                      <m:t>𝑛</m:t>
                    </m:r>
                    <m:r>
                      <a:rPr lang="en-US" altLang="zh-Hans" i="1" dirty="0">
                        <a:latin typeface="Cambria Math" panose="02040503050406030204" pitchFamily="18" charset="0"/>
                      </a:rPr>
                      <m:t>)</m:t>
                    </m:r>
                  </m:oMath>
                </a14:m>
                <a:r>
                  <a:rPr lang="zh-CN" altLang="en-US" dirty="0"/>
                  <a:t>。这与 </a:t>
                </a:r>
                <a14:m>
                  <m:oMath xmlns:m="http://schemas.openxmlformats.org/officeDocument/2006/math">
                    <m:sSub>
                      <m:sSubPr>
                        <m:ctrlPr>
                          <a:rPr lang="en-US" altLang="zh-Hans" i="1" dirty="0">
                            <a:latin typeface="Cambria Math" panose="02040503050406030204" pitchFamily="18" charset="0"/>
                          </a:rPr>
                        </m:ctrlPr>
                      </m:sSubPr>
                      <m:e>
                        <m:r>
                          <a:rPr lang="en-US" altLang="zh-Hans" i="1" dirty="0">
                            <a:latin typeface="Cambria Math" panose="02040503050406030204" pitchFamily="18" charset="0"/>
                          </a:rPr>
                          <m:t>𝑥</m:t>
                        </m:r>
                      </m:e>
                      <m:sub>
                        <m:r>
                          <a:rPr lang="en-US" altLang="zh-Hans" i="1" dirty="0">
                            <a:latin typeface="Cambria Math" panose="02040503050406030204" pitchFamily="18" charset="0"/>
                          </a:rPr>
                          <m:t>0</m:t>
                        </m:r>
                      </m:sub>
                    </m:sSub>
                  </m:oMath>
                </a14:m>
                <a:r>
                  <a:rPr lang="zh-CN" altLang="en-US" dirty="0"/>
                  <a:t> 最小矛盾。故假设不成立，原命题得证。</a:t>
                </a:r>
                <a:endParaRPr lang="en-US" altLang="zh-CN" dirty="0"/>
              </a:p>
              <a:p>
                <a:pPr>
                  <a:lnSpc>
                    <a:spcPct val="150000"/>
                  </a:lnSpc>
                </a:pPr>
                <a:r>
                  <a:rPr lang="zh-CN" altLang="en-US" dirty="0"/>
                  <a:t>根据结论，只需求出</a:t>
                </a:r>
                <a14:m>
                  <m:oMath xmlns:m="http://schemas.openxmlformats.org/officeDocument/2006/math">
                    <m:r>
                      <a:rPr lang="zh-Hans" altLang="en-US" i="1">
                        <a:latin typeface="Cambria Math" panose="02040503050406030204" pitchFamily="18" charset="0"/>
                      </a:rPr>
                      <m:t>𝜑</m:t>
                    </m:r>
                    <m:d>
                      <m:dPr>
                        <m:ctrlPr>
                          <a:rPr lang="en-US" altLang="zh-Hans" i="1">
                            <a:latin typeface="Cambria Math" panose="02040503050406030204" pitchFamily="18" charset="0"/>
                          </a:rPr>
                        </m:ctrlPr>
                      </m:dPr>
                      <m:e>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9</m:t>
                            </m:r>
                            <m:r>
                              <a:rPr lang="en-US" altLang="zh-CN" i="1">
                                <a:latin typeface="Cambria Math" panose="02040503050406030204" pitchFamily="18" charset="0"/>
                                <a:ea typeface="Cambria Math" panose="02040503050406030204" pitchFamily="18" charset="0"/>
                              </a:rPr>
                              <m:t>𝐿</m:t>
                            </m:r>
                          </m:num>
                          <m:den>
                            <m:r>
                              <a:rPr lang="en-US" altLang="zh-CN" i="1">
                                <a:latin typeface="Cambria Math" panose="02040503050406030204" pitchFamily="18" charset="0"/>
                                <a:ea typeface="Cambria Math" panose="02040503050406030204" pitchFamily="18" charset="0"/>
                              </a:rPr>
                              <m:t>𝑑</m:t>
                            </m:r>
                          </m:den>
                        </m:f>
                      </m:e>
                    </m:d>
                    <m:r>
                      <a:rPr lang="en-US" altLang="zh-Hans" i="1">
                        <a:latin typeface="Cambria Math" panose="02040503050406030204" pitchFamily="18" charset="0"/>
                      </a:rPr>
                      <m:t> </m:t>
                    </m:r>
                  </m:oMath>
                </a14:m>
                <a:r>
                  <a:rPr lang="zh-CN" altLang="en-US" dirty="0"/>
                  <a:t>，枚举它的所有约数，用快速幂逐一检查是否满足条件即可。时间复杂度为</a:t>
                </a:r>
                <a:r>
                  <a:rPr lang="en-US" altLang="zh-CN" dirty="0"/>
                  <a:t> </a:t>
                </a:r>
                <a14:m>
                  <m:oMath xmlns:m="http://schemas.openxmlformats.org/officeDocument/2006/math">
                    <m:r>
                      <a:rPr lang="en-US" altLang="zh-CN" i="1" dirty="0" smtClean="0">
                        <a:latin typeface="Cambria Math" panose="02040503050406030204" pitchFamily="18" charset="0"/>
                      </a:rPr>
                      <m:t>𝑂</m:t>
                    </m:r>
                    <m:d>
                      <m:dPr>
                        <m:ctrlPr>
                          <a:rPr lang="en-US" altLang="zh-CN" i="1" dirty="0" smtClean="0">
                            <a:latin typeface="Cambria Math" panose="02040503050406030204" pitchFamily="18" charset="0"/>
                          </a:rPr>
                        </m:ctrlPr>
                      </m:dPr>
                      <m:e>
                        <m:rad>
                          <m:radPr>
                            <m:degHide m:val="on"/>
                            <m:ctrlPr>
                              <a:rPr lang="en-US" altLang="zh-CN" i="1" dirty="0" smtClean="0">
                                <a:latin typeface="Cambria Math" panose="02040503050406030204" pitchFamily="18" charset="0"/>
                              </a:rPr>
                            </m:ctrlPr>
                          </m:radPr>
                          <m:deg/>
                          <m:e>
                            <m:r>
                              <a:rPr lang="en-US" altLang="zh-CN" b="0" i="1" dirty="0" smtClean="0">
                                <a:latin typeface="Cambria Math" panose="02040503050406030204" pitchFamily="18" charset="0"/>
                              </a:rPr>
                              <m:t>𝐿</m:t>
                            </m:r>
                          </m:e>
                        </m:rad>
                        <m:func>
                          <m:funcPr>
                            <m:ctrlPr>
                              <a:rPr lang="en-US" altLang="zh-CN" i="1" dirty="0" smtClean="0">
                                <a:latin typeface="Cambria Math" panose="02040503050406030204" pitchFamily="18" charset="0"/>
                              </a:rPr>
                            </m:ctrlPr>
                          </m:funcPr>
                          <m:fName>
                            <m:r>
                              <m:rPr>
                                <m:sty m:val="p"/>
                              </m:rPr>
                              <a:rPr lang="en-US" altLang="zh-CN" i="0" dirty="0" smtClean="0">
                                <a:latin typeface="Cambria Math" panose="02040503050406030204" pitchFamily="18" charset="0"/>
                              </a:rPr>
                              <m:t>log</m:t>
                            </m:r>
                          </m:fName>
                          <m:e>
                            <m:r>
                              <a:rPr lang="en-US" altLang="zh-CN" b="0" i="1" dirty="0" smtClean="0">
                                <a:latin typeface="Cambria Math" panose="02040503050406030204" pitchFamily="18" charset="0"/>
                              </a:rPr>
                              <m:t>𝐿</m:t>
                            </m:r>
                          </m:e>
                        </m:func>
                      </m:e>
                    </m:d>
                  </m:oMath>
                </a14:m>
                <a:r>
                  <a:rPr lang="zh-CN" altLang="en-US" dirty="0"/>
                  <a:t> 。</a:t>
                </a:r>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11427"/>
                <a:ext cx="9980682" cy="4805702"/>
              </a:xfrm>
              <a:blipFill>
                <a:blip r:embed="rId2"/>
                <a:stretch>
                  <a:fillRect l="-1271" r="-127"/>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8AD282F1-2E48-B64B-97DC-700556F7F87D}"/>
              </a:ext>
            </a:extLst>
          </p:cNvPr>
          <p:cNvSpPr>
            <a:spLocks noGrp="1"/>
          </p:cNvSpPr>
          <p:nvPr>
            <p:ph type="sldNum" sz="quarter" idx="12"/>
          </p:nvPr>
        </p:nvSpPr>
        <p:spPr/>
        <p:txBody>
          <a:bodyPr/>
          <a:lstStyle/>
          <a:p>
            <a:fld id="{0FF54DE5-C571-48E8-A5BC-B369434E2F44}" type="slidenum">
              <a:rPr lang="en-US" altLang="zh-CN" smtClean="0"/>
              <a:pPr/>
              <a:t>72</a:t>
            </a:fld>
            <a:endParaRPr lang="zh-CN" altLang="en-US" dirty="0"/>
          </a:p>
        </p:txBody>
      </p:sp>
    </p:spTree>
    <p:extLst>
      <p:ext uri="{BB962C8B-B14F-4D97-AF65-F5344CB8AC3E}">
        <p14:creationId xmlns:p14="http://schemas.microsoft.com/office/powerpoint/2010/main" val="4128433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扩展欧几里得算法</a:t>
            </a:r>
            <a:endParaRPr lang="en-US" dirty="0"/>
          </a:p>
        </p:txBody>
      </p:sp>
      <p:sp>
        <p:nvSpPr>
          <p:cNvPr id="3" name="幻灯片编号占位符 2">
            <a:extLst>
              <a:ext uri="{FF2B5EF4-FFF2-40B4-BE49-F238E27FC236}">
                <a16:creationId xmlns:a16="http://schemas.microsoft.com/office/drawing/2014/main" id="{8E9777B5-9471-9B41-9D16-8F66235AE0AA}"/>
              </a:ext>
            </a:extLst>
          </p:cNvPr>
          <p:cNvSpPr>
            <a:spLocks noGrp="1"/>
          </p:cNvSpPr>
          <p:nvPr>
            <p:ph type="sldNum" sz="quarter" idx="12"/>
          </p:nvPr>
        </p:nvSpPr>
        <p:spPr/>
        <p:txBody>
          <a:bodyPr/>
          <a:lstStyle/>
          <a:p>
            <a:fld id="{0FF54DE5-C571-48E8-A5BC-B369434E2F44}" type="slidenum">
              <a:rPr lang="en-US" altLang="zh-CN" smtClean="0"/>
              <a:pPr/>
              <a:t>73</a:t>
            </a:fld>
            <a:endParaRPr lang="zh-CN" altLang="en-US" dirty="0"/>
          </a:p>
        </p:txBody>
      </p:sp>
    </p:spTree>
    <p:extLst>
      <p:ext uri="{BB962C8B-B14F-4D97-AF65-F5344CB8AC3E}">
        <p14:creationId xmlns:p14="http://schemas.microsoft.com/office/powerpoint/2010/main" val="377778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p:nvPr>
        </p:nvSpPr>
        <p:spPr/>
        <p:txBody>
          <a:bodyPr/>
          <a:lstStyle/>
          <a:p>
            <a:r>
              <a:rPr lang="zh-CN" altLang="en-US" dirty="0"/>
              <a:t>裴蜀定理（</a:t>
            </a:r>
            <a:r>
              <a:rPr lang="en-US" altLang="zh-Hans" dirty="0" err="1"/>
              <a:t>Bézout</a:t>
            </a:r>
            <a:r>
              <a:rPr lang="en-US" altLang="zh-Hans" dirty="0"/>
              <a:t> </a:t>
            </a:r>
            <a:r>
              <a:rPr lang="zh-Hans" altLang="en-US" dirty="0"/>
              <a:t>定理</a:t>
            </a:r>
            <a:r>
              <a:rPr lang="zh-CN" altLang="en-US" dirty="0"/>
              <a:t>）</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p:txBody>
              <a:bodyPr>
                <a:normAutofit/>
              </a:bodyPr>
              <a:lstStyle/>
              <a:p>
                <a:pPr>
                  <a:lnSpc>
                    <a:spcPct val="150000"/>
                  </a:lnSpc>
                </a:pPr>
                <a:r>
                  <a:rPr lang="zh-CN" altLang="en-US" noProof="1">
                    <a:sym typeface="+mn-ea"/>
                  </a:rPr>
                  <a:t>对任何整数</a:t>
                </a:r>
                <a:r>
                  <a:rPr lang="en-US" altLang="zh-CN" noProof="1">
                    <a:sym typeface="+mn-ea"/>
                  </a:rPr>
                  <a:t> </a:t>
                </a:r>
                <a14:m>
                  <m:oMath xmlns:m="http://schemas.openxmlformats.org/officeDocument/2006/math">
                    <m:r>
                      <a:rPr lang="zh-CN" altLang="en-US" i="1" noProof="1" smtClean="0">
                        <a:latin typeface="Cambria Math" panose="02040503050406030204" pitchFamily="18" charset="0"/>
                        <a:ea typeface="新宋体" panose="02010609030101010101" charset="-122"/>
                        <a:sym typeface="+mn-ea"/>
                      </a:rPr>
                      <m:t>𝑎</m:t>
                    </m:r>
                    <m:r>
                      <a:rPr lang="zh-CN" altLang="en-US" i="1" noProof="1" smtClean="0">
                        <a:latin typeface="Cambria Math" panose="02040503050406030204" pitchFamily="18" charset="0"/>
                        <a:ea typeface="新宋体" panose="02010609030101010101" charset="-122"/>
                        <a:sym typeface="+mn-ea"/>
                      </a:rPr>
                      <m:t>,</m:t>
                    </m:r>
                    <m:r>
                      <a:rPr lang="zh-CN" altLang="en-US" i="1" noProof="1" smtClean="0">
                        <a:latin typeface="Cambria Math" panose="02040503050406030204" pitchFamily="18" charset="0"/>
                        <a:ea typeface="新宋体" panose="02010609030101010101" charset="-122"/>
                        <a:sym typeface="+mn-ea"/>
                      </a:rPr>
                      <m:t>𝑏</m:t>
                    </m:r>
                  </m:oMath>
                </a14:m>
                <a:r>
                  <a:rPr lang="zh-Hans" altLang="en-US" noProof="1">
                    <a:sym typeface="+mn-ea"/>
                  </a:rPr>
                  <a:t>，</a:t>
                </a:r>
                <a:r>
                  <a:rPr lang="zh-CN" altLang="en-US" noProof="1">
                    <a:sym typeface="+mn-ea"/>
                  </a:rPr>
                  <a:t>关于未知数</a:t>
                </a:r>
                <a:r>
                  <a:rPr lang="zh-Hans" altLang="en-US" noProof="1">
                    <a:sym typeface="+mn-ea"/>
                  </a:rPr>
                  <a:t> </a:t>
                </a:r>
                <a14:m>
                  <m:oMath xmlns:m="http://schemas.openxmlformats.org/officeDocument/2006/math">
                    <m:r>
                      <a:rPr lang="zh-CN" altLang="en-US" i="1" noProof="1" smtClean="0">
                        <a:latin typeface="Cambria Math" panose="02040503050406030204" pitchFamily="18" charset="0"/>
                        <a:sym typeface="+mn-ea"/>
                      </a:rPr>
                      <m:t>𝑥</m:t>
                    </m:r>
                  </m:oMath>
                </a14:m>
                <a:r>
                  <a:rPr lang="zh-Hans" altLang="en-US" noProof="1">
                    <a:sym typeface="+mn-ea"/>
                  </a:rPr>
                  <a:t> </a:t>
                </a:r>
                <a:r>
                  <a:rPr lang="zh-CN" altLang="en-US" noProof="1">
                    <a:sym typeface="+mn-ea"/>
                  </a:rPr>
                  <a:t>和</a:t>
                </a:r>
                <a:r>
                  <a:rPr lang="zh-Hans" altLang="en-US" noProof="1">
                    <a:sym typeface="+mn-ea"/>
                  </a:rPr>
                  <a:t> </a:t>
                </a:r>
                <a14:m>
                  <m:oMath xmlns:m="http://schemas.openxmlformats.org/officeDocument/2006/math">
                    <m:r>
                      <a:rPr lang="zh-CN" altLang="en-US" i="1" noProof="1" smtClean="0">
                        <a:latin typeface="Cambria Math" panose="02040503050406030204" pitchFamily="18" charset="0"/>
                        <a:sym typeface="+mn-ea"/>
                      </a:rPr>
                      <m:t>𝑦</m:t>
                    </m:r>
                  </m:oMath>
                </a14:m>
                <a:r>
                  <a:rPr lang="zh-Hans" altLang="en-US" noProof="1">
                    <a:sym typeface="+mn-ea"/>
                  </a:rPr>
                  <a:t> </a:t>
                </a:r>
                <a:r>
                  <a:rPr lang="zh-CN" altLang="en-US" noProof="1">
                    <a:sym typeface="+mn-ea"/>
                  </a:rPr>
                  <a:t>的线性不定方程</a:t>
                </a:r>
                <a:r>
                  <a:rPr lang="zh-Hans" altLang="en-US" noProof="1">
                    <a:sym typeface="+mn-ea"/>
                  </a:rPr>
                  <a:t>（</a:t>
                </a:r>
                <a:r>
                  <a:rPr lang="zh-CN" altLang="en-US" noProof="1">
                    <a:sym typeface="+mn-ea"/>
                  </a:rPr>
                  <a:t>称为裴蜀等式</a:t>
                </a:r>
                <a:r>
                  <a:rPr lang="zh-Hans" altLang="en-US" noProof="1">
                    <a:sym typeface="+mn-ea"/>
                  </a:rPr>
                  <a:t>）</a:t>
                </a:r>
                <a:r>
                  <a:rPr lang="zh-CN" altLang="en-US" noProof="1">
                    <a:sym typeface="+mn-ea"/>
                  </a:rPr>
                  <a:t>：</a:t>
                </a:r>
                <a:endParaRPr lang="en-US" altLang="zh-CN" noProof="1">
                  <a:sym typeface="+mn-ea"/>
                </a:endParaRPr>
              </a:p>
              <a:p>
                <a:pPr marL="0" indent="0">
                  <a:lnSpc>
                    <a:spcPct val="150000"/>
                  </a:lnSpc>
                  <a:buNone/>
                </a:pPr>
                <a14:m>
                  <m:oMathPara xmlns:m="http://schemas.openxmlformats.org/officeDocument/2006/math">
                    <m:oMathParaPr>
                      <m:jc m:val="centerGroup"/>
                    </m:oMathParaPr>
                    <m:oMath xmlns:m="http://schemas.openxmlformats.org/officeDocument/2006/math">
                      <m:r>
                        <a:rPr lang="zh-CN" altLang="en-US" i="1" noProof="1" smtClean="0">
                          <a:latin typeface="Cambria Math" panose="02040503050406030204" pitchFamily="18" charset="0"/>
                          <a:ea typeface="新宋体" panose="02010609030101010101" charset="-122"/>
                          <a:sym typeface="+mn-ea"/>
                        </a:rPr>
                        <m:t>𝑎𝑥</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𝑏𝑦</m:t>
                      </m:r>
                      <m:r>
                        <a:rPr lang="zh-CN" altLang="en-US" i="1" noProof="1">
                          <a:latin typeface="Cambria Math" panose="02040503050406030204" pitchFamily="18" charset="0"/>
                          <a:ea typeface="新宋体" panose="02010609030101010101" charset="-122"/>
                          <a:sym typeface="+mn-ea"/>
                        </a:rPr>
                        <m:t>=</m:t>
                      </m:r>
                      <m:r>
                        <a:rPr lang="zh-CN" altLang="en-US" i="1" noProof="1">
                          <a:latin typeface="Cambria Math" panose="02040503050406030204" pitchFamily="18" charset="0"/>
                          <a:ea typeface="新宋体" panose="02010609030101010101" charset="-122"/>
                          <a:sym typeface="+mn-ea"/>
                        </a:rPr>
                        <m:t>𝑐</m:t>
                      </m:r>
                    </m:oMath>
                  </m:oMathPara>
                </a14:m>
                <a:endParaRPr lang="en-US" altLang="zh-CN" noProof="1">
                  <a:ea typeface="新宋体" panose="02010609030101010101" charset="-122"/>
                  <a:sym typeface="+mn-ea"/>
                </a:endParaRPr>
              </a:p>
              <a:p>
                <a:pPr marL="0" indent="0">
                  <a:lnSpc>
                    <a:spcPct val="150000"/>
                  </a:lnSpc>
                  <a:buNone/>
                </a:pPr>
                <a:r>
                  <a:rPr lang="zh-CN" altLang="zh-CN" noProof="1">
                    <a:sym typeface="+mn-ea"/>
                  </a:rPr>
                  <a:t>方程</a:t>
                </a:r>
                <a:r>
                  <a:rPr lang="zh-CN" altLang="en-US" noProof="1">
                    <a:sym typeface="+mn-ea"/>
                  </a:rPr>
                  <a:t>有整数解（当且仅当</a:t>
                </a:r>
                <a:r>
                  <a:rPr lang="zh-Hans" altLang="en-US" noProof="1">
                    <a:sym typeface="+mn-ea"/>
                  </a:rPr>
                  <a:t> </a:t>
                </a:r>
                <a14:m>
                  <m:oMath xmlns:m="http://schemas.openxmlformats.org/officeDocument/2006/math">
                    <m:r>
                      <a:rPr lang="zh-CN" altLang="en-US" i="1" noProof="1">
                        <a:latin typeface="Cambria Math" panose="02040503050406030204" pitchFamily="18" charset="0"/>
                        <a:sym typeface="+mn-ea"/>
                      </a:rPr>
                      <m:t>𝑐</m:t>
                    </m:r>
                  </m:oMath>
                </a14:m>
                <a:r>
                  <a:rPr lang="zh-Hans" altLang="en-US" noProof="1">
                    <a:sym typeface="+mn-ea"/>
                  </a:rPr>
                  <a:t> </a:t>
                </a:r>
                <a:r>
                  <a:rPr lang="zh-CN" altLang="en-US" noProof="1">
                    <a:sym typeface="+mn-ea"/>
                  </a:rPr>
                  <a:t>是</a:t>
                </a:r>
                <a:r>
                  <a:rPr lang="zh-Hans" altLang="en-US" noProof="1">
                    <a:sym typeface="+mn-ea"/>
                  </a:rPr>
                  <a:t> </a:t>
                </a:r>
                <a14:m>
                  <m:oMath xmlns:m="http://schemas.openxmlformats.org/officeDocument/2006/math">
                    <m:r>
                      <m:rPr>
                        <m:sty m:val="p"/>
                      </m:rPr>
                      <a:rPr lang="zh-CN" altLang="en-US" i="1" noProof="1">
                        <a:latin typeface="Cambria Math" panose="02040503050406030204" pitchFamily="18" charset="0"/>
                        <a:sym typeface="+mn-ea"/>
                      </a:rPr>
                      <m:t>gcd</m:t>
                    </m:r>
                    <m:r>
                      <a:rPr lang="zh-CN" altLang="en-US" i="1" noProof="1">
                        <a:latin typeface="Cambria Math" panose="02040503050406030204" pitchFamily="18" charset="0"/>
                        <a:sym typeface="+mn-ea"/>
                      </a:rPr>
                      <m:t>⁡(</m:t>
                    </m:r>
                    <m:r>
                      <a:rPr lang="zh-CN" altLang="en-US" i="1" noProof="1">
                        <a:latin typeface="Cambria Math" panose="02040503050406030204" pitchFamily="18" charset="0"/>
                        <a:sym typeface="+mn-ea"/>
                      </a:rPr>
                      <m:t>𝑎</m:t>
                    </m:r>
                    <m:r>
                      <a:rPr lang="zh-CN" altLang="en-US" i="1" noProof="1">
                        <a:latin typeface="Cambria Math" panose="02040503050406030204" pitchFamily="18" charset="0"/>
                        <a:sym typeface="+mn-ea"/>
                      </a:rPr>
                      <m:t>,</m:t>
                    </m:r>
                    <m:r>
                      <a:rPr lang="zh-CN" altLang="en-US" i="1" noProof="1">
                        <a:latin typeface="Cambria Math" panose="02040503050406030204" pitchFamily="18" charset="0"/>
                        <a:sym typeface="+mn-ea"/>
                      </a:rPr>
                      <m:t>𝑏</m:t>
                    </m:r>
                    <m:r>
                      <a:rPr lang="zh-CN" altLang="en-US" i="1" noProof="1">
                        <a:latin typeface="Cambria Math" panose="02040503050406030204" pitchFamily="18" charset="0"/>
                        <a:sym typeface="+mn-ea"/>
                      </a:rPr>
                      <m:t>)</m:t>
                    </m:r>
                  </m:oMath>
                </a14:m>
                <a:r>
                  <a:rPr lang="zh-Hans" altLang="en-US" noProof="1">
                    <a:sym typeface="+mn-ea"/>
                  </a:rPr>
                  <a:t> </a:t>
                </a:r>
                <a:r>
                  <a:rPr lang="zh-CN" altLang="en-US" noProof="1">
                    <a:sym typeface="+mn-ea"/>
                  </a:rPr>
                  <a:t>的倍数）。裴蜀等式有解时必然有无穷多个解。</a:t>
                </a:r>
                <a:endParaRPr lang="en-US" altLang="zh-CN" dirty="0"/>
              </a:p>
              <a:p>
                <a:pPr marL="11113" lvl="1" indent="446088">
                  <a:lnSpc>
                    <a:spcPct val="150000"/>
                  </a:lnSpc>
                </a:pPr>
                <a14:m>
                  <m:oMath xmlns:m="http://schemas.openxmlformats.org/officeDocument/2006/math">
                    <m:r>
                      <a:rPr lang="en-US" altLang="zh-CN" sz="2000" i="1" dirty="0" smtClean="0">
                        <a:latin typeface="Cambria Math" panose="02040503050406030204" pitchFamily="18" charset="0"/>
                      </a:rPr>
                      <m:t>𝑎𝑥</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𝑏𝑦</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oMath>
                </a14:m>
                <a:r>
                  <a:rPr lang="en-US" altLang="zh-CN" sz="2000" dirty="0"/>
                  <a:t> </a:t>
                </a:r>
                <a:r>
                  <a:rPr lang="zh-CN" altLang="en-US" sz="2000" dirty="0"/>
                  <a:t>有解的充要条件为</a:t>
                </a:r>
                <a:r>
                  <a:rPr lang="zh-Hans" altLang="en-US" sz="2000" dirty="0"/>
                  <a:t> </a:t>
                </a:r>
                <a14:m>
                  <m:oMath xmlns:m="http://schemas.openxmlformats.org/officeDocument/2006/math">
                    <m:r>
                      <m:rPr>
                        <m:sty m:val="p"/>
                      </m:rPr>
                      <a:rPr lang="zh-CN" altLang="en-US" sz="2000" i="1" noProof="1">
                        <a:latin typeface="Cambria Math" panose="02040503050406030204" pitchFamily="18" charset="0"/>
                        <a:sym typeface="+mn-ea"/>
                      </a:rPr>
                      <m:t>gcd</m:t>
                    </m:r>
                    <m:r>
                      <a:rPr lang="zh-CN" altLang="en-US" sz="2000" i="1" noProof="1">
                        <a:latin typeface="Cambria Math" panose="02040503050406030204" pitchFamily="18" charset="0"/>
                        <a:sym typeface="+mn-ea"/>
                      </a:rPr>
                      <m:t>⁡(</m:t>
                    </m:r>
                    <m:r>
                      <a:rPr lang="zh-CN" altLang="en-US" sz="2000" i="1" noProof="1">
                        <a:latin typeface="Cambria Math" panose="02040503050406030204" pitchFamily="18" charset="0"/>
                        <a:sym typeface="+mn-ea"/>
                      </a:rPr>
                      <m:t>𝑎</m:t>
                    </m:r>
                    <m:r>
                      <a:rPr lang="zh-CN" altLang="en-US" sz="2000" i="1" noProof="1">
                        <a:latin typeface="Cambria Math" panose="02040503050406030204" pitchFamily="18" charset="0"/>
                        <a:sym typeface="+mn-ea"/>
                      </a:rPr>
                      <m:t>,</m:t>
                    </m:r>
                    <m:r>
                      <a:rPr lang="zh-CN" altLang="en-US" sz="2000" i="1" noProof="1">
                        <a:latin typeface="Cambria Math" panose="02040503050406030204" pitchFamily="18" charset="0"/>
                        <a:sym typeface="+mn-ea"/>
                      </a:rPr>
                      <m:t>𝑏</m:t>
                    </m:r>
                    <m:r>
                      <a:rPr lang="zh-CN" altLang="en-US" sz="2000" i="1" noProof="1">
                        <a:latin typeface="Cambria Math" panose="02040503050406030204" pitchFamily="18" charset="0"/>
                        <a:sym typeface="+mn-ea"/>
                      </a:rPr>
                      <m:t>)|</m:t>
                    </m:r>
                    <m:r>
                      <a:rPr lang="en-US" altLang="zh-CN" sz="2000" i="1" dirty="0" smtClean="0">
                        <a:latin typeface="Cambria Math" panose="02040503050406030204" pitchFamily="18" charset="0"/>
                      </a:rPr>
                      <m:t>𝑐</m:t>
                    </m:r>
                  </m:oMath>
                </a14:m>
                <a:r>
                  <a:rPr lang="zh-Hans" altLang="en-US" sz="2000" dirty="0"/>
                  <a:t> 。</a:t>
                </a:r>
                <a:endParaRPr lang="en-US" altLang="zh-CN" sz="2000" dirty="0"/>
              </a:p>
              <a:p>
                <a:pPr marL="11113" lvl="1" indent="446088">
                  <a:lnSpc>
                    <a:spcPct val="150000"/>
                  </a:lnSpc>
                </a:pPr>
                <a:r>
                  <a:rPr lang="zh-CN" altLang="en-US" sz="2000" dirty="0"/>
                  <a:t>一定存在 </a:t>
                </a:r>
                <a14:m>
                  <m:oMath xmlns:m="http://schemas.openxmlformats.org/officeDocument/2006/math">
                    <m:r>
                      <a:rPr lang="en-US" altLang="zh-CN" sz="2000" i="1" dirty="0">
                        <a:latin typeface="Cambria Math" panose="02040503050406030204" pitchFamily="18" charset="0"/>
                      </a:rPr>
                      <m:t>𝑥</m:t>
                    </m:r>
                    <m:r>
                      <a:rPr lang="en-US" altLang="zh-CN" sz="2000" i="1" dirty="0">
                        <a:latin typeface="Cambria Math" panose="02040503050406030204" pitchFamily="18" charset="0"/>
                      </a:rPr>
                      <m:t>,</m:t>
                    </m:r>
                    <m:r>
                      <a:rPr lang="en-US" altLang="zh-CN" sz="2000" i="1" dirty="0">
                        <a:latin typeface="Cambria Math" panose="02040503050406030204" pitchFamily="18" charset="0"/>
                      </a:rPr>
                      <m:t>𝑦</m:t>
                    </m:r>
                  </m:oMath>
                </a14:m>
                <a:r>
                  <a:rPr lang="zh-CN" altLang="en-US" sz="2000" dirty="0"/>
                  <a:t> 满足</a:t>
                </a:r>
                <a14:m>
                  <m:oMath xmlns:m="http://schemas.openxmlformats.org/officeDocument/2006/math">
                    <m:r>
                      <a:rPr lang="en-US" altLang="zh-CN" sz="2000" b="0" i="0" dirty="0" smtClean="0">
                        <a:latin typeface="Cambria Math" panose="02040503050406030204" pitchFamily="18" charset="0"/>
                      </a:rPr>
                      <m:t> </m:t>
                    </m:r>
                    <m:r>
                      <a:rPr lang="en-US" altLang="zh-CN" sz="2000" i="1" dirty="0">
                        <a:latin typeface="Cambria Math" panose="02040503050406030204" pitchFamily="18" charset="0"/>
                      </a:rPr>
                      <m:t>𝑎𝑥</m:t>
                    </m:r>
                    <m:r>
                      <a:rPr lang="en-US" altLang="zh-CN" sz="2000" i="1" dirty="0">
                        <a:latin typeface="Cambria Math" panose="02040503050406030204" pitchFamily="18" charset="0"/>
                      </a:rPr>
                      <m:t>+</m:t>
                    </m:r>
                    <m:r>
                      <a:rPr lang="en-US" altLang="zh-CN" sz="2000" i="1" dirty="0">
                        <a:latin typeface="Cambria Math" panose="02040503050406030204" pitchFamily="18" charset="0"/>
                      </a:rPr>
                      <m:t>𝑏𝑦</m:t>
                    </m:r>
                    <m:r>
                      <a:rPr lang="en-US" altLang="zh-CN" sz="2000" i="1" dirty="0">
                        <a:latin typeface="Cambria Math" panose="02040503050406030204" pitchFamily="18" charset="0"/>
                      </a:rPr>
                      <m:t>=</m:t>
                    </m:r>
                    <m:r>
                      <m:rPr>
                        <m:sty m:val="p"/>
                      </m:rPr>
                      <a:rPr lang="zh-CN" altLang="en-US" sz="2000" i="1" noProof="1" smtClean="0">
                        <a:latin typeface="Cambria Math" panose="02040503050406030204" pitchFamily="18" charset="0"/>
                        <a:sym typeface="+mn-ea"/>
                      </a:rPr>
                      <m:t>g</m:t>
                    </m:r>
                    <m:r>
                      <m:rPr>
                        <m:sty m:val="p"/>
                      </m:rPr>
                      <a:rPr lang="zh-CN" altLang="en-US" sz="2000" i="1" noProof="1">
                        <a:latin typeface="Cambria Math" panose="02040503050406030204" pitchFamily="18" charset="0"/>
                        <a:sym typeface="+mn-ea"/>
                      </a:rPr>
                      <m:t>cd</m:t>
                    </m:r>
                    <m:r>
                      <a:rPr lang="zh-CN" altLang="en-US" sz="2000" i="1" noProof="1">
                        <a:latin typeface="Cambria Math" panose="02040503050406030204" pitchFamily="18" charset="0"/>
                        <a:sym typeface="+mn-ea"/>
                      </a:rPr>
                      <m:t>⁡(</m:t>
                    </m:r>
                    <m:r>
                      <a:rPr lang="zh-CN" altLang="en-US" sz="2000" i="1" noProof="1">
                        <a:latin typeface="Cambria Math" panose="02040503050406030204" pitchFamily="18" charset="0"/>
                        <a:sym typeface="+mn-ea"/>
                      </a:rPr>
                      <m:t>𝑎</m:t>
                    </m:r>
                    <m:r>
                      <a:rPr lang="zh-CN" altLang="en-US" sz="2000" i="1" noProof="1">
                        <a:latin typeface="Cambria Math" panose="02040503050406030204" pitchFamily="18" charset="0"/>
                        <a:sym typeface="+mn-ea"/>
                      </a:rPr>
                      <m:t>,</m:t>
                    </m:r>
                    <m:r>
                      <a:rPr lang="zh-CN" altLang="en-US" sz="2000" i="1" noProof="1">
                        <a:latin typeface="Cambria Math" panose="02040503050406030204" pitchFamily="18" charset="0"/>
                        <a:sym typeface="+mn-ea"/>
                      </a:rPr>
                      <m:t>𝑏</m:t>
                    </m:r>
                    <m:r>
                      <a:rPr lang="zh-CN" altLang="en-US" sz="2000" i="1" noProof="1">
                        <a:latin typeface="Cambria Math" panose="02040503050406030204" pitchFamily="18" charset="0"/>
                        <a:sym typeface="+mn-ea"/>
                      </a:rPr>
                      <m:t>)</m:t>
                    </m:r>
                  </m:oMath>
                </a14:m>
                <a:r>
                  <a:rPr lang="zh-Hans" altLang="en-US" sz="2000" dirty="0"/>
                  <a:t> 。</a:t>
                </a:r>
                <a:endParaRPr lang="en-US" altLang="zh-CN" sz="2000" dirty="0"/>
              </a:p>
              <a:p>
                <a:pPr marL="11113" lvl="1" indent="446088">
                  <a:lnSpc>
                    <a:spcPct val="150000"/>
                  </a:lnSpc>
                </a:pPr>
                <a:r>
                  <a:rPr lang="zh-CN" altLang="en-US" sz="2000" dirty="0"/>
                  <a:t>推论：</a:t>
                </a:r>
                <a14:m>
                  <m:oMath xmlns:m="http://schemas.openxmlformats.org/officeDocument/2006/math">
                    <m:r>
                      <a:rPr lang="en-US" altLang="zh-CN" sz="2000" i="1" dirty="0" smtClean="0">
                        <a:latin typeface="Cambria Math" panose="02040503050406030204" pitchFamily="18" charset="0"/>
                      </a:rPr>
                      <m:t>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m:t>
                    </m:r>
                  </m:oMath>
                </a14:m>
                <a:r>
                  <a:rPr lang="zh-CN" altLang="en-US" sz="2000" dirty="0"/>
                  <a:t> 互</a:t>
                </a:r>
                <a:r>
                  <a:rPr lang="zh-Hans" altLang="en-US" sz="2000" dirty="0"/>
                  <a:t>素</a:t>
                </a:r>
                <a:r>
                  <a:rPr lang="zh-CN" altLang="en-US" sz="2000" dirty="0"/>
                  <a:t>等价于 </a:t>
                </a:r>
                <a14:m>
                  <m:oMath xmlns:m="http://schemas.openxmlformats.org/officeDocument/2006/math">
                    <m:r>
                      <a:rPr lang="en-US" altLang="zh-CN" sz="2000" i="1" dirty="0" smtClean="0">
                        <a:latin typeface="Cambria Math" panose="02040503050406030204" pitchFamily="18" charset="0"/>
                      </a:rPr>
                      <m:t>𝑎𝑥</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𝑏𝑦</m:t>
                    </m:r>
                    <m:r>
                      <a:rPr lang="en-US" altLang="zh-CN" sz="2000" i="1" dirty="0" smtClean="0">
                        <a:latin typeface="Cambria Math" panose="02040503050406030204" pitchFamily="18" charset="0"/>
                      </a:rPr>
                      <m:t>=1</m:t>
                    </m:r>
                  </m:oMath>
                </a14:m>
                <a:r>
                  <a:rPr lang="zh-CN" altLang="en-US" sz="2000" dirty="0"/>
                  <a:t> 有解。</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525"/>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862721DA-065B-DD4E-95C8-C3A811712EED}"/>
              </a:ext>
            </a:extLst>
          </p:cNvPr>
          <p:cNvSpPr>
            <a:spLocks noGrp="1"/>
          </p:cNvSpPr>
          <p:nvPr>
            <p:ph type="sldNum" sz="quarter" idx="12"/>
          </p:nvPr>
        </p:nvSpPr>
        <p:spPr/>
        <p:txBody>
          <a:bodyPr/>
          <a:lstStyle/>
          <a:p>
            <a:fld id="{0FF54DE5-C571-48E8-A5BC-B369434E2F44}" type="slidenum">
              <a:rPr lang="en-US" altLang="zh-CN" smtClean="0"/>
              <a:pPr/>
              <a:t>74</a:t>
            </a:fld>
            <a:endParaRPr lang="zh-CN" altLang="en-US" dirty="0"/>
          </a:p>
        </p:txBody>
      </p:sp>
    </p:spTree>
    <p:extLst>
      <p:ext uri="{BB962C8B-B14F-4D97-AF65-F5344CB8AC3E}">
        <p14:creationId xmlns:p14="http://schemas.microsoft.com/office/powerpoint/2010/main" val="21866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[BZOJ 1441]</a:t>
            </a:r>
          </a:p>
        </p:txBody>
      </p:sp>
      <mc:AlternateContent xmlns:mc="http://schemas.openxmlformats.org/markup-compatibility/2006" xmlns:a14="http://schemas.microsoft.com/office/drawing/2010/main">
        <mc:Choice Requires="a14">
          <p:sp>
            <p:nvSpPr>
              <p:cNvPr id="14" name="内容占位符 13"/>
              <p:cNvSpPr>
                <a:spLocks noGrp="1"/>
              </p:cNvSpPr>
              <p:nvPr>
                <p:ph idx="1"/>
              </p:nvPr>
            </p:nvSpPr>
            <p:spPr>
              <a:xfrm>
                <a:off x="1104900" y="1600199"/>
                <a:ext cx="9982200" cy="4667977"/>
              </a:xfrm>
            </p:spPr>
            <p:txBody>
              <a:bodyPr rtlCol="0">
                <a:normAutofit/>
              </a:bodyPr>
              <a:lstStyle/>
              <a:p>
                <a:pPr>
                  <a:lnSpc>
                    <a:spcPct val="150000"/>
                  </a:lnSpc>
                </a:pPr>
                <a:r>
                  <a:rPr lang="zh-CN" altLang="en-US" dirty="0"/>
                  <a:t>给出</a:t>
                </a:r>
                <a14:m>
                  <m:oMath xmlns:m="http://schemas.openxmlformats.org/officeDocument/2006/math">
                    <m:r>
                      <a:rPr lang="en-US" altLang="zh-CN" b="0" i="0" dirty="0" smtClean="0">
                        <a:latin typeface="Cambria Math" panose="02040503050406030204" pitchFamily="18" charset="0"/>
                      </a:rPr>
                      <m:t> </m:t>
                    </m:r>
                    <m:r>
                      <a:rPr lang="en-US" altLang="zh-CN" i="1" dirty="0" smtClean="0">
                        <a:latin typeface="Cambria Math" panose="02040503050406030204" pitchFamily="18" charset="0"/>
                      </a:rPr>
                      <m:t>𝑛</m:t>
                    </m:r>
                  </m:oMath>
                </a14:m>
                <a:r>
                  <a:rPr lang="en-US" altLang="zh-CN" dirty="0"/>
                  <a:t> </a:t>
                </a:r>
                <a:r>
                  <a:rPr lang="zh-CN" altLang="en-US" dirty="0"/>
                  <a:t>个数</a:t>
                </a:r>
                <a:r>
                  <a:rPr lang="en-US" altLang="zh-CN" dirty="0"/>
                  <a:t> </a:t>
                </a:r>
                <a14:m>
                  <m:oMath xmlns:m="http://schemas.openxmlformats.org/officeDocument/2006/math">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𝑛</m:t>
                        </m:r>
                      </m:sub>
                    </m:sSub>
                    <m:r>
                      <a:rPr lang="en-US" altLang="zh-CN" i="1" dirty="0" smtClean="0">
                        <a:latin typeface="Cambria Math" panose="02040503050406030204" pitchFamily="18" charset="0"/>
                      </a:rPr>
                      <m:t>)</m:t>
                    </m:r>
                    <m:r>
                      <a:rPr lang="zh-CN" altLang="en-US" i="1" dirty="0">
                        <a:latin typeface="Cambria Math" panose="02040503050406030204" pitchFamily="18" charset="0"/>
                      </a:rPr>
                      <m:t>，</m:t>
                    </m:r>
                  </m:oMath>
                </a14:m>
                <a:r>
                  <a:rPr lang="zh-CN" altLang="en-US" dirty="0"/>
                  <a:t>现求一组整数序列</a:t>
                </a:r>
                <a:r>
                  <a:rPr lang="en-US" altLang="zh-CN" dirty="0"/>
                  <a:t> </a:t>
                </a:r>
                <a14:m>
                  <m:oMath xmlns:m="http://schemas.openxmlformats.org/officeDocument/2006/math">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𝑛</m:t>
                        </m:r>
                      </m:sub>
                    </m:sSub>
                    <m:r>
                      <a:rPr lang="en-US" altLang="zh-CN" i="1" dirty="0">
                        <a:latin typeface="Cambria Math" panose="02040503050406030204" pitchFamily="18" charset="0"/>
                      </a:rPr>
                      <m:t>)</m:t>
                    </m:r>
                  </m:oMath>
                </a14:m>
                <a:r>
                  <a:rPr lang="en-US" altLang="zh-CN" dirty="0"/>
                  <a:t> </a:t>
                </a:r>
                <a:r>
                  <a:rPr lang="zh-CN" altLang="en-US" dirty="0"/>
                  <a:t>使得</a:t>
                </a:r>
                <a:r>
                  <a:rPr lang="en-US" altLang="zh-CN" dirty="0"/>
                  <a:t> </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1</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i="1" dirty="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b="0" i="1" dirty="0" smtClean="0">
                            <a:latin typeface="Cambria Math" panose="02040503050406030204" pitchFamily="18" charset="0"/>
                          </a:rPr>
                          <m:t>𝑛</m:t>
                        </m:r>
                      </m:sub>
                    </m:sSub>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𝑛</m:t>
                        </m:r>
                      </m:sub>
                    </m:sSub>
                    <m:r>
                      <a:rPr lang="en-US" altLang="zh-CN" i="1" dirty="0">
                        <a:latin typeface="Cambria Math" panose="02040503050406030204" pitchFamily="18" charset="0"/>
                      </a:rPr>
                      <m:t>&gt;0</m:t>
                    </m:r>
                  </m:oMath>
                </a14:m>
                <a:r>
                  <a:rPr lang="zh-CN" altLang="en-US" dirty="0"/>
                  <a:t>，且</a:t>
                </a:r>
                <a:r>
                  <a:rPr lang="zh-Hans" altLang="en-US" dirty="0"/>
                  <a:t> </a:t>
                </a:r>
                <a14:m>
                  <m:oMath xmlns:m="http://schemas.openxmlformats.org/officeDocument/2006/math">
                    <m:r>
                      <a:rPr lang="en-US" altLang="zh-CN" i="1" dirty="0" smtClean="0">
                        <a:latin typeface="Cambria Math" panose="02040503050406030204" pitchFamily="18" charset="0"/>
                      </a:rPr>
                      <m:t>𝑆</m:t>
                    </m:r>
                  </m:oMath>
                </a14:m>
                <a:r>
                  <a:rPr lang="zh-Hans" altLang="en-US" dirty="0"/>
                  <a:t> </a:t>
                </a:r>
                <a:r>
                  <a:rPr lang="zh-CN" altLang="en-US" dirty="0"/>
                  <a:t>的值最小。</a:t>
                </a:r>
              </a:p>
              <a:p>
                <a:pPr>
                  <a:lnSpc>
                    <a:spcPct val="150000"/>
                  </a:lnSpc>
                </a:pPr>
                <a:r>
                  <a:rPr lang="zh-CN" altLang="en-US" dirty="0"/>
                  <a:t>题解：</a:t>
                </a:r>
                <a14:m>
                  <m:oMath xmlns:m="http://schemas.openxmlformats.org/officeDocument/2006/math">
                    <m:r>
                      <m:rPr>
                        <m:sty m:val="p"/>
                      </m:rPr>
                      <a:rPr lang="en-US" altLang="zh-CN" i="1" dirty="0" smtClean="0">
                        <a:latin typeface="Cambria Math" panose="02040503050406030204" pitchFamily="18" charset="0"/>
                      </a:rPr>
                      <m:t>gcd</m:t>
                    </m:r>
                    <m:r>
                      <a:rPr lang="en-US" altLang="zh-CN" b="0" i="0" dirty="0" smtClean="0">
                        <a:latin typeface="Cambria Math" panose="02040503050406030204" pitchFamily="18" charset="0"/>
                      </a:rPr>
                      <m:t> </m:t>
                    </m:r>
                    <m:r>
                      <a:rPr lang="zh-CN" altLang="en-US" i="1" dirty="0">
                        <a:latin typeface="Cambria Math" panose="02040503050406030204" pitchFamily="18" charset="0"/>
                      </a:rPr>
                      <m:t>和</m:t>
                    </m:r>
                  </m:oMath>
                </a14:m>
                <a:r>
                  <a:rPr lang="zh-CN" altLang="en-US" dirty="0"/>
                  <a:t>裴蜀定理</a:t>
                </a:r>
              </a:p>
              <a:p>
                <a:pPr>
                  <a:lnSpc>
                    <a:spcPct val="150000"/>
                  </a:lnSpc>
                </a:pPr>
                <a14:m>
                  <m:oMath xmlns:m="http://schemas.openxmlformats.org/officeDocument/2006/math">
                    <m:r>
                      <m:rPr>
                        <m:sty m:val="p"/>
                      </m:rPr>
                      <a:rPr lang="en-US" altLang="zh-CN" i="1" dirty="0" smtClean="0">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oMath>
                </a14:m>
                <a:r>
                  <a:rPr lang="zh-Hans" altLang="en-US" dirty="0"/>
                  <a:t> </a:t>
                </a:r>
                <a:r>
                  <a:rPr lang="zh-CN" altLang="en-US" dirty="0"/>
                  <a:t>就是最小的可以表示成</a:t>
                </a:r>
                <a:r>
                  <a:rPr lang="zh-Hans" altLang="en-US" dirty="0"/>
                  <a:t> </a:t>
                </a:r>
                <a14:m>
                  <m:oMath xmlns:m="http://schemas.openxmlformats.org/officeDocument/2006/math">
                    <m:r>
                      <a:rPr lang="en-US" altLang="zh-CN" i="1" dirty="0" smtClean="0">
                        <a:latin typeface="Cambria Math" panose="02040503050406030204" pitchFamily="18" charset="0"/>
                      </a:rPr>
                      <m:t>𝑎𝑥</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𝑏𝑦</m:t>
                    </m:r>
                  </m:oMath>
                </a14:m>
                <a:r>
                  <a:rPr lang="zh-Hans" altLang="en-US" dirty="0"/>
                  <a:t> </a:t>
                </a:r>
                <a:r>
                  <a:rPr lang="zh-CN" altLang="en-US" dirty="0"/>
                  <a:t>的正整数。</a:t>
                </a:r>
                <a:endParaRPr lang="en-US" altLang="zh-CN" dirty="0"/>
              </a:p>
              <a:p>
                <a:pPr>
                  <a:lnSpc>
                    <a:spcPct val="150000"/>
                  </a:lnSpc>
                </a:pPr>
                <a:r>
                  <a:rPr lang="zh-CN" altLang="en-US" dirty="0"/>
                  <a:t>所以我们直接对于所有读入的</a:t>
                </a:r>
                <a:r>
                  <a:rPr lang="zh-Hans" altLang="en-US" dirty="0"/>
                  <a:t> </a:t>
                </a:r>
                <a14:m>
                  <m:oMath xmlns:m="http://schemas.openxmlformats.org/officeDocument/2006/math">
                    <m:r>
                      <a:rPr lang="en-US" altLang="zh-CN" i="1" dirty="0" smtClean="0">
                        <a:latin typeface="Cambria Math" panose="02040503050406030204" pitchFamily="18" charset="0"/>
                      </a:rPr>
                      <m:t>𝑎</m:t>
                    </m:r>
                  </m:oMath>
                </a14:m>
                <a:r>
                  <a:rPr lang="zh-Hans" altLang="en-US" dirty="0"/>
                  <a:t> </a:t>
                </a:r>
                <a:r>
                  <a:rPr lang="zh-CN" altLang="en-US" dirty="0"/>
                  <a:t>求</a:t>
                </a:r>
                <a:r>
                  <a:rPr lang="zh-Hans" altLang="en-US" dirty="0"/>
                  <a:t> </a:t>
                </a:r>
                <a14:m>
                  <m:oMath xmlns:m="http://schemas.openxmlformats.org/officeDocument/2006/math">
                    <m:r>
                      <m:rPr>
                        <m:sty m:val="p"/>
                      </m:rPr>
                      <a:rPr lang="en-US" altLang="zh-CN" i="1" dirty="0" smtClean="0">
                        <a:latin typeface="Cambria Math" panose="02040503050406030204" pitchFamily="18" charset="0"/>
                      </a:rPr>
                      <m:t>gcd</m:t>
                    </m:r>
                  </m:oMath>
                </a14:m>
                <a:r>
                  <a:rPr lang="zh-Hans" altLang="en-US" dirty="0"/>
                  <a:t> </a:t>
                </a:r>
                <a:r>
                  <a:rPr lang="zh-CN" altLang="en-US" dirty="0"/>
                  <a:t>即可</a:t>
                </a:r>
                <a:br>
                  <a:rPr lang="en-US" altLang="zh-CN" i="1" dirty="0">
                    <a:latin typeface="Cambria Math" panose="02040503050406030204" pitchFamily="18" charset="0"/>
                  </a:rPr>
                </a:br>
                <a14:m>
                  <m:oMath xmlns:m="http://schemas.openxmlformats.org/officeDocument/2006/math">
                    <m:r>
                      <m:rPr>
                        <m:sty m:val="p"/>
                      </m:rPr>
                      <a:rPr lang="en-US" altLang="zh-CN" i="1" dirty="0" smtClean="0">
                        <a:latin typeface="Cambria Math" panose="02040503050406030204" pitchFamily="18" charset="0"/>
                      </a:rPr>
                      <m:t>gcd</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𝑏</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𝑐</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i="1" dirty="0" err="1">
                        <a:latin typeface="Cambria Math" panose="02040503050406030204" pitchFamily="18" charset="0"/>
                      </a:rPr>
                      <m:t>𝑏</m:t>
                    </m:r>
                    <m:r>
                      <a:rPr lang="en-US" altLang="zh-CN" i="1" dirty="0">
                        <a:latin typeface="Cambria Math" panose="02040503050406030204" pitchFamily="18" charset="0"/>
                      </a:rPr>
                      <m:t>),</m:t>
                    </m:r>
                    <m:r>
                      <a:rPr lang="en-US" altLang="zh-CN" i="1" dirty="0">
                        <a:latin typeface="Cambria Math" panose="02040503050406030204" pitchFamily="18" charset="0"/>
                      </a:rPr>
                      <m:t>𝑐</m:t>
                    </m:r>
                    <m:r>
                      <a:rPr lang="en-US" altLang="zh-CN" i="1" dirty="0">
                        <a:latin typeface="Cambria Math" panose="02040503050406030204" pitchFamily="18" charset="0"/>
                      </a:rPr>
                      <m:t>)</m:t>
                    </m:r>
                  </m:oMath>
                </a14:m>
                <a:endParaRPr lang="en-US" altLang="zh-CN" dirty="0"/>
              </a:p>
            </p:txBody>
          </p:sp>
        </mc:Choice>
        <mc:Fallback xmlns="">
          <p:sp>
            <p:nvSpPr>
              <p:cNvPr id="14" name="内容占位符 13"/>
              <p:cNvSpPr>
                <a:spLocks noGrp="1" noRot="1" noChangeAspect="1" noMove="1" noResize="1" noEditPoints="1" noAdjustHandles="1" noChangeArrowheads="1" noChangeShapeType="1" noTextEdit="1"/>
              </p:cNvSpPr>
              <p:nvPr>
                <p:ph idx="1"/>
              </p:nvPr>
            </p:nvSpPr>
            <p:spPr>
              <a:xfrm>
                <a:off x="1104900" y="1600199"/>
                <a:ext cx="9982200" cy="4667977"/>
              </a:xfrm>
              <a:blipFill>
                <a:blip r:embed="rId2"/>
                <a:stretch>
                  <a:fillRect l="-1398" r="-12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5F2E6E5B-A262-6B40-AD8E-F79D1890AE59}"/>
              </a:ext>
            </a:extLst>
          </p:cNvPr>
          <p:cNvSpPr>
            <a:spLocks noGrp="1"/>
          </p:cNvSpPr>
          <p:nvPr>
            <p:ph type="sldNum" sz="quarter" idx="12"/>
          </p:nvPr>
        </p:nvSpPr>
        <p:spPr/>
        <p:txBody>
          <a:bodyPr/>
          <a:lstStyle/>
          <a:p>
            <a:fld id="{0FF54DE5-C571-48E8-A5BC-B369434E2F44}" type="slidenum">
              <a:rPr lang="en-US" altLang="zh-CN" smtClean="0"/>
              <a:pPr/>
              <a:t>75</a:t>
            </a:fld>
            <a:endParaRPr lang="zh-CN" altLang="en-US" dirty="0"/>
          </a:p>
        </p:txBody>
      </p:sp>
    </p:spTree>
    <p:extLst>
      <p:ext uri="{BB962C8B-B14F-4D97-AF65-F5344CB8AC3E}">
        <p14:creationId xmlns:p14="http://schemas.microsoft.com/office/powerpoint/2010/main" val="2821047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p:nvPr>
        </p:nvSpPr>
        <p:spPr/>
        <p:txBody>
          <a:bodyPr/>
          <a:lstStyle/>
          <a:p>
            <a:r>
              <a:rPr lang="zh-CN" altLang="en-US" dirty="0"/>
              <a:t>扩展欧几里得算法</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600200"/>
                <a:ext cx="9982200" cy="5148072"/>
              </a:xfrm>
            </p:spPr>
            <p:txBody>
              <a:bodyPr>
                <a:normAutofit fontScale="92500" lnSpcReduction="10000"/>
              </a:bodyPr>
              <a:lstStyle/>
              <a:p>
                <a:pPr>
                  <a:lnSpc>
                    <a:spcPct val="150000"/>
                  </a:lnSpc>
                  <a:spcBef>
                    <a:spcPts val="600"/>
                  </a:spcBef>
                </a:pPr>
                <a:r>
                  <a:rPr lang="zh-CN" altLang="en-US" dirty="0"/>
                  <a:t>根据</a:t>
                </a:r>
                <a14:m>
                  <m:oMath xmlns:m="http://schemas.openxmlformats.org/officeDocument/2006/math">
                    <m:r>
                      <a:rPr lang="zh-CN" altLang="en-US" i="1">
                        <a:latin typeface="Cambria Math" panose="02040503050406030204" pitchFamily="18" charset="0"/>
                      </a:rPr>
                      <m:t>欧几里得</m:t>
                    </m:r>
                    <m:r>
                      <a:rPr lang="zh-CN" altLang="en-US" i="1" smtClean="0">
                        <a:latin typeface="Cambria Math" panose="02040503050406030204" pitchFamily="18" charset="0"/>
                      </a:rPr>
                      <m:t>算法</m:t>
                    </m:r>
                    <m:r>
                      <a:rPr lang="zh-CN" altLang="en-US" i="1">
                        <a:latin typeface="Cambria Math" panose="02040503050406030204" pitchFamily="18" charset="0"/>
                      </a:rPr>
                      <m:t>，</m:t>
                    </m:r>
                    <m:r>
                      <a:rPr lang="zh-CN" altLang="en-US" i="1" smtClean="0">
                        <a:latin typeface="Cambria Math" panose="02040503050406030204" pitchFamily="18" charset="0"/>
                      </a:rPr>
                      <m:t>可得</m:t>
                    </m:r>
                    <m:r>
                      <a:rPr lang="zh-CN" altLang="en-US" i="1">
                        <a:latin typeface="Cambria Math" panose="02040503050406030204" pitchFamily="18" charset="0"/>
                      </a:rPr>
                      <m:t>：</m:t>
                    </m:r>
                  </m:oMath>
                </a14:m>
                <a:br>
                  <a:rPr lang="en-US" altLang="zh-CN" i="1" dirty="0">
                    <a:latin typeface="Cambria Math" panose="02040503050406030204" pitchFamily="18" charset="0"/>
                  </a:rPr>
                </a:br>
                <a14:m>
                  <m:oMath xmlns:m="http://schemas.openxmlformats.org/officeDocument/2006/math">
                    <m:r>
                      <a:rPr lang="en-US" altLang="zh-CN" i="1">
                        <a:latin typeface="Cambria Math" panose="02040503050406030204" pitchFamily="18" charset="0"/>
                      </a:rPr>
                      <m:t>𝑎𝑥</m:t>
                    </m:r>
                    <m:r>
                      <a:rPr lang="en-US" altLang="zh-CN" i="1">
                        <a:latin typeface="Cambria Math" panose="02040503050406030204" pitchFamily="18" charset="0"/>
                      </a:rPr>
                      <m:t>+</m:t>
                    </m:r>
                    <m:r>
                      <a:rPr lang="en-US" altLang="zh-CN" i="1">
                        <a:latin typeface="Cambria Math" panose="02040503050406030204" pitchFamily="18" charset="0"/>
                      </a:rPr>
                      <m:t>𝑏𝑦</m:t>
                    </m:r>
                    <m:r>
                      <a:rPr lang="en-US" altLang="zh-CN" i="1">
                        <a:latin typeface="Cambria Math" panose="02040503050406030204" pitchFamily="18" charset="0"/>
                      </a:rPr>
                      <m:t> =</m:t>
                    </m:r>
                    <m:r>
                      <a:rPr lang="en-US" altLang="zh-CN">
                        <a:latin typeface="Cambria Math" panose="02040503050406030204" pitchFamily="18" charset="0"/>
                      </a:rPr>
                      <m:t> </m:t>
                    </m:r>
                    <m:r>
                      <m:rPr>
                        <m:sty m:val="p"/>
                      </m:rPr>
                      <a:rPr lang="en-US" altLang="zh-CN">
                        <a:latin typeface="Cambria Math" panose="02040503050406030204" pitchFamily="18" charset="0"/>
                      </a:rPr>
                      <m:t>gcd</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 = </m:t>
                    </m:r>
                    <m:r>
                      <m:rPr>
                        <m:sty m:val="p"/>
                      </m:rPr>
                      <a:rPr lang="en-US" altLang="zh-CN">
                        <a:latin typeface="Cambria Math" panose="02040503050406030204" pitchFamily="18" charset="0"/>
                      </a:rPr>
                      <m:t>gcd</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 </m:t>
                    </m:r>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𝑏</m:t>
                    </m:r>
                    <m:r>
                      <a:rPr lang="en-US" altLang="zh-CN" i="1">
                        <a:latin typeface="Cambria Math" panose="02040503050406030204" pitchFamily="18" charset="0"/>
                      </a:rPr>
                      <m:t>) = </m:t>
                    </m:r>
                    <m:r>
                      <a:rPr lang="en-US" altLang="zh-CN" i="1">
                        <a:latin typeface="Cambria Math" panose="02040503050406030204" pitchFamily="18" charset="0"/>
                      </a:rPr>
                      <m:t>𝑏𝑥</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 </m:t>
                    </m:r>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endParaRPr lang="zh-CN" altLang="zh-CN" dirty="0"/>
              </a:p>
              <a:p>
                <a:pPr>
                  <a:lnSpc>
                    <a:spcPct val="150000"/>
                  </a:lnSpc>
                  <a:spcBef>
                    <a:spcPts val="600"/>
                  </a:spcBef>
                </a:pPr>
                <a:r>
                  <a:rPr lang="zh-CN" altLang="zh-CN" dirty="0"/>
                  <a:t>其中</a:t>
                </a:r>
                <a:r>
                  <a:rPr lang="en-US" altLang="zh-CN" dirty="0"/>
                  <a:t> </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 </m:t>
                    </m:r>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𝑏</m:t>
                    </m:r>
                  </m:oMath>
                </a14:m>
                <a:r>
                  <a:rPr lang="en-US" altLang="zh-CN" dirty="0"/>
                  <a:t> </a:t>
                </a:r>
                <a:r>
                  <a:rPr lang="zh-CN" altLang="zh-CN" dirty="0"/>
                  <a:t>为</a:t>
                </a:r>
                <a:r>
                  <a:rPr lang="en-US" altLang="zh-CN" dirty="0"/>
                  <a:t> </a:t>
                </a:r>
                <a14:m>
                  <m:oMath xmlns:m="http://schemas.openxmlformats.org/officeDocument/2006/math">
                    <m:r>
                      <a:rPr lang="en-US" altLang="zh-CN" i="1">
                        <a:latin typeface="Cambria Math" panose="02040503050406030204" pitchFamily="18" charset="0"/>
                      </a:rPr>
                      <m:t>𝑎</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CN" i="1">
                        <a:latin typeface="Cambria Math" panose="02040503050406030204" pitchFamily="18" charset="0"/>
                      </a:rPr>
                      <m:t>𝑏</m:t>
                    </m:r>
                  </m:oMath>
                </a14:m>
                <a:r>
                  <a:rPr lang="zh-CN" altLang="en-US" dirty="0"/>
                  <a:t>，</a:t>
                </a:r>
                <a:r>
                  <a:rPr lang="zh-CN" altLang="zh-CN" dirty="0"/>
                  <a:t>代入上式后，可得</a:t>
                </a:r>
                <a:r>
                  <a:rPr lang="zh-CN" altLang="en-US" dirty="0"/>
                  <a:t>：</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𝑏𝑥</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 </m:t>
                      </m:r>
                      <m:r>
                        <m:rPr>
                          <m:sty m:val="p"/>
                        </m:rPr>
                        <a:rPr lang="en-US" altLang="zh-CN">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 = </m:t>
                      </m:r>
                      <m:r>
                        <a:rPr lang="en-US" altLang="zh-CN" i="1">
                          <a:latin typeface="Cambria Math" panose="02040503050406030204" pitchFamily="18" charset="0"/>
                        </a:rPr>
                        <m:t>𝑏𝑥</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Hans" b="0" i="1" dirty="0" smtClean="0">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𝑎𝑦</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CN" i="1">
                          <a:latin typeface="Cambria Math" panose="02040503050406030204" pitchFamily="18" charset="0"/>
                        </a:rPr>
                        <m:t>𝑦</m:t>
                      </m:r>
                      <m:r>
                        <a:rPr lang="en-US" altLang="zh-CN" i="1">
                          <a:latin typeface="Cambria Math" panose="02040503050406030204" pitchFamily="18" charset="0"/>
                        </a:rPr>
                        <m:t>’)</m:t>
                      </m:r>
                    </m:oMath>
                  </m:oMathPara>
                </a14:m>
                <a:endParaRPr lang="zh-CN" altLang="zh-CN" dirty="0"/>
              </a:p>
              <a:p>
                <a:pPr>
                  <a:lnSpc>
                    <a:spcPct val="150000"/>
                  </a:lnSpc>
                  <a:spcBef>
                    <a:spcPts val="600"/>
                  </a:spcBef>
                </a:pPr>
                <a:r>
                  <a:rPr lang="zh-CN" altLang="zh-CN" dirty="0"/>
                  <a:t>可以得出</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oMath>
                </a14:m>
                <a:r>
                  <a:rPr lang="zh-CN" altLang="zh-CN" dirty="0"/>
                  <a:t>和</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en-US" altLang="zh-CN" dirty="0"/>
                  <a:t> </a:t>
                </a:r>
                <a:r>
                  <a:rPr lang="zh-CN" altLang="zh-CN" dirty="0"/>
                  <a:t>的关系</a:t>
                </a:r>
                <a:br>
                  <a:rPr lang="en-US" altLang="zh-CN" i="1" dirty="0"/>
                </a:b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CN" i="1">
                        <a:latin typeface="Cambria Math" panose="02040503050406030204" pitchFamily="18" charset="0"/>
                      </a:rPr>
                      <m:t>𝑦</m:t>
                    </m:r>
                    <m:r>
                      <a:rPr lang="en-US" altLang="zh-CN" i="1">
                        <a:latin typeface="Cambria Math" panose="02040503050406030204" pitchFamily="18" charset="0"/>
                      </a:rPr>
                      <m:t>’</m:t>
                    </m:r>
                  </m:oMath>
                </a14:m>
                <a:endParaRPr lang="zh-CN" altLang="zh-CN" dirty="0"/>
              </a:p>
              <a:p>
                <a:pPr>
                  <a:lnSpc>
                    <a:spcPct val="150000"/>
                  </a:lnSpc>
                  <a:spcBef>
                    <a:spcPts val="600"/>
                  </a:spcBef>
                </a:pPr>
                <a:r>
                  <a:rPr lang="zh-CN" altLang="en-US" dirty="0"/>
                  <a:t>边界情况分析：</a:t>
                </a:r>
                <a14:m>
                  <m:oMath xmlns:m="http://schemas.openxmlformats.org/officeDocument/2006/math">
                    <m:r>
                      <a:rPr lang="en-US" altLang="zh-CN" i="1">
                        <a:latin typeface="Cambria Math" panose="02040503050406030204" pitchFamily="18" charset="0"/>
                      </a:rPr>
                      <m:t>𝑎𝑥</m:t>
                    </m:r>
                    <m:r>
                      <a:rPr lang="en-US" altLang="zh-CN" i="1">
                        <a:latin typeface="Cambria Math" panose="02040503050406030204" pitchFamily="18" charset="0"/>
                      </a:rPr>
                      <m:t>’+</m:t>
                    </m:r>
                    <m:r>
                      <a:rPr lang="en-US" altLang="zh-CN" i="1">
                        <a:latin typeface="Cambria Math" panose="02040503050406030204" pitchFamily="18" charset="0"/>
                      </a:rPr>
                      <m:t>𝑏𝑦</m:t>
                    </m:r>
                    <m:r>
                      <a:rPr lang="en-US" altLang="zh-CN" i="1">
                        <a:latin typeface="Cambria Math" panose="02040503050406030204" pitchFamily="18" charset="0"/>
                      </a:rPr>
                      <m:t>’=</m:t>
                    </m:r>
                    <m:r>
                      <a:rPr lang="en-US" altLang="zh-CN" i="1">
                        <a:latin typeface="Cambria Math" panose="02040503050406030204" pitchFamily="18" charset="0"/>
                      </a:rPr>
                      <m:t>𝑑</m:t>
                    </m:r>
                    <m:r>
                      <a:rPr lang="zh-CN" altLang="zh-CN">
                        <a:latin typeface="Cambria Math" panose="02040503050406030204" pitchFamily="18" charset="0"/>
                      </a:rPr>
                      <m:t>（</m:t>
                    </m:r>
                    <m:r>
                      <a:rPr lang="en-US" altLang="zh-CN" i="1">
                        <a:latin typeface="Cambria Math" panose="02040503050406030204" pitchFamily="18" charset="0"/>
                      </a:rPr>
                      <m:t>𝑑</m:t>
                    </m:r>
                    <m:r>
                      <a:rPr lang="en-US" altLang="zh-CN">
                        <a:latin typeface="Cambria Math" panose="02040503050406030204" pitchFamily="18" charset="0"/>
                      </a:rPr>
                      <m:t>=</m:t>
                    </m:r>
                    <m:r>
                      <m:rPr>
                        <m:sty m:val="p"/>
                      </m:rPr>
                      <a:rPr lang="en-US" altLang="zh-CN">
                        <a:latin typeface="Cambria Math" panose="02040503050406030204" pitchFamily="18" charset="0"/>
                      </a:rPr>
                      <m:t>gcd</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r>
                      <a:rPr lang="zh-CN" altLang="zh-CN">
                        <a:latin typeface="Cambria Math" panose="02040503050406030204" pitchFamily="18" charset="0"/>
                      </a:rPr>
                      <m:t>）</m:t>
                    </m:r>
                  </m:oMath>
                </a14:m>
                <a:r>
                  <a:rPr lang="zh-CN" altLang="zh-CN" dirty="0"/>
                  <a:t>，当</a:t>
                </a:r>
                <a:r>
                  <a:rPr lang="zh-CN" altLang="en-US" dirty="0"/>
                  <a:t> </a:t>
                </a:r>
                <a14:m>
                  <m:oMath xmlns:m="http://schemas.openxmlformats.org/officeDocument/2006/math">
                    <m:r>
                      <a:rPr lang="en-US" altLang="zh-CN" i="1">
                        <a:latin typeface="Cambria Math" panose="02040503050406030204" pitchFamily="18" charset="0"/>
                      </a:rPr>
                      <m:t>𝑏</m:t>
                    </m:r>
                    <m:r>
                      <a:rPr lang="en-US" altLang="zh-CN" i="1">
                        <a:latin typeface="Cambria Math" panose="02040503050406030204" pitchFamily="18" charset="0"/>
                      </a:rPr>
                      <m:t>=0</m:t>
                    </m:r>
                  </m:oMath>
                </a14:m>
                <a:r>
                  <a:rPr lang="zh-CN" altLang="en-US" dirty="0"/>
                  <a:t> </a:t>
                </a:r>
                <a:r>
                  <a:rPr lang="zh-CN" altLang="zh-CN" dirty="0"/>
                  <a:t>时，</a:t>
                </a:r>
                <a14:m>
                  <m:oMath xmlns:m="http://schemas.openxmlformats.org/officeDocument/2006/math">
                    <m:r>
                      <a:rPr lang="en-US" altLang="zh-CN" i="1">
                        <a:latin typeface="Cambria Math" panose="02040503050406030204" pitchFamily="18" charset="0"/>
                      </a:rPr>
                      <m:t>𝑎</m:t>
                    </m:r>
                  </m:oMath>
                </a14:m>
                <a:r>
                  <a:rPr lang="zh-CN" altLang="en-US" dirty="0"/>
                  <a:t> </a:t>
                </a:r>
                <a:r>
                  <a:rPr lang="zh-CN" altLang="zh-CN" dirty="0"/>
                  <a:t>为</a:t>
                </a:r>
                <a:r>
                  <a:rPr lang="en-US" altLang="zh-CN" dirty="0"/>
                  <a:t> </a:t>
                </a:r>
                <a14:m>
                  <m:oMath xmlns:m="http://schemas.openxmlformats.org/officeDocument/2006/math">
                    <m:r>
                      <m:rPr>
                        <m:sty m:val="p"/>
                      </m:rPr>
                      <a:rPr lang="en-US" altLang="zh-CN">
                        <a:latin typeface="Cambria Math" panose="02040503050406030204" pitchFamily="18" charset="0"/>
                      </a:rPr>
                      <m:t>gcd</m:t>
                    </m:r>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zh-CN" dirty="0"/>
                  <a:t>，当且仅当</a:t>
                </a:r>
                <a:r>
                  <a:rPr lang="zh-CN" altLang="en-US"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’=1</m:t>
                    </m:r>
                  </m:oMath>
                </a14:m>
                <a:r>
                  <a:rPr lang="zh-CN" altLang="en-US" dirty="0"/>
                  <a:t> </a:t>
                </a:r>
                <a:r>
                  <a:rPr lang="zh-CN" altLang="zh-CN" dirty="0"/>
                  <a:t>时等式成立</a:t>
                </a:r>
                <a:r>
                  <a:rPr lang="zh-CN" altLang="en-US" dirty="0"/>
                  <a:t>。</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t> </a:t>
                </a:r>
                <a:r>
                  <a:rPr lang="zh-CN" altLang="zh-CN" dirty="0"/>
                  <a:t>可以为任何值，为方便起见，设</a:t>
                </a:r>
                <a:r>
                  <a:rPr lang="zh-CN" altLang="en-US" dirty="0"/>
                  <a:t> </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’=0</m:t>
                    </m:r>
                  </m:oMath>
                </a14:m>
                <a:r>
                  <a:rPr lang="zh-CN" altLang="en-US" dirty="0"/>
                  <a:t> </a:t>
                </a:r>
                <a:r>
                  <a:rPr lang="zh-CN" altLang="zh-CN" dirty="0"/>
                  <a:t>。</a:t>
                </a:r>
              </a:p>
              <a:p>
                <a:pPr>
                  <a:lnSpc>
                    <a:spcPct val="150000"/>
                  </a:lnSpc>
                  <a:spcBef>
                    <a:spcPts val="600"/>
                  </a:spcBef>
                </a:pPr>
                <a:r>
                  <a:rPr lang="zh-CN" altLang="zh-CN" dirty="0"/>
                  <a:t>根据</a:t>
                </a:r>
                <a:r>
                  <a:rPr lang="en-US" altLang="zh-CN"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zh-CN" dirty="0"/>
                  <a:t>，可以倒推出</a:t>
                </a:r>
                <a:r>
                  <a:rPr lang="en-US" altLang="zh-CN" dirty="0"/>
                  <a:t> </a:t>
                </a:r>
                <a14:m>
                  <m:oMath xmlns:m="http://schemas.openxmlformats.org/officeDocument/2006/math">
                    <m:r>
                      <a:rPr lang="en-US" altLang="zh-CN" i="1">
                        <a:latin typeface="Cambria Math" panose="02040503050406030204" pitchFamily="18" charset="0"/>
                      </a:rPr>
                      <m:t>𝑥</m:t>
                    </m:r>
                    <m:r>
                      <a:rPr lang="en-US" altLang="zh-CN" b="0" i="1" smtClean="0">
                        <a:latin typeface="Cambria Math" panose="02040503050406030204" pitchFamily="18" charset="0"/>
                      </a:rPr>
                      <m:t> </m:t>
                    </m:r>
                  </m:oMath>
                </a14:m>
                <a:r>
                  <a:rPr lang="zh-CN" altLang="zh-CN" dirty="0"/>
                  <a:t>和</a:t>
                </a:r>
                <a14:m>
                  <m:oMath xmlns:m="http://schemas.openxmlformats.org/officeDocument/2006/math">
                    <m:r>
                      <a:rPr lang="en-US" altLang="zh-CN" b="0" i="0" smtClean="0">
                        <a:latin typeface="Cambria Math" panose="02040503050406030204" pitchFamily="18" charset="0"/>
                      </a:rPr>
                      <m:t> </m:t>
                    </m:r>
                    <m:r>
                      <a:rPr lang="en-US" altLang="zh-CN" i="1">
                        <a:latin typeface="Cambria Math" panose="02040503050406030204" pitchFamily="18" charset="0"/>
                      </a:rPr>
                      <m:t>𝑦</m:t>
                    </m:r>
                  </m:oMath>
                </a14:m>
                <a:r>
                  <a:rPr lang="en-US" altLang="zh-CN" dirty="0"/>
                  <a:t> </a:t>
                </a:r>
                <a:r>
                  <a:rPr lang="zh-CN" altLang="zh-CN" dirty="0"/>
                  <a:t>的多组解。</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48072"/>
              </a:xfrm>
              <a:blipFill>
                <a:blip r:embed="rId2"/>
                <a:stretch>
                  <a:fillRect l="-1271"/>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E7D06D25-BBCC-A043-8BA7-9A0F4CAA3A36}"/>
              </a:ext>
            </a:extLst>
          </p:cNvPr>
          <p:cNvSpPr>
            <a:spLocks noGrp="1"/>
          </p:cNvSpPr>
          <p:nvPr>
            <p:ph type="sldNum" sz="quarter" idx="12"/>
          </p:nvPr>
        </p:nvSpPr>
        <p:spPr/>
        <p:txBody>
          <a:bodyPr/>
          <a:lstStyle/>
          <a:p>
            <a:fld id="{0FF54DE5-C571-48E8-A5BC-B369434E2F44}" type="slidenum">
              <a:rPr lang="en-US" altLang="zh-CN" smtClean="0"/>
              <a:pPr/>
              <a:t>76</a:t>
            </a:fld>
            <a:endParaRPr lang="zh-CN" altLang="en-US" dirty="0"/>
          </a:p>
        </p:txBody>
      </p:sp>
    </p:spTree>
    <p:extLst>
      <p:ext uri="{BB962C8B-B14F-4D97-AF65-F5344CB8AC3E}">
        <p14:creationId xmlns:p14="http://schemas.microsoft.com/office/powerpoint/2010/main" val="179350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1" name="表格 10"/>
              <p:cNvGraphicFramePr>
                <a:graphicFrameLocks noGrp="1"/>
              </p:cNvGraphicFramePr>
              <p:nvPr>
                <p:extLst>
                  <p:ext uri="{D42A27DB-BD31-4B8C-83A1-F6EECF244321}">
                    <p14:modId xmlns:p14="http://schemas.microsoft.com/office/powerpoint/2010/main" val="128812120"/>
                  </p:ext>
                </p:extLst>
              </p:nvPr>
            </p:nvGraphicFramePr>
            <p:xfrm>
              <a:off x="2886333" y="2816352"/>
              <a:ext cx="6417816" cy="3151630"/>
            </p:xfrm>
            <a:graphic>
              <a:graphicData uri="http://schemas.openxmlformats.org/drawingml/2006/table">
                <a:tbl>
                  <a:tblPr firstRow="1" bandRow="1">
                    <a:tableStyleId>{5C22544A-7EE6-4342-B048-85BDC9FD1C3A}</a:tableStyleId>
                  </a:tblPr>
                  <a:tblGrid>
                    <a:gridCol w="1604454">
                      <a:extLst>
                        <a:ext uri="{9D8B030D-6E8A-4147-A177-3AD203B41FA5}">
                          <a16:colId xmlns:a16="http://schemas.microsoft.com/office/drawing/2014/main" val="20000"/>
                        </a:ext>
                      </a:extLst>
                    </a:gridCol>
                    <a:gridCol w="1604454">
                      <a:extLst>
                        <a:ext uri="{9D8B030D-6E8A-4147-A177-3AD203B41FA5}">
                          <a16:colId xmlns:a16="http://schemas.microsoft.com/office/drawing/2014/main" val="20001"/>
                        </a:ext>
                      </a:extLst>
                    </a:gridCol>
                    <a:gridCol w="1604454">
                      <a:extLst>
                        <a:ext uri="{9D8B030D-6E8A-4147-A177-3AD203B41FA5}">
                          <a16:colId xmlns:a16="http://schemas.microsoft.com/office/drawing/2014/main" val="20002"/>
                        </a:ext>
                      </a:extLst>
                    </a:gridCol>
                    <a:gridCol w="1604454">
                      <a:extLst>
                        <a:ext uri="{9D8B030D-6E8A-4147-A177-3AD203B41FA5}">
                          <a16:colId xmlns:a16="http://schemas.microsoft.com/office/drawing/2014/main" val="20003"/>
                        </a:ext>
                      </a:extLst>
                    </a:gridCol>
                  </a:tblGrid>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𝑎</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𝑏</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𝑥</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𝑦</m:t>
                                </m:r>
                              </m:oMath>
                            </m:oMathPara>
                          </a14:m>
                          <a:endParaRPr lang="zh-CN" altLang="en-US" sz="2000" dirty="0"/>
                        </a:p>
                      </a:txBody>
                      <a:tcPr anchor="ctr"/>
                    </a:tc>
                    <a:extLst>
                      <a:ext uri="{0D108BD9-81ED-4DB2-BD59-A6C34878D82A}">
                        <a16:rowId xmlns:a16="http://schemas.microsoft.com/office/drawing/2014/main" val="10000"/>
                      </a:ext>
                    </a:extLst>
                  </a:tr>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15</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9</m:t>
                                </m:r>
                              </m:oMath>
                            </m:oMathPara>
                          </a14:m>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extLst>
                      <a:ext uri="{0D108BD9-81ED-4DB2-BD59-A6C34878D82A}">
                        <a16:rowId xmlns:a16="http://schemas.microsoft.com/office/drawing/2014/main" val="10001"/>
                      </a:ext>
                    </a:extLst>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extLst>
                      <a:ext uri="{0D108BD9-81ED-4DB2-BD59-A6C34878D82A}">
                        <a16:rowId xmlns:a16="http://schemas.microsoft.com/office/drawing/2014/main" val="10002"/>
                      </a:ext>
                    </a:extLst>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extLst>
                      <a:ext uri="{0D108BD9-81ED-4DB2-BD59-A6C34878D82A}">
                        <a16:rowId xmlns:a16="http://schemas.microsoft.com/office/drawing/2014/main" val="10003"/>
                      </a:ext>
                    </a:extLst>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extLst>
                      <a:ext uri="{0D108BD9-81ED-4DB2-BD59-A6C34878D82A}">
                        <a16:rowId xmlns:a16="http://schemas.microsoft.com/office/drawing/2014/main" val="10004"/>
                      </a:ext>
                    </a:extLst>
                  </a:tr>
                </a:tbl>
              </a:graphicData>
            </a:graphic>
          </p:graphicFrame>
        </mc:Choice>
        <mc:Fallback xmlns="">
          <p:graphicFrame>
            <p:nvGraphicFramePr>
              <p:cNvPr id="11" name="表格 10"/>
              <p:cNvGraphicFramePr>
                <a:graphicFrameLocks noGrp="1"/>
              </p:cNvGraphicFramePr>
              <p:nvPr>
                <p:extLst>
                  <p:ext uri="{D42A27DB-BD31-4B8C-83A1-F6EECF244321}">
                    <p14:modId xmlns:p14="http://schemas.microsoft.com/office/powerpoint/2010/main" val="128812120"/>
                  </p:ext>
                </p:extLst>
              </p:nvPr>
            </p:nvGraphicFramePr>
            <p:xfrm>
              <a:off x="2886333" y="2816352"/>
              <a:ext cx="6417816" cy="3151630"/>
            </p:xfrm>
            <a:graphic>
              <a:graphicData uri="http://schemas.openxmlformats.org/drawingml/2006/table">
                <a:tbl>
                  <a:tblPr firstRow="1" bandRow="1">
                    <a:tableStyleId>{5C22544A-7EE6-4342-B048-85BDC9FD1C3A}</a:tableStyleId>
                  </a:tblPr>
                  <a:tblGrid>
                    <a:gridCol w="1604454"/>
                    <a:gridCol w="1604454"/>
                    <a:gridCol w="1604454"/>
                    <a:gridCol w="1604454"/>
                  </a:tblGrid>
                  <a:tr h="630326">
                    <a:tc>
                      <a:txBody>
                        <a:bodyPr/>
                        <a:lstStyle/>
                        <a:p>
                          <a:endParaRPr lang="zh-CN"/>
                        </a:p>
                      </a:txBody>
                      <a:tcPr anchor="ctr">
                        <a:blipFill rotWithShape="0">
                          <a:blip r:embed="rId2"/>
                          <a:stretch>
                            <a:fillRect l="-379" t="-1942" r="-300758" b="-404854"/>
                          </a:stretch>
                        </a:blipFill>
                      </a:tcPr>
                    </a:tc>
                    <a:tc>
                      <a:txBody>
                        <a:bodyPr/>
                        <a:lstStyle/>
                        <a:p>
                          <a:endParaRPr lang="zh-CN"/>
                        </a:p>
                      </a:txBody>
                      <a:tcPr anchor="ctr">
                        <a:blipFill rotWithShape="0">
                          <a:blip r:embed="rId2"/>
                          <a:stretch>
                            <a:fillRect l="-100760" t="-1942" r="-201901" b="-404854"/>
                          </a:stretch>
                        </a:blipFill>
                      </a:tcPr>
                    </a:tc>
                    <a:tc>
                      <a:txBody>
                        <a:bodyPr/>
                        <a:lstStyle/>
                        <a:p>
                          <a:endParaRPr lang="zh-CN"/>
                        </a:p>
                      </a:txBody>
                      <a:tcPr anchor="ctr">
                        <a:blipFill rotWithShape="0">
                          <a:blip r:embed="rId2"/>
                          <a:stretch>
                            <a:fillRect l="-200000" t="-1942" r="-101136" b="-404854"/>
                          </a:stretch>
                        </a:blipFill>
                      </a:tcPr>
                    </a:tc>
                    <a:tc>
                      <a:txBody>
                        <a:bodyPr/>
                        <a:lstStyle/>
                        <a:p>
                          <a:endParaRPr lang="zh-CN"/>
                        </a:p>
                      </a:txBody>
                      <a:tcPr anchor="ctr">
                        <a:blipFill rotWithShape="0">
                          <a:blip r:embed="rId2"/>
                          <a:stretch>
                            <a:fillRect l="-301141" t="-1942" r="-1521" b="-404854"/>
                          </a:stretch>
                        </a:blipFill>
                      </a:tcPr>
                    </a:tc>
                  </a:tr>
                  <a:tr h="630326">
                    <a:tc>
                      <a:txBody>
                        <a:bodyPr/>
                        <a:lstStyle/>
                        <a:p>
                          <a:endParaRPr lang="zh-CN"/>
                        </a:p>
                      </a:txBody>
                      <a:tcPr anchor="ctr">
                        <a:blipFill rotWithShape="0">
                          <a:blip r:embed="rId2"/>
                          <a:stretch>
                            <a:fillRect l="-379" t="-100962" r="-300758" b="-300962"/>
                          </a:stretch>
                        </a:blipFill>
                      </a:tcPr>
                    </a:tc>
                    <a:tc>
                      <a:txBody>
                        <a:bodyPr/>
                        <a:lstStyle/>
                        <a:p>
                          <a:endParaRPr lang="zh-CN"/>
                        </a:p>
                      </a:txBody>
                      <a:tcPr anchor="ctr">
                        <a:blipFill rotWithShape="0">
                          <a:blip r:embed="rId2"/>
                          <a:stretch>
                            <a:fillRect l="-100760" t="-100962" r="-201901" b="-300962"/>
                          </a:stretch>
                        </a:blipFill>
                      </a:tcPr>
                    </a:tc>
                    <a:tc>
                      <a:txBody>
                        <a:bodyPr/>
                        <a:lstStyle/>
                        <a:p>
                          <a:pPr algn="ctr"/>
                          <a:endParaRPr lang="zh-CN" altLang="en-US" sz="2000" dirty="0"/>
                        </a:p>
                      </a:txBody>
                      <a:tcPr anchor="ctr"/>
                    </a:tc>
                    <a:tc>
                      <a:txBody>
                        <a:bodyPr/>
                        <a:lstStyle/>
                        <a:p>
                          <a:pPr algn="ctr"/>
                          <a:endParaRPr lang="zh-CN" altLang="en-US" sz="2000" dirty="0"/>
                        </a:p>
                      </a:txBody>
                      <a:tcPr anchor="ctr"/>
                    </a:tc>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r>
                  <a:tr h="630326">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c>
                      <a:txBody>
                        <a:bodyPr/>
                        <a:lstStyle/>
                        <a:p>
                          <a:pPr algn="ctr"/>
                          <a:endParaRPr lang="zh-CN" altLang="en-US" sz="2000" dirty="0"/>
                        </a:p>
                      </a:txBody>
                      <a:tcPr anchor="ctr"/>
                    </a:tc>
                  </a:tr>
                </a:tbl>
              </a:graphicData>
            </a:graphic>
          </p:graphicFrame>
        </mc:Fallback>
      </mc:AlternateContent>
      <p:sp>
        <p:nvSpPr>
          <p:cNvPr id="16385" name="标题 1"/>
          <p:cNvSpPr>
            <a:spLocks noGrp="1" noChangeArrowheads="1"/>
          </p:cNvSpPr>
          <p:nvPr>
            <p:ph type="title"/>
          </p:nvPr>
        </p:nvSpPr>
        <p:spPr/>
        <p:txBody>
          <a:bodyPr/>
          <a:lstStyle/>
          <a:p>
            <a:r>
              <a:rPr lang="zh-CN" altLang="en-US" dirty="0"/>
              <a:t>扩展欧几里得算法</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600200"/>
                <a:ext cx="9982200" cy="1216152"/>
              </a:xfrm>
            </p:spPr>
            <p:txBody>
              <a:bodyPr>
                <a:normAutofit/>
              </a:bodyPr>
              <a:lstStyle/>
              <a:p>
                <a:pPr indent="266700" algn="just">
                  <a:spcAft>
                    <a:spcPts val="0"/>
                  </a:spcAft>
                </a:pPr>
                <a:r>
                  <a:rPr lang="zh-CN" altLang="zh-CN" kern="100" dirty="0">
                    <a:cs typeface="Times New Roman" panose="02020603050405020304" pitchFamily="18" charset="0"/>
                  </a:rPr>
                  <a:t>举例：</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15</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+9</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𝑦</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=3</m:t>
                    </m:r>
                  </m:oMath>
                </a14:m>
                <a:r>
                  <a:rPr lang="zh-CN" altLang="zh-CN" kern="100" dirty="0">
                    <a:effectLst/>
                    <a:cs typeface="Times New Roman" panose="02020603050405020304" pitchFamily="18" charset="0"/>
                  </a:rPr>
                  <a:t>，</a:t>
                </a:r>
                <a:r>
                  <a:rPr lang="zh-CN" altLang="zh-CN" dirty="0"/>
                  <a:t>根据</a:t>
                </a:r>
                <a:r>
                  <a:rPr lang="en-US" altLang="zh-CN"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d>
                      <m:dPr>
                        <m:begChr m:val="⌊"/>
                        <m:endChr m:val="⌋"/>
                        <m:ctrlPr>
                          <a:rPr lang="en-US" altLang="zh-Hans" i="1" dirty="0">
                            <a:latin typeface="Cambria Math" panose="02040503050406030204" pitchFamily="18" charset="0"/>
                          </a:rPr>
                        </m:ctrlPr>
                      </m:dPr>
                      <m:e>
                        <m:f>
                          <m:fPr>
                            <m:ctrlPr>
                              <a:rPr lang="en-US" altLang="zh-Hans" i="1" dirty="0">
                                <a:latin typeface="Cambria Math" panose="02040503050406030204" pitchFamily="18" charset="0"/>
                              </a:rPr>
                            </m:ctrlPr>
                          </m:fPr>
                          <m:num>
                            <m:r>
                              <a:rPr lang="en-US" altLang="zh-Hans" i="1" dirty="0">
                                <a:latin typeface="Cambria Math" panose="02040503050406030204" pitchFamily="18" charset="0"/>
                              </a:rPr>
                              <m:t>𝑎</m:t>
                            </m:r>
                          </m:num>
                          <m:den>
                            <m:r>
                              <a:rPr lang="en-US" altLang="zh-Hans" i="1" dirty="0">
                                <a:latin typeface="Cambria Math" panose="02040503050406030204" pitchFamily="18" charset="0"/>
                              </a:rPr>
                              <m:t>𝑏</m:t>
                            </m:r>
                          </m:den>
                        </m:f>
                      </m:e>
                    </m:d>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zh-CN" dirty="0"/>
                  <a:t>，</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𝑦</m:t>
                    </m:r>
                  </m:oMath>
                </a14:m>
                <a:r>
                  <a:rPr lang="zh-CN" altLang="zh-CN" kern="100" dirty="0">
                    <a:effectLst/>
                    <a:cs typeface="Times New Roman" panose="02020603050405020304" pitchFamily="18" charset="0"/>
                  </a:rPr>
                  <a:t>在不同时刻的值如下所示：</a:t>
                </a:r>
                <a:endParaRPr lang="en-US" altLang="zh-CN" kern="100" dirty="0">
                  <a:effectLst/>
                  <a:cs typeface="Times New Roman" panose="02020603050405020304" pitchFamily="18" charset="0"/>
                </a:endParaRPr>
              </a:p>
              <a:p>
                <a:pPr indent="266700" algn="just">
                  <a:spcAft>
                    <a:spcPts val="0"/>
                  </a:spcAft>
                </a:pPr>
                <a:endParaRPr lang="zh-CN" altLang="zh-CN" kern="100" dirty="0">
                  <a:effectLst/>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1216152"/>
              </a:xfrm>
              <a:blipFill>
                <a:blip r:embed="rId3"/>
                <a:stretch>
                  <a:fillRect r="-40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2520716858"/>
                  </p:ext>
                </p:extLst>
              </p:nvPr>
            </p:nvGraphicFramePr>
            <p:xfrm>
              <a:off x="2886333" y="2816352"/>
              <a:ext cx="6417816" cy="3151630"/>
            </p:xfrm>
            <a:graphic>
              <a:graphicData uri="http://schemas.openxmlformats.org/drawingml/2006/table">
                <a:tbl>
                  <a:tblPr firstRow="1" bandRow="1">
                    <a:tableStyleId>{5C22544A-7EE6-4342-B048-85BDC9FD1C3A}</a:tableStyleId>
                  </a:tblPr>
                  <a:tblGrid>
                    <a:gridCol w="1604454">
                      <a:extLst>
                        <a:ext uri="{9D8B030D-6E8A-4147-A177-3AD203B41FA5}">
                          <a16:colId xmlns:a16="http://schemas.microsoft.com/office/drawing/2014/main" val="20000"/>
                        </a:ext>
                      </a:extLst>
                    </a:gridCol>
                    <a:gridCol w="1604454">
                      <a:extLst>
                        <a:ext uri="{9D8B030D-6E8A-4147-A177-3AD203B41FA5}">
                          <a16:colId xmlns:a16="http://schemas.microsoft.com/office/drawing/2014/main" val="20001"/>
                        </a:ext>
                      </a:extLst>
                    </a:gridCol>
                    <a:gridCol w="1604454">
                      <a:extLst>
                        <a:ext uri="{9D8B030D-6E8A-4147-A177-3AD203B41FA5}">
                          <a16:colId xmlns:a16="http://schemas.microsoft.com/office/drawing/2014/main" val="20002"/>
                        </a:ext>
                      </a:extLst>
                    </a:gridCol>
                    <a:gridCol w="1604454">
                      <a:extLst>
                        <a:ext uri="{9D8B030D-6E8A-4147-A177-3AD203B41FA5}">
                          <a16:colId xmlns:a16="http://schemas.microsoft.com/office/drawing/2014/main" val="20003"/>
                        </a:ext>
                      </a:extLst>
                    </a:gridCol>
                  </a:tblGrid>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𝑎</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𝑏</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𝑥</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𝑦</m:t>
                                </m:r>
                              </m:oMath>
                            </m:oMathPara>
                          </a14:m>
                          <a:endParaRPr lang="zh-CN" altLang="en-US" sz="2000" dirty="0"/>
                        </a:p>
                      </a:txBody>
                      <a:tcPr anchor="ctr"/>
                    </a:tc>
                    <a:extLst>
                      <a:ext uri="{0D108BD9-81ED-4DB2-BD59-A6C34878D82A}">
                        <a16:rowId xmlns:a16="http://schemas.microsoft.com/office/drawing/2014/main" val="10000"/>
                      </a:ext>
                    </a:extLst>
                  </a:tr>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15</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9</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2</m:t>
                                </m:r>
                              </m:oMath>
                            </m:oMathPara>
                          </a14:m>
                          <a:endParaRPr lang="zh-CN" altLang="en-US" sz="2000" dirty="0"/>
                        </a:p>
                      </a:txBody>
                      <a:tcPr anchor="ctr"/>
                    </a:tc>
                    <a:extLst>
                      <a:ext uri="{0D108BD9-81ED-4DB2-BD59-A6C34878D82A}">
                        <a16:rowId xmlns:a16="http://schemas.microsoft.com/office/drawing/2014/main" val="10001"/>
                      </a:ext>
                    </a:extLst>
                  </a:tr>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9</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6</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Hans" sz="2000" b="0" i="1" smtClean="0">
                                    <a:latin typeface="Cambria Math" panose="02040503050406030204" pitchFamily="18" charset="0"/>
                                  </a:rPr>
                                  <m:t>−1</m:t>
                                </m:r>
                              </m:oMath>
                            </m:oMathPara>
                          </a14:m>
                          <a:endParaRPr lang="zh-CN" altLang="en-US" sz="2000" dirty="0"/>
                        </a:p>
                      </a:txBody>
                      <a:tcPr anchor="ctr"/>
                    </a:tc>
                    <a:extLst>
                      <a:ext uri="{0D108BD9-81ED-4DB2-BD59-A6C34878D82A}">
                        <a16:rowId xmlns:a16="http://schemas.microsoft.com/office/drawing/2014/main" val="10002"/>
                      </a:ext>
                    </a:extLst>
                  </a:tr>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6</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3</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0</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m:t>
                                </m:r>
                              </m:oMath>
                            </m:oMathPara>
                          </a14:m>
                          <a:endParaRPr lang="zh-CN" altLang="en-US" sz="2000" dirty="0"/>
                        </a:p>
                      </a:txBody>
                      <a:tcPr anchor="ctr"/>
                    </a:tc>
                    <a:extLst>
                      <a:ext uri="{0D108BD9-81ED-4DB2-BD59-A6C34878D82A}">
                        <a16:rowId xmlns:a16="http://schemas.microsoft.com/office/drawing/2014/main" val="10003"/>
                      </a:ext>
                    </a:extLst>
                  </a:tr>
                  <a:tr h="630326">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3</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0</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1</m:t>
                                </m:r>
                              </m:oMath>
                            </m:oMathPara>
                          </a14:m>
                          <a:endParaRPr lang="zh-CN" altLang="en-US" sz="2000" dirty="0"/>
                        </a:p>
                      </a:txBody>
                      <a:tcPr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0</m:t>
                                </m:r>
                              </m:oMath>
                            </m:oMathPara>
                          </a14:m>
                          <a:endParaRPr lang="zh-CN" altLang="en-US" sz="2000" dirty="0"/>
                        </a:p>
                      </a:txBody>
                      <a:tcPr anchor="ctr"/>
                    </a:tc>
                    <a:extLst>
                      <a:ext uri="{0D108BD9-81ED-4DB2-BD59-A6C34878D82A}">
                        <a16:rowId xmlns:a16="http://schemas.microsoft.com/office/drawing/2014/main" val="10004"/>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2520716858"/>
                  </p:ext>
                </p:extLst>
              </p:nvPr>
            </p:nvGraphicFramePr>
            <p:xfrm>
              <a:off x="2886333" y="2816352"/>
              <a:ext cx="6417816" cy="3151630"/>
            </p:xfrm>
            <a:graphic>
              <a:graphicData uri="http://schemas.openxmlformats.org/drawingml/2006/table">
                <a:tbl>
                  <a:tblPr firstRow="1" bandRow="1">
                    <a:tableStyleId>{5C22544A-7EE6-4342-B048-85BDC9FD1C3A}</a:tableStyleId>
                  </a:tblPr>
                  <a:tblGrid>
                    <a:gridCol w="1604454">
                      <a:extLst>
                        <a:ext uri="{9D8B030D-6E8A-4147-A177-3AD203B41FA5}">
                          <a16:colId xmlns:a16="http://schemas.microsoft.com/office/drawing/2014/main" val="20000"/>
                        </a:ext>
                      </a:extLst>
                    </a:gridCol>
                    <a:gridCol w="1604454">
                      <a:extLst>
                        <a:ext uri="{9D8B030D-6E8A-4147-A177-3AD203B41FA5}">
                          <a16:colId xmlns:a16="http://schemas.microsoft.com/office/drawing/2014/main" val="20001"/>
                        </a:ext>
                      </a:extLst>
                    </a:gridCol>
                    <a:gridCol w="1604454">
                      <a:extLst>
                        <a:ext uri="{9D8B030D-6E8A-4147-A177-3AD203B41FA5}">
                          <a16:colId xmlns:a16="http://schemas.microsoft.com/office/drawing/2014/main" val="20002"/>
                        </a:ext>
                      </a:extLst>
                    </a:gridCol>
                    <a:gridCol w="1604454">
                      <a:extLst>
                        <a:ext uri="{9D8B030D-6E8A-4147-A177-3AD203B41FA5}">
                          <a16:colId xmlns:a16="http://schemas.microsoft.com/office/drawing/2014/main" val="20003"/>
                        </a:ext>
                      </a:extLst>
                    </a:gridCol>
                  </a:tblGrid>
                  <a:tr h="630326">
                    <a:tc>
                      <a:txBody>
                        <a:bodyPr/>
                        <a:lstStyle/>
                        <a:p>
                          <a:endParaRPr lang="zh-CN"/>
                        </a:p>
                      </a:txBody>
                      <a:tcPr anchor="ctr">
                        <a:blipFill>
                          <a:blip r:embed="rId4"/>
                          <a:stretch>
                            <a:fillRect l="-787" t="-2000" r="-299213" b="-400000"/>
                          </a:stretch>
                        </a:blipFill>
                      </a:tcPr>
                    </a:tc>
                    <a:tc>
                      <a:txBody>
                        <a:bodyPr/>
                        <a:lstStyle/>
                        <a:p>
                          <a:endParaRPr lang="zh-CN"/>
                        </a:p>
                      </a:txBody>
                      <a:tcPr anchor="ctr">
                        <a:blipFill>
                          <a:blip r:embed="rId4"/>
                          <a:stretch>
                            <a:fillRect l="-101587" t="-2000" r="-201587" b="-400000"/>
                          </a:stretch>
                        </a:blipFill>
                      </a:tcPr>
                    </a:tc>
                    <a:tc>
                      <a:txBody>
                        <a:bodyPr/>
                        <a:lstStyle/>
                        <a:p>
                          <a:endParaRPr lang="zh-CN"/>
                        </a:p>
                      </a:txBody>
                      <a:tcPr anchor="ctr">
                        <a:blipFill>
                          <a:blip r:embed="rId4"/>
                          <a:stretch>
                            <a:fillRect l="-200000" t="-2000" r="-100000" b="-400000"/>
                          </a:stretch>
                        </a:blipFill>
                      </a:tcPr>
                    </a:tc>
                    <a:tc>
                      <a:txBody>
                        <a:bodyPr/>
                        <a:lstStyle/>
                        <a:p>
                          <a:endParaRPr lang="zh-CN"/>
                        </a:p>
                      </a:txBody>
                      <a:tcPr anchor="ctr">
                        <a:blipFill>
                          <a:blip r:embed="rId4"/>
                          <a:stretch>
                            <a:fillRect l="-302381" t="-2000" r="-794" b="-400000"/>
                          </a:stretch>
                        </a:blipFill>
                      </a:tcPr>
                    </a:tc>
                    <a:extLst>
                      <a:ext uri="{0D108BD9-81ED-4DB2-BD59-A6C34878D82A}">
                        <a16:rowId xmlns:a16="http://schemas.microsoft.com/office/drawing/2014/main" val="10000"/>
                      </a:ext>
                    </a:extLst>
                  </a:tr>
                  <a:tr h="630326">
                    <a:tc>
                      <a:txBody>
                        <a:bodyPr/>
                        <a:lstStyle/>
                        <a:p>
                          <a:endParaRPr lang="zh-CN"/>
                        </a:p>
                      </a:txBody>
                      <a:tcPr anchor="ctr">
                        <a:blipFill>
                          <a:blip r:embed="rId4"/>
                          <a:stretch>
                            <a:fillRect l="-787" t="-102000" r="-299213" b="-300000"/>
                          </a:stretch>
                        </a:blipFill>
                      </a:tcPr>
                    </a:tc>
                    <a:tc>
                      <a:txBody>
                        <a:bodyPr/>
                        <a:lstStyle/>
                        <a:p>
                          <a:endParaRPr lang="zh-CN"/>
                        </a:p>
                      </a:txBody>
                      <a:tcPr anchor="ctr">
                        <a:blipFill>
                          <a:blip r:embed="rId4"/>
                          <a:stretch>
                            <a:fillRect l="-101587" t="-102000" r="-201587" b="-300000"/>
                          </a:stretch>
                        </a:blipFill>
                      </a:tcPr>
                    </a:tc>
                    <a:tc>
                      <a:txBody>
                        <a:bodyPr/>
                        <a:lstStyle/>
                        <a:p>
                          <a:endParaRPr lang="zh-CN"/>
                        </a:p>
                      </a:txBody>
                      <a:tcPr anchor="ctr">
                        <a:blipFill>
                          <a:blip r:embed="rId4"/>
                          <a:stretch>
                            <a:fillRect l="-200000" t="-102000" r="-100000" b="-300000"/>
                          </a:stretch>
                        </a:blipFill>
                      </a:tcPr>
                    </a:tc>
                    <a:tc>
                      <a:txBody>
                        <a:bodyPr/>
                        <a:lstStyle/>
                        <a:p>
                          <a:endParaRPr lang="zh-CN"/>
                        </a:p>
                      </a:txBody>
                      <a:tcPr anchor="ctr">
                        <a:blipFill>
                          <a:blip r:embed="rId4"/>
                          <a:stretch>
                            <a:fillRect l="-302381" t="-102000" r="-794" b="-300000"/>
                          </a:stretch>
                        </a:blipFill>
                      </a:tcPr>
                    </a:tc>
                    <a:extLst>
                      <a:ext uri="{0D108BD9-81ED-4DB2-BD59-A6C34878D82A}">
                        <a16:rowId xmlns:a16="http://schemas.microsoft.com/office/drawing/2014/main" val="10001"/>
                      </a:ext>
                    </a:extLst>
                  </a:tr>
                  <a:tr h="630326">
                    <a:tc>
                      <a:txBody>
                        <a:bodyPr/>
                        <a:lstStyle/>
                        <a:p>
                          <a:endParaRPr lang="zh-CN"/>
                        </a:p>
                      </a:txBody>
                      <a:tcPr anchor="ctr">
                        <a:blipFill>
                          <a:blip r:embed="rId4"/>
                          <a:stretch>
                            <a:fillRect l="-787" t="-206122" r="-299213" b="-206122"/>
                          </a:stretch>
                        </a:blipFill>
                      </a:tcPr>
                    </a:tc>
                    <a:tc>
                      <a:txBody>
                        <a:bodyPr/>
                        <a:lstStyle/>
                        <a:p>
                          <a:endParaRPr lang="zh-CN"/>
                        </a:p>
                      </a:txBody>
                      <a:tcPr anchor="ctr">
                        <a:blipFill>
                          <a:blip r:embed="rId4"/>
                          <a:stretch>
                            <a:fillRect l="-101587" t="-206122" r="-201587" b="-206122"/>
                          </a:stretch>
                        </a:blipFill>
                      </a:tcPr>
                    </a:tc>
                    <a:tc>
                      <a:txBody>
                        <a:bodyPr/>
                        <a:lstStyle/>
                        <a:p>
                          <a:endParaRPr lang="zh-CN"/>
                        </a:p>
                      </a:txBody>
                      <a:tcPr anchor="ctr">
                        <a:blipFill>
                          <a:blip r:embed="rId4"/>
                          <a:stretch>
                            <a:fillRect l="-200000" t="-206122" r="-100000" b="-206122"/>
                          </a:stretch>
                        </a:blipFill>
                      </a:tcPr>
                    </a:tc>
                    <a:tc>
                      <a:txBody>
                        <a:bodyPr/>
                        <a:lstStyle/>
                        <a:p>
                          <a:endParaRPr lang="zh-CN"/>
                        </a:p>
                      </a:txBody>
                      <a:tcPr anchor="ctr">
                        <a:blipFill>
                          <a:blip r:embed="rId4"/>
                          <a:stretch>
                            <a:fillRect l="-302381" t="-206122" r="-794" b="-206122"/>
                          </a:stretch>
                        </a:blipFill>
                      </a:tcPr>
                    </a:tc>
                    <a:extLst>
                      <a:ext uri="{0D108BD9-81ED-4DB2-BD59-A6C34878D82A}">
                        <a16:rowId xmlns:a16="http://schemas.microsoft.com/office/drawing/2014/main" val="10002"/>
                      </a:ext>
                    </a:extLst>
                  </a:tr>
                  <a:tr h="630326">
                    <a:tc>
                      <a:txBody>
                        <a:bodyPr/>
                        <a:lstStyle/>
                        <a:p>
                          <a:endParaRPr lang="zh-CN"/>
                        </a:p>
                      </a:txBody>
                      <a:tcPr anchor="ctr">
                        <a:blipFill>
                          <a:blip r:embed="rId4"/>
                          <a:stretch>
                            <a:fillRect l="-787" t="-300000" r="-299213" b="-102000"/>
                          </a:stretch>
                        </a:blipFill>
                      </a:tcPr>
                    </a:tc>
                    <a:tc>
                      <a:txBody>
                        <a:bodyPr/>
                        <a:lstStyle/>
                        <a:p>
                          <a:endParaRPr lang="zh-CN"/>
                        </a:p>
                      </a:txBody>
                      <a:tcPr anchor="ctr">
                        <a:blipFill>
                          <a:blip r:embed="rId4"/>
                          <a:stretch>
                            <a:fillRect l="-101587" t="-300000" r="-201587" b="-102000"/>
                          </a:stretch>
                        </a:blipFill>
                      </a:tcPr>
                    </a:tc>
                    <a:tc>
                      <a:txBody>
                        <a:bodyPr/>
                        <a:lstStyle/>
                        <a:p>
                          <a:endParaRPr lang="zh-CN"/>
                        </a:p>
                      </a:txBody>
                      <a:tcPr anchor="ctr">
                        <a:blipFill>
                          <a:blip r:embed="rId4"/>
                          <a:stretch>
                            <a:fillRect l="-200000" t="-300000" r="-100000" b="-102000"/>
                          </a:stretch>
                        </a:blipFill>
                      </a:tcPr>
                    </a:tc>
                    <a:tc>
                      <a:txBody>
                        <a:bodyPr/>
                        <a:lstStyle/>
                        <a:p>
                          <a:endParaRPr lang="zh-CN"/>
                        </a:p>
                      </a:txBody>
                      <a:tcPr anchor="ctr">
                        <a:blipFill>
                          <a:blip r:embed="rId4"/>
                          <a:stretch>
                            <a:fillRect l="-302381" t="-300000" r="-794" b="-102000"/>
                          </a:stretch>
                        </a:blipFill>
                      </a:tcPr>
                    </a:tc>
                    <a:extLst>
                      <a:ext uri="{0D108BD9-81ED-4DB2-BD59-A6C34878D82A}">
                        <a16:rowId xmlns:a16="http://schemas.microsoft.com/office/drawing/2014/main" val="10003"/>
                      </a:ext>
                    </a:extLst>
                  </a:tr>
                  <a:tr h="630326">
                    <a:tc>
                      <a:txBody>
                        <a:bodyPr/>
                        <a:lstStyle/>
                        <a:p>
                          <a:endParaRPr lang="zh-CN"/>
                        </a:p>
                      </a:txBody>
                      <a:tcPr anchor="ctr">
                        <a:blipFill>
                          <a:blip r:embed="rId4"/>
                          <a:stretch>
                            <a:fillRect l="-787" t="-400000" r="-299213" b="-2000"/>
                          </a:stretch>
                        </a:blipFill>
                      </a:tcPr>
                    </a:tc>
                    <a:tc>
                      <a:txBody>
                        <a:bodyPr/>
                        <a:lstStyle/>
                        <a:p>
                          <a:endParaRPr lang="zh-CN"/>
                        </a:p>
                      </a:txBody>
                      <a:tcPr anchor="ctr">
                        <a:blipFill>
                          <a:blip r:embed="rId4"/>
                          <a:stretch>
                            <a:fillRect l="-101587" t="-400000" r="-201587" b="-2000"/>
                          </a:stretch>
                        </a:blipFill>
                      </a:tcPr>
                    </a:tc>
                    <a:tc>
                      <a:txBody>
                        <a:bodyPr/>
                        <a:lstStyle/>
                        <a:p>
                          <a:endParaRPr lang="zh-CN"/>
                        </a:p>
                      </a:txBody>
                      <a:tcPr anchor="ctr">
                        <a:blipFill>
                          <a:blip r:embed="rId4"/>
                          <a:stretch>
                            <a:fillRect l="-200000" t="-400000" r="-100000" b="-2000"/>
                          </a:stretch>
                        </a:blipFill>
                      </a:tcPr>
                    </a:tc>
                    <a:tc>
                      <a:txBody>
                        <a:bodyPr/>
                        <a:lstStyle/>
                        <a:p>
                          <a:endParaRPr lang="zh-CN"/>
                        </a:p>
                      </a:txBody>
                      <a:tcPr anchor="ctr">
                        <a:blipFill>
                          <a:blip r:embed="rId4"/>
                          <a:stretch>
                            <a:fillRect l="-302381" t="-400000" r="-794" b="-2000"/>
                          </a:stretch>
                        </a:blipFill>
                      </a:tcPr>
                    </a:tc>
                    <a:extLst>
                      <a:ext uri="{0D108BD9-81ED-4DB2-BD59-A6C34878D82A}">
                        <a16:rowId xmlns:a16="http://schemas.microsoft.com/office/drawing/2014/main" val="10004"/>
                      </a:ext>
                    </a:extLst>
                  </a:tr>
                </a:tbl>
              </a:graphicData>
            </a:graphic>
          </p:graphicFrame>
        </mc:Fallback>
      </mc:AlternateContent>
      <p:grpSp>
        <p:nvGrpSpPr>
          <p:cNvPr id="5" name="组合 4"/>
          <p:cNvGrpSpPr>
            <a:grpSpLocks/>
          </p:cNvGrpSpPr>
          <p:nvPr/>
        </p:nvGrpSpPr>
        <p:grpSpPr bwMode="auto">
          <a:xfrm>
            <a:off x="3593656" y="3644131"/>
            <a:ext cx="2032761" cy="3105846"/>
            <a:chOff x="3490" y="4460"/>
            <a:chExt cx="2535" cy="4890"/>
          </a:xfrm>
        </p:grpSpPr>
        <p:sp>
          <p:nvSpPr>
            <p:cNvPr id="6" name="下箭头 5"/>
            <p:cNvSpPr/>
            <p:nvPr/>
          </p:nvSpPr>
          <p:spPr>
            <a:xfrm>
              <a:off x="4380" y="4460"/>
              <a:ext cx="437" cy="3572"/>
            </a:xfrm>
            <a:prstGeom prst="down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mc:AlternateContent xmlns:mc="http://schemas.openxmlformats.org/markup-compatibility/2006" xmlns:a14="http://schemas.microsoft.com/office/drawing/2010/main">
          <mc:Choice Requires="a14">
            <p:sp>
              <p:nvSpPr>
                <p:cNvPr id="7" name="文本框 5"/>
                <p:cNvSpPr txBox="1">
                  <a:spLocks noChangeArrowheads="1"/>
                </p:cNvSpPr>
                <p:nvPr/>
              </p:nvSpPr>
              <p:spPr bwMode="auto">
                <a:xfrm>
                  <a:off x="3490" y="8295"/>
                  <a:ext cx="2535" cy="10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14:m>
                    <m:oMath xmlns:m="http://schemas.openxmlformats.org/officeDocument/2006/math">
                      <m:r>
                        <a:rPr lang="zh-CN" altLang="en-US" sz="2000" i="1" dirty="0" smtClean="0">
                          <a:latin typeface="Cambria Math" panose="02040503050406030204" pitchFamily="18" charset="0"/>
                          <a:ea typeface="新宋体" panose="02010609030101010101" pitchFamily="49" charset="-122"/>
                        </a:rPr>
                        <m:t>(</m:t>
                      </m:r>
                      <m:r>
                        <a:rPr lang="zh-CN" altLang="en-US" sz="2000" i="1" dirty="0" smtClean="0">
                          <a:latin typeface="Cambria Math" panose="02040503050406030204" pitchFamily="18" charset="0"/>
                          <a:ea typeface="新宋体" panose="02010609030101010101" pitchFamily="49" charset="-122"/>
                        </a:rPr>
                        <m:t>𝑎</m:t>
                      </m:r>
                      <m:r>
                        <a:rPr lang="zh-CN" altLang="en-US" sz="2000" i="1" dirty="0" smtClean="0">
                          <a:latin typeface="Cambria Math" panose="02040503050406030204" pitchFamily="18" charset="0"/>
                          <a:ea typeface="新宋体" panose="02010609030101010101" pitchFamily="49" charset="-122"/>
                        </a:rPr>
                        <m:t>,</m:t>
                      </m:r>
                      <m:r>
                        <a:rPr lang="zh-CN" altLang="en-US" sz="2000" i="1" dirty="0" smtClean="0">
                          <a:latin typeface="Cambria Math" panose="02040503050406030204" pitchFamily="18" charset="0"/>
                          <a:ea typeface="新宋体" panose="02010609030101010101" pitchFamily="49" charset="-122"/>
                        </a:rPr>
                        <m:t>𝑏</m:t>
                      </m:r>
                      <m:r>
                        <a:rPr lang="zh-CN" altLang="en-US" sz="2000" i="1" dirty="0" smtClean="0">
                          <a:latin typeface="Cambria Math" panose="02040503050406030204" pitchFamily="18" charset="0"/>
                          <a:ea typeface="新宋体" panose="02010609030101010101" pitchFamily="49" charset="-122"/>
                        </a:rPr>
                        <m:t>)</m:t>
                      </m:r>
                    </m:oMath>
                  </a14:m>
                  <a:r>
                    <a:rPr lang="zh-CN" altLang="en-US" b="1" dirty="0"/>
                    <a:t>自上而下</a:t>
                  </a:r>
                </a:p>
              </p:txBody>
            </p:sp>
          </mc:Choice>
          <mc:Fallback xmlns="">
            <p:sp>
              <p:nvSpPr>
                <p:cNvPr id="7" name="文本框 5"/>
                <p:cNvSpPr txBox="1">
                  <a:spLocks noRot="1" noChangeAspect="1" noMove="1" noResize="1" noEditPoints="1" noAdjustHandles="1" noChangeArrowheads="1" noChangeShapeType="1" noTextEdit="1"/>
                </p:cNvSpPr>
                <p:nvPr/>
              </p:nvSpPr>
              <p:spPr bwMode="auto">
                <a:xfrm>
                  <a:off x="3490" y="8295"/>
                  <a:ext cx="2535" cy="1055"/>
                </a:xfrm>
                <a:prstGeom prst="rect">
                  <a:avLst/>
                </a:prstGeom>
                <a:blipFill rotWithShape="0">
                  <a:blip r:embed="rId5"/>
                  <a:stretch>
                    <a:fillRect l="-1502" t="-90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8" name="组合 2"/>
          <p:cNvGrpSpPr>
            <a:grpSpLocks/>
          </p:cNvGrpSpPr>
          <p:nvPr/>
        </p:nvGrpSpPr>
        <p:grpSpPr bwMode="auto">
          <a:xfrm>
            <a:off x="6902117" y="2396360"/>
            <a:ext cx="1839361" cy="3516499"/>
            <a:chOff x="7016" y="3667"/>
            <a:chExt cx="2535" cy="5177"/>
          </a:xfrm>
        </p:grpSpPr>
        <p:sp>
          <p:nvSpPr>
            <p:cNvPr id="9" name="上箭头 8"/>
            <p:cNvSpPr/>
            <p:nvPr/>
          </p:nvSpPr>
          <p:spPr>
            <a:xfrm>
              <a:off x="7878" y="5430"/>
              <a:ext cx="505" cy="3414"/>
            </a:xfrm>
            <a:prstGeom prst="upArrow">
              <a:avLst/>
            </a:prstGeom>
            <a:gradFill>
              <a:gsLst>
                <a:gs pos="0">
                  <a:srgbClr val="FE4444"/>
                </a:gs>
                <a:gs pos="100000">
                  <a:srgbClr val="832B2B"/>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mc:AlternateContent xmlns:mc="http://schemas.openxmlformats.org/markup-compatibility/2006" xmlns:a14="http://schemas.microsoft.com/office/drawing/2010/main">
          <mc:Choice Requires="a14">
            <p:sp>
              <p:nvSpPr>
                <p:cNvPr id="10" name="文本框 7"/>
                <p:cNvSpPr txBox="1">
                  <a:spLocks noChangeArrowheads="1"/>
                </p:cNvSpPr>
                <p:nvPr/>
              </p:nvSpPr>
              <p:spPr bwMode="auto">
                <a:xfrm>
                  <a:off x="7016" y="3667"/>
                  <a:ext cx="2535" cy="106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14:m>
                    <m:oMath xmlns:m="http://schemas.openxmlformats.org/officeDocument/2006/math">
                      <m:r>
                        <a:rPr lang="zh-CN" altLang="en-US" sz="2000" i="1" dirty="0" smtClean="0">
                          <a:latin typeface="Cambria Math" panose="02040503050406030204" pitchFamily="18" charset="0"/>
                          <a:ea typeface="新宋体" panose="02010609030101010101" pitchFamily="49" charset="-122"/>
                        </a:rPr>
                        <m:t>(</m:t>
                      </m:r>
                      <m:r>
                        <a:rPr lang="zh-CN" altLang="en-US" sz="2000" i="1" dirty="0" smtClean="0">
                          <a:latin typeface="Cambria Math" panose="02040503050406030204" pitchFamily="18" charset="0"/>
                          <a:ea typeface="新宋体" panose="02010609030101010101" pitchFamily="49" charset="-122"/>
                        </a:rPr>
                        <m:t>𝑥</m:t>
                      </m:r>
                      <m:r>
                        <a:rPr lang="zh-CN" altLang="en-US" sz="2000" i="1" dirty="0" smtClean="0">
                          <a:latin typeface="Cambria Math" panose="02040503050406030204" pitchFamily="18" charset="0"/>
                          <a:ea typeface="新宋体" panose="02010609030101010101" pitchFamily="49" charset="-122"/>
                        </a:rPr>
                        <m:t>,</m:t>
                      </m:r>
                      <m:r>
                        <a:rPr lang="zh-CN" altLang="en-US" sz="2000" i="1" dirty="0" smtClean="0">
                          <a:latin typeface="Cambria Math" panose="02040503050406030204" pitchFamily="18" charset="0"/>
                          <a:ea typeface="新宋体" panose="02010609030101010101" pitchFamily="49" charset="-122"/>
                        </a:rPr>
                        <m:t>𝑦</m:t>
                      </m:r>
                      <m:r>
                        <a:rPr lang="zh-CN" altLang="en-US" sz="2000" i="1" dirty="0" smtClean="0">
                          <a:latin typeface="Cambria Math" panose="02040503050406030204" pitchFamily="18" charset="0"/>
                          <a:ea typeface="新宋体" panose="02010609030101010101" pitchFamily="49" charset="-122"/>
                        </a:rPr>
                        <m:t>)</m:t>
                      </m:r>
                    </m:oMath>
                  </a14:m>
                  <a:r>
                    <a:rPr lang="zh-CN" altLang="en-US" b="1" dirty="0"/>
                    <a:t>自下而上</a:t>
                  </a:r>
                </a:p>
              </p:txBody>
            </p:sp>
          </mc:Choice>
          <mc:Fallback xmlns="">
            <p:sp>
              <p:nvSpPr>
                <p:cNvPr id="10" name="文本框 7"/>
                <p:cNvSpPr txBox="1">
                  <a:spLocks noRot="1" noChangeAspect="1" noMove="1" noResize="1" noEditPoints="1" noAdjustHandles="1" noChangeArrowheads="1" noChangeShapeType="1" noTextEdit="1"/>
                </p:cNvSpPr>
                <p:nvPr/>
              </p:nvSpPr>
              <p:spPr bwMode="auto">
                <a:xfrm>
                  <a:off x="7016" y="3667"/>
                  <a:ext cx="2535" cy="1060"/>
                </a:xfrm>
                <a:prstGeom prst="rect">
                  <a:avLst/>
                </a:prstGeom>
                <a:blipFill rotWithShape="0">
                  <a:blip r:embed="rId6"/>
                  <a:stretch>
                    <a:fillRect l="-1656" t="-8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
        <p:nvSpPr>
          <p:cNvPr id="4" name="幻灯片编号占位符 3">
            <a:extLst>
              <a:ext uri="{FF2B5EF4-FFF2-40B4-BE49-F238E27FC236}">
                <a16:creationId xmlns:a16="http://schemas.microsoft.com/office/drawing/2014/main" id="{1CBE76F0-5182-6740-BE6A-0C8FC1D7150F}"/>
              </a:ext>
            </a:extLst>
          </p:cNvPr>
          <p:cNvSpPr>
            <a:spLocks noGrp="1"/>
          </p:cNvSpPr>
          <p:nvPr>
            <p:ph type="sldNum" sz="quarter" idx="12"/>
          </p:nvPr>
        </p:nvSpPr>
        <p:spPr/>
        <p:txBody>
          <a:bodyPr/>
          <a:lstStyle/>
          <a:p>
            <a:fld id="{0FF54DE5-C571-48E8-A5BC-B369434E2F44}" type="slidenum">
              <a:rPr lang="en-US" altLang="zh-CN" smtClean="0"/>
              <a:pPr/>
              <a:t>77</a:t>
            </a:fld>
            <a:endParaRPr lang="zh-CN" altLang="en-US" dirty="0"/>
          </a:p>
        </p:txBody>
      </p:sp>
    </p:spTree>
    <p:extLst>
      <p:ext uri="{BB962C8B-B14F-4D97-AF65-F5344CB8AC3E}">
        <p14:creationId xmlns:p14="http://schemas.microsoft.com/office/powerpoint/2010/main" val="328881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扩展欧几里得算法</a:t>
            </a:r>
            <a:endParaRPr lang="en-US" altLang="zh-CN" dirty="0"/>
          </a:p>
        </p:txBody>
      </p:sp>
      <p:sp>
        <p:nvSpPr>
          <p:cNvPr id="4" name="矩形 3"/>
          <p:cNvSpPr/>
          <p:nvPr/>
        </p:nvSpPr>
        <p:spPr>
          <a:xfrm>
            <a:off x="1104900" y="1766878"/>
            <a:ext cx="8015592" cy="830997"/>
          </a:xfrm>
          <a:prstGeom prst="rect">
            <a:avLst/>
          </a:prstGeom>
        </p:spPr>
        <p:txBody>
          <a:bodyPr wrap="square">
            <a:spAutoFit/>
          </a:bodyPr>
          <a:lstStyle/>
          <a:p>
            <a:endParaRPr lang="zh-CN" altLang="en-US" sz="4800" dirty="0">
              <a:latin typeface="Courier New" panose="02070309020205020404" pitchFamily="49" charset="0"/>
              <a:cs typeface="Courier New" panose="02070309020205020404" pitchFamily="49" charset="0"/>
            </a:endParaRPr>
          </a:p>
        </p:txBody>
      </p:sp>
      <p:sp>
        <p:nvSpPr>
          <p:cNvPr id="5" name="矩形 4"/>
          <p:cNvSpPr/>
          <p:nvPr/>
        </p:nvSpPr>
        <p:spPr>
          <a:xfrm>
            <a:off x="1104900" y="1766878"/>
            <a:ext cx="9788652" cy="3477875"/>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extend_gcd</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b</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&amp;</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x</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&amp;</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y</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b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s-ES"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x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s-E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y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s-ES"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s-E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else</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ret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extend_gcd</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b</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b</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y</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s-ES"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y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x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a </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cs typeface="Courier New" panose="02070309020205020404" pitchFamily="49" charset="0"/>
              </a:rPr>
              <a:t> b</a:t>
            </a:r>
            <a:r>
              <a:rPr lang="es-E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s-E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9</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ret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11</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2" name="幻灯片编号占位符 1">
            <a:extLst>
              <a:ext uri="{FF2B5EF4-FFF2-40B4-BE49-F238E27FC236}">
                <a16:creationId xmlns:a16="http://schemas.microsoft.com/office/drawing/2014/main" id="{EC78B914-2616-DE43-8FF5-D6A533D2A405}"/>
              </a:ext>
            </a:extLst>
          </p:cNvPr>
          <p:cNvSpPr>
            <a:spLocks noGrp="1"/>
          </p:cNvSpPr>
          <p:nvPr>
            <p:ph type="sldNum" sz="quarter" idx="12"/>
          </p:nvPr>
        </p:nvSpPr>
        <p:spPr/>
        <p:txBody>
          <a:bodyPr/>
          <a:lstStyle/>
          <a:p>
            <a:fld id="{0FF54DE5-C571-48E8-A5BC-B369434E2F44}" type="slidenum">
              <a:rPr lang="en-US" altLang="zh-CN" smtClean="0"/>
              <a:pPr/>
              <a:t>78</a:t>
            </a:fld>
            <a:endParaRPr lang="zh-CN" altLang="en-US" dirty="0"/>
          </a:p>
        </p:txBody>
      </p:sp>
    </p:spTree>
    <p:extLst>
      <p:ext uri="{BB962C8B-B14F-4D97-AF65-F5344CB8AC3E}">
        <p14:creationId xmlns:p14="http://schemas.microsoft.com/office/powerpoint/2010/main" val="3030770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扩展欧几里得算法</a:t>
            </a:r>
            <a:endParaRPr lang="en-US" altLang="zh-CN" dirty="0"/>
          </a:p>
        </p:txBody>
      </p:sp>
      <mc:AlternateContent xmlns:mc="http://schemas.openxmlformats.org/markup-compatibility/2006" xmlns:a14="http://schemas.microsoft.com/office/drawing/2010/main">
        <mc:Choice Requires="a14">
          <p:sp>
            <p:nvSpPr>
              <p:cNvPr id="6" name="内容占位符 2"/>
              <p:cNvSpPr>
                <a:spLocks noGrp="1" noChangeArrowheads="1"/>
              </p:cNvSpPr>
              <p:nvPr>
                <p:ph idx="1"/>
              </p:nvPr>
            </p:nvSpPr>
            <p:spPr>
              <a:xfrm>
                <a:off x="1104900" y="1600200"/>
                <a:ext cx="9982200" cy="5257800"/>
              </a:xfrm>
            </p:spPr>
            <p:txBody>
              <a:bodyPr>
                <a:normAutofit/>
              </a:bodyPr>
              <a:lstStyle/>
              <a:p>
                <a:pPr>
                  <a:lnSpc>
                    <a:spcPct val="110000"/>
                  </a:lnSpc>
                  <a:spcBef>
                    <a:spcPts val="1200"/>
                  </a:spcBef>
                </a:pPr>
                <a14:m>
                  <m:oMath xmlns:m="http://schemas.openxmlformats.org/officeDocument/2006/math">
                    <m:r>
                      <a:rPr lang="zh-CN" altLang="en-US" i="1" noProof="1" smtClean="0">
                        <a:latin typeface="Cambria Math" panose="02040503050406030204" pitchFamily="18" charset="0"/>
                        <a:ea typeface="新宋体" panose="02010609030101010101" charset="-122"/>
                        <a:sym typeface="+mn-ea"/>
                      </a:rPr>
                      <m:t>𝑎𝑥</m:t>
                    </m:r>
                    <m:r>
                      <a:rPr lang="zh-CN" altLang="en-US" i="1" noProof="1" smtClean="0">
                        <a:latin typeface="Cambria Math" panose="02040503050406030204" pitchFamily="18" charset="0"/>
                        <a:ea typeface="新宋体" panose="02010609030101010101" charset="-122"/>
                        <a:sym typeface="+mn-ea"/>
                      </a:rPr>
                      <m:t>+</m:t>
                    </m:r>
                    <m:r>
                      <a:rPr lang="zh-CN" altLang="en-US" i="1" noProof="1" smtClean="0">
                        <a:latin typeface="Cambria Math" panose="02040503050406030204" pitchFamily="18" charset="0"/>
                        <a:ea typeface="新宋体" panose="02010609030101010101" charset="-122"/>
                        <a:sym typeface="+mn-ea"/>
                      </a:rPr>
                      <m:t>𝑏𝑦</m:t>
                    </m:r>
                    <m:r>
                      <a:rPr lang="zh-CN" altLang="en-US" i="1" noProof="1" smtClean="0">
                        <a:latin typeface="Cambria Math" panose="02040503050406030204" pitchFamily="18" charset="0"/>
                        <a:ea typeface="新宋体" panose="02010609030101010101" charset="-122"/>
                        <a:sym typeface="+mn-ea"/>
                      </a:rPr>
                      <m:t>=</m:t>
                    </m:r>
                    <m:r>
                      <a:rPr lang="zh-CN" altLang="en-US" i="1" noProof="1" smtClean="0">
                        <a:latin typeface="Cambria Math" panose="02040503050406030204" pitchFamily="18" charset="0"/>
                        <a:ea typeface="新宋体" panose="02010609030101010101" charset="-122"/>
                        <a:sym typeface="+mn-ea"/>
                      </a:rPr>
                      <m:t>𝑐</m:t>
                    </m:r>
                  </m:oMath>
                </a14:m>
                <a:r>
                  <a:rPr lang="zh-Hans" altLang="en-US" noProof="1">
                    <a:sym typeface="+mn-ea"/>
                  </a:rPr>
                  <a:t> </a:t>
                </a:r>
                <a:r>
                  <a:rPr lang="zh-CN" altLang="en-US" noProof="1">
                    <a:sym typeface="+mn-ea"/>
                  </a:rPr>
                  <a:t>有无穷组解，</a:t>
                </a:r>
                <a:r>
                  <a:rPr lang="zh-CN" altLang="zh-CN" noProof="1"/>
                  <a:t>扩展欧几里得算法计算出来的解是其中一个特解</a:t>
                </a:r>
                <a:r>
                  <a:rPr lang="zh-CN" altLang="en-US" noProof="1"/>
                  <a:t> </a:t>
                </a:r>
                <a14:m>
                  <m:oMath xmlns:m="http://schemas.openxmlformats.org/officeDocument/2006/math">
                    <m:r>
                      <a:rPr lang="zh-CN" altLang="en-US" i="1" noProof="1" smtClean="0">
                        <a:latin typeface="Cambria Math" panose="02040503050406030204" pitchFamily="18" charset="0"/>
                        <a:ea typeface="新宋体" panose="02010609030101010101" charset="-122"/>
                      </a:rPr>
                      <m:t>(</m:t>
                    </m:r>
                    <m:sSub>
                      <m:sSubPr>
                        <m:ctrlPr>
                          <a:rPr lang="en-US" altLang="zh-CN" i="1" noProof="1" smtClean="0">
                            <a:latin typeface="Cambria Math" panose="02040503050406030204" pitchFamily="18" charset="0"/>
                            <a:ea typeface="新宋体" panose="02010609030101010101" charset="-122"/>
                          </a:rPr>
                        </m:ctrlPr>
                      </m:sSubPr>
                      <m:e>
                        <m:r>
                          <a:rPr lang="en-US" altLang="zh-CN" b="0" i="1" noProof="1" smtClean="0">
                            <a:latin typeface="Cambria Math" panose="02040503050406030204" pitchFamily="18" charset="0"/>
                            <a:ea typeface="新宋体" panose="02010609030101010101" charset="-122"/>
                          </a:rPr>
                          <m:t>𝑥</m:t>
                        </m:r>
                      </m:e>
                      <m:sub>
                        <m:r>
                          <a:rPr lang="en-US" altLang="zh-CN" i="1" noProof="1">
                            <a:latin typeface="Cambria Math" panose="02040503050406030204" pitchFamily="18" charset="0"/>
                            <a:ea typeface="新宋体" panose="02010609030101010101" charset="-122"/>
                          </a:rPr>
                          <m:t>0</m:t>
                        </m:r>
                      </m:sub>
                    </m:sSub>
                    <m:r>
                      <a:rPr lang="en-US" altLang="zh-CN" b="0" i="1" noProof="1" smtClean="0">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b="0" i="1" noProof="1" smtClean="0">
                            <a:latin typeface="Cambria Math" panose="02040503050406030204" pitchFamily="18" charset="0"/>
                            <a:ea typeface="新宋体" panose="02010609030101010101" charset="-122"/>
                          </a:rPr>
                          <m:t>𝑦</m:t>
                        </m:r>
                      </m:e>
                      <m:sub>
                        <m:r>
                          <a:rPr lang="en-US" altLang="zh-CN" i="1" noProof="1">
                            <a:latin typeface="Cambria Math" panose="02040503050406030204" pitchFamily="18" charset="0"/>
                            <a:ea typeface="新宋体" panose="02010609030101010101" charset="-122"/>
                          </a:rPr>
                          <m:t>0</m:t>
                        </m:r>
                      </m:sub>
                    </m:sSub>
                    <m:r>
                      <a:rPr lang="zh-CN" altLang="en-US" i="1" noProof="1" smtClean="0">
                        <a:latin typeface="Cambria Math" panose="02040503050406030204" pitchFamily="18" charset="0"/>
                        <a:ea typeface="新宋体" panose="02010609030101010101" charset="-122"/>
                      </a:rPr>
                      <m:t>)</m:t>
                    </m:r>
                  </m:oMath>
                </a14:m>
                <a:r>
                  <a:rPr lang="zh-CN" altLang="en-US" noProof="1"/>
                  <a:t>，可以</a:t>
                </a:r>
                <a:r>
                  <a:rPr lang="zh-Hans" altLang="en-US" noProof="1"/>
                  <a:t>以下方式</a:t>
                </a:r>
                <a:r>
                  <a:rPr lang="zh-CN" altLang="zh-CN" noProof="1"/>
                  <a:t>来获得其他解。</a:t>
                </a:r>
              </a:p>
              <a:p>
                <a:pPr>
                  <a:lnSpc>
                    <a:spcPct val="110000"/>
                  </a:lnSpc>
                  <a:spcBef>
                    <a:spcPts val="1200"/>
                  </a:spcBef>
                </a:pPr>
                <a:r>
                  <a:rPr lang="zh-CN" altLang="zh-CN" noProof="1"/>
                  <a:t>假如把方程的所有解按</a:t>
                </a:r>
                <a:r>
                  <a:rPr lang="zh-CN" altLang="en-US" noProof="1"/>
                  <a:t> </a:t>
                </a:r>
                <a14:m>
                  <m:oMath xmlns:m="http://schemas.openxmlformats.org/officeDocument/2006/math">
                    <m:r>
                      <a:rPr lang="zh-CN" altLang="en-US" i="1" noProof="1" smtClean="0">
                        <a:latin typeface="Cambria Math" panose="02040503050406030204" pitchFamily="18" charset="0"/>
                        <a:ea typeface="新宋体" panose="02010609030101010101" charset="-122"/>
                      </a:rPr>
                      <m:t>𝑥</m:t>
                    </m:r>
                  </m:oMath>
                </a14:m>
                <a:r>
                  <a:rPr lang="zh-Hans" altLang="en-US" noProof="1"/>
                  <a:t> </a:t>
                </a:r>
                <a:r>
                  <a:rPr lang="zh-CN" altLang="en-US" noProof="1"/>
                  <a:t>的值从小到大排序，特解</a:t>
                </a:r>
                <a:r>
                  <a:rPr lang="zh-Hans" altLang="en-US" noProof="1"/>
                  <a:t> </a:t>
                </a:r>
                <a14:m>
                  <m:oMath xmlns:m="http://schemas.openxmlformats.org/officeDocument/2006/math">
                    <m:r>
                      <a:rPr lang="zh-CN" altLang="en-US"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𝑥</m:t>
                        </m:r>
                      </m:e>
                      <m:sub>
                        <m:r>
                          <a:rPr lang="en-US" altLang="zh-CN" i="1" noProof="1">
                            <a:latin typeface="Cambria Math" panose="02040503050406030204" pitchFamily="18" charset="0"/>
                            <a:ea typeface="新宋体" panose="02010609030101010101" charset="-122"/>
                          </a:rPr>
                          <m:t>0</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𝑦</m:t>
                        </m:r>
                      </m:e>
                      <m:sub>
                        <m:r>
                          <a:rPr lang="en-US" altLang="zh-CN" i="1" noProof="1">
                            <a:latin typeface="Cambria Math" panose="02040503050406030204" pitchFamily="18" charset="0"/>
                            <a:ea typeface="新宋体" panose="02010609030101010101" charset="-122"/>
                          </a:rPr>
                          <m:t>0</m:t>
                        </m:r>
                      </m:sub>
                    </m:sSub>
                    <m:r>
                      <a:rPr lang="zh-CN" altLang="en-US" i="1" noProof="1">
                        <a:latin typeface="Cambria Math" panose="02040503050406030204" pitchFamily="18" charset="0"/>
                        <a:ea typeface="新宋体" panose="02010609030101010101" charset="-122"/>
                      </a:rPr>
                      <m:t>)</m:t>
                    </m:r>
                  </m:oMath>
                </a14:m>
                <a:r>
                  <a:rPr lang="zh-Hans" altLang="en-US" noProof="1"/>
                  <a:t> </a:t>
                </a:r>
                <a:r>
                  <a:rPr lang="zh-CN" altLang="en-US" noProof="1"/>
                  <a:t>的</a:t>
                </a:r>
                <a:r>
                  <a:rPr lang="zh-CN" altLang="zh-CN" noProof="1"/>
                  <a:t>下一组解</a:t>
                </a:r>
                <a:r>
                  <a:rPr lang="zh-CN" altLang="en-US" noProof="1"/>
                  <a:t> </a:t>
                </a:r>
                <a14:m>
                  <m:oMath xmlns:m="http://schemas.openxmlformats.org/officeDocument/2006/math">
                    <m:r>
                      <a:rPr lang="zh-CN" altLang="en-US"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𝑥</m:t>
                        </m:r>
                      </m:e>
                      <m:sub>
                        <m:r>
                          <a:rPr lang="en-US" altLang="zh-Hans" i="1" noProof="1">
                            <a:latin typeface="Cambria Math" panose="02040503050406030204" pitchFamily="18" charset="0"/>
                            <a:ea typeface="新宋体" panose="02010609030101010101" charset="-122"/>
                          </a:rPr>
                          <m:t>1</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𝑦</m:t>
                        </m:r>
                      </m:e>
                      <m:sub>
                        <m:r>
                          <a:rPr lang="en-US" altLang="zh-Hans" i="1" noProof="1">
                            <a:latin typeface="Cambria Math" panose="02040503050406030204" pitchFamily="18" charset="0"/>
                            <a:ea typeface="新宋体" panose="02010609030101010101" charset="-122"/>
                          </a:rPr>
                          <m:t>1</m:t>
                        </m:r>
                      </m:sub>
                    </m:sSub>
                    <m:r>
                      <a:rPr lang="zh-CN" altLang="en-US" i="1" noProof="1">
                        <a:latin typeface="Cambria Math" panose="02040503050406030204" pitchFamily="18" charset="0"/>
                        <a:ea typeface="新宋体" panose="02010609030101010101" charset="-122"/>
                      </a:rPr>
                      <m:t>)</m:t>
                    </m:r>
                  </m:oMath>
                </a14:m>
                <a:r>
                  <a:rPr lang="zh-CN" altLang="en-US" noProof="1"/>
                  <a:t> </a:t>
                </a:r>
                <a:r>
                  <a:rPr lang="zh-CN" altLang="zh-CN" noProof="1"/>
                  <a:t>可以表示为</a:t>
                </a:r>
                <a:r>
                  <a:rPr lang="zh-CN" altLang="en-US" noProof="1">
                    <a:ea typeface="新宋体" panose="02010609030101010101" charset="-122"/>
                  </a:rPr>
                  <a:t> </a:t>
                </a:r>
                <a14:m>
                  <m:oMath xmlns:m="http://schemas.openxmlformats.org/officeDocument/2006/math">
                    <m:r>
                      <a:rPr lang="zh-CN" altLang="en-US"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𝑥</m:t>
                        </m:r>
                      </m:e>
                      <m:sub>
                        <m:r>
                          <a:rPr lang="en-US" altLang="zh-CN" i="1" noProof="1">
                            <a:latin typeface="Cambria Math" panose="02040503050406030204" pitchFamily="18" charset="0"/>
                            <a:ea typeface="新宋体" panose="02010609030101010101" charset="-122"/>
                          </a:rPr>
                          <m:t>0</m:t>
                        </m:r>
                      </m:sub>
                    </m:sSub>
                    <m:r>
                      <a:rPr lang="en-US" altLang="zh-CN" i="1" noProof="1">
                        <a:latin typeface="Cambria Math" panose="02040503050406030204" pitchFamily="18" charset="0"/>
                        <a:ea typeface="新宋体" panose="02010609030101010101" charset="-122"/>
                      </a:rPr>
                      <m:t>+</m:t>
                    </m:r>
                    <m:sSub>
                      <m:sSubPr>
                        <m:ctrlPr>
                          <a:rPr lang="en-US" altLang="zh-CN" i="1" noProof="1" smtClean="0">
                            <a:latin typeface="Cambria Math" panose="02040503050406030204" pitchFamily="18" charset="0"/>
                            <a:ea typeface="新宋体" panose="02010609030101010101" charset="-122"/>
                          </a:rPr>
                        </m:ctrlPr>
                      </m:sSubPr>
                      <m:e>
                        <m:r>
                          <a:rPr lang="en-US" altLang="zh-CN" b="0" i="1" noProof="1" smtClean="0">
                            <a:latin typeface="Cambria Math" panose="02040503050406030204" pitchFamily="18" charset="0"/>
                            <a:ea typeface="新宋体" panose="02010609030101010101" charset="-122"/>
                          </a:rPr>
                          <m:t>𝑑</m:t>
                        </m:r>
                      </m:e>
                      <m:sub>
                        <m:r>
                          <a:rPr lang="en-US" altLang="zh-CN" b="0" i="1" noProof="1" smtClean="0">
                            <a:latin typeface="Cambria Math" panose="02040503050406030204" pitchFamily="18" charset="0"/>
                            <a:ea typeface="新宋体" panose="02010609030101010101" charset="-122"/>
                          </a:rPr>
                          <m:t>1</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𝑦</m:t>
                        </m:r>
                      </m:e>
                      <m:sub>
                        <m:r>
                          <a:rPr lang="en-US" altLang="zh-CN" i="1" noProof="1">
                            <a:latin typeface="Cambria Math" panose="02040503050406030204" pitchFamily="18" charset="0"/>
                            <a:ea typeface="新宋体" panose="02010609030101010101" charset="-122"/>
                          </a:rPr>
                          <m:t>0</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b="0" i="1" noProof="1" smtClean="0">
                            <a:latin typeface="Cambria Math" panose="02040503050406030204" pitchFamily="18" charset="0"/>
                            <a:ea typeface="新宋体" panose="02010609030101010101" charset="-122"/>
                          </a:rPr>
                          <m:t>2</m:t>
                        </m:r>
                      </m:sub>
                    </m:sSub>
                    <m:r>
                      <a:rPr lang="zh-CN" altLang="en-US" i="1" noProof="1">
                        <a:latin typeface="Cambria Math" panose="02040503050406030204" pitchFamily="18" charset="0"/>
                        <a:ea typeface="新宋体" panose="02010609030101010101" charset="-122"/>
                      </a:rPr>
                      <m:t>)</m:t>
                    </m:r>
                  </m:oMath>
                </a14:m>
                <a:r>
                  <a:rPr lang="zh-CN" altLang="en-US" noProof="1"/>
                  <a:t>，其中</a:t>
                </a:r>
                <a14:m>
                  <m:oMath xmlns:m="http://schemas.openxmlformats.org/officeDocument/2006/math">
                    <m:r>
                      <a:rPr lang="en-US" altLang="zh-CN" b="0" i="0" noProof="1" smtClean="0">
                        <a:latin typeface="Cambria Math" panose="02040503050406030204" pitchFamily="18" charset="0"/>
                        <a:ea typeface="新宋体" panose="02010609030101010101" charset="-122"/>
                      </a:rPr>
                      <m:t> </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1</m:t>
                        </m:r>
                      </m:sub>
                    </m:sSub>
                  </m:oMath>
                </a14:m>
                <a:r>
                  <a:rPr lang="en-US" altLang="zh-CN" noProof="1"/>
                  <a:t> </a:t>
                </a:r>
                <a:r>
                  <a:rPr lang="zh-CN" altLang="zh-CN" noProof="1"/>
                  <a:t>是符合条件的最小的正整数</a:t>
                </a:r>
                <a:r>
                  <a:rPr lang="zh-CN" altLang="en-US" noProof="1"/>
                  <a:t>，</a:t>
                </a:r>
                <a:r>
                  <a:rPr lang="zh-CN" altLang="zh-CN" noProof="1"/>
                  <a:t>则满足：</a:t>
                </a:r>
                <a:br>
                  <a:rPr lang="en-US" altLang="zh-CN" noProof="1"/>
                </a:br>
                <a14:m>
                  <m:oMath xmlns:m="http://schemas.openxmlformats.org/officeDocument/2006/math">
                    <m:r>
                      <a:rPr lang="zh-CN" altLang="en-US" i="1" noProof="1" smtClean="0">
                        <a:latin typeface="Cambria Math" panose="02040503050406030204" pitchFamily="18" charset="0"/>
                      </a:rPr>
                      <m:t>𝑎</m:t>
                    </m:r>
                    <m:r>
                      <a:rPr lang="zh-CN" altLang="en-US" i="1" noProof="1" smtClean="0">
                        <a:latin typeface="Cambria Math" panose="02040503050406030204" pitchFamily="18" charset="0"/>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𝑥</m:t>
                        </m:r>
                      </m:e>
                      <m:sub>
                        <m:r>
                          <a:rPr lang="en-US" altLang="zh-CN" i="1" noProof="1">
                            <a:latin typeface="Cambria Math" panose="02040503050406030204" pitchFamily="18" charset="0"/>
                            <a:ea typeface="新宋体" panose="02010609030101010101" charset="-122"/>
                          </a:rPr>
                          <m:t>0</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1</m:t>
                        </m:r>
                      </m:sub>
                    </m:sSub>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𝑏</m:t>
                    </m:r>
                    <m:r>
                      <a:rPr lang="zh-CN" altLang="en-US" i="1" noProof="1" smtClean="0">
                        <a:latin typeface="Cambria Math" panose="02040503050406030204" pitchFamily="18" charset="0"/>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𝑦</m:t>
                        </m:r>
                      </m:e>
                      <m:sub>
                        <m:r>
                          <a:rPr lang="en-US" altLang="zh-CN" i="1" noProof="1">
                            <a:latin typeface="Cambria Math" panose="02040503050406030204" pitchFamily="18" charset="0"/>
                            <a:ea typeface="新宋体" panose="02010609030101010101" charset="-122"/>
                          </a:rPr>
                          <m:t>0</m:t>
                        </m:r>
                      </m:sub>
                    </m:sSub>
                    <m:r>
                      <a:rPr lang="en-US" altLang="zh-CN" i="1" noProof="1">
                        <a:latin typeface="Cambria Math" panose="02040503050406030204" pitchFamily="18" charset="0"/>
                        <a:ea typeface="新宋体" panose="02010609030101010101" charset="-122"/>
                      </a:rPr>
                      <m:t>+</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2</m:t>
                        </m:r>
                      </m:sub>
                    </m:sSub>
                    <m:r>
                      <a:rPr lang="zh-CN" altLang="en-US" i="1" noProof="1">
                        <a:latin typeface="Cambria Math" panose="02040503050406030204" pitchFamily="18" charset="0"/>
                      </a:rPr>
                      <m:t>)=</m:t>
                    </m:r>
                    <m:r>
                      <a:rPr lang="zh-CN" altLang="en-US" i="1" noProof="1" smtClean="0">
                        <a:latin typeface="Cambria Math" panose="02040503050406030204" pitchFamily="18" charset="0"/>
                      </a:rPr>
                      <m:t>𝑐</m:t>
                    </m:r>
                  </m:oMath>
                </a14:m>
                <a:endParaRPr lang="en-US" altLang="zh-CN" noProof="1"/>
              </a:p>
              <a:p>
                <a:pPr>
                  <a:lnSpc>
                    <a:spcPct val="110000"/>
                  </a:lnSpc>
                  <a:spcBef>
                    <a:spcPts val="1200"/>
                  </a:spcBef>
                </a:pPr>
                <a:r>
                  <a:rPr lang="zh-CN" altLang="zh-CN" noProof="1"/>
                  <a:t>由于</a:t>
                </a:r>
                <a14:m>
                  <m:oMath xmlns:m="http://schemas.openxmlformats.org/officeDocument/2006/math">
                    <m:r>
                      <a:rPr lang="zh-CN" altLang="en-US" i="1" noProof="1" smtClean="0">
                        <a:latin typeface="Cambria Math" panose="02040503050406030204" pitchFamily="18" charset="0"/>
                      </a:rPr>
                      <m:t>𝑎𝑥</m:t>
                    </m:r>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𝑏𝑦</m:t>
                    </m:r>
                    <m:r>
                      <a:rPr lang="zh-CN" altLang="en-US" i="1" noProof="1" smtClean="0">
                        <a:latin typeface="Cambria Math" panose="02040503050406030204" pitchFamily="18" charset="0"/>
                      </a:rPr>
                      <m:t>=</m:t>
                    </m:r>
                    <m:r>
                      <a:rPr lang="zh-CN" altLang="en-US" i="1" noProof="1" smtClean="0">
                        <a:latin typeface="Cambria Math" panose="02040503050406030204" pitchFamily="18" charset="0"/>
                      </a:rPr>
                      <m:t>𝑐</m:t>
                    </m:r>
                  </m:oMath>
                </a14:m>
                <a:r>
                  <a:rPr lang="zh-CN" altLang="en-US" noProof="1"/>
                  <a:t>，</a:t>
                </a:r>
                <a:r>
                  <a:rPr lang="zh-CN" altLang="zh-CN" noProof="1"/>
                  <a:t>所以</a:t>
                </a:r>
                <a14:m>
                  <m:oMath xmlns:m="http://schemas.openxmlformats.org/officeDocument/2006/math">
                    <m:r>
                      <a:rPr lang="zh-CN" altLang="en-US" i="1" noProof="1">
                        <a:latin typeface="Cambria Math" panose="02040503050406030204" pitchFamily="18" charset="0"/>
                      </a:rPr>
                      <m:t>𝑎</m:t>
                    </m:r>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1</m:t>
                        </m:r>
                      </m:sub>
                    </m:sSub>
                    <m:r>
                      <a:rPr lang="zh-CN" altLang="en-US" i="1" noProof="1">
                        <a:latin typeface="Cambria Math" panose="02040503050406030204" pitchFamily="18" charset="0"/>
                      </a:rPr>
                      <m:t>+</m:t>
                    </m:r>
                    <m:r>
                      <a:rPr lang="zh-CN" altLang="en-US" i="1" noProof="1">
                        <a:latin typeface="Cambria Math" panose="02040503050406030204" pitchFamily="18" charset="0"/>
                      </a:rPr>
                      <m:t>𝑏</m:t>
                    </m:r>
                    <m:sSub>
                      <m:sSubPr>
                        <m:ctrlPr>
                          <a:rPr lang="en-US" altLang="zh-CN" i="1" noProof="1" smtClean="0">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2</m:t>
                        </m:r>
                      </m:sub>
                    </m:sSub>
                    <m:r>
                      <a:rPr lang="zh-CN" altLang="en-US" i="1" noProof="1">
                        <a:latin typeface="Cambria Math" panose="02040503050406030204" pitchFamily="18" charset="0"/>
                      </a:rPr>
                      <m:t>=</m:t>
                    </m:r>
                    <m:r>
                      <a:rPr lang="en-US" altLang="zh-CN" b="0" i="1" noProof="1" smtClean="0">
                        <a:latin typeface="Cambria Math" panose="02040503050406030204" pitchFamily="18" charset="0"/>
                      </a:rPr>
                      <m:t>0</m:t>
                    </m:r>
                    <m:r>
                      <a:rPr lang="zh-CN" altLang="en-US" i="1" noProof="1">
                        <a:latin typeface="Cambria Math" panose="02040503050406030204" pitchFamily="18" charset="0"/>
                      </a:rPr>
                      <m:t>，</m:t>
                    </m:r>
                  </m:oMath>
                </a14:m>
                <a:r>
                  <a:rPr lang="zh-CN" altLang="en-US" noProof="1"/>
                  <a:t>即</a:t>
                </a:r>
                <a:br>
                  <a:rPr lang="en-US" altLang="zh-CN" i="1" noProof="1">
                    <a:latin typeface="Cambria Math" panose="02040503050406030204" pitchFamily="18" charset="0"/>
                  </a:rPr>
                </a:br>
                <a14:m>
                  <m:oMath xmlns:m="http://schemas.openxmlformats.org/officeDocument/2006/math">
                    <m:f>
                      <m:fPr>
                        <m:ctrlPr>
                          <a:rPr lang="en-US" altLang="zh-CN" i="1" noProof="1">
                            <a:latin typeface="Cambria Math" panose="02040503050406030204" pitchFamily="18" charset="0"/>
                          </a:rPr>
                        </m:ctrlPr>
                      </m:fPr>
                      <m:num>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CN" i="1" noProof="1">
                                <a:latin typeface="Cambria Math" panose="02040503050406030204" pitchFamily="18" charset="0"/>
                                <a:ea typeface="新宋体" panose="02010609030101010101" charset="-122"/>
                              </a:rPr>
                              <m:t>1</m:t>
                            </m:r>
                          </m:sub>
                        </m:sSub>
                      </m:num>
                      <m:den>
                        <m:sSub>
                          <m:sSubPr>
                            <m:ctrlPr>
                              <a:rPr lang="en-US" altLang="zh-CN" i="1" noProof="1">
                                <a:latin typeface="Cambria Math" panose="02040503050406030204" pitchFamily="18" charset="0"/>
                                <a:ea typeface="新宋体" panose="02010609030101010101" charset="-122"/>
                              </a:rPr>
                            </m:ctrlPr>
                          </m:sSubPr>
                          <m:e>
                            <m:r>
                              <a:rPr lang="en-US" altLang="zh-CN" i="1" noProof="1">
                                <a:latin typeface="Cambria Math" panose="02040503050406030204" pitchFamily="18" charset="0"/>
                                <a:ea typeface="新宋体" panose="02010609030101010101" charset="-122"/>
                              </a:rPr>
                              <m:t>𝑑</m:t>
                            </m:r>
                          </m:e>
                          <m:sub>
                            <m:r>
                              <a:rPr lang="en-US" altLang="zh-Hans" b="0" i="1" noProof="1" smtClean="0">
                                <a:latin typeface="Cambria Math" panose="02040503050406030204" pitchFamily="18" charset="0"/>
                                <a:ea typeface="新宋体" panose="02010609030101010101" charset="-122"/>
                              </a:rPr>
                              <m:t>2</m:t>
                            </m:r>
                          </m:sub>
                        </m:sSub>
                      </m:den>
                    </m:f>
                    <m:r>
                      <a:rPr lang="en-US" altLang="zh-CN" i="1" noProof="1">
                        <a:latin typeface="Cambria Math" panose="02040503050406030204" pitchFamily="18" charset="0"/>
                      </a:rPr>
                      <m:t>=−</m:t>
                    </m:r>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𝑏</m:t>
                        </m:r>
                      </m:num>
                      <m:den>
                        <m:r>
                          <a:rPr lang="en-US" altLang="zh-CN" i="1" noProof="1">
                            <a:latin typeface="Cambria Math" panose="02040503050406030204" pitchFamily="18" charset="0"/>
                          </a:rPr>
                          <m:t>𝑎</m:t>
                        </m:r>
                      </m:den>
                    </m:f>
                    <m:r>
                      <a:rPr lang="en-US" altLang="zh-CN" i="1" noProof="1">
                        <a:latin typeface="Cambria Math" panose="02040503050406030204" pitchFamily="18" charset="0"/>
                      </a:rPr>
                      <m:t>=−</m:t>
                    </m:r>
                    <m:f>
                      <m:fPr>
                        <m:ctrlPr>
                          <a:rPr lang="en-US" altLang="zh-CN" i="1" noProof="1">
                            <a:latin typeface="Cambria Math" panose="02040503050406030204" pitchFamily="18" charset="0"/>
                          </a:rPr>
                        </m:ctrlPr>
                      </m:fPr>
                      <m:num>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𝑏</m:t>
                                </m:r>
                              </m:num>
                              <m:den>
                                <m:r>
                                  <m:rPr>
                                    <m:sty m:val="p"/>
                                  </m:rPr>
                                  <a:rPr lang="en-US" altLang="zh-CN" i="1" noProof="1">
                                    <a:latin typeface="Cambria Math" panose="02040503050406030204" pitchFamily="18" charset="0"/>
                                  </a:rPr>
                                  <m:t>gcd</m:t>
                                </m:r>
                                <m:r>
                                  <a:rPr lang="en-US" altLang="zh-CN" i="1" noProof="1">
                                    <a:latin typeface="Cambria Math" panose="02040503050406030204" pitchFamily="18" charset="0"/>
                                  </a:rPr>
                                  <m:t>(</m:t>
                                </m:r>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r>
                                  <a:rPr lang="en-US" altLang="zh-CN" i="1" noProof="1">
                                    <a:latin typeface="Cambria Math" panose="02040503050406030204" pitchFamily="18" charset="0"/>
                                  </a:rPr>
                                  <m:t>)</m:t>
                                </m:r>
                              </m:den>
                            </m:f>
                          </m:e>
                        </m:d>
                      </m:num>
                      <m:den>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𝑎</m:t>
                                </m:r>
                              </m:num>
                              <m:den>
                                <m:r>
                                  <m:rPr>
                                    <m:sty m:val="p"/>
                                  </m:rPr>
                                  <a:rPr lang="en-US" altLang="zh-CN" i="1" noProof="1">
                                    <a:latin typeface="Cambria Math" panose="02040503050406030204" pitchFamily="18" charset="0"/>
                                  </a:rPr>
                                  <m:t>gcd</m:t>
                                </m:r>
                                <m:r>
                                  <a:rPr lang="en-US" altLang="zh-CN" i="1" noProof="1">
                                    <a:latin typeface="Cambria Math" panose="02040503050406030204" pitchFamily="18" charset="0"/>
                                  </a:rPr>
                                  <m:t>(</m:t>
                                </m:r>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r>
                                  <a:rPr lang="en-US" altLang="zh-CN" i="1" noProof="1">
                                    <a:latin typeface="Cambria Math" panose="02040503050406030204" pitchFamily="18" charset="0"/>
                                  </a:rPr>
                                  <m:t>)</m:t>
                                </m:r>
                              </m:den>
                            </m:f>
                          </m:e>
                        </m:d>
                      </m:den>
                    </m:f>
                  </m:oMath>
                </a14:m>
                <a:endParaRPr lang="en-US" altLang="zh-CN" noProof="1"/>
              </a:p>
              <a:p>
                <a:pPr>
                  <a:lnSpc>
                    <a:spcPct val="110000"/>
                  </a:lnSpc>
                  <a:spcBef>
                    <a:spcPts val="1200"/>
                  </a:spcBef>
                </a:pPr>
                <a14:m>
                  <m:oMath xmlns:m="http://schemas.openxmlformats.org/officeDocument/2006/math">
                    <m:r>
                      <m:rPr>
                        <m:nor/>
                      </m:rPr>
                      <a:rPr lang="zh-CN" altLang="en-US" dirty="0"/>
                      <m:t>因此方程</m:t>
                    </m:r>
                    <m:r>
                      <m:rPr>
                        <m:nor/>
                      </m:rPr>
                      <a:rPr lang="zh-Hans" altLang="en-US" b="0" i="0" dirty="0" smtClean="0"/>
                      <m:t> </m:t>
                    </m:r>
                    <m:r>
                      <a:rPr lang="zh-CN" altLang="en-US" i="1" noProof="1">
                        <a:latin typeface="Cambria Math" panose="02040503050406030204" pitchFamily="18" charset="0"/>
                      </a:rPr>
                      <m:t>𝑎𝑥</m:t>
                    </m:r>
                    <m:r>
                      <a:rPr lang="zh-CN" altLang="en-US" i="1" noProof="1">
                        <a:latin typeface="Cambria Math" panose="02040503050406030204" pitchFamily="18" charset="0"/>
                      </a:rPr>
                      <m:t>+</m:t>
                    </m:r>
                    <m:r>
                      <a:rPr lang="zh-CN" altLang="en-US" i="1" noProof="1">
                        <a:latin typeface="Cambria Math" panose="02040503050406030204" pitchFamily="18" charset="0"/>
                      </a:rPr>
                      <m:t>𝑏𝑦</m:t>
                    </m:r>
                    <m:r>
                      <a:rPr lang="zh-CN" altLang="en-US" i="1" noProof="1">
                        <a:latin typeface="Cambria Math" panose="02040503050406030204" pitchFamily="18" charset="0"/>
                      </a:rPr>
                      <m:t>=</m:t>
                    </m:r>
                    <m:r>
                      <a:rPr lang="zh-CN" altLang="en-US" i="1" noProof="1">
                        <a:latin typeface="Cambria Math" panose="02040503050406030204" pitchFamily="18" charset="0"/>
                      </a:rPr>
                      <m:t>𝑐</m:t>
                    </m:r>
                    <m:r>
                      <m:rPr>
                        <m:nor/>
                      </m:rPr>
                      <a:rPr lang="zh-Hans" altLang="en-US" b="0" i="0" noProof="1" smtClean="0">
                        <a:latin typeface="Cambria Math" panose="02040503050406030204" pitchFamily="18" charset="0"/>
                      </a:rPr>
                      <m:t> </m:t>
                    </m:r>
                    <m:r>
                      <m:rPr>
                        <m:nor/>
                      </m:rPr>
                      <a:rPr lang="zh-CN" altLang="en-US" dirty="0"/>
                      <m:t>的一般解可以表示为：</m:t>
                    </m:r>
                  </m:oMath>
                </a14:m>
                <a:endParaRPr lang="en-US" altLang="zh-CN" dirty="0"/>
              </a:p>
              <a:p>
                <a:pPr marL="0" indent="0">
                  <a:lnSpc>
                    <a:spcPct val="110000"/>
                  </a:lnSpc>
                  <a:spcBef>
                    <a:spcPts val="120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𝑘</m:t>
                      </m:r>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𝑏</m:t>
                              </m:r>
                            </m:num>
                            <m:den>
                              <m:r>
                                <m:rPr>
                                  <m:sty m:val="p"/>
                                </m:rPr>
                                <a:rPr lang="en-US" altLang="zh-CN" i="1" noProof="1">
                                  <a:latin typeface="Cambria Math" panose="02040503050406030204" pitchFamily="18" charset="0"/>
                                </a:rPr>
                                <m:t>gcd</m:t>
                              </m:r>
                              <m:r>
                                <a:rPr lang="en-US" altLang="zh-CN" i="1" noProof="1">
                                  <a:latin typeface="Cambria Math" panose="02040503050406030204" pitchFamily="18" charset="0"/>
                                </a:rPr>
                                <m:t>(</m:t>
                              </m:r>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r>
                                <a:rPr lang="en-US" altLang="zh-CN" i="1" noProof="1">
                                  <a:latin typeface="Cambria Math" panose="02040503050406030204" pitchFamily="18" charset="0"/>
                                </a:rPr>
                                <m:t>)</m:t>
                              </m:r>
                            </m:den>
                          </m:f>
                        </m:e>
                      </m:d>
                      <m:r>
                        <m:rPr>
                          <m:nor/>
                        </m:rPr>
                        <a:rPr lang="en-US" altLang="zh-CN" dirty="0"/>
                        <m:t>, </m:t>
                      </m:r>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𝑘</m:t>
                      </m:r>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𝑎</m:t>
                              </m:r>
                            </m:num>
                            <m:den>
                              <m:func>
                                <m:funcPr>
                                  <m:ctrlPr>
                                    <a:rPr lang="en-US" altLang="zh-CN" i="1" noProof="1">
                                      <a:latin typeface="Cambria Math" panose="02040503050406030204" pitchFamily="18" charset="0"/>
                                    </a:rPr>
                                  </m:ctrlPr>
                                </m:funcPr>
                                <m:fName>
                                  <m:r>
                                    <m:rPr>
                                      <m:sty m:val="p"/>
                                    </m:rPr>
                                    <a:rPr lang="en-US" altLang="zh-CN" noProof="1">
                                      <a:latin typeface="Cambria Math" panose="02040503050406030204" pitchFamily="18" charset="0"/>
                                    </a:rPr>
                                    <m:t>gcd</m:t>
                                  </m:r>
                                </m:fName>
                                <m:e>
                                  <m:d>
                                    <m:dPr>
                                      <m:ctrlPr>
                                        <a:rPr lang="en-US" altLang="zh-CN" i="1" noProof="1">
                                          <a:latin typeface="Cambria Math" panose="02040503050406030204" pitchFamily="18" charset="0"/>
                                        </a:rPr>
                                      </m:ctrlPr>
                                    </m:dPr>
                                    <m:e>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e>
                                  </m:d>
                                </m:e>
                              </m:func>
                            </m:den>
                          </m:f>
                        </m:e>
                      </m:d>
                      <m:r>
                        <a:rPr lang="en-US" altLang="zh-CN" noProof="1">
                          <a:latin typeface="Cambria Math" panose="02040503050406030204" pitchFamily="18" charset="0"/>
                        </a:rPr>
                        <m:t> </m:t>
                      </m:r>
                      <m:r>
                        <m:rPr>
                          <m:nor/>
                        </m:rPr>
                        <a:rPr lang="zh-CN" altLang="en-US" dirty="0"/>
                        <m:t> </m:t>
                      </m:r>
                      <m:r>
                        <m:rPr>
                          <m:nor/>
                        </m:rPr>
                        <a:rPr lang="en-US" altLang="zh-CN" b="0" i="0" dirty="0" smtClean="0"/>
                        <m:t>(</m:t>
                      </m:r>
                      <m:r>
                        <m:rPr>
                          <m:nor/>
                        </m:rPr>
                        <a:rPr lang="zh-CN" altLang="en-US" dirty="0"/>
                        <m:t> </m:t>
                      </m:r>
                      <m:r>
                        <a:rPr lang="en-US" altLang="zh-CN" i="1">
                          <a:latin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𝑍</m:t>
                      </m:r>
                      <m:r>
                        <a:rPr lang="en-US" altLang="zh-CN" b="0" i="1" smtClean="0">
                          <a:latin typeface="Cambria Math" panose="02040503050406030204" pitchFamily="18" charset="0"/>
                          <a:ea typeface="Cambria Math" panose="02040503050406030204" pitchFamily="18" charset="0"/>
                        </a:rPr>
                        <m:t> )</m:t>
                      </m:r>
                    </m:oMath>
                  </m:oMathPara>
                </a14:m>
                <a:endParaRPr lang="zh-CN" altLang="en-US" dirty="0"/>
              </a:p>
              <a:p>
                <a:pPr>
                  <a:lnSpc>
                    <a:spcPct val="110000"/>
                  </a:lnSpc>
                  <a:spcBef>
                    <a:spcPts val="0"/>
                  </a:spcBef>
                </a:pPr>
                <a:endParaRPr lang="en-US" altLang="zh-CN" noProof="1"/>
              </a:p>
            </p:txBody>
          </p:sp>
        </mc:Choice>
        <mc:Fallback xmlns="">
          <p:sp>
            <p:nvSpPr>
              <p:cNvPr id="6" name="内容占位符 2"/>
              <p:cNvSpPr>
                <a:spLocks noGrp="1" noRot="1" noChangeAspect="1" noMove="1" noResize="1" noEditPoints="1" noAdjustHandles="1" noChangeArrowheads="1" noChangeShapeType="1" noTextEdit="1"/>
              </p:cNvSpPr>
              <p:nvPr>
                <p:ph idx="1"/>
              </p:nvPr>
            </p:nvSpPr>
            <p:spPr>
              <a:xfrm>
                <a:off x="1104900" y="1600200"/>
                <a:ext cx="9982200" cy="5257800"/>
              </a:xfrm>
              <a:blipFill>
                <a:blip r:embed="rId2"/>
                <a:stretch>
                  <a:fillRect l="-1398" t="-241" r="-50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76AFF674-2048-E44C-8876-6BE8F8274B51}"/>
              </a:ext>
            </a:extLst>
          </p:cNvPr>
          <p:cNvSpPr>
            <a:spLocks noGrp="1"/>
          </p:cNvSpPr>
          <p:nvPr>
            <p:ph type="sldNum" sz="quarter" idx="12"/>
          </p:nvPr>
        </p:nvSpPr>
        <p:spPr/>
        <p:txBody>
          <a:bodyPr/>
          <a:lstStyle/>
          <a:p>
            <a:fld id="{0FF54DE5-C571-48E8-A5BC-B369434E2F44}" type="slidenum">
              <a:rPr lang="en-US" altLang="zh-CN" smtClean="0"/>
              <a:pPr/>
              <a:t>79</a:t>
            </a:fld>
            <a:endParaRPr lang="zh-CN" altLang="en-US" dirty="0"/>
          </a:p>
        </p:txBody>
      </p:sp>
    </p:spTree>
    <p:extLst>
      <p:ext uri="{BB962C8B-B14F-4D97-AF65-F5344CB8AC3E}">
        <p14:creationId xmlns:p14="http://schemas.microsoft.com/office/powerpoint/2010/main" val="3722352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扩展欧几里得算法</a:t>
            </a:r>
            <a:endParaRPr lang="en-US" altLang="zh-CN" dirty="0"/>
          </a:p>
        </p:txBody>
      </p:sp>
      <mc:AlternateContent xmlns:mc="http://schemas.openxmlformats.org/markup-compatibility/2006" xmlns:a14="http://schemas.microsoft.com/office/drawing/2010/main">
        <mc:Choice Requires="a14">
          <p:sp>
            <p:nvSpPr>
              <p:cNvPr id="6" name="内容占位符 2"/>
              <p:cNvSpPr>
                <a:spLocks noGrp="1" noChangeArrowheads="1"/>
              </p:cNvSpPr>
              <p:nvPr>
                <p:ph idx="1"/>
              </p:nvPr>
            </p:nvSpPr>
            <p:spPr>
              <a:xfrm>
                <a:off x="1104900" y="1600200"/>
                <a:ext cx="9982200" cy="5257800"/>
              </a:xfrm>
            </p:spPr>
            <p:txBody>
              <a:bodyPr>
                <a:normAutofit/>
              </a:bodyPr>
              <a:lstStyle/>
              <a:p>
                <a:pPr>
                  <a:lnSpc>
                    <a:spcPct val="110000"/>
                  </a:lnSpc>
                  <a:spcBef>
                    <a:spcPts val="1200"/>
                  </a:spcBef>
                </a:pPr>
                <a:r>
                  <a:rPr lang="zh-Hans" altLang="en-US" noProof="1">
                    <a:ea typeface="新宋体" panose="02010609030101010101" charset="-122"/>
                    <a:sym typeface="+mn-ea"/>
                  </a:rPr>
                  <a:t>求 </a:t>
                </a:r>
                <a14:m>
                  <m:oMath xmlns:m="http://schemas.openxmlformats.org/officeDocument/2006/math">
                    <m:r>
                      <a:rPr lang="en-US" altLang="zh-CN" b="0" i="1" noProof="1" smtClean="0">
                        <a:latin typeface="Cambria Math" panose="02040503050406030204" pitchFamily="18" charset="0"/>
                        <a:ea typeface="新宋体" panose="02010609030101010101" charset="-122"/>
                        <a:sym typeface="+mn-ea"/>
                      </a:rPr>
                      <m:t>6</m:t>
                    </m:r>
                    <m:r>
                      <a:rPr lang="zh-CN" altLang="en-US" i="1" noProof="1" smtClean="0">
                        <a:latin typeface="Cambria Math" panose="02040503050406030204" pitchFamily="18" charset="0"/>
                        <a:ea typeface="新宋体" panose="02010609030101010101" charset="-122"/>
                        <a:sym typeface="+mn-ea"/>
                      </a:rPr>
                      <m:t>𝑥</m:t>
                    </m:r>
                    <m:r>
                      <a:rPr lang="zh-CN" altLang="en-US" i="1" noProof="1" smtClean="0">
                        <a:latin typeface="Cambria Math" panose="02040503050406030204" pitchFamily="18" charset="0"/>
                        <a:ea typeface="新宋体" panose="02010609030101010101" charset="-122"/>
                        <a:sym typeface="+mn-ea"/>
                      </a:rPr>
                      <m:t>+</m:t>
                    </m:r>
                    <m:r>
                      <a:rPr lang="en-US" altLang="zh-CN" b="0" i="1" noProof="1" smtClean="0">
                        <a:latin typeface="Cambria Math" panose="02040503050406030204" pitchFamily="18" charset="0"/>
                        <a:ea typeface="新宋体" panose="02010609030101010101" charset="-122"/>
                        <a:sym typeface="+mn-ea"/>
                      </a:rPr>
                      <m:t>5</m:t>
                    </m:r>
                    <m:r>
                      <a:rPr lang="zh-CN" altLang="en-US" i="1" noProof="1" smtClean="0">
                        <a:latin typeface="Cambria Math" panose="02040503050406030204" pitchFamily="18" charset="0"/>
                        <a:ea typeface="新宋体" panose="02010609030101010101" charset="-122"/>
                        <a:sym typeface="+mn-ea"/>
                      </a:rPr>
                      <m:t>𝑦</m:t>
                    </m:r>
                    <m:r>
                      <a:rPr lang="zh-CN" altLang="en-US" i="1" noProof="1" smtClean="0">
                        <a:latin typeface="Cambria Math" panose="02040503050406030204" pitchFamily="18" charset="0"/>
                        <a:ea typeface="新宋体" panose="02010609030101010101" charset="-122"/>
                        <a:sym typeface="+mn-ea"/>
                      </a:rPr>
                      <m:t>=</m:t>
                    </m:r>
                    <m:r>
                      <a:rPr lang="en-US" altLang="zh-CN" b="0" i="1" noProof="1" smtClean="0">
                        <a:latin typeface="Cambria Math" panose="02040503050406030204" pitchFamily="18" charset="0"/>
                        <a:ea typeface="新宋体" panose="02010609030101010101" charset="-122"/>
                        <a:sym typeface="+mn-ea"/>
                      </a:rPr>
                      <m:t>2</m:t>
                    </m:r>
                  </m:oMath>
                </a14:m>
                <a:r>
                  <a:rPr lang="zh-Hans" altLang="en-US" noProof="1">
                    <a:sym typeface="+mn-ea"/>
                  </a:rPr>
                  <a:t> 的通解</a:t>
                </a:r>
                <a:endParaRPr lang="en-US" altLang="zh-Hans" noProof="1">
                  <a:sym typeface="+mn-ea"/>
                </a:endParaRPr>
              </a:p>
              <a:p>
                <a:pPr>
                  <a:lnSpc>
                    <a:spcPct val="110000"/>
                  </a:lnSpc>
                  <a:spcBef>
                    <a:spcPts val="1200"/>
                  </a:spcBef>
                </a:pPr>
                <a:r>
                  <a:rPr lang="zh-CN" altLang="zh-CN" noProof="1"/>
                  <a:t>扩展欧几里得算法</a:t>
                </a:r>
                <a:r>
                  <a:rPr lang="zh-Hans" altLang="en-US" noProof="1"/>
                  <a:t>可得</a:t>
                </a:r>
                <a:r>
                  <a:rPr lang="zh-CN" altLang="zh-CN" noProof="1"/>
                  <a:t>特解</a:t>
                </a:r>
                <a:r>
                  <a:rPr lang="zh-Hans" altLang="en-US" noProof="1"/>
                  <a:t>为</a:t>
                </a:r>
                <a:r>
                  <a:rPr lang="zh-CN" altLang="en-US" noProof="1"/>
                  <a:t> </a:t>
                </a:r>
                <a14:m>
                  <m:oMath xmlns:m="http://schemas.openxmlformats.org/officeDocument/2006/math">
                    <m:d>
                      <m:dPr>
                        <m:ctrlPr>
                          <a:rPr lang="zh-CN" altLang="en-US" b="0" i="1" noProof="1" smtClean="0">
                            <a:latin typeface="Cambria Math" panose="02040503050406030204" pitchFamily="18" charset="0"/>
                            <a:ea typeface="新宋体" panose="02010609030101010101" charset="-122"/>
                          </a:rPr>
                        </m:ctrlPr>
                      </m:dPr>
                      <m:e>
                        <m:r>
                          <a:rPr lang="en-US" altLang="zh-Hans" b="0" i="1" noProof="1" smtClean="0">
                            <a:latin typeface="Cambria Math" panose="02040503050406030204" pitchFamily="18" charset="0"/>
                            <a:ea typeface="新宋体" panose="02010609030101010101" charset="-122"/>
                          </a:rPr>
                          <m:t>2</m:t>
                        </m:r>
                        <m:r>
                          <a:rPr lang="en-US" altLang="zh-CN" b="0" i="1" noProof="1" smtClean="0">
                            <a:latin typeface="Cambria Math" panose="02040503050406030204" pitchFamily="18" charset="0"/>
                            <a:ea typeface="新宋体" panose="02010609030101010101" charset="-122"/>
                          </a:rPr>
                          <m:t>,</m:t>
                        </m:r>
                        <m:r>
                          <a:rPr lang="en-US" altLang="zh-Hans" b="0" i="1" noProof="1" smtClean="0">
                            <a:latin typeface="Cambria Math" panose="02040503050406030204" pitchFamily="18" charset="0"/>
                            <a:ea typeface="新宋体" panose="02010609030101010101" charset="-122"/>
                          </a:rPr>
                          <m:t>−2</m:t>
                        </m:r>
                      </m:e>
                    </m:d>
                  </m:oMath>
                </a14:m>
                <a:endParaRPr lang="en-US" altLang="zh-CN" noProof="1"/>
              </a:p>
              <a:p>
                <a:pPr>
                  <a:lnSpc>
                    <a:spcPct val="110000"/>
                  </a:lnSpc>
                  <a:spcBef>
                    <a:spcPts val="1200"/>
                  </a:spcBef>
                </a:pPr>
                <a14:m>
                  <m:oMath xmlns:m="http://schemas.openxmlformats.org/officeDocument/2006/math">
                    <m:r>
                      <m:rPr>
                        <m:nor/>
                      </m:rPr>
                      <a:rPr lang="zh-CN" altLang="en-US" dirty="0"/>
                      <m:t>因此方程</m:t>
                    </m:r>
                    <m:r>
                      <m:rPr>
                        <m:nor/>
                      </m:rPr>
                      <a:rPr lang="zh-Hans" altLang="en-US" b="0" i="0" dirty="0" smtClean="0"/>
                      <m:t> </m:t>
                    </m:r>
                    <m:r>
                      <a:rPr lang="zh-CN" altLang="en-US" i="1" noProof="1">
                        <a:latin typeface="Cambria Math" panose="02040503050406030204" pitchFamily="18" charset="0"/>
                      </a:rPr>
                      <m:t>𝑎𝑥</m:t>
                    </m:r>
                    <m:r>
                      <a:rPr lang="zh-CN" altLang="en-US" i="1" noProof="1">
                        <a:latin typeface="Cambria Math" panose="02040503050406030204" pitchFamily="18" charset="0"/>
                      </a:rPr>
                      <m:t>+</m:t>
                    </m:r>
                    <m:r>
                      <a:rPr lang="zh-CN" altLang="en-US" i="1" noProof="1">
                        <a:latin typeface="Cambria Math" panose="02040503050406030204" pitchFamily="18" charset="0"/>
                      </a:rPr>
                      <m:t>𝑏𝑦</m:t>
                    </m:r>
                    <m:r>
                      <a:rPr lang="zh-CN" altLang="en-US" i="1" noProof="1">
                        <a:latin typeface="Cambria Math" panose="02040503050406030204" pitchFamily="18" charset="0"/>
                      </a:rPr>
                      <m:t>=</m:t>
                    </m:r>
                    <m:r>
                      <a:rPr lang="zh-CN" altLang="en-US" i="1" noProof="1">
                        <a:latin typeface="Cambria Math" panose="02040503050406030204" pitchFamily="18" charset="0"/>
                      </a:rPr>
                      <m:t>𝑐</m:t>
                    </m:r>
                    <m:r>
                      <m:rPr>
                        <m:nor/>
                      </m:rPr>
                      <a:rPr lang="zh-Hans" altLang="en-US" b="0" i="0" noProof="1" smtClean="0">
                        <a:latin typeface="Cambria Math" panose="02040503050406030204" pitchFamily="18" charset="0"/>
                      </a:rPr>
                      <m:t> </m:t>
                    </m:r>
                    <m:r>
                      <m:rPr>
                        <m:nor/>
                      </m:rPr>
                      <a:rPr lang="zh-CN" altLang="en-US" dirty="0"/>
                      <m:t>的一般解可以表示为：</m:t>
                    </m:r>
                  </m:oMath>
                </a14:m>
                <a:endParaRPr lang="en-US" altLang="zh-CN" dirty="0"/>
              </a:p>
              <a:p>
                <a:pPr marL="2586038" indent="0">
                  <a:lnSpc>
                    <a:spcPct val="110000"/>
                  </a:lnSpc>
                  <a:spcBef>
                    <a:spcPts val="120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𝑘</m:t>
                      </m:r>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𝑏</m:t>
                              </m:r>
                            </m:num>
                            <m:den>
                              <m:r>
                                <m:rPr>
                                  <m:sty m:val="p"/>
                                </m:rPr>
                                <a:rPr lang="en-US" altLang="zh-CN" i="1" noProof="1">
                                  <a:latin typeface="Cambria Math" panose="02040503050406030204" pitchFamily="18" charset="0"/>
                                </a:rPr>
                                <m:t>gcd</m:t>
                              </m:r>
                              <m:r>
                                <a:rPr lang="en-US" altLang="zh-CN" i="1" noProof="1">
                                  <a:latin typeface="Cambria Math" panose="02040503050406030204" pitchFamily="18" charset="0"/>
                                </a:rPr>
                                <m:t>(</m:t>
                              </m:r>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r>
                                <a:rPr lang="en-US" altLang="zh-CN" i="1" noProof="1">
                                  <a:latin typeface="Cambria Math" panose="02040503050406030204" pitchFamily="18" charset="0"/>
                                </a:rPr>
                                <m:t>)</m:t>
                              </m:r>
                            </m:den>
                          </m:f>
                        </m:e>
                      </m:d>
                      <m:r>
                        <m:rPr>
                          <m:nor/>
                        </m:rPr>
                        <a:rPr lang="en-US" altLang="zh-Hans" b="0" i="0" noProof="1" smtClean="0">
                          <a:latin typeface="Cambria Math" panose="02040503050406030204" pitchFamily="18" charset="0"/>
                        </a:rPr>
                        <m:t>=2+5</m:t>
                      </m:r>
                      <m:r>
                        <a:rPr lang="en-US" altLang="zh-CN" i="1">
                          <a:latin typeface="Cambria Math" panose="02040503050406030204" pitchFamily="18" charset="0"/>
                        </a:rPr>
                        <m:t>𝑘</m:t>
                      </m:r>
                    </m:oMath>
                  </m:oMathPara>
                </a14:m>
                <a:endParaRPr lang="en-US" altLang="zh-CN" i="1" dirty="0"/>
              </a:p>
              <a:p>
                <a:pPr marL="0" indent="0">
                  <a:lnSpc>
                    <a:spcPct val="110000"/>
                  </a:lnSpc>
                  <a:spcBef>
                    <a:spcPts val="120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𝑘</m:t>
                      </m:r>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𝑎</m:t>
                              </m:r>
                            </m:num>
                            <m:den>
                              <m:func>
                                <m:funcPr>
                                  <m:ctrlPr>
                                    <a:rPr lang="en-US" altLang="zh-CN" i="1" noProof="1">
                                      <a:latin typeface="Cambria Math" panose="02040503050406030204" pitchFamily="18" charset="0"/>
                                    </a:rPr>
                                  </m:ctrlPr>
                                </m:funcPr>
                                <m:fName>
                                  <m:r>
                                    <m:rPr>
                                      <m:sty m:val="p"/>
                                    </m:rPr>
                                    <a:rPr lang="en-US" altLang="zh-CN" noProof="1">
                                      <a:latin typeface="Cambria Math" panose="02040503050406030204" pitchFamily="18" charset="0"/>
                                    </a:rPr>
                                    <m:t>gcd</m:t>
                                  </m:r>
                                </m:fName>
                                <m:e>
                                  <m:d>
                                    <m:dPr>
                                      <m:ctrlPr>
                                        <a:rPr lang="en-US" altLang="zh-CN" i="1" noProof="1">
                                          <a:latin typeface="Cambria Math" panose="02040503050406030204" pitchFamily="18" charset="0"/>
                                        </a:rPr>
                                      </m:ctrlPr>
                                    </m:dPr>
                                    <m:e>
                                      <m:r>
                                        <a:rPr lang="en-US" altLang="zh-CN" i="1" noProof="1">
                                          <a:latin typeface="Cambria Math" panose="02040503050406030204" pitchFamily="18" charset="0"/>
                                        </a:rPr>
                                        <m:t>𝑎</m:t>
                                      </m:r>
                                      <m:r>
                                        <a:rPr lang="en-US" altLang="zh-CN" i="1" noProof="1">
                                          <a:latin typeface="Cambria Math" panose="02040503050406030204" pitchFamily="18" charset="0"/>
                                        </a:rPr>
                                        <m:t>,</m:t>
                                      </m:r>
                                      <m:r>
                                        <a:rPr lang="en-US" altLang="zh-CN" i="1" noProof="1">
                                          <a:latin typeface="Cambria Math" panose="02040503050406030204" pitchFamily="18" charset="0"/>
                                        </a:rPr>
                                        <m:t>𝑏</m:t>
                                      </m:r>
                                    </m:e>
                                  </m:d>
                                </m:e>
                              </m:func>
                            </m:den>
                          </m:f>
                        </m:e>
                      </m:d>
                      <m:r>
                        <m:rPr>
                          <m:nor/>
                        </m:rPr>
                        <a:rPr lang="en-US" altLang="zh-Hans" noProof="1">
                          <a:latin typeface="Cambria Math" panose="02040503050406030204" pitchFamily="18" charset="0"/>
                        </a:rPr>
                        <m:t>=</m:t>
                      </m:r>
                      <m:r>
                        <a:rPr lang="en-US" altLang="zh-CN" i="1">
                          <a:latin typeface="Cambria Math" panose="02040503050406030204" pitchFamily="18" charset="0"/>
                        </a:rPr>
                        <m:t>−</m:t>
                      </m:r>
                      <m:r>
                        <m:rPr>
                          <m:nor/>
                        </m:rPr>
                        <a:rPr lang="en-US" altLang="zh-Hans" noProof="1">
                          <a:latin typeface="Cambria Math" panose="02040503050406030204" pitchFamily="18" charset="0"/>
                        </a:rPr>
                        <m:t>2</m:t>
                      </m:r>
                      <m:r>
                        <a:rPr lang="en-US" altLang="zh-CN" i="1">
                          <a:latin typeface="Cambria Math" panose="02040503050406030204" pitchFamily="18" charset="0"/>
                        </a:rPr>
                        <m:t>−</m:t>
                      </m:r>
                      <m:r>
                        <m:rPr>
                          <m:nor/>
                        </m:rPr>
                        <a:rPr lang="en-US" altLang="zh-CN" b="0" i="0" smtClean="0">
                          <a:latin typeface="Cambria Math" panose="02040503050406030204" pitchFamily="18" charset="0"/>
                        </a:rPr>
                        <m:t>6</m:t>
                      </m:r>
                      <m:r>
                        <a:rPr lang="en-US" altLang="zh-CN" i="1">
                          <a:latin typeface="Cambria Math" panose="02040503050406030204" pitchFamily="18" charset="0"/>
                        </a:rPr>
                        <m:t>𝑘</m:t>
                      </m:r>
                      <m:r>
                        <a:rPr lang="en-US" altLang="zh-CN" noProof="1">
                          <a:latin typeface="Cambria Math" panose="02040503050406030204" pitchFamily="18" charset="0"/>
                        </a:rPr>
                        <m:t> </m:t>
                      </m:r>
                      <m:r>
                        <m:rPr>
                          <m:nor/>
                        </m:rPr>
                        <a:rPr lang="zh-CN" altLang="en-US" dirty="0"/>
                        <m:t> </m:t>
                      </m:r>
                      <m:r>
                        <m:rPr>
                          <m:nor/>
                        </m:rPr>
                        <a:rPr lang="en-US" altLang="zh-CN" b="0" i="0" dirty="0" smtClean="0"/>
                        <m:t>(</m:t>
                      </m:r>
                      <m:r>
                        <m:rPr>
                          <m:nor/>
                        </m:rPr>
                        <a:rPr lang="zh-CN" altLang="en-US" dirty="0"/>
                        <m:t> </m:t>
                      </m:r>
                      <m:r>
                        <a:rPr lang="en-US" altLang="zh-CN" i="1">
                          <a:latin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𝑍</m:t>
                      </m:r>
                      <m:r>
                        <a:rPr lang="en-US" altLang="zh-CN" b="0" i="1" smtClean="0">
                          <a:latin typeface="Cambria Math" panose="02040503050406030204" pitchFamily="18" charset="0"/>
                          <a:ea typeface="Cambria Math" panose="02040503050406030204" pitchFamily="18" charset="0"/>
                        </a:rPr>
                        <m:t> )</m:t>
                      </m:r>
                    </m:oMath>
                  </m:oMathPara>
                </a14:m>
                <a:endParaRPr lang="zh-CN" altLang="en-US" dirty="0"/>
              </a:p>
              <a:p>
                <a:pPr>
                  <a:lnSpc>
                    <a:spcPct val="110000"/>
                  </a:lnSpc>
                  <a:spcBef>
                    <a:spcPts val="0"/>
                  </a:spcBef>
                </a:pPr>
                <a:endParaRPr lang="en-US" altLang="zh-CN" noProof="1"/>
              </a:p>
            </p:txBody>
          </p:sp>
        </mc:Choice>
        <mc:Fallback xmlns="">
          <p:sp>
            <p:nvSpPr>
              <p:cNvPr id="6" name="内容占位符 2"/>
              <p:cNvSpPr>
                <a:spLocks noGrp="1" noRot="1" noChangeAspect="1" noMove="1" noResize="1" noEditPoints="1" noAdjustHandles="1" noChangeArrowheads="1" noChangeShapeType="1" noTextEdit="1"/>
              </p:cNvSpPr>
              <p:nvPr>
                <p:ph idx="1"/>
              </p:nvPr>
            </p:nvSpPr>
            <p:spPr>
              <a:xfrm>
                <a:off x="1104900" y="1600200"/>
                <a:ext cx="9982200" cy="5257800"/>
              </a:xfrm>
              <a:blipFill>
                <a:blip r:embed="rId2"/>
                <a:stretch>
                  <a:fillRect l="-1398" t="-241"/>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E92EE90C-9F58-1F44-81DD-44EC1A720F08}"/>
              </a:ext>
            </a:extLst>
          </p:cNvPr>
          <p:cNvSpPr>
            <a:spLocks noGrp="1"/>
          </p:cNvSpPr>
          <p:nvPr>
            <p:ph type="sldNum" sz="quarter" idx="12"/>
          </p:nvPr>
        </p:nvSpPr>
        <p:spPr/>
        <p:txBody>
          <a:bodyPr/>
          <a:lstStyle/>
          <a:p>
            <a:fld id="{0FF54DE5-C571-48E8-A5BC-B369434E2F44}" type="slidenum">
              <a:rPr lang="en-US" altLang="zh-CN" smtClean="0"/>
              <a:pPr/>
              <a:t>80</a:t>
            </a:fld>
            <a:endParaRPr lang="zh-CN" altLang="en-US" dirty="0"/>
          </a:p>
        </p:txBody>
      </p:sp>
    </p:spTree>
    <p:extLst>
      <p:ext uri="{BB962C8B-B14F-4D97-AF65-F5344CB8AC3E}">
        <p14:creationId xmlns:p14="http://schemas.microsoft.com/office/powerpoint/2010/main" val="457182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逆元</a:t>
            </a:r>
            <a:endParaRPr lang="en-US" dirty="0"/>
          </a:p>
        </p:txBody>
      </p:sp>
      <p:sp>
        <p:nvSpPr>
          <p:cNvPr id="3" name="幻灯片编号占位符 2">
            <a:extLst>
              <a:ext uri="{FF2B5EF4-FFF2-40B4-BE49-F238E27FC236}">
                <a16:creationId xmlns:a16="http://schemas.microsoft.com/office/drawing/2014/main" id="{E2C9C0CC-D262-2D46-90CD-67B9DB03F86A}"/>
              </a:ext>
            </a:extLst>
          </p:cNvPr>
          <p:cNvSpPr>
            <a:spLocks noGrp="1"/>
          </p:cNvSpPr>
          <p:nvPr>
            <p:ph type="sldNum" sz="quarter" idx="12"/>
          </p:nvPr>
        </p:nvSpPr>
        <p:spPr/>
        <p:txBody>
          <a:bodyPr/>
          <a:lstStyle/>
          <a:p>
            <a:fld id="{0FF54DE5-C571-48E8-A5BC-B369434E2F44}" type="slidenum">
              <a:rPr lang="en-US" altLang="zh-CN" smtClean="0"/>
              <a:pPr/>
              <a:t>81</a:t>
            </a:fld>
            <a:endParaRPr lang="zh-CN" altLang="en-US" dirty="0"/>
          </a:p>
        </p:txBody>
      </p:sp>
    </p:spTree>
    <p:extLst>
      <p:ext uri="{BB962C8B-B14F-4D97-AF65-F5344CB8AC3E}">
        <p14:creationId xmlns:p14="http://schemas.microsoft.com/office/powerpoint/2010/main" val="1155764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p:txBody>
          <a:bodyPr/>
          <a:lstStyle/>
          <a:p>
            <a:r>
              <a:rPr lang="zh-CN" altLang="en-US" dirty="0"/>
              <a:t>模 𝑛 意义下乘法的逆</a:t>
            </a:r>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p:txBody>
              <a:bodyPr>
                <a:normAutofit/>
              </a:bodyPr>
              <a:lstStyle/>
              <a:p>
                <a:pPr indent="266700" algn="just">
                  <a:lnSpc>
                    <a:spcPct val="150000"/>
                  </a:lnSpc>
                </a:pPr>
                <a:r>
                  <a:rPr lang="zh-CN" altLang="en-US" dirty="0"/>
                  <a:t>如果在</a:t>
                </a:r>
                <a:r>
                  <a:rPr lang="en-US" altLang="zh-CN" dirty="0"/>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𝑍</m:t>
                        </m:r>
                      </m:e>
                      <m:sub>
                        <m:r>
                          <a:rPr lang="en-US" altLang="zh-CN" i="1" dirty="0">
                            <a:latin typeface="Cambria Math" panose="02040503050406030204" pitchFamily="18" charset="0"/>
                          </a:rPr>
                          <m:t>𝑛</m:t>
                        </m:r>
                      </m:sub>
                    </m:sSub>
                  </m:oMath>
                </a14:m>
                <a:r>
                  <a:rPr lang="en-US" altLang="zh-CN" dirty="0"/>
                  <a:t> ​​</a:t>
                </a:r>
                <a:r>
                  <a:rPr lang="zh-CN" altLang="en-US" dirty="0"/>
                  <a:t>中的两元素</a:t>
                </a:r>
                <a:r>
                  <a:rPr lang="en-US" altLang="zh-CN" dirty="0"/>
                  <a:t> </a:t>
                </a:r>
                <a14:m>
                  <m:oMath xmlns:m="http://schemas.openxmlformats.org/officeDocument/2006/math">
                    <m:r>
                      <a:rPr lang="en-US" altLang="zh-CN" i="1" dirty="0" smtClean="0">
                        <a:latin typeface="Cambria Math" panose="02040503050406030204" pitchFamily="18" charset="0"/>
                      </a:rPr>
                      <m:t>𝑎</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𝑏</m:t>
                    </m:r>
                  </m:oMath>
                </a14:m>
                <a:r>
                  <a:rPr lang="en-US" altLang="zh-CN" dirty="0"/>
                  <a:t> </a:t>
                </a:r>
                <a:r>
                  <a:rPr lang="zh-CN" altLang="en-US" dirty="0"/>
                  <a:t>满足 </a:t>
                </a:r>
                <a14:m>
                  <m:oMath xmlns:m="http://schemas.openxmlformats.org/officeDocument/2006/math">
                    <m:r>
                      <a:rPr lang="en-US" altLang="zh-CN"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𝑏</m:t>
                    </m:r>
                    <m:r>
                      <a:rPr lang="en-US" altLang="zh-CN" i="1" dirty="0" smtClean="0">
                        <a:latin typeface="Cambria Math" panose="02040503050406030204" pitchFamily="18" charset="0"/>
                      </a:rPr>
                      <m:t>=1</m:t>
                    </m:r>
                  </m:oMath>
                </a14:m>
                <a:r>
                  <a:rPr lang="zh-CN" altLang="en-US" dirty="0"/>
                  <a:t>，比如在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𝑍</m:t>
                        </m:r>
                      </m:e>
                      <m:sub>
                        <m:r>
                          <a:rPr lang="en-US" altLang="zh-CN" i="1" dirty="0">
                            <a:latin typeface="Cambria Math" panose="02040503050406030204" pitchFamily="18" charset="0"/>
                          </a:rPr>
                          <m:t>15</m:t>
                        </m:r>
                      </m:sub>
                    </m:sSub>
                  </m:oMath>
                </a14:m>
                <a:r>
                  <a:rPr lang="zh-CN" altLang="en-US" dirty="0"/>
                  <a:t>中，</a:t>
                </a:r>
                <a14:m>
                  <m:oMath xmlns:m="http://schemas.openxmlformats.org/officeDocument/2006/math">
                    <m:r>
                      <a:rPr lang="en-US" altLang="zh-CN" i="1" dirty="0" smtClean="0">
                        <a:latin typeface="Cambria Math" panose="02040503050406030204" pitchFamily="18" charset="0"/>
                      </a:rPr>
                      <m:t>7</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rPr>
                      <m:t>13=1</m:t>
                    </m:r>
                  </m:oMath>
                </a14:m>
                <a:r>
                  <a:rPr lang="zh-CN" altLang="en-US" dirty="0"/>
                  <a:t>，那么我们就说</a:t>
                </a:r>
                <a14:m>
                  <m:oMath xmlns:m="http://schemas.openxmlformats.org/officeDocument/2006/math">
                    <m:r>
                      <a:rPr lang="zh-CN" altLang="en-US" i="1" dirty="0" smtClean="0">
                        <a:latin typeface="Cambria Math" panose="02040503050406030204" pitchFamily="18" charset="0"/>
                      </a:rPr>
                      <m:t> </m:t>
                    </m:r>
                    <m:r>
                      <a:rPr lang="en-US" altLang="zh-CN" i="1" dirty="0" err="1" smtClean="0">
                        <a:latin typeface="Cambria Math" panose="02040503050406030204" pitchFamily="18" charset="0"/>
                      </a:rPr>
                      <m:t>𝑎</m:t>
                    </m:r>
                    <m:r>
                      <a:rPr lang="en-US" altLang="zh-CN" i="1" dirty="0" err="1" smtClean="0">
                        <a:latin typeface="Cambria Math" panose="02040503050406030204" pitchFamily="18" charset="0"/>
                      </a:rPr>
                      <m:t>,</m:t>
                    </m:r>
                    <m:r>
                      <a:rPr lang="en-US" altLang="zh-CN" i="1" dirty="0" err="1" smtClean="0">
                        <a:latin typeface="Cambria Math" panose="02040503050406030204" pitchFamily="18" charset="0"/>
                      </a:rPr>
                      <m:t>𝑏</m:t>
                    </m:r>
                    <m:r>
                      <a:rPr lang="en-US" altLang="zh-CN" i="1" dirty="0">
                        <a:latin typeface="Cambria Math" panose="02040503050406030204" pitchFamily="18" charset="0"/>
                      </a:rPr>
                      <m:t> </m:t>
                    </m:r>
                  </m:oMath>
                </a14:m>
                <a:r>
                  <a:rPr lang="zh-CN" altLang="en-US" dirty="0"/>
                  <a:t>互为模</a:t>
                </a:r>
                <a14:m>
                  <m:oMath xmlns:m="http://schemas.openxmlformats.org/officeDocument/2006/math">
                    <m:r>
                      <a:rPr lang="zh-CN" altLang="en-US" i="1" dirty="0" smtClean="0">
                        <a:latin typeface="Cambria Math" panose="02040503050406030204" pitchFamily="18" charset="0"/>
                      </a:rPr>
                      <m:t> </m:t>
                    </m:r>
                    <m:r>
                      <a:rPr lang="en-US" altLang="zh-CN" i="1" dirty="0" smtClean="0">
                        <a:latin typeface="Cambria Math" panose="02040503050406030204" pitchFamily="18" charset="0"/>
                      </a:rPr>
                      <m:t>𝑛</m:t>
                    </m:r>
                  </m:oMath>
                </a14:m>
                <a:r>
                  <a:rPr lang="en-US" altLang="zh-CN" dirty="0"/>
                  <a:t> </a:t>
                </a:r>
                <a:r>
                  <a:rPr lang="zh-CN" altLang="en-US" dirty="0"/>
                  <a:t>意义下乘法的逆</a:t>
                </a:r>
                <a:r>
                  <a:rPr lang="zh-Hans" altLang="en-US" dirty="0"/>
                  <a:t>元</a:t>
                </a:r>
                <a:r>
                  <a:rPr lang="zh-CN" altLang="en-US" dirty="0"/>
                  <a:t>，记作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𝑎</m:t>
                        </m:r>
                      </m:e>
                      <m:sup>
                        <m:r>
                          <a:rPr lang="en-US" altLang="zh-CN" i="1">
                            <a:latin typeface="Cambria Math" panose="02040503050406030204" pitchFamily="18" charset="0"/>
                          </a:rPr>
                          <m:t>−1</m:t>
                        </m:r>
                      </m:sup>
                    </m:sSup>
                    <m:r>
                      <a:rPr lang="zh-CN" altLang="en-US" i="1" smtClean="0">
                        <a:latin typeface="Cambria Math" panose="02040503050406030204" pitchFamily="18" charset="0"/>
                      </a:rPr>
                      <m:t>。</m:t>
                    </m:r>
                  </m:oMath>
                </a14:m>
                <a:endParaRPr lang="en-US" altLang="zh-CN" dirty="0">
                  <a:sym typeface="宋体" panose="02010600030101010101" pitchFamily="2" charset="-122"/>
                </a:endParaRPr>
              </a:p>
              <a:p>
                <a:pPr indent="266700" algn="just">
                  <a:lnSpc>
                    <a:spcPct val="150000"/>
                  </a:lnSpc>
                </a:pPr>
                <a:r>
                  <a:rPr lang="zh-CN" altLang="en-US" dirty="0"/>
                  <a:t>在模运算中，除以一个数等于乘上这个数的逆</a:t>
                </a:r>
                <a:r>
                  <a:rPr lang="zh-Hans" altLang="en-US" dirty="0"/>
                  <a:t>元</a:t>
                </a:r>
                <a:r>
                  <a:rPr lang="zh-CN" altLang="en-US" dirty="0"/>
                  <a:t>（如果这个数存在乘法逆</a:t>
                </a:r>
                <a:r>
                  <a:rPr lang="zh-Hans" altLang="en-US" dirty="0"/>
                  <a:t>元</a:t>
                </a:r>
                <a:r>
                  <a:rPr lang="zh-CN" altLang="en-US" dirty="0"/>
                  <a:t>的话）。举例说明，在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𝑍</m:t>
                        </m:r>
                      </m:e>
                      <m:sub>
                        <m:r>
                          <a:rPr lang="en-US" altLang="zh-CN" i="1" dirty="0">
                            <a:latin typeface="Cambria Math" panose="02040503050406030204" pitchFamily="18" charset="0"/>
                          </a:rPr>
                          <m:t>5</m:t>
                        </m:r>
                      </m:sub>
                    </m:sSub>
                  </m:oMath>
                </a14:m>
                <a:r>
                  <a:rPr lang="zh-CN" altLang="en-US" dirty="0"/>
                  <a:t>中，</a:t>
                </a:r>
                <a14:m>
                  <m:oMath xmlns:m="http://schemas.openxmlformats.org/officeDocument/2006/math">
                    <m:r>
                      <a:rPr lang="en-US" altLang="zh-CN" i="1" dirty="0">
                        <a:latin typeface="Cambria Math" panose="02040503050406030204" pitchFamily="18" charset="0"/>
                      </a:rPr>
                      <m:t>4</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3</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4</m:t>
                    </m:r>
                    <m:r>
                      <a:rPr lang="en-US" altLang="zh-CN" i="1" dirty="0" smtClean="0">
                        <a:latin typeface="Cambria Math" panose="02040503050406030204" pitchFamily="18" charset="0"/>
                        <a:ea typeface="Cambria Math" panose="02040503050406030204" pitchFamily="18" charset="0"/>
                      </a:rPr>
                      <m:t>×</m:t>
                    </m:r>
                    <m:sSup>
                      <m:sSupPr>
                        <m:ctrlPr>
                          <a:rPr lang="en-US" altLang="zh-CN" i="1" dirty="0" smtClean="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3</m:t>
                        </m:r>
                      </m:e>
                      <m:sup>
                        <m:r>
                          <a:rPr lang="en-US" altLang="zh-CN" i="1" dirty="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1</m:t>
                        </m:r>
                      </m:sup>
                    </m:sSup>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4</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2</m:t>
                    </m:r>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3</m:t>
                    </m:r>
                  </m:oMath>
                </a14:m>
                <a:r>
                  <a:rPr lang="zh-CN" altLang="en-US" dirty="0"/>
                  <a:t>。</a:t>
                </a:r>
                <a:endParaRPr lang="en-US" altLang="zh-CN" dirty="0"/>
              </a:p>
              <a:p>
                <a:pPr indent="266700" algn="just">
                  <a:lnSpc>
                    <a:spcPct val="150000"/>
                  </a:lnSpc>
                </a:pPr>
                <a:r>
                  <a:rPr lang="zh-CN" altLang="en-US" dirty="0">
                    <a:solidFill>
                      <a:srgbClr val="333333"/>
                    </a:solidFill>
                  </a:rPr>
                  <a:t>剩余系中的每一个元素都对应一个同余等价类，所以</a:t>
                </a:r>
                <a:r>
                  <a:rPr lang="en-US" altLang="zh-CN" dirty="0">
                    <a:solidFill>
                      <a:srgbClr val="333333"/>
                    </a:solidFill>
                  </a:rPr>
                  <a:t> </a:t>
                </a:r>
                <a14:m>
                  <m:oMath xmlns:m="http://schemas.openxmlformats.org/officeDocument/2006/math">
                    <m:r>
                      <a:rPr lang="en-US" altLang="zh-CN" i="1" dirty="0">
                        <a:latin typeface="Cambria Math" panose="02040503050406030204" pitchFamily="18" charset="0"/>
                      </a:rPr>
                      <m:t>4</m:t>
                    </m:r>
                    <m:r>
                      <a:rPr lang="en-US" altLang="zh-CN" i="1" dirty="0">
                        <a:latin typeface="Cambria Math" panose="02040503050406030204" pitchFamily="18" charset="0"/>
                        <a:ea typeface="Cambria Math" panose="02040503050406030204" pitchFamily="18" charset="0"/>
                      </a:rPr>
                      <m:t>÷3=3</m:t>
                    </m:r>
                  </m:oMath>
                </a14:m>
                <a:r>
                  <a:rPr lang="en-US" altLang="zh-CN" dirty="0">
                    <a:solidFill>
                      <a:srgbClr val="333333"/>
                    </a:solidFill>
                  </a:rPr>
                  <a:t> </a:t>
                </a:r>
                <a:r>
                  <a:rPr lang="zh-CN" altLang="en-US" dirty="0">
                    <a:solidFill>
                      <a:srgbClr val="333333"/>
                    </a:solidFill>
                  </a:rPr>
                  <a:t>的实际含义是：“假定有两个整数</a:t>
                </a:r>
                <a:r>
                  <a:rPr lang="en-US" altLang="zh-CN" dirty="0">
                    <a:solidFill>
                      <a:srgbClr val="333333"/>
                    </a:solidFill>
                  </a:rPr>
                  <a:t>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oMath>
                </a14:m>
                <a:r>
                  <a:rPr lang="en-US" altLang="zh-CN" dirty="0">
                    <a:solidFill>
                      <a:srgbClr val="333333"/>
                    </a:solidFill>
                  </a:rPr>
                  <a:t>, </a:t>
                </a:r>
                <a:r>
                  <a:rPr lang="zh-CN" altLang="en-US" dirty="0">
                    <a:solidFill>
                      <a:srgbClr val="333333"/>
                    </a:solidFill>
                  </a:rPr>
                  <a:t>满足</a:t>
                </a:r>
                <a:r>
                  <a:rPr lang="en-US" altLang="zh-CN" dirty="0">
                    <a:solidFill>
                      <a:srgbClr val="333333"/>
                    </a:solidFill>
                  </a:rPr>
                  <a:t> </a:t>
                </a:r>
                <a14:m>
                  <m:oMath xmlns:m="http://schemas.openxmlformats.org/officeDocument/2006/math">
                    <m:r>
                      <a:rPr lang="en-US" altLang="zh-CN" b="0" i="1" smtClean="0">
                        <a:solidFill>
                          <a:srgbClr val="333333"/>
                        </a:solidFill>
                        <a:latin typeface="Cambria Math" panose="02040503050406030204" pitchFamily="18" charset="0"/>
                      </a:rPr>
                      <m:t>𝑎</m:t>
                    </m:r>
                    <m:r>
                      <a:rPr lang="en-US" altLang="zh-CN" b="0" i="1" smtClean="0">
                        <a:solidFill>
                          <a:srgbClr val="333333"/>
                        </a:solidFill>
                        <a:latin typeface="Cambria Math" panose="02040503050406030204" pitchFamily="18" charset="0"/>
                      </a:rPr>
                      <m:t>/</m:t>
                    </m:r>
                    <m:r>
                      <a:rPr lang="en-US" altLang="zh-CN" b="0" i="1" smtClean="0">
                        <a:solidFill>
                          <a:srgbClr val="333333"/>
                        </a:solidFill>
                        <a:latin typeface="Cambria Math" panose="02040503050406030204" pitchFamily="18" charset="0"/>
                      </a:rPr>
                      <m:t>𝑏</m:t>
                    </m:r>
                  </m:oMath>
                </a14:m>
                <a:r>
                  <a:rPr lang="en-US" altLang="zh-CN" dirty="0">
                    <a:solidFill>
                      <a:srgbClr val="333333"/>
                    </a:solidFill>
                  </a:rPr>
                  <a:t> </a:t>
                </a:r>
                <a:r>
                  <a:rPr lang="zh-CN" altLang="en-US" dirty="0">
                    <a:solidFill>
                      <a:srgbClr val="333333"/>
                    </a:solidFill>
                  </a:rPr>
                  <a:t>是整数，且</a:t>
                </a:r>
                <a:r>
                  <a:rPr lang="en-US" altLang="zh-CN" dirty="0">
                    <a:solidFill>
                      <a:srgbClr val="333333"/>
                    </a:solidFill>
                  </a:rPr>
                  <a:t> </a:t>
                </a:r>
                <a14:m>
                  <m:oMath xmlns:m="http://schemas.openxmlformats.org/officeDocument/2006/math">
                    <m:r>
                      <a:rPr lang="en-US" altLang="zh-CN" i="1" dirty="0">
                        <a:latin typeface="Cambria Math" panose="02040503050406030204" pitchFamily="18" charset="0"/>
                      </a:rPr>
                      <m:t>𝑎</m:t>
                    </m:r>
                    <m:r>
                      <a:rPr lang="en-US" altLang="zh-CN" i="1" dirty="0">
                        <a:latin typeface="Cambria Math" panose="02040503050406030204" pitchFamily="18" charset="0"/>
                      </a:rPr>
                      <m:t>,</m:t>
                    </m:r>
                    <m:r>
                      <a:rPr lang="en-US" altLang="zh-CN" i="1" dirty="0">
                        <a:latin typeface="Cambria Math" panose="02040503050406030204" pitchFamily="18" charset="0"/>
                      </a:rPr>
                      <m:t>𝑏</m:t>
                    </m:r>
                  </m:oMath>
                </a14:m>
                <a:r>
                  <a:rPr lang="en-US" altLang="zh-CN" dirty="0">
                    <a:solidFill>
                      <a:srgbClr val="333333"/>
                    </a:solidFill>
                  </a:rPr>
                  <a:t> </a:t>
                </a:r>
                <a:r>
                  <a:rPr lang="zh-CN" altLang="en-US" dirty="0">
                    <a:solidFill>
                      <a:srgbClr val="333333"/>
                    </a:solidFill>
                  </a:rPr>
                  <a:t>除以</a:t>
                </a:r>
                <a:r>
                  <a:rPr lang="en-US" altLang="zh-CN" dirty="0">
                    <a:solidFill>
                      <a:srgbClr val="333333"/>
                    </a:solidFill>
                  </a:rPr>
                  <a:t> </a:t>
                </a:r>
                <a14:m>
                  <m:oMath xmlns:m="http://schemas.openxmlformats.org/officeDocument/2006/math">
                    <m:r>
                      <a:rPr lang="en-US" altLang="zh-CN" i="1" dirty="0" smtClean="0">
                        <a:solidFill>
                          <a:srgbClr val="333333"/>
                        </a:solidFill>
                        <a:latin typeface="Cambria Math" panose="02040503050406030204" pitchFamily="18" charset="0"/>
                      </a:rPr>
                      <m:t>5</m:t>
                    </m:r>
                  </m:oMath>
                </a14:m>
                <a:r>
                  <a:rPr lang="en-US" altLang="zh-CN" dirty="0">
                    <a:solidFill>
                      <a:srgbClr val="333333"/>
                    </a:solidFill>
                  </a:rPr>
                  <a:t> </a:t>
                </a:r>
                <a:r>
                  <a:rPr lang="zh-CN" altLang="en-US" dirty="0">
                    <a:solidFill>
                      <a:srgbClr val="333333"/>
                    </a:solidFill>
                  </a:rPr>
                  <a:t>的余数分别是</a:t>
                </a:r>
                <a:r>
                  <a:rPr lang="en-US" altLang="zh-CN" dirty="0">
                    <a:solidFill>
                      <a:srgbClr val="333333"/>
                    </a:solidFill>
                  </a:rPr>
                  <a:t> </a:t>
                </a:r>
                <a14:m>
                  <m:oMath xmlns:m="http://schemas.openxmlformats.org/officeDocument/2006/math">
                    <m:r>
                      <a:rPr lang="en-US" altLang="zh-CN" i="1" dirty="0" smtClean="0">
                        <a:solidFill>
                          <a:srgbClr val="333333"/>
                        </a:solidFill>
                        <a:latin typeface="Cambria Math" panose="02040503050406030204" pitchFamily="18" charset="0"/>
                      </a:rPr>
                      <m:t>4</m:t>
                    </m:r>
                  </m:oMath>
                </a14:m>
                <a:r>
                  <a:rPr lang="en-US" altLang="zh-CN" dirty="0">
                    <a:solidFill>
                      <a:srgbClr val="333333"/>
                    </a:solidFill>
                  </a:rPr>
                  <a:t> </a:t>
                </a:r>
                <a:r>
                  <a:rPr lang="zh-CN" altLang="en-US" dirty="0">
                    <a:solidFill>
                      <a:srgbClr val="333333"/>
                    </a:solidFill>
                  </a:rPr>
                  <a:t>和</a:t>
                </a:r>
                <a:r>
                  <a:rPr lang="en-US" altLang="zh-CN" dirty="0">
                    <a:solidFill>
                      <a:srgbClr val="333333"/>
                    </a:solidFill>
                  </a:rPr>
                  <a:t> </a:t>
                </a:r>
                <a14:m>
                  <m:oMath xmlns:m="http://schemas.openxmlformats.org/officeDocument/2006/math">
                    <m:r>
                      <a:rPr lang="en-US" altLang="zh-CN" i="1" dirty="0" smtClean="0">
                        <a:solidFill>
                          <a:srgbClr val="333333"/>
                        </a:solidFill>
                        <a:latin typeface="Cambria Math" panose="02040503050406030204" pitchFamily="18" charset="0"/>
                      </a:rPr>
                      <m:t>3</m:t>
                    </m:r>
                  </m:oMath>
                </a14:m>
                <a:r>
                  <a:rPr lang="zh-CN" altLang="en-US" dirty="0">
                    <a:solidFill>
                      <a:srgbClr val="333333"/>
                    </a:solidFill>
                  </a:rPr>
                  <a:t>，那么</a:t>
                </a:r>
                <a:r>
                  <a:rPr lang="en-US" altLang="zh-CN" dirty="0">
                    <a:solidFill>
                      <a:srgbClr val="333333"/>
                    </a:solidFill>
                  </a:rPr>
                  <a:t> </a:t>
                </a:r>
                <a14:m>
                  <m:oMath xmlns:m="http://schemas.openxmlformats.org/officeDocument/2006/math">
                    <m:r>
                      <a:rPr lang="en-US" altLang="zh-CN" i="1" smtClean="0">
                        <a:solidFill>
                          <a:srgbClr val="333333"/>
                        </a:solidFill>
                        <a:latin typeface="Cambria Math" panose="02040503050406030204" pitchFamily="18" charset="0"/>
                      </a:rPr>
                      <m:t>𝑎</m:t>
                    </m:r>
                    <m:r>
                      <a:rPr lang="en-US" altLang="zh-CN" i="1">
                        <a:solidFill>
                          <a:srgbClr val="333333"/>
                        </a:solidFill>
                        <a:latin typeface="Cambria Math" panose="02040503050406030204" pitchFamily="18" charset="0"/>
                      </a:rPr>
                      <m:t>/</m:t>
                    </m:r>
                    <m:r>
                      <a:rPr lang="en-US" altLang="zh-CN" i="1">
                        <a:solidFill>
                          <a:srgbClr val="333333"/>
                        </a:solidFill>
                        <a:latin typeface="Cambria Math" panose="02040503050406030204" pitchFamily="18" charset="0"/>
                      </a:rPr>
                      <m:t>𝑏</m:t>
                    </m:r>
                  </m:oMath>
                </a14:m>
                <a:r>
                  <a:rPr lang="en-US" altLang="zh-CN" dirty="0">
                    <a:solidFill>
                      <a:srgbClr val="333333"/>
                    </a:solidFill>
                  </a:rPr>
                  <a:t> </a:t>
                </a:r>
                <a:r>
                  <a:rPr lang="zh-CN" altLang="en-US" dirty="0">
                    <a:solidFill>
                      <a:srgbClr val="333333"/>
                    </a:solidFill>
                  </a:rPr>
                  <a:t>除以</a:t>
                </a:r>
                <a:r>
                  <a:rPr lang="en-US" altLang="zh-CN" dirty="0">
                    <a:solidFill>
                      <a:srgbClr val="333333"/>
                    </a:solidFill>
                  </a:rPr>
                  <a:t> </a:t>
                </a:r>
                <a14:m>
                  <m:oMath xmlns:m="http://schemas.openxmlformats.org/officeDocument/2006/math">
                    <m:r>
                      <a:rPr lang="en-US" altLang="zh-CN" i="1" dirty="0" smtClean="0">
                        <a:solidFill>
                          <a:srgbClr val="333333"/>
                        </a:solidFill>
                        <a:latin typeface="Cambria Math" panose="02040503050406030204" pitchFamily="18" charset="0"/>
                      </a:rPr>
                      <m:t>5</m:t>
                    </m:r>
                  </m:oMath>
                </a14:m>
                <a:r>
                  <a:rPr lang="en-US" altLang="zh-CN" dirty="0">
                    <a:solidFill>
                      <a:srgbClr val="333333"/>
                    </a:solidFill>
                  </a:rPr>
                  <a:t> </a:t>
                </a:r>
                <a:r>
                  <a:rPr lang="zh-CN" altLang="en-US" dirty="0">
                    <a:solidFill>
                      <a:srgbClr val="333333"/>
                    </a:solidFill>
                  </a:rPr>
                  <a:t>的余数等于</a:t>
                </a:r>
                <a:r>
                  <a:rPr lang="en-US" altLang="zh-CN" dirty="0">
                    <a:solidFill>
                      <a:srgbClr val="333333"/>
                    </a:solidFill>
                  </a:rPr>
                  <a:t> </a:t>
                </a:r>
                <a14:m>
                  <m:oMath xmlns:m="http://schemas.openxmlformats.org/officeDocument/2006/math">
                    <m:r>
                      <a:rPr lang="en-US" altLang="zh-CN" i="1" dirty="0" smtClean="0">
                        <a:solidFill>
                          <a:srgbClr val="333333"/>
                        </a:solidFill>
                        <a:latin typeface="Cambria Math" panose="02040503050406030204" pitchFamily="18" charset="0"/>
                      </a:rPr>
                      <m:t>3</m:t>
                    </m:r>
                  </m:oMath>
                </a14:m>
                <a:r>
                  <a:rPr lang="zh-CN" altLang="en-US" dirty="0">
                    <a:solidFill>
                      <a:srgbClr val="333333"/>
                    </a:solidFill>
                  </a:rPr>
                  <a:t>”，比如 </a:t>
                </a:r>
                <a14:m>
                  <m:oMath xmlns:m="http://schemas.openxmlformats.org/officeDocument/2006/math">
                    <m:r>
                      <a:rPr lang="en-US" altLang="zh-CN" i="1" dirty="0" smtClean="0">
                        <a:solidFill>
                          <a:srgbClr val="333333"/>
                        </a:solidFill>
                        <a:latin typeface="Cambria Math" panose="02040503050406030204" pitchFamily="18" charset="0"/>
                      </a:rPr>
                      <m:t>𝑎</m:t>
                    </m:r>
                    <m:r>
                      <a:rPr lang="en-US" altLang="zh-CN" i="1" dirty="0" smtClean="0">
                        <a:solidFill>
                          <a:srgbClr val="333333"/>
                        </a:solidFill>
                        <a:latin typeface="Cambria Math" panose="02040503050406030204" pitchFamily="18" charset="0"/>
                      </a:rPr>
                      <m:t> = 9, </m:t>
                    </m:r>
                    <m:r>
                      <a:rPr lang="en-US" altLang="zh-CN" i="1" dirty="0" smtClean="0">
                        <a:solidFill>
                          <a:srgbClr val="333333"/>
                        </a:solidFill>
                        <a:latin typeface="Cambria Math" panose="02040503050406030204" pitchFamily="18" charset="0"/>
                      </a:rPr>
                      <m:t>𝑏</m:t>
                    </m:r>
                    <m:r>
                      <a:rPr lang="en-US" altLang="zh-CN" i="1" dirty="0" smtClean="0">
                        <a:solidFill>
                          <a:srgbClr val="333333"/>
                        </a:solidFill>
                        <a:latin typeface="Cambria Math" panose="02040503050406030204" pitchFamily="18" charset="0"/>
                      </a:rPr>
                      <m:t> = 3</m:t>
                    </m:r>
                  </m:oMath>
                </a14:m>
                <a:r>
                  <a:rPr lang="zh-CN" altLang="en-US" dirty="0">
                    <a:solidFill>
                      <a:srgbClr val="333333"/>
                    </a:solidFill>
                  </a:rPr>
                  <a:t>时就成立。</a:t>
                </a:r>
                <a:endParaRPr lang="zh-CN" altLang="en-US" dirty="0">
                  <a:sym typeface="宋体" panose="02010600030101010101" pitchFamily="2" charset="-122"/>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r="-1525"/>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588948E9-9A82-704C-BAD7-1D3FA53A07D9}"/>
              </a:ext>
            </a:extLst>
          </p:cNvPr>
          <p:cNvSpPr>
            <a:spLocks noGrp="1"/>
          </p:cNvSpPr>
          <p:nvPr>
            <p:ph type="sldNum" sz="quarter" idx="12"/>
          </p:nvPr>
        </p:nvSpPr>
        <p:spPr/>
        <p:txBody>
          <a:bodyPr/>
          <a:lstStyle/>
          <a:p>
            <a:fld id="{0FF54DE5-C571-48E8-A5BC-B369434E2F44}" type="slidenum">
              <a:rPr lang="en-US" altLang="zh-CN" smtClean="0"/>
              <a:pPr/>
              <a:t>82</a:t>
            </a:fld>
            <a:endParaRPr lang="zh-CN" altLang="en-US" dirty="0"/>
          </a:p>
        </p:txBody>
      </p:sp>
    </p:spTree>
    <p:extLst>
      <p:ext uri="{BB962C8B-B14F-4D97-AF65-F5344CB8AC3E}">
        <p14:creationId xmlns:p14="http://schemas.microsoft.com/office/powerpoint/2010/main" val="396379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p:txBody>
          <a:bodyPr/>
          <a:lstStyle/>
          <a:p>
            <a:r>
              <a:rPr lang="zh-CN" altLang="en-US"/>
              <a:t>逆元</a:t>
            </a:r>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a:xfrm>
                <a:off x="1104900" y="1600200"/>
                <a:ext cx="9982200" cy="5168900"/>
              </a:xfrm>
            </p:spPr>
            <p:txBody>
              <a:bodyPr>
                <a:noAutofit/>
              </a:bodyPr>
              <a:lstStyle/>
              <a:p>
                <a:pPr indent="266700" algn="just">
                  <a:lnSpc>
                    <a:spcPct val="150000"/>
                  </a:lnSpc>
                  <a:spcBef>
                    <a:spcPts val="0"/>
                  </a:spcBef>
                </a:pPr>
                <a:r>
                  <a:rPr lang="zh-CN" altLang="zh-CN" dirty="0">
                    <a:cs typeface="Times New Roman" panose="02020603050405020304" pitchFamily="18" charset="0"/>
                  </a:rPr>
                  <a:t>当</a:t>
                </a:r>
                <a:r>
                  <a:rPr lang="en-US" altLang="zh-CN" dirty="0">
                    <a:cs typeface="Times New Roman" panose="02020603050405020304" pitchFamily="18" charset="0"/>
                  </a:rPr>
                  <a:t> </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𝑎</m:t>
                    </m:r>
                    <m:r>
                      <a:rPr lang="en-US" altLang="zh-CN" i="1">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宋体" panose="02010600030101010101" pitchFamily="2" charset="-122"/>
                        <a:cs typeface="Times New Roman" panose="02020603050405020304" pitchFamily="18" charset="0"/>
                      </a:rPr>
                      <m:t>𝑚</m:t>
                    </m:r>
                  </m:oMath>
                </a14:m>
                <a:r>
                  <a:rPr lang="en-US" altLang="zh-CN" dirty="0">
                    <a:cs typeface="Times New Roman" panose="02020603050405020304" pitchFamily="18" charset="0"/>
                  </a:rPr>
                  <a:t> </a:t>
                </a:r>
                <a:r>
                  <a:rPr lang="zh-CN" altLang="zh-CN" dirty="0">
                    <a:cs typeface="Times New Roman" panose="02020603050405020304" pitchFamily="18" charset="0"/>
                  </a:rPr>
                  <a:t>互</a:t>
                </a:r>
                <a:r>
                  <a:rPr lang="zh-CN" altLang="en-US" dirty="0">
                    <a:cs typeface="Times New Roman" panose="02020603050405020304" pitchFamily="18" charset="0"/>
                  </a:rPr>
                  <a:t>素</a:t>
                </a:r>
                <a:r>
                  <a:rPr lang="zh-CN" altLang="zh-CN" dirty="0">
                    <a:cs typeface="Times New Roman" panose="02020603050405020304" pitchFamily="18" charset="0"/>
                  </a:rPr>
                  <a:t>时，</a:t>
                </a:r>
                <a:r>
                  <a:rPr lang="zh-CN" altLang="zh-CN" kern="100" dirty="0">
                    <a:cs typeface="Times New Roman" panose="02020603050405020304" pitchFamily="18" charset="0"/>
                  </a:rPr>
                  <a:t>若</a:t>
                </a:r>
                <a:r>
                  <a:rPr lang="en-US" altLang="zh-CN" kern="100" dirty="0">
                    <a:cs typeface="Times New Roman" panose="02020603050405020304" pitchFamily="18" charset="0"/>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𝑎𝑥</m:t>
                    </m:r>
                    <m:r>
                      <a:rPr lang="zh-CN"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1(</m:t>
                    </m:r>
                    <m:r>
                      <m:rPr>
                        <m:sty m:val="p"/>
                      </m:rPr>
                      <a:rPr lang="en-US" altLang="zh-CN" kern="100">
                        <a:effectLst/>
                        <a:latin typeface="Cambria Math" panose="02040503050406030204" pitchFamily="18" charset="0"/>
                        <a:ea typeface="宋体" panose="02010600030101010101" pitchFamily="2" charset="-122"/>
                        <a:cs typeface="Times New Roman" panose="02020603050405020304" pitchFamily="18" charset="0"/>
                      </a:rPr>
                      <m:t>mod</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kern="100" dirty="0">
                    <a:effectLst/>
                    <a:cs typeface="Times New Roman" panose="02020603050405020304" pitchFamily="18" charset="0"/>
                  </a:rPr>
                  <a:t>，则称</a:t>
                </a:r>
                <a:r>
                  <a:rPr lang="en-US" altLang="zh-CN" kern="100" dirty="0">
                    <a:effectLst/>
                    <a:cs typeface="Times New Roman" panose="02020603050405020304" pitchFamily="18" charset="0"/>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𝑥</m:t>
                    </m:r>
                  </m:oMath>
                </a14:m>
                <a:r>
                  <a:rPr lang="en-US" altLang="zh-CN" kern="100" dirty="0">
                    <a:effectLst/>
                    <a:cs typeface="Times New Roman" panose="02020603050405020304" pitchFamily="18" charset="0"/>
                  </a:rPr>
                  <a:t> </a:t>
                </a:r>
                <a:r>
                  <a:rPr lang="zh-CN" altLang="zh-CN" kern="100" dirty="0">
                    <a:effectLst/>
                    <a:cs typeface="Times New Roman" panose="02020603050405020304" pitchFamily="18" charset="0"/>
                  </a:rPr>
                  <a:t>是</a:t>
                </a:r>
                <a:r>
                  <a:rPr lang="en-US" altLang="zh-CN" kern="100" dirty="0">
                    <a:effectLst/>
                    <a:cs typeface="Times New Roman" panose="02020603050405020304" pitchFamily="18" charset="0"/>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oMath>
                </a14:m>
                <a:r>
                  <a:rPr lang="en-US" altLang="zh-CN" kern="100" dirty="0">
                    <a:effectLst/>
                    <a:cs typeface="Times New Roman" panose="02020603050405020304" pitchFamily="18" charset="0"/>
                  </a:rPr>
                  <a:t> </a:t>
                </a:r>
                <a:r>
                  <a:rPr lang="zh-CN" altLang="zh-CN" kern="100" dirty="0">
                    <a:effectLst/>
                    <a:cs typeface="Times New Roman" panose="02020603050405020304" pitchFamily="18" charset="0"/>
                  </a:rPr>
                  <a:t>关于模</a:t>
                </a:r>
                <a:r>
                  <a:rPr lang="en-US" altLang="zh-CN" kern="100" dirty="0">
                    <a:effectLst/>
                    <a:cs typeface="Times New Roman" panose="02020603050405020304" pitchFamily="18" charset="0"/>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𝑚</m:t>
                    </m:r>
                  </m:oMath>
                </a14:m>
                <a:r>
                  <a:rPr lang="en-US" altLang="zh-CN" kern="100" dirty="0">
                    <a:effectLst/>
                    <a:cs typeface="Times New Roman" panose="02020603050405020304" pitchFamily="18" charset="0"/>
                  </a:rPr>
                  <a:t> </a:t>
                </a:r>
                <a:r>
                  <a:rPr lang="zh-CN" altLang="zh-CN" kern="100" dirty="0">
                    <a:effectLst/>
                    <a:cs typeface="Times New Roman" panose="02020603050405020304" pitchFamily="18" charset="0"/>
                  </a:rPr>
                  <a:t>的逆元，记做</a:t>
                </a:r>
                <a:r>
                  <a:rPr lang="en-US" altLang="zh-CN" kern="100" dirty="0">
                    <a:effectLst/>
                    <a:cs typeface="Times New Roman" panose="02020603050405020304" pitchFamily="18" charset="0"/>
                  </a:rPr>
                  <a:t> </a:t>
                </a:r>
                <a14:m>
                  <m:oMath xmlns:m="http://schemas.openxmlformats.org/officeDocument/2006/math">
                    <m:sSup>
                      <m:sSup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i="1" kern="100">
                            <a:effectLst/>
                            <a:latin typeface="Cambria Math" panose="02040503050406030204" pitchFamily="18" charset="0"/>
                            <a:ea typeface="宋体" panose="02010600030101010101" pitchFamily="2" charset="-122"/>
                            <a:cs typeface="MS Mincho" panose="02020609040205080304" pitchFamily="49" charset="-128"/>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1</m:t>
                        </m:r>
                      </m:sup>
                    </m:sSup>
                  </m:oMath>
                </a14:m>
                <a:r>
                  <a:rPr lang="zh-CN" altLang="zh-CN" kern="100" dirty="0">
                    <a:effectLst/>
                    <a:cs typeface="Times New Roman" panose="02020603050405020304" pitchFamily="18" charset="0"/>
                  </a:rPr>
                  <a:t>。</a:t>
                </a:r>
                <a:r>
                  <a:rPr lang="zh-CN" altLang="zh-CN" dirty="0">
                    <a:cs typeface="Times New Roman" panose="02020603050405020304" pitchFamily="18" charset="0"/>
                  </a:rPr>
                  <a:t>在</a:t>
                </a:r>
                <a14:m>
                  <m:oMath xmlns:m="http://schemas.openxmlformats.org/officeDocument/2006/math">
                    <m:r>
                      <a:rPr lang="en-US" altLang="zh-CN" i="1">
                        <a:latin typeface="Cambria Math" panose="02040503050406030204" pitchFamily="18" charset="0"/>
                        <a:ea typeface="宋体" panose="02010600030101010101" pitchFamily="2" charset="-122"/>
                        <a:cs typeface="Times New Roman" panose="02020603050405020304" pitchFamily="18" charset="0"/>
                      </a:rPr>
                      <m:t>[0,</m:t>
                    </m:r>
                    <m:r>
                      <a:rPr lang="en-US" altLang="zh-CN" i="1">
                        <a:latin typeface="Cambria Math" panose="02040503050406030204" pitchFamily="18" charset="0"/>
                        <a:ea typeface="宋体" panose="02010600030101010101" pitchFamily="2" charset="-122"/>
                        <a:cs typeface="Times New Roman" panose="02020603050405020304" pitchFamily="18" charset="0"/>
                      </a:rPr>
                      <m:t>𝑚</m:t>
                    </m:r>
                    <m:r>
                      <a:rPr lang="en-US" altLang="zh-CN" i="1">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dirty="0">
                    <a:cs typeface="Times New Roman" panose="02020603050405020304" pitchFamily="18" charset="0"/>
                  </a:rPr>
                  <a:t> </a:t>
                </a:r>
                <a:r>
                  <a:rPr lang="zh-CN" altLang="zh-CN" dirty="0">
                    <a:cs typeface="Times New Roman" panose="02020603050405020304" pitchFamily="18" charset="0"/>
                  </a:rPr>
                  <a:t>的范围内，逆元是唯一的。</a:t>
                </a:r>
                <a:endParaRPr lang="en-US" altLang="zh-CN" kern="100" dirty="0">
                  <a:effectLst/>
                  <a:cs typeface="Times New Roman" panose="02020603050405020304" pitchFamily="18" charset="0"/>
                </a:endParaRPr>
              </a:p>
              <a:p>
                <a:pPr>
                  <a:lnSpc>
                    <a:spcPct val="150000"/>
                  </a:lnSpc>
                  <a:spcBef>
                    <a:spcPts val="0"/>
                  </a:spcBef>
                </a:pPr>
                <a:r>
                  <a:rPr lang="zh-CN" altLang="en-US" dirty="0"/>
                  <a:t>证明：</a:t>
                </a:r>
                <a:br>
                  <a:rPr lang="en-US" altLang="zh-CN" dirty="0"/>
                </a:br>
                <a:r>
                  <a:rPr lang="zh-CN" altLang="en-US" dirty="0"/>
                  <a:t>反证法，若</a:t>
                </a:r>
                <a14:m>
                  <m:oMath xmlns:m="http://schemas.openxmlformats.org/officeDocument/2006/math">
                    <m:r>
                      <a:rPr lang="en-US" altLang="zh-CN" i="1" dirty="0">
                        <a:latin typeface="Cambria Math" panose="02040503050406030204" pitchFamily="18" charset="0"/>
                      </a:rPr>
                      <m:t>𝑎</m:t>
                    </m:r>
                  </m:oMath>
                </a14:m>
                <a:r>
                  <a:rPr lang="zh-CN" altLang="en-US" dirty="0"/>
                  <a:t>有两个逆元</a:t>
                </a:r>
                <a14:m>
                  <m:oMath xmlns:m="http://schemas.openxmlformats.org/officeDocument/2006/math">
                    <m:r>
                      <a:rPr lang="en-US" altLang="zh-CN" i="1" dirty="0">
                        <a:latin typeface="Cambria Math" panose="02040503050406030204" pitchFamily="18" charset="0"/>
                      </a:rPr>
                      <m:t>0&lt;</m:t>
                    </m:r>
                    <m:r>
                      <a:rPr lang="en-US" altLang="zh-CN" i="1" dirty="0">
                        <a:latin typeface="Cambria Math" panose="02040503050406030204" pitchFamily="18" charset="0"/>
                      </a:rPr>
                      <m:t>𝑥</m:t>
                    </m:r>
                    <m:r>
                      <a:rPr lang="en-US" altLang="zh-CN" i="1" dirty="0">
                        <a:latin typeface="Cambria Math" panose="02040503050406030204" pitchFamily="18" charset="0"/>
                      </a:rPr>
                      <m:t>1&lt;</m:t>
                    </m:r>
                    <m:r>
                      <a:rPr lang="en-US" altLang="zh-CN" i="1" dirty="0">
                        <a:latin typeface="Cambria Math" panose="02040503050406030204" pitchFamily="18" charset="0"/>
                      </a:rPr>
                      <m:t>𝑥</m:t>
                    </m:r>
                    <m:r>
                      <a:rPr lang="en-US" altLang="zh-CN" i="1" dirty="0">
                        <a:latin typeface="Cambria Math" panose="02040503050406030204" pitchFamily="18" charset="0"/>
                      </a:rPr>
                      <m:t>2&lt;</m:t>
                    </m:r>
                    <m:r>
                      <a:rPr lang="en-US" altLang="zh-CN" i="1" dirty="0">
                        <a:latin typeface="Cambria Math" panose="02040503050406030204" pitchFamily="18" charset="0"/>
                      </a:rPr>
                      <m:t>𝑚</m:t>
                    </m:r>
                  </m:oMath>
                </a14:m>
                <a:r>
                  <a:rPr lang="zh-CN" altLang="en-US" dirty="0"/>
                  <a:t>，即</a:t>
                </a:r>
                <a:br>
                  <a:rPr lang="en-US" altLang="zh-CN" dirty="0"/>
                </a:br>
                <a14:m>
                  <m:oMath xmlns:m="http://schemas.openxmlformats.org/officeDocument/2006/math">
                    <m:r>
                      <a:rPr lang="en-US" altLang="zh-CN" i="1" dirty="0">
                        <a:latin typeface="Cambria Math" panose="02040503050406030204" pitchFamily="18" charset="0"/>
                      </a:rPr>
                      <m:t>𝑎𝑥</m:t>
                    </m:r>
                    <m:r>
                      <a:rPr lang="en-US" altLang="zh-CN" i="1" baseline="-25000" dirty="0">
                        <a:latin typeface="Cambria Math" panose="02040503050406030204" pitchFamily="18" charset="0"/>
                      </a:rPr>
                      <m:t>1</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𝑎𝑥</m:t>
                    </m:r>
                    <m:r>
                      <a:rPr lang="en-US" altLang="zh-CN" i="1" baseline="-25000" dirty="0">
                        <a:latin typeface="Cambria Math" panose="02040503050406030204" pitchFamily="18" charset="0"/>
                        <a:sym typeface="宋体" panose="02010600030101010101" pitchFamily="2" charset="-122"/>
                      </a:rPr>
                      <m:t>2</m:t>
                    </m:r>
                    <m:r>
                      <a:rPr lang="en-US" altLang="zh-CN" i="1" dirty="0">
                        <a:latin typeface="Cambria Math" panose="02040503050406030204" pitchFamily="18" charset="0"/>
                        <a:sym typeface="宋体" panose="02010600030101010101" pitchFamily="2" charset="-122"/>
                      </a:rPr>
                      <m:t>≡1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m:t>
                    </m:r>
                    <m:r>
                      <a:rPr lang="en-US" altLang="zh-CN" i="1" dirty="0">
                        <a:latin typeface="Cambria Math" panose="02040503050406030204" pitchFamily="18" charset="0"/>
                        <a:sym typeface="宋体" panose="02010600030101010101" pitchFamily="2" charset="-122"/>
                      </a:rPr>
                      <m:t>𝑚</m:t>
                    </m:r>
                    <m:r>
                      <a:rPr lang="en-US" altLang="zh-CN" i="1" dirty="0">
                        <a:latin typeface="Cambria Math" panose="02040503050406030204" pitchFamily="18" charset="0"/>
                        <a:sym typeface="宋体" panose="02010600030101010101" pitchFamily="2" charset="-122"/>
                      </a:rPr>
                      <m:t>)</m:t>
                    </m:r>
                  </m:oMath>
                </a14:m>
                <a:br>
                  <a:rPr lang="en-US" altLang="zh-CN" dirty="0">
                    <a:sym typeface="宋体" panose="02010600030101010101" pitchFamily="2" charset="-122"/>
                  </a:rPr>
                </a:br>
                <a:r>
                  <a:rPr lang="zh-CN" altLang="en-US" dirty="0">
                    <a:sym typeface="宋体" panose="02010600030101010101" pitchFamily="2" charset="-122"/>
                  </a:rPr>
                  <a:t>那么有 </a:t>
                </a:r>
                <a14:m>
                  <m:oMath xmlns:m="http://schemas.openxmlformats.org/officeDocument/2006/math">
                    <m:r>
                      <a:rPr lang="en-US" altLang="zh-CN" i="1" dirty="0">
                        <a:latin typeface="Cambria Math"/>
                        <a:sym typeface="宋体" panose="02010600030101010101" pitchFamily="2" charset="-122"/>
                      </a:rPr>
                      <m:t>𝑚</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𝑎</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2</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1</m:t>
                    </m:r>
                    <m:r>
                      <a:rPr lang="en-US" altLang="zh-CN" i="1" dirty="0">
                        <a:latin typeface="Cambria Math" panose="02040503050406030204" pitchFamily="18" charset="0"/>
                        <a:sym typeface="宋体" panose="02010600030101010101" pitchFamily="2" charset="-122"/>
                      </a:rPr>
                      <m:t>)</m:t>
                    </m:r>
                  </m:oMath>
                </a14:m>
                <a:r>
                  <a:rPr lang="zh-CN" altLang="en-US" dirty="0">
                    <a:sym typeface="宋体" panose="02010600030101010101" pitchFamily="2" charset="-122"/>
                  </a:rPr>
                  <a:t>成立，又由于</a:t>
                </a:r>
                <a14:m>
                  <m:oMath xmlns:m="http://schemas.openxmlformats.org/officeDocument/2006/math">
                    <m:r>
                      <a:rPr lang="en-US" altLang="zh-CN" i="1" dirty="0">
                        <a:latin typeface="Cambria Math" panose="02040503050406030204" pitchFamily="18" charset="0"/>
                        <a:sym typeface="宋体" panose="02010600030101010101" pitchFamily="2" charset="-122"/>
                      </a:rPr>
                      <m:t>(</m:t>
                    </m:r>
                    <m:r>
                      <a:rPr lang="en-US" altLang="zh-CN" i="1" dirty="0" err="1">
                        <a:latin typeface="Cambria Math" panose="02040503050406030204" pitchFamily="18" charset="0"/>
                        <a:sym typeface="宋体" panose="02010600030101010101" pitchFamily="2" charset="-122"/>
                      </a:rPr>
                      <m:t>𝑎</m:t>
                    </m:r>
                    <m:r>
                      <a:rPr lang="en-US" altLang="zh-CN" i="1" dirty="0" err="1">
                        <a:latin typeface="Cambria Math" panose="02040503050406030204" pitchFamily="18" charset="0"/>
                        <a:sym typeface="宋体" panose="02010600030101010101" pitchFamily="2" charset="-122"/>
                      </a:rPr>
                      <m:t>,</m:t>
                    </m:r>
                    <m:r>
                      <a:rPr lang="en-US" altLang="zh-CN" i="1" dirty="0">
                        <a:latin typeface="Cambria Math"/>
                        <a:sym typeface="宋体" panose="02010600030101010101" pitchFamily="2" charset="-122"/>
                      </a:rPr>
                      <m:t>𝑚</m:t>
                    </m:r>
                    <m:r>
                      <a:rPr lang="en-US" altLang="zh-CN" i="1" dirty="0">
                        <a:latin typeface="Cambria Math" panose="02040503050406030204" pitchFamily="18" charset="0"/>
                        <a:sym typeface="宋体" panose="02010600030101010101" pitchFamily="2" charset="-122"/>
                      </a:rPr>
                      <m:t>)=1</m:t>
                    </m:r>
                  </m:oMath>
                </a14:m>
                <a:r>
                  <a:rPr lang="zh-CN" altLang="en-US" dirty="0">
                    <a:sym typeface="宋体" panose="02010600030101010101" pitchFamily="2" charset="-122"/>
                  </a:rPr>
                  <a:t>，因此</a:t>
                </a:r>
                <a:endParaRPr lang="en-US" altLang="zh-CN" i="1" dirty="0">
                  <a:latin typeface="Cambria Math" panose="02040503050406030204" pitchFamily="18" charset="0"/>
                  <a:sym typeface="宋体" panose="02010600030101010101" pitchFamily="2" charset="-122"/>
                </a:endParaRPr>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r>
                        <a:rPr lang="en-US" altLang="zh-CN" i="1" dirty="0">
                          <a:latin typeface="Cambria Math"/>
                          <a:sym typeface="宋体" panose="02010600030101010101" pitchFamily="2" charset="-122"/>
                        </a:rPr>
                        <m:t>𝑚</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2</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1</m:t>
                      </m:r>
                      <m:r>
                        <a:rPr lang="en-US" altLang="zh-CN" i="1" dirty="0">
                          <a:latin typeface="Cambria Math" panose="02040503050406030204" pitchFamily="18" charset="0"/>
                          <a:sym typeface="宋体" panose="02010600030101010101" pitchFamily="2" charset="-122"/>
                        </a:rPr>
                        <m:t>)</m:t>
                      </m:r>
                    </m:oMath>
                  </m:oMathPara>
                </a14:m>
                <a:br>
                  <a:rPr lang="en-US" altLang="zh-CN" dirty="0">
                    <a:sym typeface="宋体" panose="02010600030101010101" pitchFamily="2" charset="-122"/>
                  </a:rPr>
                </a:br>
                <a:r>
                  <a:rPr lang="en-US" altLang="zh-CN" dirty="0">
                    <a:sym typeface="宋体" panose="02010600030101010101" pitchFamily="2" charset="-122"/>
                  </a:rPr>
                  <a:t>   </a:t>
                </a:r>
                <a:r>
                  <a:rPr lang="zh-CN" altLang="en-US" dirty="0">
                    <a:sym typeface="宋体" panose="02010600030101010101" pitchFamily="2" charset="-122"/>
                  </a:rPr>
                  <a:t>其中</a:t>
                </a:r>
                <a14:m>
                  <m:oMath xmlns:m="http://schemas.openxmlformats.org/officeDocument/2006/math">
                    <m:r>
                      <a:rPr lang="en-US" altLang="zh-CN" i="1" dirty="0">
                        <a:latin typeface="Cambria Math" panose="02040503050406030204" pitchFamily="18" charset="0"/>
                        <a:sym typeface="宋体" panose="02010600030101010101" pitchFamily="2" charset="-122"/>
                      </a:rPr>
                      <m:t>0&lt;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2</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𝑥</m:t>
                    </m:r>
                    <m:r>
                      <a:rPr lang="en-US" altLang="zh-CN" i="1" baseline="-25000" dirty="0">
                        <a:latin typeface="Cambria Math" panose="02040503050406030204" pitchFamily="18" charset="0"/>
                        <a:sym typeface="宋体" panose="02010600030101010101" pitchFamily="2" charset="-122"/>
                      </a:rPr>
                      <m:t>1</m:t>
                    </m:r>
                    <m:r>
                      <a:rPr lang="en-US" altLang="zh-CN" i="1" dirty="0">
                        <a:latin typeface="Cambria Math" panose="02040503050406030204" pitchFamily="18" charset="0"/>
                        <a:sym typeface="宋体" panose="02010600030101010101" pitchFamily="2" charset="-122"/>
                      </a:rPr>
                      <m:t>&lt;</m:t>
                    </m:r>
                    <m:r>
                      <a:rPr lang="en-US" altLang="zh-CN" i="1" dirty="0">
                        <a:latin typeface="Cambria Math"/>
                        <a:sym typeface="宋体" panose="02010600030101010101" pitchFamily="2" charset="-122"/>
                      </a:rPr>
                      <m:t>𝑚</m:t>
                    </m:r>
                  </m:oMath>
                </a14:m>
                <a:r>
                  <a:rPr lang="zh-CN" altLang="en-US" dirty="0">
                    <a:sym typeface="宋体" panose="02010600030101010101" pitchFamily="2" charset="-122"/>
                  </a:rPr>
                  <a:t>，产生了矛盾。</a:t>
                </a:r>
                <a:endParaRPr lang="en-US" altLang="zh-CN" kern="100" dirty="0">
                  <a:effectLst/>
                  <a:cs typeface="Times New Roman" panose="02020603050405020304" pitchFamily="18" charset="0"/>
                </a:endParaRPr>
              </a:p>
              <a:p>
                <a:pPr indent="266700" algn="just">
                  <a:lnSpc>
                    <a:spcPct val="150000"/>
                  </a:lnSpc>
                  <a:spcBef>
                    <a:spcPts val="0"/>
                  </a:spcBef>
                </a:pPr>
                <a:r>
                  <a:rPr lang="zh-CN" altLang="zh-CN" kern="100" dirty="0">
                    <a:effectLst/>
                    <a:cs typeface="Times New Roman" panose="02020603050405020304" pitchFamily="18" charset="0"/>
                  </a:rPr>
                  <a:t>将一个整数乘以</a:t>
                </a:r>
                <a:r>
                  <a:rPr lang="en-US" altLang="zh-CN" kern="100" dirty="0">
                    <a:effectLst/>
                    <a:cs typeface="Times New Roman" panose="02020603050405020304" pitchFamily="18" charset="0"/>
                  </a:rPr>
                  <a:t> </a:t>
                </a:r>
                <a14:m>
                  <m:oMath xmlns:m="http://schemas.openxmlformats.org/officeDocument/2006/math">
                    <m:sSup>
                      <m:sSup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e>
                      <m:sup>
                        <m:r>
                          <a:rPr lang="en-US" altLang="zh-CN" i="1" kern="100">
                            <a:effectLst/>
                            <a:latin typeface="Cambria Math" panose="02040503050406030204" pitchFamily="18" charset="0"/>
                            <a:ea typeface="宋体" panose="02010600030101010101" pitchFamily="2" charset="-122"/>
                            <a:cs typeface="MS Mincho" panose="02020609040205080304" pitchFamily="49" charset="-128"/>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1</m:t>
                        </m:r>
                      </m:sup>
                    </m:sSup>
                  </m:oMath>
                </a14:m>
                <a:r>
                  <a:rPr lang="en-US" altLang="zh-CN" kern="100" dirty="0">
                    <a:effectLst/>
                    <a:cs typeface="Times New Roman" panose="02020603050405020304" pitchFamily="18" charset="0"/>
                  </a:rPr>
                  <a:t> </a:t>
                </a:r>
                <a:r>
                  <a:rPr lang="zh-CN" altLang="zh-CN" kern="100" dirty="0">
                    <a:effectLst/>
                    <a:cs typeface="Times New Roman" panose="02020603050405020304" pitchFamily="18" charset="0"/>
                  </a:rPr>
                  <a:t>可以与一次乘以</a:t>
                </a:r>
                <a:r>
                  <a:rPr lang="en-US" altLang="zh-CN" kern="100" dirty="0">
                    <a:effectLst/>
                    <a:cs typeface="Times New Roman" panose="02020603050405020304" pitchFamily="18" charset="0"/>
                  </a:rPr>
                  <a:t> </a:t>
                </a:r>
                <a14:m>
                  <m:oMath xmlns:m="http://schemas.openxmlformats.org/officeDocument/2006/math">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oMath>
                </a14:m>
                <a:r>
                  <a:rPr lang="en-US" altLang="zh-CN" kern="100" dirty="0">
                    <a:effectLst/>
                    <a:cs typeface="Times New Roman" panose="02020603050405020304" pitchFamily="18" charset="0"/>
                  </a:rPr>
                  <a:t> </a:t>
                </a:r>
                <a:r>
                  <a:rPr lang="zh-CN" altLang="zh-CN" kern="100" dirty="0">
                    <a:effectLst/>
                    <a:cs typeface="Times New Roman" panose="02020603050405020304" pitchFamily="18" charset="0"/>
                  </a:rPr>
                  <a:t>的操作抵消，相当于模意义下的除法。因此</a:t>
                </a:r>
              </a:p>
              <a:p>
                <a:pPr indent="0" algn="just">
                  <a:lnSpc>
                    <a:spcPct val="150000"/>
                  </a:lnSpc>
                  <a:spcBef>
                    <a:spcPts val="0"/>
                  </a:spcBef>
                  <a:buNone/>
                </a:pPr>
                <a14:m>
                  <m:oMathPara xmlns:m="http://schemas.openxmlformats.org/officeDocument/2006/math">
                    <m:oMathParaPr>
                      <m:jc m:val="centerGroup"/>
                    </m:oMathParaPr>
                    <m:oMath xmlns:m="http://schemas.openxmlformats.org/officeDocument/2006/math">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e>
                      </m:d>
                      <m:r>
                        <m:rPr>
                          <m:sty m:val="p"/>
                        </m:rPr>
                        <a:rPr lang="en-US" altLang="zh-CN" b="0" i="0" kern="100" smtClean="0">
                          <a:effectLst/>
                          <a:latin typeface="Cambria Math" panose="02040503050406030204" pitchFamily="18" charset="0"/>
                          <a:ea typeface="宋体" panose="02010600030101010101" pitchFamily="2" charset="-122"/>
                          <a:cs typeface="Times New Roman" panose="02020603050405020304" pitchFamily="18" charset="0"/>
                        </a:rPr>
                        <m:t>mod</m:t>
                      </m:r>
                      <m:r>
                        <a:rPr lang="en-US" altLang="zh-CN" b="0" i="0" kern="100" smtClean="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𝑚</m:t>
                      </m:r>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m:t>
                      </m:r>
                      <m:d>
                        <m:d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𝑎</m:t>
                          </m:r>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𝑏</m:t>
                              </m:r>
                            </m:e>
                            <m:sup>
                              <m:r>
                                <a:rPr lang="en-US" altLang="zh-CN" i="1" kern="100">
                                  <a:effectLst/>
                                  <a:latin typeface="Cambria Math" panose="02040503050406030204" pitchFamily="18" charset="0"/>
                                  <a:ea typeface="宋体" panose="02010600030101010101" pitchFamily="2" charset="-122"/>
                                  <a:cs typeface="Times New Roman" panose="02020603050405020304" pitchFamily="18" charset="0"/>
                                </a:rPr>
                                <m:t>−1</m:t>
                              </m:r>
                            </m:sup>
                          </m:sSup>
                        </m:e>
                      </m:d>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 </m:t>
                      </m:r>
                      <m:r>
                        <m:rPr>
                          <m:sty m:val="p"/>
                        </m:rPr>
                        <a:rPr lang="en-US" altLang="zh-CN" b="0" i="0" kern="100" smtClean="0">
                          <a:effectLst/>
                          <a:latin typeface="Cambria Math" panose="02040503050406030204" pitchFamily="18" charset="0"/>
                          <a:ea typeface="宋体" panose="02010600030101010101" pitchFamily="2" charset="-122"/>
                          <a:cs typeface="Times New Roman" panose="02020603050405020304" pitchFamily="18" charset="0"/>
                        </a:rPr>
                        <m:t>mod</m:t>
                      </m:r>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b="0" i="1" kern="100" smtClean="0">
                          <a:effectLst/>
                          <a:latin typeface="Cambria Math" panose="02040503050406030204" pitchFamily="18" charset="0"/>
                          <a:ea typeface="宋体" panose="02010600030101010101" pitchFamily="2" charset="-122"/>
                          <a:cs typeface="Times New Roman" panose="02020603050405020304" pitchFamily="18" charset="0"/>
                        </a:rPr>
                        <m:t>𝑚</m:t>
                      </m:r>
                    </m:oMath>
                  </m:oMathPara>
                </a14:m>
                <a:endParaRPr lang="en-US" altLang="zh-CN" dirty="0">
                  <a:effectLst/>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68900"/>
              </a:xfrm>
              <a:blipFill>
                <a:blip r:embed="rId2"/>
                <a:stretch>
                  <a:fillRect l="-1398" r="-1525"/>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F2E94906-0CDA-D04A-8A0B-28C8E711C5BC}"/>
              </a:ext>
            </a:extLst>
          </p:cNvPr>
          <p:cNvSpPr>
            <a:spLocks noGrp="1"/>
          </p:cNvSpPr>
          <p:nvPr>
            <p:ph type="sldNum" sz="quarter" idx="12"/>
          </p:nvPr>
        </p:nvSpPr>
        <p:spPr/>
        <p:txBody>
          <a:bodyPr/>
          <a:lstStyle/>
          <a:p>
            <a:fld id="{0FF54DE5-C571-48E8-A5BC-B369434E2F44}" type="slidenum">
              <a:rPr lang="en-US" altLang="zh-CN" smtClean="0"/>
              <a:pPr/>
              <a:t>83</a:t>
            </a:fld>
            <a:endParaRPr lang="zh-CN" altLang="en-US" dirty="0"/>
          </a:p>
        </p:txBody>
      </p:sp>
    </p:spTree>
    <p:extLst>
      <p:ext uri="{BB962C8B-B14F-4D97-AF65-F5344CB8AC3E}">
        <p14:creationId xmlns:p14="http://schemas.microsoft.com/office/powerpoint/2010/main" val="1346566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p:nvPr>
        </p:nvSpPr>
        <p:spPr/>
        <p:txBody>
          <a:bodyPr/>
          <a:lstStyle/>
          <a:p>
            <a:r>
              <a:rPr lang="zh-Hans" altLang="en-US" dirty="0"/>
              <a:t>求解</a:t>
            </a:r>
            <a:r>
              <a:rPr lang="zh-CN" altLang="en-US" dirty="0"/>
              <a:t>逆元</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600200"/>
                <a:ext cx="9982200" cy="2743200"/>
              </a:xfrm>
            </p:spPr>
            <p:txBody>
              <a:bodyPr>
                <a:normAutofit/>
              </a:bodyPr>
              <a:lstStyle/>
              <a:p>
                <a:pPr>
                  <a:lnSpc>
                    <a:spcPct val="150000"/>
                  </a:lnSpc>
                </a:pPr>
                <a:r>
                  <a:rPr lang="zh-CN" altLang="en-US" dirty="0">
                    <a:sym typeface="宋体" panose="02010600030101010101" pitchFamily="2" charset="-122"/>
                  </a:rPr>
                  <a:t>求</a:t>
                </a:r>
                <a:r>
                  <a:rPr lang="zh-Hans" altLang="en-US" dirty="0">
                    <a:sym typeface="宋体" panose="02010600030101010101" pitchFamily="2" charset="-122"/>
                  </a:rPr>
                  <a:t>解</a:t>
                </a:r>
                <a:r>
                  <a:rPr lang="zh-CN" altLang="en-US" dirty="0">
                    <a:sym typeface="宋体" panose="02010600030101010101" pitchFamily="2" charset="-122"/>
                  </a:rPr>
                  <a:t>逆元等价于解方程</a:t>
                </a:r>
                <a:endParaRPr lang="en-US" altLang="zh-CN" dirty="0">
                  <a:sym typeface="宋体" panose="02010600030101010101" pitchFamily="2" charset="-122"/>
                </a:endParaRPr>
              </a:p>
              <a:p>
                <a:pPr marL="0" indent="0">
                  <a:lnSpc>
                    <a:spcPct val="150000"/>
                  </a:lnSpc>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sym typeface="宋体" panose="02010600030101010101" pitchFamily="2" charset="-122"/>
                        </a:rPr>
                        <m:t>𝑎𝑥</m:t>
                      </m:r>
                      <m:r>
                        <a:rPr lang="en-US" altLang="zh-CN" i="1" dirty="0" smtClean="0">
                          <a:latin typeface="Cambria Math" panose="02040503050406030204" pitchFamily="18" charset="0"/>
                          <a:sym typeface="宋体" panose="02010600030101010101" pitchFamily="2" charset="-122"/>
                        </a:rPr>
                        <m:t>+</m:t>
                      </m:r>
                      <m:r>
                        <a:rPr lang="en-US" altLang="zh-CN" i="1" dirty="0" smtClean="0">
                          <a:latin typeface="Cambria Math" panose="02040503050406030204" pitchFamily="18" charset="0"/>
                          <a:sym typeface="宋体" panose="02010600030101010101" pitchFamily="2" charset="-122"/>
                        </a:rPr>
                        <m:t>𝑚𝑦</m:t>
                      </m:r>
                      <m:r>
                        <a:rPr lang="en-US" altLang="zh-CN" i="1" dirty="0" smtClean="0">
                          <a:latin typeface="Cambria Math" panose="02040503050406030204" pitchFamily="18" charset="0"/>
                          <a:sym typeface="宋体" panose="02010600030101010101" pitchFamily="2" charset="-122"/>
                        </a:rPr>
                        <m:t>=1</m:t>
                      </m:r>
                    </m:oMath>
                  </m:oMathPara>
                </a14:m>
                <a:endParaRPr lang="en-US" altLang="zh-CN" dirty="0">
                  <a:sym typeface="宋体" panose="02010600030101010101" pitchFamily="2" charset="-122"/>
                </a:endParaRPr>
              </a:p>
              <a:p>
                <a:pPr>
                  <a:lnSpc>
                    <a:spcPct val="150000"/>
                  </a:lnSpc>
                </a:pPr>
                <a:r>
                  <a:rPr lang="zh-CN" altLang="zh-CN" dirty="0">
                    <a:effectLst/>
                    <a:cs typeface="Times New Roman" panose="02020603050405020304" pitchFamily="18" charset="0"/>
                  </a:rPr>
                  <a:t>通过扩展欧几里得算法求逆元的实现如下：</a:t>
                </a:r>
                <a:endParaRPr lang="zh-CN" altLang="en-US"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2743200"/>
              </a:xfrm>
              <a:blipFill>
                <a:blip r:embed="rId2"/>
                <a:stretch>
                  <a:fillRect l="-1398"/>
                </a:stretch>
              </a:blipFill>
            </p:spPr>
            <p:txBody>
              <a:bodyPr/>
              <a:lstStyle/>
              <a:p>
                <a:r>
                  <a:rPr lang="zh-CN" altLang="en-US">
                    <a:noFill/>
                  </a:rPr>
                  <a:t> </a:t>
                </a:r>
              </a:p>
            </p:txBody>
          </p:sp>
        </mc:Fallback>
      </mc:AlternateContent>
      <p:sp>
        <p:nvSpPr>
          <p:cNvPr id="4" name="矩形 3"/>
          <p:cNvSpPr/>
          <p:nvPr/>
        </p:nvSpPr>
        <p:spPr>
          <a:xfrm>
            <a:off x="1104900" y="3527792"/>
            <a:ext cx="8274231" cy="1631216"/>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inverse</a:t>
            </a:r>
            <a:r>
              <a:rPr lang="en-US" altLang="zh-CN" sz="2000" b="1" dirty="0">
                <a:solidFill>
                  <a:srgbClr val="000080"/>
                </a:solidFill>
                <a:highlight>
                  <a:srgbClr val="FFFFF3"/>
                </a:highlight>
                <a:latin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b</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y</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s-ES" altLang="zh-CN" sz="2000" dirty="0">
                <a:solidFill>
                  <a:srgbClr val="FF8000"/>
                </a:solidFill>
                <a:highlight>
                  <a:srgbClr val="FFFFF3"/>
                </a:highlight>
                <a:latin typeface="Courier New" panose="02070309020205020404" pitchFamily="49" charset="0"/>
              </a:rPr>
              <a:t>3</a:t>
            </a:r>
            <a:r>
              <a:rPr lang="es-ES" altLang="zh-CN" sz="2000" dirty="0">
                <a:solidFill>
                  <a:srgbClr val="000000"/>
                </a:solidFill>
                <a:highlight>
                  <a:srgbClr val="FFFFF3"/>
                </a:highlight>
                <a:latin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extend_gcd</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a</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b</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x</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y</a:t>
            </a:r>
            <a:r>
              <a:rPr lang="es-ES" altLang="zh-CN" sz="2000" b="1" dirty="0">
                <a:solidFill>
                  <a:srgbClr val="000080"/>
                </a:solidFill>
                <a:highlight>
                  <a:srgbClr val="FFFFF3"/>
                </a:highlight>
                <a:latin typeface="Courier New" panose="02070309020205020404" pitchFamily="49" charset="0"/>
              </a:rPr>
              <a:t>);</a:t>
            </a:r>
            <a:endParaRPr lang="es-E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5</a:t>
            </a:r>
            <a:r>
              <a:rPr lang="zh-CN" altLang="en-US"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zh-CN" altLang="en-US" sz="2000" dirty="0"/>
          </a:p>
        </p:txBody>
      </p:sp>
      <p:sp>
        <p:nvSpPr>
          <p:cNvPr id="2" name="幻灯片编号占位符 1">
            <a:extLst>
              <a:ext uri="{FF2B5EF4-FFF2-40B4-BE49-F238E27FC236}">
                <a16:creationId xmlns:a16="http://schemas.microsoft.com/office/drawing/2014/main" id="{0764E337-776B-3646-A106-4653A4EBED01}"/>
              </a:ext>
            </a:extLst>
          </p:cNvPr>
          <p:cNvSpPr>
            <a:spLocks noGrp="1"/>
          </p:cNvSpPr>
          <p:nvPr>
            <p:ph type="sldNum" sz="quarter" idx="12"/>
          </p:nvPr>
        </p:nvSpPr>
        <p:spPr/>
        <p:txBody>
          <a:bodyPr/>
          <a:lstStyle/>
          <a:p>
            <a:fld id="{0FF54DE5-C571-48E8-A5BC-B369434E2F44}" type="slidenum">
              <a:rPr lang="en-US" altLang="zh-CN" smtClean="0"/>
              <a:pPr/>
              <a:t>84</a:t>
            </a:fld>
            <a:endParaRPr lang="zh-CN" altLang="en-US" dirty="0"/>
          </a:p>
        </p:txBody>
      </p:sp>
    </p:spTree>
    <p:extLst>
      <p:ext uri="{BB962C8B-B14F-4D97-AF65-F5344CB8AC3E}">
        <p14:creationId xmlns:p14="http://schemas.microsoft.com/office/powerpoint/2010/main" val="364281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使用欧拉定理求逆元</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11427"/>
                <a:ext cx="9980682" cy="2269538"/>
              </a:xfrm>
            </p:spPr>
            <p:txBody>
              <a:bodyPr>
                <a:normAutofit/>
              </a:bodyPr>
              <a:lstStyle/>
              <a:p>
                <a:pPr>
                  <a:lnSpc>
                    <a:spcPct val="150000"/>
                  </a:lnSpc>
                </a:pPr>
                <a14:m>
                  <m:oMath xmlns:m="http://schemas.openxmlformats.org/officeDocument/2006/math">
                    <m:r>
                      <a:rPr lang="en-US" altLang="zh-CN" i="1" noProof="1" smtClean="0">
                        <a:solidFill>
                          <a:prstClr val="black"/>
                        </a:solidFill>
                        <a:latin typeface="Cambria Math" panose="02040503050406030204" pitchFamily="18" charset="0"/>
                        <a:ea typeface="宋体" panose="02010600030101010101" pitchFamily="2" charset="-122"/>
                      </a:rPr>
                      <m:t>𝑎</m:t>
                    </m:r>
                    <m:r>
                      <a:rPr lang="en-US" altLang="zh-CN" b="0" i="1" noProof="1" smtClean="0">
                        <a:solidFill>
                          <a:prstClr val="black"/>
                        </a:solidFill>
                        <a:latin typeface="Cambria Math" panose="02040503050406030204" pitchFamily="18" charset="0"/>
                        <a:ea typeface="宋体" panose="02010600030101010101" pitchFamily="2" charset="-122"/>
                      </a:rPr>
                      <m:t>∗</m:t>
                    </m:r>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𝑚</m:t>
                            </m:r>
                          </m:e>
                        </m:d>
                        <m:r>
                          <a:rPr lang="en-US" altLang="zh-CN" i="1">
                            <a:latin typeface="Cambria Math" panose="02040503050406030204" pitchFamily="18" charset="0"/>
                          </a:rPr>
                          <m:t>−1</m:t>
                        </m:r>
                      </m:sup>
                    </m:sSup>
                    <m:r>
                      <a:rPr lang="en-US" altLang="zh-CN" i="1" noProof="1">
                        <a:solidFill>
                          <a:prstClr val="black"/>
                        </a:solidFill>
                        <a:latin typeface="Cambria Math" panose="02040503050406030204" pitchFamily="18" charset="0"/>
                        <a:ea typeface="宋体" panose="02010600030101010101" pitchFamily="2" charset="-122"/>
                        <a:sym typeface="+mn-ea"/>
                      </a:rPr>
                      <m:t>≡1 </m:t>
                    </m:r>
                    <m:d>
                      <m:dPr>
                        <m:ctrlPr>
                          <a:rPr lang="en-US" altLang="zh-CN" i="1" noProof="1">
                            <a:solidFill>
                              <a:prstClr val="black"/>
                            </a:solidFill>
                            <a:latin typeface="Cambria Math" panose="02040503050406030204" pitchFamily="18" charset="0"/>
                            <a:ea typeface="宋体" panose="02010600030101010101" pitchFamily="2" charset="-122"/>
                            <a:sym typeface="+mn-ea"/>
                          </a:rPr>
                        </m:ctrlPr>
                      </m:dPr>
                      <m:e>
                        <m:r>
                          <m:rPr>
                            <m:sty m:val="p"/>
                          </m:rPr>
                          <a:rPr lang="en-US" altLang="zh-CN" noProof="1">
                            <a:solidFill>
                              <a:prstClr val="black"/>
                            </a:solidFill>
                            <a:latin typeface="Cambria Math" panose="02040503050406030204" pitchFamily="18" charset="0"/>
                            <a:ea typeface="宋体" panose="02010600030101010101" pitchFamily="2" charset="-122"/>
                            <a:sym typeface="+mn-ea"/>
                          </a:rPr>
                          <m:t>mod</m:t>
                        </m:r>
                        <m:r>
                          <a:rPr lang="en-US" altLang="zh-CN" i="1" noProof="1">
                            <a:solidFill>
                              <a:prstClr val="black"/>
                            </a:solidFill>
                            <a:latin typeface="Cambria Math" panose="02040503050406030204" pitchFamily="18" charset="0"/>
                            <a:ea typeface="宋体" panose="02010600030101010101" pitchFamily="2" charset="-122"/>
                            <a:sym typeface="+mn-ea"/>
                          </a:rPr>
                          <m:t> </m:t>
                        </m:r>
                        <m:r>
                          <a:rPr lang="en-US" altLang="zh-CN" i="1" noProof="1">
                            <a:solidFill>
                              <a:prstClr val="black"/>
                            </a:solidFill>
                            <a:latin typeface="Cambria Math" panose="02040503050406030204" pitchFamily="18" charset="0"/>
                            <a:ea typeface="宋体" panose="02010600030101010101" pitchFamily="2" charset="-122"/>
                            <a:sym typeface="+mn-ea"/>
                          </a:rPr>
                          <m:t>𝑚</m:t>
                        </m:r>
                      </m:e>
                    </m:d>
                  </m:oMath>
                </a14:m>
                <a:r>
                  <a:rPr lang="zh-CN" altLang="en-US" noProof="1">
                    <a:solidFill>
                      <a:srgbClr val="514843"/>
                    </a:solidFill>
                    <a:sym typeface="+mn-ea"/>
                  </a:rPr>
                  <a:t> 。若</a:t>
                </a:r>
                <a14:m>
                  <m:oMath xmlns:m="http://schemas.openxmlformats.org/officeDocument/2006/math">
                    <m:r>
                      <a:rPr lang="en-US" altLang="zh-CN" i="1" noProof="1">
                        <a:solidFill>
                          <a:srgbClr val="514843"/>
                        </a:solidFill>
                        <a:latin typeface="Cambria Math" panose="02040503050406030204" pitchFamily="18" charset="0"/>
                        <a:sym typeface="+mn-ea"/>
                      </a:rPr>
                      <m:t>𝑚</m:t>
                    </m:r>
                  </m:oMath>
                </a14:m>
                <a:r>
                  <a:rPr lang="zh-CN" altLang="en-US" noProof="1">
                    <a:solidFill>
                      <a:srgbClr val="514843"/>
                    </a:solidFill>
                    <a:sym typeface="+mn-ea"/>
                  </a:rPr>
                  <a:t>是素数：</a:t>
                </a:r>
                <a14:m>
                  <m:oMath xmlns:m="http://schemas.openxmlformats.org/officeDocument/2006/math">
                    <m:r>
                      <a:rPr lang="en-US" altLang="zh-CN" i="1" noProof="1">
                        <a:solidFill>
                          <a:prstClr val="black"/>
                        </a:solidFill>
                        <a:latin typeface="Cambria Math" panose="02040503050406030204" pitchFamily="18" charset="0"/>
                        <a:ea typeface="宋体" panose="02010600030101010101" pitchFamily="2" charset="-122"/>
                      </a:rPr>
                      <m:t>𝑎</m:t>
                    </m:r>
                    <m:r>
                      <a:rPr lang="en-US" altLang="zh-CN" b="0" i="1" noProof="1" smtClean="0">
                        <a:solidFill>
                          <a:prstClr val="black"/>
                        </a:solidFill>
                        <a:latin typeface="Cambria Math" panose="02040503050406030204" pitchFamily="18" charset="0"/>
                        <a:ea typeface="宋体" panose="02010600030101010101" pitchFamily="2" charset="-122"/>
                      </a:rPr>
                      <m:t>∗</m:t>
                    </m:r>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noProof="1">
                            <a:solidFill>
                              <a:prstClr val="black"/>
                            </a:solidFill>
                            <a:latin typeface="Cambria Math" panose="02040503050406030204" pitchFamily="18" charset="0"/>
                            <a:ea typeface="Cambria Math" panose="02040503050406030204" pitchFamily="18" charset="0"/>
                          </a:rPr>
                          <m:t>𝑚</m:t>
                        </m:r>
                        <m:r>
                          <a:rPr lang="en-US" altLang="zh-CN" i="1">
                            <a:latin typeface="Cambria Math" panose="02040503050406030204" pitchFamily="18" charset="0"/>
                          </a:rPr>
                          <m:t>−2</m:t>
                        </m:r>
                      </m:sup>
                    </m:sSup>
                    <m:r>
                      <a:rPr lang="en-US" altLang="zh-CN" i="1" noProof="1">
                        <a:solidFill>
                          <a:prstClr val="black"/>
                        </a:solidFill>
                        <a:latin typeface="Cambria Math" panose="02040503050406030204" pitchFamily="18" charset="0"/>
                        <a:ea typeface="宋体" panose="02010600030101010101" pitchFamily="2" charset="-122"/>
                        <a:sym typeface="+mn-ea"/>
                      </a:rPr>
                      <m:t>≡1 </m:t>
                    </m:r>
                    <m:d>
                      <m:dPr>
                        <m:ctrlPr>
                          <a:rPr lang="en-US" altLang="zh-CN" i="1" noProof="1">
                            <a:solidFill>
                              <a:prstClr val="black"/>
                            </a:solidFill>
                            <a:latin typeface="Cambria Math" panose="02040503050406030204" pitchFamily="18" charset="0"/>
                            <a:ea typeface="宋体" panose="02010600030101010101" pitchFamily="2" charset="-122"/>
                            <a:sym typeface="+mn-ea"/>
                          </a:rPr>
                        </m:ctrlPr>
                      </m:dPr>
                      <m:e>
                        <m:r>
                          <m:rPr>
                            <m:sty m:val="p"/>
                          </m:rPr>
                          <a:rPr lang="en-US" altLang="zh-CN" noProof="1">
                            <a:solidFill>
                              <a:prstClr val="black"/>
                            </a:solidFill>
                            <a:latin typeface="Cambria Math" panose="02040503050406030204" pitchFamily="18" charset="0"/>
                            <a:ea typeface="宋体" panose="02010600030101010101" pitchFamily="2" charset="-122"/>
                            <a:sym typeface="+mn-ea"/>
                          </a:rPr>
                          <m:t>mod</m:t>
                        </m:r>
                        <m:r>
                          <a:rPr lang="en-US" altLang="zh-CN" i="1" noProof="1">
                            <a:solidFill>
                              <a:prstClr val="black"/>
                            </a:solidFill>
                            <a:latin typeface="Cambria Math" panose="02040503050406030204" pitchFamily="18" charset="0"/>
                            <a:ea typeface="宋体" panose="02010600030101010101" pitchFamily="2" charset="-122"/>
                            <a:sym typeface="+mn-ea"/>
                          </a:rPr>
                          <m:t> </m:t>
                        </m:r>
                        <m:r>
                          <a:rPr lang="en-US" altLang="zh-CN" i="1" noProof="1">
                            <a:solidFill>
                              <a:prstClr val="black"/>
                            </a:solidFill>
                            <a:latin typeface="Cambria Math" panose="02040503050406030204" pitchFamily="18" charset="0"/>
                            <a:ea typeface="宋体" panose="02010600030101010101" pitchFamily="2" charset="-122"/>
                            <a:sym typeface="+mn-ea"/>
                          </a:rPr>
                          <m:t>𝑚</m:t>
                        </m:r>
                      </m:e>
                    </m:d>
                  </m:oMath>
                </a14:m>
                <a:endParaRPr lang="en-US" altLang="zh-CN" noProof="1">
                  <a:sym typeface="+mn-ea"/>
                </a:endParaRPr>
              </a:p>
              <a:p>
                <a:pPr>
                  <a:lnSpc>
                    <a:spcPct val="150000"/>
                  </a:lnSpc>
                </a:pPr>
                <a:r>
                  <a:rPr lang="zh-CN" altLang="en-US" noProof="1">
                    <a:sym typeface="+mn-ea"/>
                  </a:rPr>
                  <a:t>可得</a:t>
                </a:r>
                <a14:m>
                  <m:oMath xmlns:m="http://schemas.openxmlformats.org/officeDocument/2006/math">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a:latin typeface="Cambria Math" panose="02040503050406030204" pitchFamily="18" charset="0"/>
                          </a:rPr>
                          <m:t>𝜑</m:t>
                        </m:r>
                        <m:d>
                          <m:dPr>
                            <m:ctrlPr>
                              <a:rPr lang="zh-CN" altLang="zh-CN" i="1">
                                <a:latin typeface="Cambria Math" panose="02040503050406030204" pitchFamily="18" charset="0"/>
                              </a:rPr>
                            </m:ctrlPr>
                          </m:dPr>
                          <m:e>
                            <m:r>
                              <a:rPr lang="en-US" altLang="zh-CN" i="1">
                                <a:latin typeface="Cambria Math" panose="02040503050406030204" pitchFamily="18" charset="0"/>
                              </a:rPr>
                              <m:t>𝑚</m:t>
                            </m:r>
                          </m:e>
                        </m:d>
                        <m:r>
                          <a:rPr lang="en-US" altLang="zh-CN" i="1">
                            <a:latin typeface="Cambria Math" panose="02040503050406030204" pitchFamily="18" charset="0"/>
                          </a:rPr>
                          <m:t>−1</m:t>
                        </m:r>
                      </m:sup>
                    </m:sSup>
                    <m:r>
                      <a:rPr lang="en-US" altLang="zh-CN" i="1" noProof="1">
                        <a:solidFill>
                          <a:prstClr val="black"/>
                        </a:solidFill>
                        <a:latin typeface="Cambria Math" panose="02040503050406030204" pitchFamily="18" charset="0"/>
                        <a:ea typeface="宋体" panose="02010600030101010101" pitchFamily="2" charset="-122"/>
                        <a:sym typeface="+mn-ea"/>
                      </a:rPr>
                      <m:t>≡</m:t>
                    </m:r>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a:latin typeface="Cambria Math" panose="02040503050406030204" pitchFamily="18" charset="0"/>
                          </a:rPr>
                          <m:t>−1</m:t>
                        </m:r>
                      </m:sup>
                    </m:sSup>
                    <m:d>
                      <m:dPr>
                        <m:ctrlPr>
                          <a:rPr lang="en-US" altLang="zh-CN" i="1" noProof="1">
                            <a:solidFill>
                              <a:prstClr val="black"/>
                            </a:solidFill>
                            <a:latin typeface="Cambria Math" panose="02040503050406030204" pitchFamily="18" charset="0"/>
                            <a:ea typeface="宋体" panose="02010600030101010101" pitchFamily="2" charset="-122"/>
                            <a:sym typeface="+mn-ea"/>
                          </a:rPr>
                        </m:ctrlPr>
                      </m:dPr>
                      <m:e>
                        <m:r>
                          <m:rPr>
                            <m:sty m:val="p"/>
                          </m:rPr>
                          <a:rPr lang="en-US" altLang="zh-CN" noProof="1">
                            <a:solidFill>
                              <a:prstClr val="black"/>
                            </a:solidFill>
                            <a:latin typeface="Cambria Math" panose="02040503050406030204" pitchFamily="18" charset="0"/>
                            <a:ea typeface="宋体" panose="02010600030101010101" pitchFamily="2" charset="-122"/>
                            <a:sym typeface="+mn-ea"/>
                          </a:rPr>
                          <m:t>mod</m:t>
                        </m:r>
                        <m:r>
                          <a:rPr lang="en-US" altLang="zh-CN" i="1" noProof="1">
                            <a:solidFill>
                              <a:prstClr val="black"/>
                            </a:solidFill>
                            <a:latin typeface="Cambria Math" panose="02040503050406030204" pitchFamily="18" charset="0"/>
                            <a:ea typeface="宋体" panose="02010600030101010101" pitchFamily="2" charset="-122"/>
                            <a:sym typeface="+mn-ea"/>
                          </a:rPr>
                          <m:t> </m:t>
                        </m:r>
                        <m:r>
                          <a:rPr lang="en-US" altLang="zh-CN" i="1" noProof="1">
                            <a:solidFill>
                              <a:prstClr val="black"/>
                            </a:solidFill>
                            <a:latin typeface="Cambria Math" panose="02040503050406030204" pitchFamily="18" charset="0"/>
                            <a:ea typeface="宋体" panose="02010600030101010101" pitchFamily="2" charset="-122"/>
                            <a:sym typeface="+mn-ea"/>
                          </a:rPr>
                          <m:t>𝑚</m:t>
                        </m:r>
                      </m:e>
                    </m:d>
                  </m:oMath>
                </a14:m>
                <a:r>
                  <a:rPr lang="zh-CN" altLang="en-US" noProof="1">
                    <a:sym typeface="+mn-ea"/>
                  </a:rPr>
                  <a:t>，</a:t>
                </a:r>
                <a:r>
                  <a:rPr lang="zh-CN" altLang="en-US" noProof="1">
                    <a:solidFill>
                      <a:srgbClr val="514843"/>
                    </a:solidFill>
                    <a:sym typeface="+mn-ea"/>
                  </a:rPr>
                  <a:t>若</a:t>
                </a:r>
                <a14:m>
                  <m:oMath xmlns:m="http://schemas.openxmlformats.org/officeDocument/2006/math">
                    <m:r>
                      <a:rPr lang="en-US" altLang="zh-CN" i="1" noProof="1">
                        <a:solidFill>
                          <a:srgbClr val="514843"/>
                        </a:solidFill>
                        <a:latin typeface="Cambria Math" panose="02040503050406030204" pitchFamily="18" charset="0"/>
                        <a:sym typeface="+mn-ea"/>
                      </a:rPr>
                      <m:t>𝑚</m:t>
                    </m:r>
                  </m:oMath>
                </a14:m>
                <a:r>
                  <a:rPr lang="zh-CN" altLang="en-US" noProof="1">
                    <a:solidFill>
                      <a:srgbClr val="514843"/>
                    </a:solidFill>
                    <a:sym typeface="+mn-ea"/>
                  </a:rPr>
                  <a:t>是素数：</a:t>
                </a:r>
                <a14:m>
                  <m:oMath xmlns:m="http://schemas.openxmlformats.org/officeDocument/2006/math">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noProof="1">
                            <a:solidFill>
                              <a:prstClr val="black"/>
                            </a:solidFill>
                            <a:latin typeface="Cambria Math" panose="02040503050406030204" pitchFamily="18" charset="0"/>
                            <a:ea typeface="Cambria Math" panose="02040503050406030204" pitchFamily="18" charset="0"/>
                          </a:rPr>
                          <m:t>𝑚</m:t>
                        </m:r>
                        <m:r>
                          <a:rPr lang="en-US" altLang="zh-CN" i="1">
                            <a:latin typeface="Cambria Math" panose="02040503050406030204" pitchFamily="18" charset="0"/>
                          </a:rPr>
                          <m:t>−2</m:t>
                        </m:r>
                      </m:sup>
                    </m:sSup>
                    <m:r>
                      <a:rPr lang="en-US" altLang="zh-CN" i="1" noProof="1">
                        <a:solidFill>
                          <a:prstClr val="black"/>
                        </a:solidFill>
                        <a:latin typeface="Cambria Math" panose="02040503050406030204" pitchFamily="18" charset="0"/>
                        <a:ea typeface="宋体" panose="02010600030101010101" pitchFamily="2" charset="-122"/>
                        <a:sym typeface="+mn-ea"/>
                      </a:rPr>
                      <m:t>≡</m:t>
                    </m:r>
                    <m:sSup>
                      <m:sSupPr>
                        <m:ctrlPr>
                          <a:rPr lang="en-US" altLang="zh-CN" i="1" noProof="1">
                            <a:solidFill>
                              <a:prstClr val="black"/>
                            </a:solidFill>
                            <a:latin typeface="Cambria Math" panose="02040503050406030204" pitchFamily="18" charset="0"/>
                            <a:ea typeface="Cambria Math" panose="02040503050406030204" pitchFamily="18" charset="0"/>
                          </a:rPr>
                        </m:ctrlPr>
                      </m:sSupPr>
                      <m:e>
                        <m:r>
                          <a:rPr lang="en-US" altLang="zh-CN" i="1" noProof="1">
                            <a:solidFill>
                              <a:prstClr val="black"/>
                            </a:solidFill>
                            <a:latin typeface="Cambria Math" panose="02040503050406030204" pitchFamily="18" charset="0"/>
                            <a:ea typeface="Cambria Math" panose="02040503050406030204" pitchFamily="18" charset="0"/>
                          </a:rPr>
                          <m:t>𝑎</m:t>
                        </m:r>
                      </m:e>
                      <m:sup>
                        <m:r>
                          <a:rPr lang="en-US" altLang="zh-CN" i="1">
                            <a:latin typeface="Cambria Math" panose="02040503050406030204" pitchFamily="18" charset="0"/>
                          </a:rPr>
                          <m:t>−1</m:t>
                        </m:r>
                      </m:sup>
                    </m:sSup>
                    <m:d>
                      <m:dPr>
                        <m:ctrlPr>
                          <a:rPr lang="en-US" altLang="zh-CN" i="1" noProof="1">
                            <a:solidFill>
                              <a:prstClr val="black"/>
                            </a:solidFill>
                            <a:latin typeface="Cambria Math" panose="02040503050406030204" pitchFamily="18" charset="0"/>
                            <a:ea typeface="宋体" panose="02010600030101010101" pitchFamily="2" charset="-122"/>
                            <a:sym typeface="+mn-ea"/>
                          </a:rPr>
                        </m:ctrlPr>
                      </m:dPr>
                      <m:e>
                        <m:r>
                          <m:rPr>
                            <m:sty m:val="p"/>
                          </m:rPr>
                          <a:rPr lang="en-US" altLang="zh-CN" noProof="1">
                            <a:solidFill>
                              <a:prstClr val="black"/>
                            </a:solidFill>
                            <a:latin typeface="Cambria Math" panose="02040503050406030204" pitchFamily="18" charset="0"/>
                            <a:ea typeface="宋体" panose="02010600030101010101" pitchFamily="2" charset="-122"/>
                            <a:sym typeface="+mn-ea"/>
                          </a:rPr>
                          <m:t>mod</m:t>
                        </m:r>
                        <m:r>
                          <a:rPr lang="en-US" altLang="zh-CN" i="1" noProof="1">
                            <a:solidFill>
                              <a:prstClr val="black"/>
                            </a:solidFill>
                            <a:latin typeface="Cambria Math" panose="02040503050406030204" pitchFamily="18" charset="0"/>
                            <a:ea typeface="宋体" panose="02010600030101010101" pitchFamily="2" charset="-122"/>
                            <a:sym typeface="+mn-ea"/>
                          </a:rPr>
                          <m:t> </m:t>
                        </m:r>
                        <m:r>
                          <a:rPr lang="en-US" altLang="zh-CN" i="1" noProof="1">
                            <a:solidFill>
                              <a:prstClr val="black"/>
                            </a:solidFill>
                            <a:latin typeface="Cambria Math" panose="02040503050406030204" pitchFamily="18" charset="0"/>
                            <a:ea typeface="宋体" panose="02010600030101010101" pitchFamily="2" charset="-122"/>
                            <a:sym typeface="+mn-ea"/>
                          </a:rPr>
                          <m:t>𝑚</m:t>
                        </m:r>
                      </m:e>
                    </m:d>
                  </m:oMath>
                </a14:m>
                <a:endParaRPr lang="en-US" altLang="zh-CN" noProof="1">
                  <a:sym typeface="+mn-ea"/>
                </a:endParaRPr>
              </a:p>
              <a:p>
                <a:pPr>
                  <a:lnSpc>
                    <a:spcPct val="150000"/>
                  </a:lnSpc>
                </a:pPr>
                <a:r>
                  <a:rPr lang="zh-CN" altLang="en-US" noProof="1">
                    <a:sym typeface="+mn-ea"/>
                  </a:rPr>
                  <a:t>使用快速幂求解，</a:t>
                </a:r>
                <a:r>
                  <a:rPr lang="en-US" altLang="zh-CN" dirty="0" err="1">
                    <a:solidFill>
                      <a:srgbClr val="000000"/>
                    </a:solidFill>
                    <a:highlight>
                      <a:srgbClr val="FFFFF3"/>
                    </a:highlight>
                    <a:latin typeface="Courier New" panose="02070309020205020404" pitchFamily="49" charset="0"/>
                  </a:rPr>
                  <a:t>powermod</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a</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m -</a:t>
                </a:r>
                <a:r>
                  <a:rPr lang="en-US" altLang="zh-CN" dirty="0">
                    <a:solidFill>
                      <a:srgbClr val="FF8000"/>
                    </a:solidFill>
                    <a:highlight>
                      <a:srgbClr val="FFFFF3"/>
                    </a:highlight>
                    <a:latin typeface="Courier New" panose="02070309020205020404" pitchFamily="49" charset="0"/>
                  </a:rPr>
                  <a:t> 2</a:t>
                </a:r>
                <a:r>
                  <a:rPr lang="en-US" altLang="zh-CN" b="1" dirty="0">
                    <a:solidFill>
                      <a:srgbClr val="000080"/>
                    </a:solidFill>
                    <a:highlight>
                      <a:srgbClr val="FFFFF3"/>
                    </a:highlight>
                    <a:latin typeface="Courier New" panose="02070309020205020404" pitchFamily="49" charset="0"/>
                  </a:rPr>
                  <a:t>,</a:t>
                </a:r>
                <a:r>
                  <a:rPr lang="en-US" altLang="zh-CN" dirty="0">
                    <a:solidFill>
                      <a:srgbClr val="000000"/>
                    </a:solidFill>
                    <a:highlight>
                      <a:srgbClr val="FFFFF3"/>
                    </a:highlight>
                    <a:latin typeface="Courier New" panose="02070309020205020404" pitchFamily="49" charset="0"/>
                  </a:rPr>
                  <a:t> m</a:t>
                </a:r>
                <a:r>
                  <a:rPr lang="en-US" altLang="zh-CN" b="1" dirty="0">
                    <a:solidFill>
                      <a:srgbClr val="000080"/>
                    </a:solidFill>
                    <a:highlight>
                      <a:srgbClr val="FFFFF3"/>
                    </a:highlight>
                    <a:latin typeface="Courier New" panose="02070309020205020404" pitchFamily="49" charset="0"/>
                  </a:rPr>
                  <a:t>)</a:t>
                </a:r>
                <a:endParaRPr lang="en-US" altLang="zh-CN" noProof="1">
                  <a:sym typeface="+mn-ea"/>
                </a:endParaRPr>
              </a:p>
              <a:p>
                <a:pPr>
                  <a:lnSpc>
                    <a:spcPct val="150000"/>
                  </a:lnSpc>
                </a:pPr>
                <a:endParaRPr lang="en-US" altLang="zh-CN" noProof="1">
                  <a:sym typeface="+mn-ea"/>
                </a:endParaRPr>
              </a:p>
              <a:p>
                <a:pPr>
                  <a:lnSpc>
                    <a:spcPct val="150000"/>
                  </a:lnSpc>
                </a:pPr>
                <a:endParaRPr lang="en-US" altLang="zh-CN" noProof="1">
                  <a:solidFill>
                    <a:srgbClr val="514843"/>
                  </a:solidFill>
                  <a:sym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11427"/>
                <a:ext cx="9980682" cy="2269538"/>
              </a:xfrm>
              <a:blipFill>
                <a:blip r:embed="rId2"/>
                <a:stretch>
                  <a:fillRect l="-1398"/>
                </a:stretch>
              </a:blipFill>
            </p:spPr>
            <p:txBody>
              <a:bodyPr/>
              <a:lstStyle/>
              <a:p>
                <a:r>
                  <a:rPr lang="zh-CN" altLang="en-US">
                    <a:noFill/>
                  </a:rPr>
                  <a:t> </a:t>
                </a:r>
              </a:p>
            </p:txBody>
          </p:sp>
        </mc:Fallback>
      </mc:AlternateContent>
      <p:sp>
        <p:nvSpPr>
          <p:cNvPr id="4" name="矩形 3"/>
          <p:cNvSpPr/>
          <p:nvPr/>
        </p:nvSpPr>
        <p:spPr>
          <a:xfrm>
            <a:off x="1104900" y="3880965"/>
            <a:ext cx="10103031" cy="2862322"/>
          </a:xfrm>
          <a:prstGeom prst="rect">
            <a:avLst/>
          </a:prstGeom>
        </p:spPr>
        <p:txBody>
          <a:bodyPr wrap="square">
            <a:spAutoFit/>
          </a:bodyPr>
          <a:lstStyle/>
          <a:p>
            <a:r>
              <a:rPr lang="en-US" altLang="zh-CN" sz="2000" dirty="0">
                <a:solidFill>
                  <a:srgbClr val="FF8000"/>
                </a:solidFill>
                <a:highlight>
                  <a:srgbClr val="FFFFF3"/>
                </a:highlight>
                <a:latin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000000"/>
                </a:solidFill>
                <a:highlight>
                  <a:srgbClr val="FFFFF3"/>
                </a:highlight>
                <a:latin typeface="Courier New" panose="02070309020205020404" pitchFamily="49" charset="0"/>
              </a:rPr>
              <a:t>powermod</a:t>
            </a:r>
            <a:r>
              <a:rPr lang="en-US" altLang="zh-CN" sz="2000" b="1" dirty="0">
                <a:solidFill>
                  <a:srgbClr val="000080"/>
                </a:solidFill>
                <a:highlight>
                  <a:srgbClr val="FFFFF3"/>
                </a:highlight>
                <a:latin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b</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ret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3</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rPr>
              <a:t>while</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b</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rPr>
              <a:t>if</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b </a:t>
            </a:r>
            <a:r>
              <a:rPr lang="en-US" altLang="zh-CN" sz="2000" b="1" dirty="0">
                <a:solidFill>
                  <a:srgbClr val="000080"/>
                </a:solidFill>
                <a:highlight>
                  <a:srgbClr val="FFFFF3"/>
                </a:highlight>
                <a:latin typeface="Courier New" panose="02070309020205020404" pitchFamily="49" charset="0"/>
              </a:rPr>
              <a:t>&amp;</a:t>
            </a:r>
            <a:r>
              <a:rPr lang="en-US" altLang="zh-CN" sz="2000" dirty="0">
                <a:solidFill>
                  <a:srgbClr val="000000"/>
                </a:solidFill>
                <a:highlight>
                  <a:srgbClr val="FFFFF3"/>
                </a:highlight>
                <a:latin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ret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8000FF"/>
                </a:solidFill>
                <a:highlight>
                  <a:srgbClr val="FFFFF3"/>
                </a:highlight>
                <a:latin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rPr>
              <a:t>long</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ret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5</a:t>
            </a:r>
            <a:r>
              <a:rPr lang="en-US" altLang="zh-CN" sz="2000" dirty="0">
                <a:solidFill>
                  <a:srgbClr val="000000"/>
                </a:solidFill>
                <a:highlight>
                  <a:srgbClr val="FFFFF3"/>
                </a:highlight>
                <a:latin typeface="Courier New" panose="02070309020205020404" pitchFamily="49" charset="0"/>
              </a:rPr>
              <a:t>			a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8000FF"/>
                </a:solidFill>
                <a:highlight>
                  <a:srgbClr val="FFFFF3"/>
                </a:highlight>
                <a:latin typeface="Courier New" panose="02070309020205020404" pitchFamily="49" charset="0"/>
              </a:rPr>
              <a:t>long</a:t>
            </a:r>
            <a:r>
              <a:rPr lang="en-US" altLang="zh-CN" sz="2000" dirty="0">
                <a:solidFill>
                  <a:srgbClr val="000000"/>
                </a:solidFill>
                <a:highlight>
                  <a:srgbClr val="FFFFF3"/>
                </a:highlight>
                <a:latin typeface="Courier New" panose="02070309020205020404" pitchFamily="49" charset="0"/>
              </a:rPr>
              <a:t> </a:t>
            </a:r>
            <a:r>
              <a:rPr lang="en-US" altLang="zh-CN" sz="2000" dirty="0">
                <a:solidFill>
                  <a:srgbClr val="8000FF"/>
                </a:solidFill>
                <a:highlight>
                  <a:srgbClr val="FFFFF3"/>
                </a:highlight>
                <a:latin typeface="Courier New" panose="02070309020205020404" pitchFamily="49" charset="0"/>
              </a:rPr>
              <a:t>long</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a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 </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6</a:t>
            </a:r>
            <a:r>
              <a:rPr lang="en-US" altLang="zh-CN" sz="2000" dirty="0">
                <a:solidFill>
                  <a:srgbClr val="000000"/>
                </a:solidFill>
                <a:highlight>
                  <a:srgbClr val="FFFFF3"/>
                </a:highlight>
                <a:latin typeface="Courier New" panose="02070309020205020404" pitchFamily="49" charset="0"/>
              </a:rPr>
              <a:t>			b </a:t>
            </a:r>
            <a:r>
              <a:rPr lang="en-US" altLang="zh-CN" sz="2000" b="1" dirty="0">
                <a:solidFill>
                  <a:srgbClr val="000080"/>
                </a:solidFill>
                <a:highlight>
                  <a:srgbClr val="FFFFF3"/>
                </a:highlight>
                <a:latin typeface="Courier New" panose="02070309020205020404" pitchFamily="49" charset="0"/>
              </a:rPr>
              <a:t>&gt;&gt;=</a:t>
            </a:r>
            <a:r>
              <a:rPr lang="en-US" altLang="zh-CN" sz="2000" dirty="0">
                <a:solidFill>
                  <a:srgbClr val="000000"/>
                </a:solidFill>
                <a:highlight>
                  <a:srgbClr val="FFFFF3"/>
                </a:highlight>
                <a:latin typeface="Courier New" panose="02070309020205020404" pitchFamily="49" charset="0"/>
              </a:rPr>
              <a:t> </a:t>
            </a:r>
            <a:r>
              <a:rPr lang="en-US" altLang="zh-CN" sz="2000" dirty="0">
                <a:solidFill>
                  <a:srgbClr val="FF8000"/>
                </a:solidFill>
                <a:highlight>
                  <a:srgbClr val="FFFFF3"/>
                </a:highlight>
                <a:latin typeface="Courier New" panose="02070309020205020404" pitchFamily="49" charset="0"/>
              </a:rPr>
              <a:t>1</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7</a:t>
            </a:r>
            <a:r>
              <a:rPr lang="zh-CN" altLang="en-US"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8</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rPr>
              <a:t> ret</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9</a:t>
            </a:r>
            <a:r>
              <a:rPr lang="zh-CN" altLang="en-US"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zh-CN" altLang="en-US" sz="2000" dirty="0"/>
          </a:p>
        </p:txBody>
      </p:sp>
      <p:sp>
        <p:nvSpPr>
          <p:cNvPr id="5" name="幻灯片编号占位符 4">
            <a:extLst>
              <a:ext uri="{FF2B5EF4-FFF2-40B4-BE49-F238E27FC236}">
                <a16:creationId xmlns:a16="http://schemas.microsoft.com/office/drawing/2014/main" id="{9E8D18DE-A6F2-CC46-A11B-A9C38EE45970}"/>
              </a:ext>
            </a:extLst>
          </p:cNvPr>
          <p:cNvSpPr>
            <a:spLocks noGrp="1"/>
          </p:cNvSpPr>
          <p:nvPr>
            <p:ph type="sldNum" sz="quarter" idx="12"/>
          </p:nvPr>
        </p:nvSpPr>
        <p:spPr/>
        <p:txBody>
          <a:bodyPr/>
          <a:lstStyle/>
          <a:p>
            <a:fld id="{0FF54DE5-C571-48E8-A5BC-B369434E2F44}" type="slidenum">
              <a:rPr lang="en-US" altLang="zh-CN" smtClean="0"/>
              <a:pPr/>
              <a:t>85</a:t>
            </a:fld>
            <a:endParaRPr lang="zh-CN" altLang="en-US" dirty="0"/>
          </a:p>
        </p:txBody>
      </p:sp>
    </p:spTree>
    <p:extLst>
      <p:ext uri="{BB962C8B-B14F-4D97-AF65-F5344CB8AC3E}">
        <p14:creationId xmlns:p14="http://schemas.microsoft.com/office/powerpoint/2010/main" val="12281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p:txBody>
          <a:bodyPr/>
          <a:lstStyle/>
          <a:p>
            <a:r>
              <a:rPr lang="zh-CN" altLang="en-US" dirty="0"/>
              <a:t>线性求逆元：递推法</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539441"/>
                <a:ext cx="9980682" cy="3988523"/>
              </a:xfrm>
            </p:spPr>
            <p:txBody>
              <a:bodyPr>
                <a:normAutofit/>
              </a:bodyPr>
              <a:lstStyle/>
              <a:p>
                <a:pPr fontAlgn="auto">
                  <a:lnSpc>
                    <a:spcPct val="150000"/>
                  </a:lnSpc>
                  <a:spcBef>
                    <a:spcPts val="0"/>
                  </a:spcBef>
                </a:pPr>
                <a:r>
                  <a:rPr lang="zh-CN" altLang="en-US" noProof="1"/>
                  <a:t>如何</a:t>
                </a:r>
                <a:r>
                  <a:rPr lang="zh-Hans" altLang="en-US" noProof="1"/>
                  <a:t> </a:t>
                </a:r>
                <a14:m>
                  <m:oMath xmlns:m="http://schemas.openxmlformats.org/officeDocument/2006/math">
                    <m:r>
                      <m:rPr>
                        <m:sty m:val="p"/>
                      </m:rPr>
                      <a:rPr lang="en-US" altLang="zh-CN" i="0" noProof="1" smtClean="0">
                        <a:latin typeface="Cambria Math" panose="02040503050406030204" pitchFamily="18" charset="0"/>
                      </a:rPr>
                      <m:t>O</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𝑛</m:t>
                    </m:r>
                    <m:r>
                      <a:rPr lang="en-US" altLang="zh-CN" i="1" noProof="1" smtClean="0">
                        <a:latin typeface="Cambria Math" panose="02040503050406030204" pitchFamily="18" charset="0"/>
                      </a:rPr>
                      <m:t>)</m:t>
                    </m:r>
                  </m:oMath>
                </a14:m>
                <a:r>
                  <a:rPr lang="zh-Hans" altLang="en-US" noProof="1"/>
                  <a:t> </a:t>
                </a:r>
                <a:r>
                  <a:rPr lang="zh-CN" altLang="en-US" noProof="1"/>
                  <a:t>求</a:t>
                </a:r>
                <a:r>
                  <a:rPr lang="zh-Hans" altLang="en-US" noProof="1"/>
                  <a:t> </a:t>
                </a:r>
                <a14:m>
                  <m:oMath xmlns:m="http://schemas.openxmlformats.org/officeDocument/2006/math">
                    <m:r>
                      <a:rPr lang="en-US" altLang="zh-CN" i="1" noProof="1" smtClean="0">
                        <a:latin typeface="Cambria Math" panose="02040503050406030204" pitchFamily="18" charset="0"/>
                      </a:rPr>
                      <m:t>1~</m:t>
                    </m:r>
                    <m:r>
                      <a:rPr lang="en-US" altLang="zh-CN" i="1" noProof="1" smtClean="0">
                        <a:latin typeface="Cambria Math" panose="02040503050406030204" pitchFamily="18" charset="0"/>
                      </a:rPr>
                      <m:t>𝑛</m:t>
                    </m:r>
                  </m:oMath>
                </a14:m>
                <a:r>
                  <a:rPr lang="zh-Hans" altLang="en-US" noProof="1"/>
                  <a:t> </a:t>
                </a:r>
                <a:r>
                  <a:rPr lang="zh-CN" altLang="en-US" noProof="1"/>
                  <a:t>模</a:t>
                </a:r>
                <a:r>
                  <a:rPr lang="zh-Hans" altLang="en-US" noProof="1"/>
                  <a:t> </a:t>
                </a:r>
                <a14:m>
                  <m:oMath xmlns:m="http://schemas.openxmlformats.org/officeDocument/2006/math">
                    <m:r>
                      <a:rPr lang="en-US" altLang="zh-CN" i="1" noProof="1" smtClean="0">
                        <a:latin typeface="Cambria Math" panose="02040503050406030204" pitchFamily="18" charset="0"/>
                      </a:rPr>
                      <m:t>𝑝</m:t>
                    </m:r>
                  </m:oMath>
                </a14:m>
                <a:r>
                  <a:rPr lang="zh-CN" altLang="en-US" noProof="1"/>
                  <a:t>（</a:t>
                </a:r>
                <a14:m>
                  <m:oMath xmlns:m="http://schemas.openxmlformats.org/officeDocument/2006/math">
                    <m:r>
                      <a:rPr lang="en-US" altLang="zh-CN" i="1" noProof="1" smtClean="0">
                        <a:latin typeface="Cambria Math" panose="02040503050406030204" pitchFamily="18" charset="0"/>
                      </a:rPr>
                      <m:t>𝑝</m:t>
                    </m:r>
                  </m:oMath>
                </a14:m>
                <a:r>
                  <a:rPr lang="zh-CN" altLang="en-US" noProof="1"/>
                  <a:t>为素数）的逆元？</a:t>
                </a:r>
              </a:p>
              <a:p>
                <a:pPr fontAlgn="auto">
                  <a:lnSpc>
                    <a:spcPct val="150000"/>
                  </a:lnSpc>
                  <a:spcBef>
                    <a:spcPts val="0"/>
                  </a:spcBef>
                </a:pPr>
                <a:r>
                  <a:rPr lang="zh-CN" altLang="en-US" noProof="1"/>
                  <a:t>假设现在要求</a:t>
                </a:r>
                <a:r>
                  <a:rPr lang="zh-Hans" altLang="en-US" noProof="1"/>
                  <a:t> </a:t>
                </a:r>
                <a14:m>
                  <m:oMath xmlns:m="http://schemas.openxmlformats.org/officeDocument/2006/math">
                    <m:r>
                      <a:rPr lang="en-US" altLang="zh-CN" i="1" noProof="1" smtClean="0">
                        <a:latin typeface="Cambria Math" panose="02040503050406030204" pitchFamily="18" charset="0"/>
                      </a:rPr>
                      <m:t>𝑖</m:t>
                    </m:r>
                  </m:oMath>
                </a14:m>
                <a:r>
                  <a:rPr lang="zh-Hans" altLang="en-US" noProof="1"/>
                  <a:t> </a:t>
                </a:r>
                <a:r>
                  <a:rPr lang="zh-CN" altLang="en-US" noProof="1"/>
                  <a:t>的逆元</a:t>
                </a:r>
              </a:p>
              <a:p>
                <a:pPr fontAlgn="auto">
                  <a:lnSpc>
                    <a:spcPct val="150000"/>
                  </a:lnSpc>
                  <a:spcBef>
                    <a:spcPts val="0"/>
                  </a:spcBef>
                </a:pPr>
                <a:r>
                  <a:rPr lang="zh-CN" altLang="en-US" noProof="1"/>
                  <a:t>由带余除法可设 </a:t>
                </a:r>
                <a14:m>
                  <m:oMath xmlns:m="http://schemas.openxmlformats.org/officeDocument/2006/math">
                    <m:r>
                      <a:rPr lang="en-US" altLang="zh-CN" i="1" noProof="1" smtClean="0">
                        <a:latin typeface="Cambria Math" panose="02040503050406030204" pitchFamily="18" charset="0"/>
                      </a:rPr>
                      <m:t>𝑝</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𝑖𝑞</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𝑟</m:t>
                    </m:r>
                  </m:oMath>
                </a14:m>
                <a:r>
                  <a:rPr lang="zh-CN" altLang="en-US" noProof="1"/>
                  <a:t>，则有</a:t>
                </a:r>
                <a:br>
                  <a:rPr lang="en-US" altLang="zh-CN" noProof="1"/>
                </a:br>
                <a14:m>
                  <m:oMath xmlns:m="http://schemas.openxmlformats.org/officeDocument/2006/math">
                    <m:r>
                      <a:rPr lang="en-US" altLang="zh-CN" i="1" noProof="1" smtClean="0">
                        <a:latin typeface="Cambria Math" panose="02040503050406030204" pitchFamily="18" charset="0"/>
                        <a:sym typeface="+mn-ea"/>
                      </a:rPr>
                      <m:t>𝑖𝑞</m:t>
                    </m:r>
                    <m:r>
                      <a:rPr lang="en-US" altLang="zh-CN" i="1" noProof="1" smtClean="0">
                        <a:latin typeface="Cambria Math" panose="02040503050406030204" pitchFamily="18" charset="0"/>
                        <a:sym typeface="+mn-ea"/>
                      </a:rPr>
                      <m:t>+</m:t>
                    </m:r>
                    <m:r>
                      <a:rPr lang="en-US" altLang="zh-CN" i="1" noProof="1" smtClean="0">
                        <a:latin typeface="Cambria Math" panose="02040503050406030204" pitchFamily="18" charset="0"/>
                        <a:sym typeface="+mn-ea"/>
                      </a:rPr>
                      <m:t>𝑟</m:t>
                    </m:r>
                    <m:r>
                      <a:rPr lang="en-US" altLang="zh-CN" i="1" noProof="1" smtClean="0">
                        <a:latin typeface="Cambria Math" panose="02040503050406030204" pitchFamily="18" charset="0"/>
                        <a:sym typeface="+mn-ea"/>
                      </a:rPr>
                      <m:t>≡0 (</m:t>
                    </m:r>
                    <m:r>
                      <m:rPr>
                        <m:sty m:val="p"/>
                      </m:rPr>
                      <a:rPr lang="en-US" altLang="zh-CN" i="0" noProof="1" smtClean="0">
                        <a:latin typeface="Cambria Math" panose="02040503050406030204" pitchFamily="18" charset="0"/>
                        <a:sym typeface="+mn-ea"/>
                      </a:rPr>
                      <m:t>mod</m:t>
                    </m:r>
                    <m:r>
                      <a:rPr lang="en-US" altLang="zh-CN" i="1" noProof="1" smtClean="0">
                        <a:latin typeface="Cambria Math" panose="02040503050406030204" pitchFamily="18" charset="0"/>
                        <a:sym typeface="+mn-ea"/>
                      </a:rPr>
                      <m:t> </m:t>
                    </m:r>
                    <m:r>
                      <a:rPr lang="en-US" altLang="zh-CN" i="1" noProof="1" smtClean="0">
                        <a:latin typeface="Cambria Math" panose="02040503050406030204" pitchFamily="18" charset="0"/>
                        <a:sym typeface="+mn-ea"/>
                      </a:rPr>
                      <m:t>𝑝</m:t>
                    </m:r>
                    <m:r>
                      <a:rPr lang="en-US" altLang="zh-CN" i="1" noProof="1" smtClean="0">
                        <a:latin typeface="Cambria Math" panose="02040503050406030204" pitchFamily="18" charset="0"/>
                        <a:sym typeface="+mn-ea"/>
                      </a:rPr>
                      <m:t>)</m:t>
                    </m:r>
                  </m:oMath>
                </a14:m>
                <a:endParaRPr lang="en-US" altLang="zh-CN" noProof="1">
                  <a:sym typeface="+mn-ea"/>
                </a:endParaRPr>
              </a:p>
              <a:p>
                <a:pPr fontAlgn="auto">
                  <a:lnSpc>
                    <a:spcPct val="150000"/>
                  </a:lnSpc>
                  <a:spcBef>
                    <a:spcPts val="0"/>
                  </a:spcBef>
                </a:pPr>
                <a:r>
                  <a:rPr lang="zh-CN" altLang="en-US" noProof="1">
                    <a:sym typeface="+mn-ea"/>
                  </a:rPr>
                  <a:t>注意到</a:t>
                </a:r>
                <a:r>
                  <a:rPr lang="zh-Hans" altLang="en-US" noProof="1">
                    <a:sym typeface="+mn-ea"/>
                  </a:rPr>
                  <a:t> </a:t>
                </a:r>
                <a14:m>
                  <m:oMath xmlns:m="http://schemas.openxmlformats.org/officeDocument/2006/math">
                    <m:r>
                      <a:rPr lang="en-US" altLang="zh-CN" i="1" noProof="1" smtClean="0">
                        <a:latin typeface="Cambria Math" panose="02040503050406030204" pitchFamily="18" charset="0"/>
                        <a:sym typeface="+mn-ea"/>
                      </a:rPr>
                      <m:t>𝑝</m:t>
                    </m:r>
                  </m:oMath>
                </a14:m>
                <a:r>
                  <a:rPr lang="zh-Hans" altLang="en-US" noProof="1">
                    <a:sym typeface="+mn-ea"/>
                  </a:rPr>
                  <a:t> </a:t>
                </a:r>
                <a:r>
                  <a:rPr lang="zh-CN" altLang="en-US" noProof="1">
                    <a:sym typeface="+mn-ea"/>
                  </a:rPr>
                  <a:t>是质数，因此</a:t>
                </a:r>
                <a:r>
                  <a:rPr lang="zh-Hans" altLang="en-US" noProof="1">
                    <a:sym typeface="+mn-ea"/>
                  </a:rPr>
                  <a:t> </a:t>
                </a:r>
                <a14:m>
                  <m:oMath xmlns:m="http://schemas.openxmlformats.org/officeDocument/2006/math">
                    <m:r>
                      <a:rPr lang="en-US" altLang="zh-CN" i="1" noProof="1" smtClean="0">
                        <a:latin typeface="Cambria Math" panose="02040503050406030204" pitchFamily="18" charset="0"/>
                        <a:sym typeface="+mn-ea"/>
                      </a:rPr>
                      <m:t>𝑟</m:t>
                    </m:r>
                  </m:oMath>
                </a14:m>
                <a:r>
                  <a:rPr lang="zh-Hans" altLang="en-US" noProof="1">
                    <a:sym typeface="+mn-ea"/>
                  </a:rPr>
                  <a:t> </a:t>
                </a:r>
                <a:r>
                  <a:rPr lang="zh-CN" altLang="en-US" noProof="1">
                    <a:sym typeface="+mn-ea"/>
                  </a:rPr>
                  <a:t>不为</a:t>
                </a:r>
                <a:r>
                  <a:rPr lang="zh-Hans" altLang="en-US" noProof="1">
                    <a:sym typeface="+mn-ea"/>
                  </a:rPr>
                  <a:t> </a:t>
                </a:r>
                <a14:m>
                  <m:oMath xmlns:m="http://schemas.openxmlformats.org/officeDocument/2006/math">
                    <m:r>
                      <a:rPr lang="en-US" altLang="zh-CN" i="1" noProof="1" smtClean="0">
                        <a:latin typeface="Cambria Math" panose="02040503050406030204" pitchFamily="18" charset="0"/>
                        <a:sym typeface="+mn-ea"/>
                      </a:rPr>
                      <m:t>0</m:t>
                    </m:r>
                  </m:oMath>
                </a14:m>
                <a:r>
                  <a:rPr lang="zh-CN" altLang="en-US" noProof="1">
                    <a:sym typeface="+mn-ea"/>
                  </a:rPr>
                  <a:t>，</a:t>
                </a:r>
                <a14:m>
                  <m:oMath xmlns:m="http://schemas.openxmlformats.org/officeDocument/2006/math">
                    <m:r>
                      <a:rPr lang="en-US" altLang="zh-CN" i="1" noProof="1" smtClean="0">
                        <a:latin typeface="Cambria Math" panose="02040503050406030204" pitchFamily="18" charset="0"/>
                        <a:sym typeface="+mn-ea"/>
                      </a:rPr>
                      <m:t>𝑟</m:t>
                    </m:r>
                  </m:oMath>
                </a14:m>
                <a:r>
                  <a:rPr lang="zh-Hans" altLang="en-US" noProof="1">
                    <a:sym typeface="+mn-ea"/>
                  </a:rPr>
                  <a:t> </a:t>
                </a:r>
                <a:r>
                  <a:rPr lang="zh-CN" altLang="en-US" noProof="1">
                    <a:sym typeface="+mn-ea"/>
                  </a:rPr>
                  <a:t>的逆元存在。</a:t>
                </a:r>
              </a:p>
              <a:p>
                <a:pPr fontAlgn="auto">
                  <a:lnSpc>
                    <a:spcPct val="150000"/>
                  </a:lnSpc>
                  <a:spcBef>
                    <a:spcPts val="0"/>
                  </a:spcBef>
                </a:pPr>
                <a:r>
                  <a:rPr lang="zh-CN" altLang="en-US" noProof="1">
                    <a:sym typeface="+mn-ea"/>
                  </a:rPr>
                  <a:t>等式两边乘 </a:t>
                </a:r>
                <a14:m>
                  <m:oMath xmlns:m="http://schemas.openxmlformats.org/officeDocument/2006/math">
                    <m:sSup>
                      <m:sSupPr>
                        <m:ctrlPr>
                          <a:rPr lang="en-US" altLang="zh-CN" i="1" noProof="1" smtClean="0">
                            <a:latin typeface="Cambria Math" panose="02040503050406030204" pitchFamily="18" charset="0"/>
                            <a:sym typeface="+mn-ea"/>
                          </a:rPr>
                        </m:ctrlPr>
                      </m:sSupPr>
                      <m:e>
                        <m:r>
                          <a:rPr lang="en-US" altLang="zh-CN" b="0" i="1" noProof="1" smtClean="0">
                            <a:latin typeface="Cambria Math" panose="02040503050406030204" pitchFamily="18" charset="0"/>
                            <a:sym typeface="+mn-ea"/>
                          </a:rPr>
                          <m:t>𝑖</m:t>
                        </m:r>
                      </m:e>
                      <m:sup>
                        <m:r>
                          <a:rPr lang="en-US" altLang="zh-CN" b="0" i="1" noProof="1" smtClean="0">
                            <a:latin typeface="Cambria Math" panose="02040503050406030204" pitchFamily="18" charset="0"/>
                            <a:sym typeface="+mn-ea"/>
                          </a:rPr>
                          <m:t>−</m:t>
                        </m:r>
                        <m:r>
                          <a:rPr lang="en-US" altLang="zh-CN" i="1" noProof="1" smtClean="0">
                            <a:latin typeface="Cambria Math" panose="02040503050406030204" pitchFamily="18" charset="0"/>
                            <a:sym typeface="+mn-ea"/>
                          </a:rPr>
                          <m:t>1</m:t>
                        </m:r>
                      </m:sup>
                    </m:sSup>
                    <m:sSup>
                      <m:sSupPr>
                        <m:ctrlPr>
                          <a:rPr lang="en-US" altLang="zh-CN" i="1" noProof="1" smtClean="0">
                            <a:latin typeface="Cambria Math" panose="02040503050406030204" pitchFamily="18" charset="0"/>
                            <a:sym typeface="+mn-ea"/>
                          </a:rPr>
                        </m:ctrlPr>
                      </m:sSupPr>
                      <m:e>
                        <m:r>
                          <a:rPr lang="en-US" altLang="zh-CN" b="0" i="1" noProof="1" smtClean="0">
                            <a:latin typeface="Cambria Math" panose="02040503050406030204" pitchFamily="18" charset="0"/>
                            <a:sym typeface="+mn-ea"/>
                          </a:rPr>
                          <m:t>𝑟</m:t>
                        </m:r>
                      </m:e>
                      <m:sup>
                        <m:r>
                          <a:rPr lang="en-US" altLang="zh-CN" b="0" i="1" noProof="1" smtClean="0">
                            <a:latin typeface="Cambria Math" panose="02040503050406030204" pitchFamily="18" charset="0"/>
                            <a:sym typeface="+mn-ea"/>
                          </a:rPr>
                          <m:t>−1</m:t>
                        </m:r>
                      </m:sup>
                    </m:sSup>
                    <m:r>
                      <a:rPr lang="en-US" altLang="zh-CN" b="0" i="1" noProof="1" smtClean="0">
                        <a:latin typeface="Cambria Math" panose="02040503050406030204" pitchFamily="18" charset="0"/>
                        <a:sym typeface="+mn-ea"/>
                      </a:rPr>
                      <m:t> </m:t>
                    </m:r>
                  </m:oMath>
                </a14:m>
                <a:r>
                  <a:rPr lang="zh-CN" altLang="en-US" noProof="1">
                    <a:sym typeface="+mn-ea"/>
                  </a:rPr>
                  <a:t>，得到</a:t>
                </a:r>
                <a:endParaRPr lang="en-US" altLang="zh-CN" noProof="1">
                  <a:sym typeface="+mn-ea"/>
                </a:endParaRP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sSup>
                        <m:sSupPr>
                          <m:ctrlPr>
                            <a:rPr lang="en-US" altLang="zh-CN" i="1" noProof="1">
                              <a:latin typeface="Cambria Math" panose="02040503050406030204" pitchFamily="18" charset="0"/>
                              <a:sym typeface="+mn-ea"/>
                            </a:rPr>
                          </m:ctrlPr>
                        </m:sSupPr>
                        <m:e>
                          <m:r>
                            <a:rPr lang="en-US" altLang="zh-CN" i="1" noProof="1">
                              <a:latin typeface="Cambria Math" panose="02040503050406030204" pitchFamily="18" charset="0"/>
                              <a:sym typeface="+mn-ea"/>
                            </a:rPr>
                            <m:t>𝑟</m:t>
                          </m:r>
                        </m:e>
                        <m:sup>
                          <m:r>
                            <a:rPr lang="en-US" altLang="zh-CN" i="1" noProof="1">
                              <a:latin typeface="Cambria Math" panose="02040503050406030204" pitchFamily="18" charset="0"/>
                              <a:sym typeface="+mn-ea"/>
                            </a:rPr>
                            <m:t>−1</m:t>
                          </m:r>
                        </m:sup>
                      </m:sSup>
                      <m:r>
                        <a:rPr lang="zh-Hans" altLang="en-US" b="0" i="1" noProof="1" smtClean="0">
                          <a:latin typeface="Cambria Math" panose="02040503050406030204" pitchFamily="18" charset="0"/>
                          <a:sym typeface="+mn-ea"/>
                        </a:rPr>
                        <m:t>∗</m:t>
                      </m:r>
                      <m:r>
                        <a:rPr lang="en-US" altLang="zh-CN" i="1" noProof="1">
                          <a:latin typeface="Cambria Math" panose="02040503050406030204" pitchFamily="18" charset="0"/>
                          <a:sym typeface="+mn-ea"/>
                        </a:rPr>
                        <m:t>𝑞</m:t>
                      </m:r>
                      <m:r>
                        <a:rPr lang="en-US" altLang="zh-CN" i="1" noProof="1">
                          <a:latin typeface="Cambria Math" panose="02040503050406030204" pitchFamily="18" charset="0"/>
                          <a:sym typeface="+mn-ea"/>
                        </a:rPr>
                        <m:t>+</m:t>
                      </m:r>
                      <m:sSup>
                        <m:sSupPr>
                          <m:ctrlPr>
                            <a:rPr lang="en-US" altLang="zh-CN" i="1" noProof="1">
                              <a:latin typeface="Cambria Math" panose="02040503050406030204" pitchFamily="18" charset="0"/>
                              <a:sym typeface="+mn-ea"/>
                            </a:rPr>
                          </m:ctrlPr>
                        </m:sSupPr>
                        <m:e>
                          <m:r>
                            <a:rPr lang="en-US" altLang="zh-CN" i="1" noProof="1">
                              <a:latin typeface="Cambria Math" panose="02040503050406030204" pitchFamily="18" charset="0"/>
                              <a:sym typeface="+mn-ea"/>
                            </a:rPr>
                            <m:t>𝑖</m:t>
                          </m:r>
                        </m:e>
                        <m:sup>
                          <m:r>
                            <a:rPr lang="en-US" altLang="zh-CN" i="1" noProof="1">
                              <a:latin typeface="Cambria Math" panose="02040503050406030204" pitchFamily="18" charset="0"/>
                              <a:sym typeface="+mn-ea"/>
                            </a:rPr>
                            <m:t>−1</m:t>
                          </m:r>
                        </m:sup>
                      </m:sSup>
                      <m:r>
                        <a:rPr lang="en-US" altLang="zh-CN" i="1" noProof="1">
                          <a:latin typeface="Cambria Math" panose="02040503050406030204" pitchFamily="18" charset="0"/>
                          <a:sym typeface="+mn-ea"/>
                        </a:rPr>
                        <m:t>≡0 (</m:t>
                      </m:r>
                      <m:r>
                        <m:rPr>
                          <m:sty m:val="p"/>
                        </m:rPr>
                        <a:rPr lang="en-US" altLang="zh-CN" noProof="1">
                          <a:latin typeface="Cambria Math" panose="02040503050406030204" pitchFamily="18" charset="0"/>
                          <a:sym typeface="+mn-ea"/>
                        </a:rPr>
                        <m:t>mod</m:t>
                      </m:r>
                      <m:r>
                        <a:rPr lang="en-US" altLang="zh-CN" i="1" noProof="1">
                          <a:latin typeface="Cambria Math" panose="02040503050406030204" pitchFamily="18" charset="0"/>
                          <a:sym typeface="+mn-ea"/>
                        </a:rPr>
                        <m:t> </m:t>
                      </m:r>
                      <m:r>
                        <a:rPr lang="en-US" altLang="zh-CN" i="1" noProof="1">
                          <a:latin typeface="Cambria Math" panose="02040503050406030204" pitchFamily="18" charset="0"/>
                          <a:sym typeface="+mn-ea"/>
                        </a:rPr>
                        <m:t>𝑝</m:t>
                      </m:r>
                      <m:r>
                        <a:rPr lang="en-US" altLang="zh-CN" i="1" noProof="1">
                          <a:latin typeface="Cambria Math" panose="02040503050406030204" pitchFamily="18" charset="0"/>
                          <a:sym typeface="+mn-ea"/>
                        </a:rPr>
                        <m:t>)</m:t>
                      </m:r>
                    </m:oMath>
                  </m:oMathPara>
                </a14:m>
                <a:endParaRPr lang="en-US" altLang="zh-CN" noProof="1">
                  <a:sym typeface="+mn-ea"/>
                </a:endParaRP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sSup>
                        <m:sSupPr>
                          <m:ctrlPr>
                            <a:rPr lang="en-US" altLang="zh-CN" i="1" noProof="1">
                              <a:latin typeface="Cambria Math" panose="02040503050406030204" pitchFamily="18" charset="0"/>
                              <a:sym typeface="+mn-ea"/>
                            </a:rPr>
                          </m:ctrlPr>
                        </m:sSupPr>
                        <m:e>
                          <m:r>
                            <a:rPr lang="en-US" altLang="zh-CN" i="1" noProof="1">
                              <a:latin typeface="Cambria Math" panose="02040503050406030204" pitchFamily="18" charset="0"/>
                              <a:sym typeface="+mn-ea"/>
                            </a:rPr>
                            <m:t>𝑖</m:t>
                          </m:r>
                        </m:e>
                        <m:sup>
                          <m:r>
                            <a:rPr lang="en-US" altLang="zh-CN" i="1" noProof="1">
                              <a:latin typeface="Cambria Math" panose="02040503050406030204" pitchFamily="18" charset="0"/>
                              <a:sym typeface="+mn-ea"/>
                            </a:rPr>
                            <m:t>−1</m:t>
                          </m:r>
                        </m:sup>
                      </m:sSup>
                      <m:r>
                        <a:rPr lang="en-US" altLang="zh-CN" i="1" noProof="1">
                          <a:latin typeface="Cambria Math" panose="02040503050406030204" pitchFamily="18" charset="0"/>
                          <a:sym typeface="+mn-ea"/>
                        </a:rPr>
                        <m:t>≡</m:t>
                      </m:r>
                      <m:r>
                        <a:rPr lang="en-US" altLang="zh-CN" b="0" i="1" noProof="1" smtClean="0">
                          <a:latin typeface="Cambria Math" panose="02040503050406030204" pitchFamily="18" charset="0"/>
                          <a:sym typeface="+mn-ea"/>
                        </a:rPr>
                        <m:t>−</m:t>
                      </m:r>
                      <m:sSup>
                        <m:sSupPr>
                          <m:ctrlPr>
                            <a:rPr lang="en-US" altLang="zh-CN" i="1" noProof="1">
                              <a:latin typeface="Cambria Math" panose="02040503050406030204" pitchFamily="18" charset="0"/>
                              <a:sym typeface="+mn-ea"/>
                            </a:rPr>
                          </m:ctrlPr>
                        </m:sSupPr>
                        <m:e>
                          <m:r>
                            <a:rPr lang="en-US" altLang="zh-CN" i="1" noProof="1">
                              <a:latin typeface="Cambria Math" panose="02040503050406030204" pitchFamily="18" charset="0"/>
                              <a:sym typeface="+mn-ea"/>
                            </a:rPr>
                            <m:t>𝑟</m:t>
                          </m:r>
                        </m:e>
                        <m:sup>
                          <m:r>
                            <a:rPr lang="en-US" altLang="zh-CN" i="1" noProof="1">
                              <a:latin typeface="Cambria Math" panose="02040503050406030204" pitchFamily="18" charset="0"/>
                              <a:sym typeface="+mn-ea"/>
                            </a:rPr>
                            <m:t>−1</m:t>
                          </m:r>
                        </m:sup>
                      </m:sSup>
                      <m:r>
                        <a:rPr lang="zh-Hans" altLang="en-US" b="0" i="1" noProof="1" smtClean="0">
                          <a:latin typeface="Cambria Math" panose="02040503050406030204" pitchFamily="18" charset="0"/>
                          <a:sym typeface="+mn-ea"/>
                        </a:rPr>
                        <m:t>∗</m:t>
                      </m:r>
                      <m:r>
                        <a:rPr lang="en-US" altLang="zh-CN" i="1" noProof="1">
                          <a:latin typeface="Cambria Math" panose="02040503050406030204" pitchFamily="18" charset="0"/>
                          <a:sym typeface="+mn-ea"/>
                        </a:rPr>
                        <m:t>𝑞</m:t>
                      </m:r>
                      <m:r>
                        <a:rPr lang="en-US" altLang="zh-CN" i="1" noProof="1">
                          <a:latin typeface="Cambria Math" panose="02040503050406030204" pitchFamily="18" charset="0"/>
                          <a:sym typeface="+mn-ea"/>
                        </a:rPr>
                        <m:t>≡−</m:t>
                      </m:r>
                      <m:sSup>
                        <m:sSupPr>
                          <m:ctrlPr>
                            <a:rPr lang="en-US" altLang="zh-CN" i="1" noProof="1" smtClean="0">
                              <a:latin typeface="Cambria Math" panose="02040503050406030204" pitchFamily="18" charset="0"/>
                              <a:sym typeface="+mn-ea"/>
                            </a:rPr>
                          </m:ctrlPr>
                        </m:sSupPr>
                        <m:e>
                          <m:r>
                            <a:rPr lang="en-US" altLang="zh-CN" i="1" noProof="1">
                              <a:latin typeface="Cambria Math" panose="02040503050406030204" pitchFamily="18" charset="0"/>
                              <a:sym typeface="+mn-ea"/>
                            </a:rPr>
                            <m:t>(</m:t>
                          </m:r>
                          <m:r>
                            <a:rPr lang="en-US" altLang="zh-CN" i="1" noProof="1">
                              <a:latin typeface="Cambria Math" panose="02040503050406030204" pitchFamily="18" charset="0"/>
                              <a:sym typeface="+mn-ea"/>
                            </a:rPr>
                            <m:t>𝑝</m:t>
                          </m:r>
                          <m:r>
                            <a:rPr lang="en-US" altLang="zh-CN" i="1" noProof="1">
                              <a:latin typeface="Cambria Math" panose="02040503050406030204" pitchFamily="18" charset="0"/>
                              <a:sym typeface="+mn-ea"/>
                            </a:rPr>
                            <m:t> </m:t>
                          </m:r>
                          <m:r>
                            <m:rPr>
                              <m:sty m:val="p"/>
                            </m:rPr>
                            <a:rPr lang="en-US" altLang="zh-CN" noProof="1">
                              <a:latin typeface="Cambria Math" panose="02040503050406030204" pitchFamily="18" charset="0"/>
                              <a:sym typeface="+mn-ea"/>
                            </a:rPr>
                            <m:t>mod</m:t>
                          </m:r>
                          <m:r>
                            <a:rPr lang="en-US" altLang="zh-CN" i="1" noProof="1">
                              <a:latin typeface="Cambria Math" panose="02040503050406030204" pitchFamily="18" charset="0"/>
                              <a:sym typeface="+mn-ea"/>
                            </a:rPr>
                            <m:t> </m:t>
                          </m:r>
                          <m:r>
                            <a:rPr lang="en-US" altLang="zh-CN" i="1" noProof="1">
                              <a:latin typeface="Cambria Math" panose="02040503050406030204" pitchFamily="18" charset="0"/>
                              <a:sym typeface="+mn-ea"/>
                            </a:rPr>
                            <m:t>𝑖</m:t>
                          </m:r>
                          <m:r>
                            <a:rPr lang="en-US" altLang="zh-CN" i="1" noProof="1">
                              <a:latin typeface="Cambria Math" panose="02040503050406030204" pitchFamily="18" charset="0"/>
                              <a:sym typeface="+mn-ea"/>
                            </a:rPr>
                            <m:t>)</m:t>
                          </m:r>
                        </m:e>
                        <m:sup>
                          <m:r>
                            <a:rPr lang="en-US" altLang="zh-CN" b="0" i="1" noProof="1" smtClean="0">
                              <a:latin typeface="Cambria Math" panose="02040503050406030204" pitchFamily="18" charset="0"/>
                              <a:sym typeface="+mn-ea"/>
                            </a:rPr>
                            <m:t>−1</m:t>
                          </m:r>
                        </m:sup>
                      </m:sSup>
                      <m:d>
                        <m:dPr>
                          <m:begChr m:val="⌊"/>
                          <m:endChr m:val="⌋"/>
                          <m:ctrlPr>
                            <a:rPr lang="en-US" altLang="zh-CN" i="1" noProof="1" smtClean="0">
                              <a:latin typeface="Cambria Math" panose="02040503050406030204" pitchFamily="18" charset="0"/>
                              <a:sym typeface="+mn-ea"/>
                            </a:rPr>
                          </m:ctrlPr>
                        </m:dPr>
                        <m:e>
                          <m:f>
                            <m:fPr>
                              <m:ctrlPr>
                                <a:rPr lang="en-US" altLang="zh-CN" i="1" noProof="1">
                                  <a:latin typeface="Cambria Math" panose="02040503050406030204" pitchFamily="18" charset="0"/>
                                  <a:sym typeface="+mn-ea"/>
                                </a:rPr>
                              </m:ctrlPr>
                            </m:fPr>
                            <m:num>
                              <m:r>
                                <a:rPr lang="en-US" altLang="zh-CN" i="1" noProof="1">
                                  <a:latin typeface="Cambria Math" panose="02040503050406030204" pitchFamily="18" charset="0"/>
                                  <a:sym typeface="+mn-ea"/>
                                </a:rPr>
                                <m:t>𝑝</m:t>
                              </m:r>
                            </m:num>
                            <m:den>
                              <m:r>
                                <a:rPr lang="en-US" altLang="zh-CN" i="1" noProof="1">
                                  <a:latin typeface="Cambria Math" panose="02040503050406030204" pitchFamily="18" charset="0"/>
                                  <a:sym typeface="+mn-ea"/>
                                </a:rPr>
                                <m:t>𝑖</m:t>
                              </m:r>
                            </m:den>
                          </m:f>
                        </m:e>
                      </m:d>
                      <m:r>
                        <a:rPr lang="en-US" altLang="zh-CN" i="1" noProof="1">
                          <a:latin typeface="Cambria Math" panose="02040503050406030204" pitchFamily="18" charset="0"/>
                          <a:sym typeface="+mn-ea"/>
                        </a:rPr>
                        <m:t>(</m:t>
                      </m:r>
                      <m:r>
                        <m:rPr>
                          <m:sty m:val="p"/>
                        </m:rPr>
                        <a:rPr lang="en-US" altLang="zh-CN" noProof="1">
                          <a:latin typeface="Cambria Math" panose="02040503050406030204" pitchFamily="18" charset="0"/>
                          <a:sym typeface="+mn-ea"/>
                        </a:rPr>
                        <m:t>mod</m:t>
                      </m:r>
                      <m:r>
                        <a:rPr lang="en-US" altLang="zh-CN" i="1" noProof="1">
                          <a:latin typeface="Cambria Math" panose="02040503050406030204" pitchFamily="18" charset="0"/>
                          <a:sym typeface="+mn-ea"/>
                        </a:rPr>
                        <m:t> </m:t>
                      </m:r>
                      <m:r>
                        <a:rPr lang="en-US" altLang="zh-CN" i="1" noProof="1">
                          <a:latin typeface="Cambria Math" panose="02040503050406030204" pitchFamily="18" charset="0"/>
                          <a:sym typeface="+mn-ea"/>
                        </a:rPr>
                        <m:t>𝑝</m:t>
                      </m:r>
                      <m:r>
                        <a:rPr lang="en-US" altLang="zh-CN" i="1" noProof="1">
                          <a:latin typeface="Cambria Math" panose="02040503050406030204" pitchFamily="18" charset="0"/>
                          <a:sym typeface="+mn-ea"/>
                        </a:rPr>
                        <m:t>)</m:t>
                      </m:r>
                    </m:oMath>
                  </m:oMathPara>
                </a14:m>
                <a:endParaRPr lang="en-US" altLang="zh-CN" noProof="1">
                  <a:sym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539441"/>
                <a:ext cx="9980682" cy="3988523"/>
              </a:xfrm>
              <a:blipFill>
                <a:blip r:embed="rId2"/>
                <a:stretch>
                  <a:fillRect l="-1398"/>
                </a:stretch>
              </a:blipFill>
            </p:spPr>
            <p:txBody>
              <a:bodyPr/>
              <a:lstStyle/>
              <a:p>
                <a:r>
                  <a:rPr lang="zh-CN" altLang="en-US">
                    <a:noFill/>
                  </a:rPr>
                  <a:t> </a:t>
                </a:r>
              </a:p>
            </p:txBody>
          </p:sp>
        </mc:Fallback>
      </mc:AlternateContent>
      <p:sp>
        <p:nvSpPr>
          <p:cNvPr id="2" name="矩形 1"/>
          <p:cNvSpPr/>
          <p:nvPr/>
        </p:nvSpPr>
        <p:spPr>
          <a:xfrm>
            <a:off x="1104900" y="5527964"/>
            <a:ext cx="9980682" cy="707886"/>
          </a:xfrm>
          <a:prstGeom prst="rect">
            <a:avLst/>
          </a:prstGeom>
        </p:spPr>
        <p:txBody>
          <a:bodyPr wrap="square">
            <a:spAutoFit/>
          </a:bodyPr>
          <a:lstStyle/>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inverse</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inverse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inverse</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p</a:t>
            </a:r>
            <a:r>
              <a:rPr lang="en-US" altLang="zh-CN" sz="2000" b="1" dirty="0" err="1">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p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p</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000000"/>
                </a:solidFill>
                <a:highlight>
                  <a:srgbClr val="FFFFF3"/>
                </a:highlight>
                <a:latin typeface="Courier New" panose="02070309020205020404" pitchFamily="49" charset="0"/>
                <a:cs typeface="Courier New" panose="02070309020205020404" pitchFamily="49" charset="0"/>
              </a:rPr>
              <a:t>i</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p</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4" name="幻灯片编号占位符 3">
            <a:extLst>
              <a:ext uri="{FF2B5EF4-FFF2-40B4-BE49-F238E27FC236}">
                <a16:creationId xmlns:a16="http://schemas.microsoft.com/office/drawing/2014/main" id="{7B49B2A4-63EF-2C44-B98A-76E12DA17BCC}"/>
              </a:ext>
            </a:extLst>
          </p:cNvPr>
          <p:cNvSpPr>
            <a:spLocks noGrp="1"/>
          </p:cNvSpPr>
          <p:nvPr>
            <p:ph type="sldNum" sz="quarter" idx="12"/>
          </p:nvPr>
        </p:nvSpPr>
        <p:spPr/>
        <p:txBody>
          <a:bodyPr/>
          <a:lstStyle/>
          <a:p>
            <a:fld id="{0FF54DE5-C571-48E8-A5BC-B369434E2F44}" type="slidenum">
              <a:rPr lang="en-US" altLang="zh-CN" smtClean="0"/>
              <a:pPr/>
              <a:t>86</a:t>
            </a:fld>
            <a:endParaRPr lang="zh-CN" altLang="en-US" dirty="0"/>
          </a:p>
        </p:txBody>
      </p:sp>
    </p:spTree>
    <p:extLst>
      <p:ext uri="{BB962C8B-B14F-4D97-AF65-F5344CB8AC3E}">
        <p14:creationId xmlns:p14="http://schemas.microsoft.com/office/powerpoint/2010/main" val="305466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p:txBody>
          <a:bodyPr/>
          <a:lstStyle/>
          <a:p>
            <a:r>
              <a:rPr lang="zh-CN" altLang="en-US" dirty="0">
                <a:sym typeface="宋体" panose="02010600030101010101" pitchFamily="2" charset="-122"/>
              </a:rPr>
              <a:t>线性求逆元</a:t>
            </a:r>
            <a:r>
              <a:rPr lang="zh-CN" altLang="en-US" dirty="0"/>
              <a:t>：倒推法</a:t>
            </a:r>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p:txBody>
              <a:bodyPr/>
              <a:lstStyle/>
              <a:p>
                <a:pPr>
                  <a:lnSpc>
                    <a:spcPct val="150000"/>
                  </a:lnSpc>
                </a:pPr>
                <a:r>
                  <a:rPr lang="zh-CN" altLang="en-US" dirty="0"/>
                  <a:t>先求</a:t>
                </a:r>
                <a:r>
                  <a:rPr lang="zh-Hans" altLang="en-US" dirty="0"/>
                  <a:t>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oMath>
                </a14:m>
                <a:r>
                  <a:rPr lang="zh-Hans" altLang="en-US" dirty="0"/>
                  <a:t> </a:t>
                </a:r>
                <a:r>
                  <a:rPr lang="zh-CN" altLang="en-US" dirty="0"/>
                  <a:t>的逆元（可以使用</a:t>
                </a:r>
                <a:r>
                  <a:rPr lang="zh-Hans" altLang="en-US" dirty="0"/>
                  <a:t>扩展欧几里得算法</a:t>
                </a:r>
                <a:r>
                  <a:rPr lang="en-US" altLang="zh-CN" dirty="0"/>
                  <a:t>,</a:t>
                </a:r>
                <a:r>
                  <a:rPr lang="zh-CN" altLang="en-US" dirty="0"/>
                  <a:t>或者快速幂），然后利用</a:t>
                </a:r>
                <a:br>
                  <a:rPr lang="en-US" altLang="zh-CN" dirty="0"/>
                </a:br>
                <a14:m>
                  <m:oMath xmlns:m="http://schemas.openxmlformats.org/officeDocument/2006/math">
                    <m:sSup>
                      <m:sSupPr>
                        <m:ctrlPr>
                          <a:rPr lang="en-US" altLang="zh-CN" i="1" dirty="0" smtClean="0">
                            <a:latin typeface="Cambria Math" panose="02040503050406030204" pitchFamily="18" charset="0"/>
                            <a:sym typeface="宋体" panose="02010600030101010101" pitchFamily="2" charset="-122"/>
                          </a:rPr>
                        </m:ctrlPr>
                      </m:sSupPr>
                      <m:e>
                        <m:r>
                          <a:rPr lang="en-US" altLang="zh-CN" i="1" dirty="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i="1" dirty="0" smtClean="0">
                            <a:latin typeface="Cambria Math" panose="02040503050406030204" pitchFamily="18" charset="0"/>
                          </a:rPr>
                          <m:t>−1)!)</m:t>
                        </m:r>
                      </m:e>
                      <m:sup>
                        <m:r>
                          <a:rPr lang="en-US" altLang="zh-CN" b="0" i="1" dirty="0" smtClean="0">
                            <a:latin typeface="Cambria Math" panose="02040503050406030204" pitchFamily="18" charset="0"/>
                            <a:sym typeface="宋体" panose="02010600030101010101" pitchFamily="2" charset="-122"/>
                          </a:rPr>
                          <m:t>−1</m:t>
                        </m:r>
                      </m:sup>
                    </m:sSup>
                    <m:r>
                      <a:rPr lang="en-US" altLang="zh-CN" i="1" dirty="0" smtClean="0">
                        <a:latin typeface="Cambria Math" panose="02040503050406030204" pitchFamily="18" charset="0"/>
                        <a:sym typeface="宋体" panose="02010600030101010101" pitchFamily="2" charset="-122"/>
                      </a:rPr>
                      <m:t>≡</m:t>
                    </m:r>
                    <m:r>
                      <a:rPr lang="en-US" altLang="zh-CN" i="1" dirty="0" smtClean="0">
                        <a:latin typeface="Cambria Math" panose="02040503050406030204" pitchFamily="18" charset="0"/>
                        <a:sym typeface="宋体" panose="02010600030101010101" pitchFamily="2" charset="-122"/>
                      </a:rPr>
                      <m:t>𝑘</m:t>
                    </m:r>
                    <m:r>
                      <a:rPr lang="zh-Hans" altLang="en-US" b="0" i="1" dirty="0" smtClean="0">
                        <a:latin typeface="Cambria Math" panose="02040503050406030204" pitchFamily="18" charset="0"/>
                        <a:sym typeface="宋体" panose="02010600030101010101" pitchFamily="2" charset="-122"/>
                      </a:rPr>
                      <m:t>∗</m:t>
                    </m:r>
                    <m:sSup>
                      <m:sSupPr>
                        <m:ctrlPr>
                          <a:rPr lang="en-US" altLang="zh-CN" i="1" dirty="0" smtClean="0">
                            <a:latin typeface="Cambria Math" panose="02040503050406030204" pitchFamily="18" charset="0"/>
                            <a:sym typeface="宋体" panose="02010600030101010101" pitchFamily="2" charset="-122"/>
                          </a:rPr>
                        </m:ctrlPr>
                      </m:sSupPr>
                      <m:e>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𝑘</m:t>
                        </m:r>
                        <m:r>
                          <a:rPr lang="en-US" altLang="zh-CN" i="1" dirty="0">
                            <a:latin typeface="Cambria Math" panose="02040503050406030204" pitchFamily="18" charset="0"/>
                            <a:sym typeface="宋体" panose="02010600030101010101" pitchFamily="2" charset="-122"/>
                          </a:rPr>
                          <m:t>!)</m:t>
                        </m:r>
                      </m:e>
                      <m:sup>
                        <m:r>
                          <a:rPr lang="en-US" altLang="zh-CN" b="0" i="1" dirty="0" smtClean="0">
                            <a:latin typeface="Cambria Math" panose="02040503050406030204" pitchFamily="18" charset="0"/>
                            <a:sym typeface="宋体" panose="02010600030101010101" pitchFamily="2" charset="-122"/>
                          </a:rPr>
                          <m:t>−1</m:t>
                        </m:r>
                      </m:sup>
                    </m:sSup>
                    <m:r>
                      <a:rPr lang="en-US" altLang="zh-CN" i="1" dirty="0" smtClean="0">
                        <a:latin typeface="Cambria Math" panose="02040503050406030204" pitchFamily="18" charset="0"/>
                        <a:sym typeface="宋体" panose="02010600030101010101" pitchFamily="2" charset="-122"/>
                      </a:rPr>
                      <m:t> (</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r>
                      <a:rPr lang="en-US" altLang="zh-CN" i="1" dirty="0" smtClean="0">
                        <a:latin typeface="Cambria Math" panose="02040503050406030204" pitchFamily="18" charset="0"/>
                        <a:sym typeface="宋体" panose="02010600030101010101" pitchFamily="2" charset="-122"/>
                      </a:rPr>
                      <m:t>𝑝</m:t>
                    </m:r>
                    <m:r>
                      <a:rPr lang="en-US" altLang="zh-CN" i="1" dirty="0" smtClean="0">
                        <a:latin typeface="Cambria Math" panose="02040503050406030204" pitchFamily="18" charset="0"/>
                        <a:sym typeface="宋体" panose="02010600030101010101" pitchFamily="2" charset="-122"/>
                      </a:rPr>
                      <m:t>)</m:t>
                    </m:r>
                  </m:oMath>
                </a14:m>
                <a:endParaRPr lang="en-US" altLang="zh-CN" dirty="0">
                  <a:sym typeface="宋体" panose="02010600030101010101" pitchFamily="2" charset="-122"/>
                </a:endParaRPr>
              </a:p>
              <a:p>
                <a:pPr>
                  <a:lnSpc>
                    <a:spcPct val="150000"/>
                  </a:lnSpc>
                </a:pPr>
                <a:r>
                  <a:rPr lang="zh-CN" altLang="en-US" dirty="0">
                    <a:sym typeface="宋体" panose="02010600030101010101" pitchFamily="2" charset="-122"/>
                  </a:rPr>
                  <a:t>倒推求出</a:t>
                </a:r>
                <a:r>
                  <a:rPr lang="zh-Hans"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1!…(</m:t>
                    </m:r>
                    <m:r>
                      <a:rPr lang="en-US" altLang="zh-CN" i="1" dirty="0" smtClean="0">
                        <a:latin typeface="Cambria Math" panose="02040503050406030204" pitchFamily="18" charset="0"/>
                        <a:sym typeface="宋体" panose="02010600030101010101" pitchFamily="2" charset="-122"/>
                      </a:rPr>
                      <m:t>𝑛</m:t>
                    </m:r>
                    <m:r>
                      <a:rPr lang="en-US" altLang="zh-CN" i="1" dirty="0" smtClean="0">
                        <a:latin typeface="Cambria Math" panose="02040503050406030204" pitchFamily="18" charset="0"/>
                        <a:sym typeface="宋体" panose="02010600030101010101" pitchFamily="2" charset="-122"/>
                      </a:rPr>
                      <m:t>−1)!</m:t>
                    </m:r>
                  </m:oMath>
                </a14:m>
                <a:r>
                  <a:rPr lang="zh-Hans" altLang="en-US" dirty="0">
                    <a:sym typeface="宋体" panose="02010600030101010101" pitchFamily="2" charset="-122"/>
                  </a:rPr>
                  <a:t> </a:t>
                </a:r>
                <a:r>
                  <a:rPr lang="zh-CN" altLang="en-US" dirty="0">
                    <a:sym typeface="宋体" panose="02010600030101010101" pitchFamily="2" charset="-122"/>
                  </a:rPr>
                  <a:t>的逆元</a:t>
                </a:r>
              </a:p>
              <a:p>
                <a:pPr>
                  <a:lnSpc>
                    <a:spcPct val="150000"/>
                  </a:lnSpc>
                </a:pPr>
                <a:r>
                  <a:rPr lang="zh-CN" altLang="en-US" dirty="0">
                    <a:sym typeface="宋体" panose="02010600030101010101" pitchFamily="2" charset="-122"/>
                  </a:rPr>
                  <a:t>再利用</a:t>
                </a:r>
                <a:br>
                  <a:rPr lang="en-US" altLang="zh-CN" dirty="0">
                    <a:sym typeface="宋体" panose="02010600030101010101" pitchFamily="2" charset="-122"/>
                  </a:rPr>
                </a:br>
                <a14:m>
                  <m:oMath xmlns:m="http://schemas.openxmlformats.org/officeDocument/2006/math">
                    <m:sSup>
                      <m:sSupPr>
                        <m:ctrlPr>
                          <a:rPr lang="en-US" altLang="zh-CN" i="1" dirty="0">
                            <a:latin typeface="Cambria Math" panose="02040503050406030204" pitchFamily="18" charset="0"/>
                            <a:sym typeface="宋体" panose="02010600030101010101" pitchFamily="2" charset="-122"/>
                          </a:rPr>
                        </m:ctrlPr>
                      </m:sSupPr>
                      <m:e>
                        <m:r>
                          <a:rPr lang="en-US" altLang="zh-CN" i="1" dirty="0">
                            <a:latin typeface="Cambria Math" panose="02040503050406030204" pitchFamily="18" charset="0"/>
                          </a:rPr>
                          <m:t>𝑘</m:t>
                        </m:r>
                      </m:e>
                      <m:sup>
                        <m:r>
                          <a:rPr lang="en-US" altLang="zh-CN" i="1" dirty="0">
                            <a:latin typeface="Cambria Math" panose="02040503050406030204" pitchFamily="18" charset="0"/>
                            <a:sym typeface="宋体" panose="02010600030101010101" pitchFamily="2" charset="-122"/>
                          </a:rPr>
                          <m:t>−1</m:t>
                        </m:r>
                      </m:sup>
                    </m:sSup>
                    <m:r>
                      <a:rPr lang="en-US" altLang="zh-CN" i="1" dirty="0">
                        <a:latin typeface="Cambria Math" panose="02040503050406030204" pitchFamily="18" charset="0"/>
                        <a:sym typeface="宋体" panose="02010600030101010101" pitchFamily="2" charset="-122"/>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𝑘</m:t>
                        </m:r>
                        <m:r>
                          <a:rPr lang="en-US" altLang="zh-CN" i="1" dirty="0">
                            <a:latin typeface="Cambria Math" panose="02040503050406030204" pitchFamily="18" charset="0"/>
                          </a:rPr>
                          <m:t>−1</m:t>
                        </m:r>
                      </m:e>
                    </m:d>
                    <m:r>
                      <a:rPr lang="en-US" altLang="zh-CN" i="1" dirty="0">
                        <a:latin typeface="Cambria Math" panose="02040503050406030204" pitchFamily="18" charset="0"/>
                      </a:rPr>
                      <m:t>!</m:t>
                    </m:r>
                    <m:r>
                      <a:rPr lang="zh-Hans" altLang="en-US" b="0" i="1" dirty="0" smtClean="0">
                        <a:latin typeface="Cambria Math" panose="02040503050406030204" pitchFamily="18" charset="0"/>
                      </a:rPr>
                      <m:t>∗</m:t>
                    </m:r>
                    <m:sSup>
                      <m:sSupPr>
                        <m:ctrlPr>
                          <a:rPr lang="en-US" altLang="zh-CN" i="1" dirty="0">
                            <a:latin typeface="Cambria Math" panose="02040503050406030204" pitchFamily="18" charset="0"/>
                            <a:sym typeface="宋体" panose="02010600030101010101" pitchFamily="2" charset="-122"/>
                          </a:rPr>
                        </m:ctrlPr>
                      </m:sSupPr>
                      <m:e>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𝑘</m:t>
                        </m:r>
                        <m:r>
                          <a:rPr lang="en-US" altLang="zh-CN" i="1" dirty="0">
                            <a:latin typeface="Cambria Math" panose="02040503050406030204" pitchFamily="18" charset="0"/>
                            <a:sym typeface="宋体" panose="02010600030101010101" pitchFamily="2" charset="-122"/>
                          </a:rPr>
                          <m:t>!)</m:t>
                        </m:r>
                      </m:e>
                      <m:sup>
                        <m:r>
                          <a:rPr lang="en-US" altLang="zh-CN" i="1" dirty="0">
                            <a:latin typeface="Cambria Math" panose="02040503050406030204" pitchFamily="18" charset="0"/>
                            <a:sym typeface="宋体" panose="02010600030101010101" pitchFamily="2" charset="-122"/>
                          </a:rPr>
                          <m:t>−1</m:t>
                        </m:r>
                      </m:sup>
                    </m:sSup>
                    <m:r>
                      <a:rPr lang="en-US" altLang="zh-CN" i="1" dirty="0">
                        <a:latin typeface="Cambria Math" panose="02040503050406030204" pitchFamily="18" charset="0"/>
                        <a:sym typeface="宋体" panose="02010600030101010101" pitchFamily="2" charset="-122"/>
                      </a:rPr>
                      <m:t>(</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m:t>
                    </m:r>
                    <m:r>
                      <a:rPr lang="en-US" altLang="zh-CN" i="1" dirty="0">
                        <a:latin typeface="Cambria Math" panose="02040503050406030204" pitchFamily="18" charset="0"/>
                        <a:sym typeface="宋体" panose="02010600030101010101" pitchFamily="2" charset="-122"/>
                      </a:rPr>
                      <m:t>𝑝</m:t>
                    </m:r>
                    <m:r>
                      <a:rPr lang="en-US" altLang="zh-CN" i="1" dirty="0">
                        <a:latin typeface="Cambria Math" panose="02040503050406030204" pitchFamily="18" charset="0"/>
                        <a:sym typeface="宋体" panose="02010600030101010101" pitchFamily="2" charset="-122"/>
                      </a:rPr>
                      <m:t>)</m:t>
                    </m:r>
                  </m:oMath>
                </a14:m>
                <a:endParaRPr lang="en-US" altLang="zh-CN" dirty="0">
                  <a:sym typeface="宋体" panose="02010600030101010101" pitchFamily="2" charset="-122"/>
                </a:endParaRPr>
              </a:p>
              <a:p>
                <a:pPr>
                  <a:lnSpc>
                    <a:spcPct val="150000"/>
                  </a:lnSpc>
                </a:pPr>
                <a:r>
                  <a:rPr lang="zh-CN" altLang="en-US" dirty="0">
                    <a:sym typeface="宋体" panose="02010600030101010101" pitchFamily="2" charset="-122"/>
                  </a:rPr>
                  <a:t>就可以求出</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1…</m:t>
                    </m:r>
                    <m:r>
                      <a:rPr lang="en-US" altLang="zh-CN" i="1" dirty="0" smtClean="0">
                        <a:latin typeface="Cambria Math" panose="02040503050406030204" pitchFamily="18" charset="0"/>
                        <a:sym typeface="宋体" panose="02010600030101010101" pitchFamily="2" charset="-122"/>
                      </a:rPr>
                      <m:t>𝑛</m:t>
                    </m:r>
                  </m:oMath>
                </a14:m>
                <a:r>
                  <a:rPr lang="zh-CN" altLang="en-US" dirty="0">
                    <a:sym typeface="宋体" panose="02010600030101010101" pitchFamily="2" charset="-122"/>
                  </a:rPr>
                  <a:t>的逆元了</a:t>
                </a:r>
              </a:p>
              <a:p>
                <a:pPr>
                  <a:lnSpc>
                    <a:spcPct val="150000"/>
                  </a:lnSpc>
                </a:pPr>
                <a:endParaRPr lang="en-US" altLang="zh-CN" baseline="30000" dirty="0">
                  <a:sym typeface="宋体" panose="02010600030101010101" pitchFamily="2" charset="-122"/>
                </a:endParaRPr>
              </a:p>
              <a:p>
                <a:pPr>
                  <a:lnSpc>
                    <a:spcPct val="150000"/>
                  </a:lnSpc>
                </a:pP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058ADD4A-902F-DC40-86BB-B5F969CAA25B}"/>
              </a:ext>
            </a:extLst>
          </p:cNvPr>
          <p:cNvSpPr>
            <a:spLocks noGrp="1"/>
          </p:cNvSpPr>
          <p:nvPr>
            <p:ph type="sldNum" sz="quarter" idx="12"/>
          </p:nvPr>
        </p:nvSpPr>
        <p:spPr/>
        <p:txBody>
          <a:bodyPr/>
          <a:lstStyle/>
          <a:p>
            <a:fld id="{0FF54DE5-C571-48E8-A5BC-B369434E2F44}" type="slidenum">
              <a:rPr lang="en-US" altLang="zh-CN" smtClean="0"/>
              <a:pPr/>
              <a:t>87</a:t>
            </a:fld>
            <a:endParaRPr lang="zh-CN" altLang="en-US" dirty="0"/>
          </a:p>
        </p:txBody>
      </p:sp>
    </p:spTree>
    <p:extLst>
      <p:ext uri="{BB962C8B-B14F-4D97-AF65-F5344CB8AC3E}">
        <p14:creationId xmlns:p14="http://schemas.microsoft.com/office/powerpoint/2010/main" val="185410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noChangeArrowheads="1"/>
          </p:cNvSpPr>
          <p:nvPr>
            <p:ph type="title"/>
          </p:nvPr>
        </p:nvSpPr>
        <p:spPr/>
        <p:txBody>
          <a:bodyPr/>
          <a:lstStyle/>
          <a:p>
            <a:r>
              <a:rPr lang="zh-CN" altLang="en-US" dirty="0"/>
              <a:t>例题：</a:t>
            </a:r>
            <a:r>
              <a:rPr lang="en-US" altLang="zh-CN" dirty="0"/>
              <a:t>[POJ 1845] </a:t>
            </a:r>
            <a:r>
              <a:rPr lang="en-US" altLang="zh-Hans" dirty="0" err="1"/>
              <a:t>Sumdiv</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noChangeArrowheads="1"/>
              </p:cNvSpPr>
              <p:nvPr>
                <p:ph idx="1"/>
              </p:nvPr>
            </p:nvSpPr>
            <p:spPr>
              <a:xfrm>
                <a:off x="1104900" y="1600200"/>
                <a:ext cx="9982200" cy="5257800"/>
              </a:xfrm>
            </p:spPr>
            <p:txBody>
              <a:bodyPr>
                <a:normAutofit/>
              </a:bodyPr>
              <a:lstStyle/>
              <a:p>
                <a:pPr>
                  <a:lnSpc>
                    <a:spcPct val="150000"/>
                  </a:lnSpc>
                  <a:spcBef>
                    <a:spcPts val="600"/>
                  </a:spcBef>
                </a:pPr>
                <a:r>
                  <a:rPr lang="zh-CN" altLang="en-US" sz="1800" dirty="0"/>
                  <a:t>求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𝐴</m:t>
                        </m:r>
                      </m:e>
                      <m:sup>
                        <m:r>
                          <a:rPr lang="en-US" altLang="zh-CN" sz="1800" b="0" i="1" smtClean="0">
                            <a:latin typeface="Cambria Math" panose="02040503050406030204" pitchFamily="18" charset="0"/>
                          </a:rPr>
                          <m:t>𝐵</m:t>
                        </m:r>
                      </m:sup>
                    </m:sSup>
                  </m:oMath>
                </a14:m>
                <a:r>
                  <a:rPr lang="zh-CN" altLang="en-US" sz="1800" dirty="0"/>
                  <a:t> 的所有约数之和 </a:t>
                </a:r>
                <a14:m>
                  <m:oMath xmlns:m="http://schemas.openxmlformats.org/officeDocument/2006/math">
                    <m:r>
                      <m:rPr>
                        <m:sty m:val="p"/>
                      </m:rPr>
                      <a:rPr lang="en-US" altLang="zh-CN" sz="1800" i="0" dirty="0" smtClean="0">
                        <a:latin typeface="Cambria Math" panose="02040503050406030204" pitchFamily="18" charset="0"/>
                      </a:rPr>
                      <m:t>mod</m:t>
                    </m:r>
                    <m:r>
                      <a:rPr lang="en-US" altLang="zh-CN" sz="1800" i="1" dirty="0" smtClean="0">
                        <a:latin typeface="Cambria Math" panose="02040503050406030204" pitchFamily="18" charset="0"/>
                      </a:rPr>
                      <m:t> 9901</m:t>
                    </m:r>
                  </m:oMath>
                </a14:m>
                <a:r>
                  <a:rPr lang="en-US" altLang="zh-CN" sz="1800" dirty="0"/>
                  <a:t> </a:t>
                </a:r>
                <a14:m>
                  <m:oMath xmlns:m="http://schemas.openxmlformats.org/officeDocument/2006/math">
                    <m:r>
                      <a:rPr lang="en-US" altLang="zh-CN" sz="1800" i="1" dirty="0" smtClean="0">
                        <a:latin typeface="Cambria Math" panose="02040503050406030204" pitchFamily="18" charset="0"/>
                      </a:rPr>
                      <m:t>(1</m:t>
                    </m:r>
                    <m:r>
                      <a:rPr lang="en-US" altLang="zh-CN" sz="1800" i="1" dirty="0" smtClean="0">
                        <a:latin typeface="Cambria Math" panose="02040503050406030204" pitchFamily="18" charset="0"/>
                        <a:ea typeface="Cambria Math" panose="02040503050406030204" pitchFamily="18" charset="0"/>
                      </a:rPr>
                      <m:t>≤</m:t>
                    </m:r>
                    <m:r>
                      <a:rPr lang="en-US" altLang="zh-CN" sz="1800" i="1" dirty="0" smtClean="0">
                        <a:latin typeface="Cambria Math" panose="02040503050406030204" pitchFamily="18" charset="0"/>
                      </a:rPr>
                      <m:t>𝐴</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𝐵</m:t>
                    </m:r>
                    <m:r>
                      <a:rPr lang="en-US" altLang="zh-CN" sz="1800" i="1" dirty="0" smtClean="0">
                        <a:latin typeface="Cambria Math" panose="02040503050406030204" pitchFamily="18" charset="0"/>
                        <a:ea typeface="Cambria Math" panose="02040503050406030204" pitchFamily="18" charset="0"/>
                      </a:rPr>
                      <m:t>≤</m:t>
                    </m:r>
                    <m:r>
                      <a:rPr lang="en-US" altLang="zh-CN" sz="1800" i="1" dirty="0" smtClean="0">
                        <a:latin typeface="Cambria Math" panose="02040503050406030204" pitchFamily="18" charset="0"/>
                      </a:rPr>
                      <m:t>5∗</m:t>
                    </m:r>
                    <m:sSup>
                      <m:sSupPr>
                        <m:ctrlPr>
                          <a:rPr lang="en-US" altLang="zh-CN" sz="1800" i="1" dirty="0" smtClean="0">
                            <a:latin typeface="Cambria Math" panose="02040503050406030204" pitchFamily="18" charset="0"/>
                          </a:rPr>
                        </m:ctrlPr>
                      </m:sSupPr>
                      <m:e>
                        <m:r>
                          <a:rPr lang="en-US" altLang="zh-CN" sz="1800" b="0" i="1" dirty="0" smtClean="0">
                            <a:latin typeface="Cambria Math" panose="02040503050406030204" pitchFamily="18" charset="0"/>
                          </a:rPr>
                          <m:t>10</m:t>
                        </m:r>
                      </m:e>
                      <m:sup>
                        <m:r>
                          <a:rPr lang="en-US" altLang="zh-CN" sz="1800" b="0" i="1" dirty="0" smtClean="0">
                            <a:latin typeface="Cambria Math" panose="02040503050406030204" pitchFamily="18" charset="0"/>
                          </a:rPr>
                          <m:t>7</m:t>
                        </m:r>
                      </m:sup>
                    </m:sSup>
                    <m:r>
                      <a:rPr lang="en-US" altLang="zh-CN" sz="1800" i="1" dirty="0" smtClean="0">
                        <a:latin typeface="Cambria Math" panose="02040503050406030204" pitchFamily="18" charset="0"/>
                      </a:rPr>
                      <m:t>)</m:t>
                    </m:r>
                  </m:oMath>
                </a14:m>
                <a:r>
                  <a:rPr lang="zh-CN" altLang="en-US" sz="1800" dirty="0"/>
                  <a:t>。</a:t>
                </a:r>
                <a:endParaRPr lang="en-US" altLang="zh-CN" sz="1800" dirty="0"/>
              </a:p>
              <a:p>
                <a:pPr>
                  <a:lnSpc>
                    <a:spcPct val="150000"/>
                  </a:lnSpc>
                  <a:spcBef>
                    <a:spcPts val="600"/>
                  </a:spcBef>
                </a:pPr>
                <a:r>
                  <a:rPr lang="zh-Hans" altLang="en-US" sz="1800" dirty="0"/>
                  <a:t>分析：</a:t>
                </a:r>
                <a:endParaRPr lang="en-US" altLang="zh-Hans" sz="1800" dirty="0"/>
              </a:p>
              <a:p>
                <a:pPr>
                  <a:lnSpc>
                    <a:spcPct val="150000"/>
                  </a:lnSpc>
                  <a:spcBef>
                    <a:spcPts val="600"/>
                  </a:spcBef>
                </a:pPr>
                <a:r>
                  <a:rPr lang="zh-CN" altLang="en-US" sz="1800" dirty="0"/>
                  <a:t>把 </a:t>
                </a:r>
                <a14:m>
                  <m:oMath xmlns:m="http://schemas.openxmlformats.org/officeDocument/2006/math">
                    <m:r>
                      <a:rPr lang="en-US" altLang="zh-CN" sz="1800" i="1" dirty="0" smtClean="0">
                        <a:latin typeface="Cambria Math" panose="02040503050406030204" pitchFamily="18" charset="0"/>
                      </a:rPr>
                      <m:t>𝐴</m:t>
                    </m:r>
                  </m:oMath>
                </a14:m>
                <a:r>
                  <a:rPr lang="en-US" altLang="zh-CN" sz="1800" dirty="0"/>
                  <a:t> </a:t>
                </a:r>
                <a:r>
                  <a:rPr lang="zh-CN" altLang="en-US" sz="1800" dirty="0"/>
                  <a:t>分解素因数，表示为 </a:t>
                </a:r>
                <a14:m>
                  <m:oMath xmlns:m="http://schemas.openxmlformats.org/officeDocument/2006/math">
                    <m:sSubSup>
                      <m:sSubSupPr>
                        <m:ctrlPr>
                          <a:rPr lang="zh-CN"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a:latin typeface="Cambria Math" panose="02040503050406030204" pitchFamily="18" charset="0"/>
                          </a:rPr>
                          <m:t>1</m:t>
                        </m:r>
                      </m:sub>
                      <m:sup>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i="1">
                                <a:latin typeface="Cambria Math" panose="02040503050406030204" pitchFamily="18" charset="0"/>
                              </a:rPr>
                              <m:t>1</m:t>
                            </m:r>
                          </m:sub>
                        </m:sSub>
                      </m:sup>
                    </m:sSubSup>
                    <m:sSubSup>
                      <m:sSubSupPr>
                        <m:ctrlPr>
                          <a:rPr lang="zh-CN"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a:latin typeface="Cambria Math" panose="02040503050406030204" pitchFamily="18" charset="0"/>
                          </a:rPr>
                          <m:t>2</m:t>
                        </m:r>
                      </m:sub>
                      <m:sup>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i="1">
                                <a:latin typeface="Cambria Math" panose="02040503050406030204" pitchFamily="18" charset="0"/>
                              </a:rPr>
                              <m:t>2</m:t>
                            </m:r>
                          </m:sub>
                        </m:sSub>
                      </m:sup>
                    </m:sSubSup>
                    <m:sSubSup>
                      <m:sSubSupPr>
                        <m:ctrlPr>
                          <a:rPr lang="zh-CN" altLang="zh-CN" sz="1800" i="1">
                            <a:latin typeface="Cambria Math" panose="02040503050406030204" pitchFamily="18" charset="0"/>
                          </a:rPr>
                        </m:ctrlPr>
                      </m:sSubSupPr>
                      <m:e>
                        <m:r>
                          <a:rPr lang="en-US" altLang="zh-CN" sz="1800" i="1">
                            <a:latin typeface="Cambria Math" panose="02040503050406030204" pitchFamily="18" charset="0"/>
                          </a:rPr>
                          <m:t>…</m:t>
                        </m:r>
                        <m:r>
                          <a:rPr lang="en-US" altLang="zh-CN" sz="1800" i="1">
                            <a:latin typeface="Cambria Math" panose="02040503050406030204" pitchFamily="18" charset="0"/>
                          </a:rPr>
                          <m:t>𝑝</m:t>
                        </m:r>
                      </m:e>
                      <m:sub>
                        <m:r>
                          <a:rPr lang="en-US" altLang="zh-CN" sz="1800" b="0" i="1" smtClean="0">
                            <a:latin typeface="Cambria Math" panose="02040503050406030204" pitchFamily="18" charset="0"/>
                          </a:rPr>
                          <m:t>𝑛</m:t>
                        </m:r>
                      </m:sub>
                      <m:sup>
                        <m:sSub>
                          <m:sSubPr>
                            <m:ctrlPr>
                              <a:rPr lang="en-US" altLang="zh-CN" sz="1800" i="1">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𝑛</m:t>
                            </m:r>
                          </m:sub>
                        </m:sSub>
                      </m:sup>
                    </m:sSubSup>
                  </m:oMath>
                </a14:m>
                <a:r>
                  <a:rPr lang="zh-CN" altLang="en-US" sz="1800" dirty="0"/>
                  <a:t>，由“约数</a:t>
                </a:r>
                <a:r>
                  <a:rPr lang="zh-Hans" altLang="en-US" sz="1800" dirty="0"/>
                  <a:t>之</a:t>
                </a:r>
                <a:r>
                  <a:rPr lang="zh-CN" altLang="en-US" sz="1800" dirty="0"/>
                  <a:t>和”</a:t>
                </a:r>
                <a:r>
                  <a:rPr lang="zh-Hans" altLang="en-US" sz="1800" dirty="0"/>
                  <a:t>得知</a:t>
                </a:r>
                <a:r>
                  <a:rPr lang="zh-CN" altLang="en-US" sz="1800" dirty="0"/>
                  <a:t>，</a:t>
                </a:r>
                <a:r>
                  <a:rPr lang="en-US" altLang="zh-CN" sz="1800" dirty="0"/>
                  <a:t>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𝐴</m:t>
                        </m:r>
                      </m:e>
                      <m:sup>
                        <m:r>
                          <a:rPr lang="en-US" altLang="zh-CN" sz="1800" i="1">
                            <a:latin typeface="Cambria Math" panose="02040503050406030204" pitchFamily="18" charset="0"/>
                          </a:rPr>
                          <m:t>𝐵</m:t>
                        </m:r>
                      </m:sup>
                    </m:sSup>
                  </m:oMath>
                </a14:m>
                <a:r>
                  <a:rPr lang="zh-Hans" altLang="en-US" sz="1800" dirty="0"/>
                  <a:t> </a:t>
                </a:r>
                <a:r>
                  <a:rPr lang="zh-CN" altLang="en-US" sz="1800" dirty="0"/>
                  <a:t>的所有约数之和为：</a:t>
                </a:r>
                <a:endParaRPr lang="en-US" altLang="zh-CN" sz="1800"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d>
                        <m:dPr>
                          <m:ctrlPr>
                            <a:rPr lang="en-US" altLang="zh-CN" sz="1800" b="1" i="1" dirty="0">
                              <a:latin typeface="Cambria Math" panose="02040503050406030204" pitchFamily="18" charset="0"/>
                            </a:rPr>
                          </m:ctrlPr>
                        </m:dPr>
                        <m:e>
                          <m:r>
                            <a:rPr lang="en-US" altLang="zh-CN" sz="1800" i="1" dirty="0">
                              <a:latin typeface="Cambria Math" panose="02040503050406030204" pitchFamily="18" charset="0"/>
                            </a:rPr>
                            <m:t>1</m:t>
                          </m:r>
                          <m:r>
                            <a:rPr lang="en-US" altLang="zh-Hans" sz="1800" i="1" dirty="0">
                              <a:latin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Sub>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up>
                              <m:r>
                                <a:rPr lang="en-US" altLang="zh-Hans" sz="1800" i="1" dirty="0">
                                  <a:latin typeface="Cambria Math" panose="02040503050406030204" pitchFamily="18" charset="0"/>
                                </a:rPr>
                                <m:t>2</m:t>
                              </m:r>
                            </m:sup>
                          </m:sSubSup>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up>
                              <m:sSub>
                                <m:sSubPr>
                                  <m:ctrlPr>
                                    <a:rPr lang="en-US" altLang="zh-Hans" sz="1800" i="1" dirty="0">
                                      <a:latin typeface="Cambria Math" panose="02040503050406030204" pitchFamily="18" charset="0"/>
                                    </a:rPr>
                                  </m:ctrlPr>
                                </m:sSubPr>
                                <m:e>
                                  <m:r>
                                    <a:rPr lang="en-US" altLang="zh-Hans" sz="1800" b="0" i="1" dirty="0" smtClean="0">
                                      <a:latin typeface="Cambria Math" panose="02040503050406030204" pitchFamily="18" charset="0"/>
                                    </a:rPr>
                                    <m:t>𝐵</m:t>
                                  </m:r>
                                  <m:r>
                                    <a:rPr lang="en-US" altLang="zh-Hans" sz="1800" b="0" i="1" dirty="0" smtClean="0">
                                      <a:latin typeface="Cambria Math" panose="02040503050406030204" pitchFamily="18" charset="0"/>
                                    </a:rPr>
                                    <m:t>∗</m:t>
                                  </m:r>
                                  <m:r>
                                    <a:rPr lang="en-US" altLang="zh-Hans" sz="1800" b="0" i="1" dirty="0" smtClean="0">
                                      <a:latin typeface="Cambria Math" panose="02040503050406030204" pitchFamily="18" charset="0"/>
                                    </a:rPr>
                                    <m:t>𝑐</m:t>
                                  </m:r>
                                </m:e>
                                <m:sub>
                                  <m:r>
                                    <a:rPr lang="en-US" altLang="zh-Hans" sz="1800" i="1" dirty="0">
                                      <a:latin typeface="Cambria Math" panose="02040503050406030204" pitchFamily="18" charset="0"/>
                                    </a:rPr>
                                    <m:t>1</m:t>
                                  </m:r>
                                </m:sub>
                              </m:sSub>
                            </m:sup>
                          </m:sSubSup>
                        </m:e>
                      </m:d>
                      <m:r>
                        <a:rPr lang="en-US" altLang="zh-Hans" sz="1800" b="1" i="1" dirty="0" smtClean="0">
                          <a:latin typeface="Cambria Math" panose="02040503050406030204" pitchFamily="18" charset="0"/>
                        </a:rPr>
                        <m:t>∗</m:t>
                      </m:r>
                      <m:d>
                        <m:dPr>
                          <m:ctrlPr>
                            <a:rPr lang="en-US" altLang="zh-CN" sz="1800" b="1" i="1" dirty="0">
                              <a:latin typeface="Cambria Math" panose="02040503050406030204" pitchFamily="18" charset="0"/>
                            </a:rPr>
                          </m:ctrlPr>
                        </m:dPr>
                        <m:e>
                          <m:r>
                            <a:rPr lang="en-US" altLang="zh-CN" sz="1800" i="1" dirty="0">
                              <a:latin typeface="Cambria Math" panose="02040503050406030204" pitchFamily="18" charset="0"/>
                            </a:rPr>
                            <m:t>1</m:t>
                          </m:r>
                          <m:r>
                            <a:rPr lang="en-US" altLang="zh-Hans" sz="1800" i="1" dirty="0">
                              <a:latin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2</m:t>
                              </m:r>
                            </m:sub>
                          </m:sSub>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2</m:t>
                              </m:r>
                            </m:sub>
                            <m:sup>
                              <m:r>
                                <a:rPr lang="en-US" altLang="zh-Hans" sz="1800" i="1" dirty="0">
                                  <a:latin typeface="Cambria Math" panose="02040503050406030204" pitchFamily="18" charset="0"/>
                                </a:rPr>
                                <m:t>2</m:t>
                              </m:r>
                            </m:sup>
                          </m:sSubSup>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2</m:t>
                              </m:r>
                            </m:sub>
                            <m:sup>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𝐵</m:t>
                                  </m:r>
                                  <m:r>
                                    <a:rPr lang="en-US" altLang="zh-Hans" sz="1800" i="1" dirty="0">
                                      <a:latin typeface="Cambria Math" panose="02040503050406030204" pitchFamily="18" charset="0"/>
                                    </a:rPr>
                                    <m:t>∗</m:t>
                                  </m:r>
                                  <m:r>
                                    <a:rPr lang="en-US" altLang="zh-Hans" sz="1800" b="0" i="1" dirty="0" smtClean="0">
                                      <a:latin typeface="Cambria Math" panose="02040503050406030204" pitchFamily="18" charset="0"/>
                                    </a:rPr>
                                    <m:t>𝑐</m:t>
                                  </m:r>
                                </m:e>
                                <m:sub>
                                  <m:r>
                                    <a:rPr lang="en-US" altLang="zh-Hans" sz="1800" b="0" i="1" dirty="0" smtClean="0">
                                      <a:latin typeface="Cambria Math" panose="02040503050406030204" pitchFamily="18" charset="0"/>
                                    </a:rPr>
                                    <m:t>2</m:t>
                                  </m:r>
                                </m:sub>
                              </m:sSub>
                            </m:sup>
                          </m:sSubSup>
                        </m:e>
                      </m:d>
                      <m:r>
                        <a:rPr lang="en-US" altLang="zh-Hans" sz="1800" b="1" i="1" dirty="0" smtClean="0">
                          <a:latin typeface="Cambria Math" panose="02040503050406030204" pitchFamily="18" charset="0"/>
                        </a:rPr>
                        <m:t>∗</m:t>
                      </m:r>
                      <m:r>
                        <a:rPr lang="en-US" altLang="zh-CN" sz="1800" i="1" dirty="0">
                          <a:latin typeface="Cambria Math" panose="02040503050406030204" pitchFamily="18" charset="0"/>
                        </a:rPr>
                        <m:t>…</m:t>
                      </m:r>
                      <m:r>
                        <a:rPr lang="en-US" altLang="zh-CN" sz="1800" b="0" i="1" dirty="0" smtClean="0">
                          <a:latin typeface="Cambria Math" panose="02040503050406030204" pitchFamily="18" charset="0"/>
                        </a:rPr>
                        <m:t>∗</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rPr>
                        <m:t>1</m:t>
                      </m:r>
                      <m:r>
                        <a:rPr lang="en-US" altLang="zh-Hans" sz="1800" i="1" dirty="0">
                          <a:latin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𝑛</m:t>
                          </m:r>
                        </m:sub>
                      </m:sSub>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𝑛</m:t>
                          </m:r>
                        </m:sub>
                        <m:sup>
                          <m:r>
                            <a:rPr lang="en-US" altLang="zh-Hans" sz="1800" i="1" dirty="0">
                              <a:latin typeface="Cambria Math" panose="02040503050406030204" pitchFamily="18" charset="0"/>
                            </a:rPr>
                            <m:t>2</m:t>
                          </m:r>
                        </m:sup>
                      </m:sSubSup>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b="0" i="1" dirty="0" smtClean="0">
                              <a:latin typeface="Cambria Math" panose="02040503050406030204" pitchFamily="18" charset="0"/>
                            </a:rPr>
                            <m:t>𝑛</m:t>
                          </m:r>
                        </m:sub>
                        <m:sup>
                          <m:sSub>
                            <m:sSubPr>
                              <m:ctrlPr>
                                <a:rPr lang="en-US" altLang="zh-Hans" sz="1800" i="1" dirty="0">
                                  <a:latin typeface="Cambria Math" panose="02040503050406030204" pitchFamily="18" charset="0"/>
                                </a:rPr>
                              </m:ctrlPr>
                            </m:sSubPr>
                            <m:e>
                              <m:r>
                                <a:rPr lang="en-US" altLang="zh-Hans" sz="1800" b="0" i="1" dirty="0" smtClean="0">
                                  <a:latin typeface="Cambria Math" panose="02040503050406030204" pitchFamily="18" charset="0"/>
                                </a:rPr>
                                <m:t>𝐵</m:t>
                              </m:r>
                              <m:r>
                                <a:rPr lang="en-US" altLang="zh-Hans" sz="1800" b="0" i="1" dirty="0" smtClean="0">
                                  <a:latin typeface="Cambria Math" panose="02040503050406030204" pitchFamily="18" charset="0"/>
                                </a:rPr>
                                <m:t>∗</m:t>
                              </m:r>
                              <m:r>
                                <a:rPr lang="en-US" altLang="zh-Hans" sz="1800" b="0" i="1" dirty="0" smtClean="0">
                                  <a:latin typeface="Cambria Math" panose="02040503050406030204" pitchFamily="18" charset="0"/>
                                </a:rPr>
                                <m:t>𝑐</m:t>
                              </m:r>
                            </m:e>
                            <m:sub>
                              <m:r>
                                <a:rPr lang="en-US" altLang="zh-Hans" sz="1800" b="0" i="1" dirty="0" smtClean="0">
                                  <a:latin typeface="Cambria Math" panose="02040503050406030204" pitchFamily="18" charset="0"/>
                                </a:rPr>
                                <m:t>𝑛</m:t>
                              </m:r>
                            </m:sub>
                          </m:sSub>
                        </m:sup>
                      </m:sSubSup>
                      <m:r>
                        <a:rPr lang="en-US" altLang="zh-CN" sz="1800" i="1" dirty="0">
                          <a:latin typeface="Cambria Math" panose="02040503050406030204" pitchFamily="18" charset="0"/>
                          <a:ea typeface="Cambria Math" panose="02040503050406030204" pitchFamily="18" charset="0"/>
                        </a:rPr>
                        <m:t>)</m:t>
                      </m:r>
                    </m:oMath>
                  </m:oMathPara>
                </a14:m>
                <a:endParaRPr lang="en-US" altLang="zh-CN" sz="1800" dirty="0"/>
              </a:p>
              <a:p>
                <a:pPr>
                  <a:lnSpc>
                    <a:spcPct val="150000"/>
                  </a:lnSpc>
                  <a:spcBef>
                    <a:spcPts val="600"/>
                  </a:spcBef>
                </a:pPr>
                <a:r>
                  <a:rPr lang="zh-CN" altLang="en-US" sz="1800" dirty="0"/>
                  <a:t>上式的每一项都是一个等比数列。以第一项为例</a:t>
                </a:r>
                <a:r>
                  <a:rPr lang="zh-Hans" altLang="en-US" sz="1800" dirty="0"/>
                  <a:t>：</a:t>
                </a:r>
                <a:endParaRPr lang="en-US" altLang="zh-CN" sz="1800"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d>
                        <m:dPr>
                          <m:ctrlPr>
                            <a:rPr lang="en-US" altLang="zh-CN" sz="1800" b="1" i="1" dirty="0">
                              <a:latin typeface="Cambria Math" panose="02040503050406030204" pitchFamily="18" charset="0"/>
                            </a:rPr>
                          </m:ctrlPr>
                        </m:dPr>
                        <m:e>
                          <m:r>
                            <a:rPr lang="en-US" altLang="zh-CN" sz="1800" i="1" dirty="0">
                              <a:latin typeface="Cambria Math" panose="02040503050406030204" pitchFamily="18" charset="0"/>
                            </a:rPr>
                            <m:t>1</m:t>
                          </m:r>
                          <m:r>
                            <a:rPr lang="en-US" altLang="zh-Hans" sz="1800" i="1" dirty="0">
                              <a:latin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Sub>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up>
                              <m:r>
                                <a:rPr lang="en-US" altLang="zh-Hans" sz="1800" i="1" dirty="0">
                                  <a:latin typeface="Cambria Math" panose="02040503050406030204" pitchFamily="18" charset="0"/>
                                </a:rPr>
                                <m:t>2</m:t>
                              </m:r>
                            </m:sup>
                          </m:sSubSup>
                          <m:r>
                            <a:rPr lang="en-US" altLang="zh-Hans" sz="1800" b="1"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up>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𝐵</m:t>
                                  </m:r>
                                  <m:r>
                                    <a:rPr lang="en-US" altLang="zh-Hans" sz="1800" i="1" dirty="0">
                                      <a:latin typeface="Cambria Math" panose="02040503050406030204" pitchFamily="18" charset="0"/>
                                    </a:rPr>
                                    <m:t>∗</m:t>
                                  </m:r>
                                  <m:r>
                                    <a:rPr lang="en-US" altLang="zh-Hans" sz="1800" b="0" i="1" dirty="0" smtClean="0">
                                      <a:latin typeface="Cambria Math" panose="02040503050406030204" pitchFamily="18" charset="0"/>
                                    </a:rPr>
                                    <m:t>𝑐</m:t>
                                  </m:r>
                                </m:e>
                                <m:sub>
                                  <m:r>
                                    <a:rPr lang="en-US" altLang="zh-Hans" sz="1800" i="1" dirty="0">
                                      <a:latin typeface="Cambria Math" panose="02040503050406030204" pitchFamily="18" charset="0"/>
                                    </a:rPr>
                                    <m:t>1</m:t>
                                  </m:r>
                                </m:sub>
                              </m:sSub>
                            </m:sup>
                          </m:sSubSup>
                        </m:e>
                      </m:d>
                      <m:r>
                        <a:rPr lang="en-US" altLang="zh-Hans" sz="1800" b="1" i="1" dirty="0" smtClean="0">
                          <a:latin typeface="Cambria Math" panose="02040503050406030204" pitchFamily="18" charset="0"/>
                        </a:rPr>
                        <m:t>=</m:t>
                      </m:r>
                      <m:d>
                        <m:dPr>
                          <m:ctrlPr>
                            <a:rPr lang="en-US" altLang="zh-Hans" sz="1800" b="1" i="1" dirty="0" smtClean="0">
                              <a:latin typeface="Cambria Math" panose="02040503050406030204" pitchFamily="18" charset="0"/>
                            </a:rPr>
                          </m:ctrlPr>
                        </m:dPr>
                        <m:e>
                          <m:sSubSup>
                            <m:sSubSupPr>
                              <m:ctrlPr>
                                <a:rPr lang="en-US" altLang="zh-Hans" sz="1800" i="1" dirty="0">
                                  <a:latin typeface="Cambria Math" panose="02040503050406030204" pitchFamily="18" charset="0"/>
                                </a:rPr>
                              </m:ctrlPr>
                            </m:sSubSupPr>
                            <m:e>
                              <m:r>
                                <a:rPr lang="en-US" altLang="zh-Hans" sz="1800" i="1" dirty="0">
                                  <a:latin typeface="Cambria Math" panose="02040503050406030204" pitchFamily="18" charset="0"/>
                                </a:rPr>
                                <m:t>𝑝</m:t>
                              </m:r>
                            </m:e>
                            <m:sub>
                              <m:r>
                                <a:rPr lang="en-US" altLang="zh-Hans" sz="1800" i="1" dirty="0">
                                  <a:latin typeface="Cambria Math" panose="02040503050406030204" pitchFamily="18" charset="0"/>
                                </a:rPr>
                                <m:t>1</m:t>
                              </m:r>
                            </m:sub>
                            <m:sup>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𝐵</m:t>
                                  </m:r>
                                  <m:r>
                                    <a:rPr lang="en-US" altLang="zh-Hans" sz="1800" i="1" dirty="0">
                                      <a:latin typeface="Cambria Math" panose="02040503050406030204" pitchFamily="18" charset="0"/>
                                    </a:rPr>
                                    <m:t>∗</m:t>
                                  </m:r>
                                  <m:r>
                                    <a:rPr lang="en-US" altLang="zh-Hans" sz="1800" b="0" i="1" dirty="0" smtClean="0">
                                      <a:latin typeface="Cambria Math" panose="02040503050406030204" pitchFamily="18" charset="0"/>
                                    </a:rPr>
                                    <m:t>𝑐</m:t>
                                  </m:r>
                                </m:e>
                                <m:sub>
                                  <m:r>
                                    <a:rPr lang="en-US" altLang="zh-Hans" sz="1800" i="1" dirty="0">
                                      <a:latin typeface="Cambria Math" panose="02040503050406030204" pitchFamily="18" charset="0"/>
                                    </a:rPr>
                                    <m:t>1</m:t>
                                  </m:r>
                                </m:sub>
                              </m:sSub>
                              <m:r>
                                <a:rPr lang="en-US" altLang="zh-Hans" sz="1800" b="0" i="1" dirty="0" smtClean="0">
                                  <a:latin typeface="Cambria Math" panose="02040503050406030204" pitchFamily="18" charset="0"/>
                                </a:rPr>
                                <m:t>+1</m:t>
                              </m:r>
                            </m:sup>
                          </m:sSubSup>
                          <m:r>
                            <a:rPr lang="en-US" altLang="zh-Hans" sz="1800" b="1" i="1" dirty="0" smtClean="0">
                              <a:latin typeface="Cambria Math" panose="02040503050406030204" pitchFamily="18" charset="0"/>
                            </a:rPr>
                            <m:t>−</m:t>
                          </m:r>
                          <m:r>
                            <a:rPr lang="en-US" altLang="zh-Hans" sz="1800" b="0" i="1" dirty="0" smtClean="0">
                              <a:latin typeface="Cambria Math" panose="02040503050406030204" pitchFamily="18" charset="0"/>
                            </a:rPr>
                            <m:t>1</m:t>
                          </m:r>
                        </m:e>
                      </m:d>
                      <m:r>
                        <a:rPr lang="en-US" altLang="zh-Hans" sz="1800" b="1" i="1" dirty="0" smtClean="0">
                          <a:latin typeface="Cambria Math" panose="02040503050406030204" pitchFamily="18" charset="0"/>
                        </a:rPr>
                        <m:t>/</m:t>
                      </m:r>
                      <m:d>
                        <m:dPr>
                          <m:ctrlPr>
                            <a:rPr lang="en-US" altLang="zh-Hans" sz="1800" b="1" i="1" dirty="0" smtClean="0">
                              <a:latin typeface="Cambria Math" panose="02040503050406030204" pitchFamily="18" charset="0"/>
                            </a:rPr>
                          </m:ctrlPr>
                        </m:dPr>
                        <m:e>
                          <m:sSub>
                            <m:sSubPr>
                              <m:ctrlPr>
                                <a:rPr lang="en-US" altLang="zh-Hans" sz="1800" i="1" dirty="0" smtClean="0">
                                  <a:latin typeface="Cambria Math" panose="02040503050406030204" pitchFamily="18" charset="0"/>
                                </a:rPr>
                              </m:ctrlPr>
                            </m:sSubPr>
                            <m:e>
                              <m:r>
                                <a:rPr lang="en-US" altLang="zh-Hans" sz="1800" b="0" i="1" dirty="0" smtClean="0">
                                  <a:latin typeface="Cambria Math" panose="02040503050406030204" pitchFamily="18" charset="0"/>
                                </a:rPr>
                                <m:t>𝑝</m:t>
                              </m:r>
                            </m:e>
                            <m:sub>
                              <m:r>
                                <a:rPr lang="en-US" altLang="zh-Hans" sz="1800" b="0" i="1" dirty="0" smtClean="0">
                                  <a:latin typeface="Cambria Math" panose="02040503050406030204" pitchFamily="18" charset="0"/>
                                </a:rPr>
                                <m:t>1</m:t>
                              </m:r>
                            </m:sub>
                          </m:sSub>
                          <m:r>
                            <a:rPr lang="en-US" altLang="zh-Hans" sz="1800" b="0" i="1" dirty="0" smtClean="0">
                              <a:latin typeface="Cambria Math" panose="02040503050406030204" pitchFamily="18" charset="0"/>
                            </a:rPr>
                            <m:t>−1</m:t>
                          </m:r>
                        </m:e>
                      </m:d>
                    </m:oMath>
                  </m:oMathPara>
                </a14:m>
                <a:endParaRPr lang="en-US" altLang="zh-CN" sz="1800" dirty="0"/>
              </a:p>
              <a:p>
                <a:pPr>
                  <a:lnSpc>
                    <a:spcPct val="150000"/>
                  </a:lnSpc>
                  <a:spcBef>
                    <a:spcPts val="600"/>
                  </a:spcBef>
                </a:pPr>
                <a:r>
                  <a:rPr lang="zh-CN" altLang="en-US" sz="1800" dirty="0"/>
                  <a:t>可以用快速幂计算分子和</a:t>
                </a:r>
                <a:r>
                  <a:rPr lang="zh-Hans" altLang="en-US" sz="1800" dirty="0"/>
                  <a:t>分母取模</a:t>
                </a:r>
                <a:r>
                  <a:rPr lang="zh-CN" altLang="en-US" sz="1800" dirty="0"/>
                  <a:t> 。因为 </a:t>
                </a:r>
                <a14:m>
                  <m:oMath xmlns:m="http://schemas.openxmlformats.org/officeDocument/2006/math">
                    <m:r>
                      <a:rPr lang="en-US" altLang="zh-CN" sz="1800" i="1" dirty="0" smtClean="0">
                        <a:latin typeface="Cambria Math" panose="02040503050406030204" pitchFamily="18" charset="0"/>
                      </a:rPr>
                      <m:t>9901</m:t>
                    </m:r>
                  </m:oMath>
                </a14:m>
                <a:r>
                  <a:rPr lang="en-US" altLang="zh-CN" sz="1800" dirty="0"/>
                  <a:t> </a:t>
                </a:r>
                <a:r>
                  <a:rPr lang="zh-CN" altLang="en-US" sz="1800" dirty="0"/>
                  <a:t>是素数，只要 </a:t>
                </a:r>
                <a14:m>
                  <m:oMath xmlns:m="http://schemas.openxmlformats.org/officeDocument/2006/math">
                    <m:sSub>
                      <m:sSubPr>
                        <m:ctrlPr>
                          <a:rPr lang="en-US" altLang="zh-CN" sz="180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𝑖</m:t>
                        </m:r>
                      </m:sub>
                    </m:sSub>
                    <m:r>
                      <a:rPr lang="en-US" altLang="zh-CN" sz="1800" i="1" dirty="0" smtClean="0">
                        <a:latin typeface="Cambria Math" panose="02040503050406030204" pitchFamily="18" charset="0"/>
                      </a:rPr>
                      <m:t>−1</m:t>
                    </m:r>
                  </m:oMath>
                </a14:m>
                <a:r>
                  <a:rPr lang="en-US" altLang="zh-CN" sz="1800" dirty="0"/>
                  <a:t> </a:t>
                </a:r>
                <a:r>
                  <a:rPr lang="zh-CN" altLang="en-US" sz="1800" dirty="0"/>
                  <a:t>不是 </a:t>
                </a:r>
                <a14:m>
                  <m:oMath xmlns:m="http://schemas.openxmlformats.org/officeDocument/2006/math">
                    <m:r>
                      <a:rPr lang="en-US" altLang="zh-CN" sz="1800" i="1" dirty="0" smtClean="0">
                        <a:latin typeface="Cambria Math" panose="02040503050406030204" pitchFamily="18" charset="0"/>
                      </a:rPr>
                      <m:t>9901</m:t>
                    </m:r>
                  </m:oMath>
                </a14:m>
                <a:r>
                  <a:rPr lang="en-US" altLang="zh-CN" sz="1800" dirty="0"/>
                  <a:t> </a:t>
                </a:r>
                <a:r>
                  <a:rPr lang="zh-CN" altLang="en-US" sz="1800" dirty="0"/>
                  <a:t>的倍数，就只需要计算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𝑖</m:t>
                        </m:r>
                      </m:sub>
                    </m:sSub>
                    <m:r>
                      <a:rPr lang="en-US" altLang="zh-CN" sz="1800" i="1" dirty="0" smtClean="0">
                        <a:latin typeface="Cambria Math" panose="02040503050406030204" pitchFamily="18" charset="0"/>
                      </a:rPr>
                      <m:t>−1</m:t>
                    </m:r>
                  </m:oMath>
                </a14:m>
                <a:r>
                  <a:rPr lang="en-US" altLang="zh-CN" sz="1800" dirty="0"/>
                  <a:t> </a:t>
                </a:r>
                <a:r>
                  <a:rPr lang="zh-CN" altLang="en-US" sz="1800" dirty="0"/>
                  <a:t>的乘法逆元 </a:t>
                </a:r>
                <a14:m>
                  <m:oMath xmlns:m="http://schemas.openxmlformats.org/officeDocument/2006/math">
                    <m:r>
                      <a:rPr lang="en-US" altLang="zh-CN" sz="1800" i="1" dirty="0" smtClean="0">
                        <a:latin typeface="Cambria Math" panose="02040503050406030204" pitchFamily="18" charset="0"/>
                      </a:rPr>
                      <m:t>𝑖𝑛𝑣</m:t>
                    </m:r>
                  </m:oMath>
                </a14:m>
                <a:r>
                  <a:rPr lang="zh-CN" altLang="en-US" sz="1800" dirty="0"/>
                  <a:t>，用乘</a:t>
                </a:r>
                <a:r>
                  <a:rPr lang="zh-Hans" altLang="en-US" sz="1800" dirty="0"/>
                  <a:t> </a:t>
                </a:r>
                <a14:m>
                  <m:oMath xmlns:m="http://schemas.openxmlformats.org/officeDocument/2006/math">
                    <m:r>
                      <a:rPr lang="en-US" altLang="zh-CN" sz="1800" i="1" dirty="0" smtClean="0">
                        <a:latin typeface="Cambria Math" panose="02040503050406030204" pitchFamily="18" charset="0"/>
                      </a:rPr>
                      <m:t>𝑖𝑛𝑣</m:t>
                    </m:r>
                  </m:oMath>
                </a14:m>
                <a:r>
                  <a:rPr lang="zh-Hans" altLang="en-US" sz="1800" dirty="0"/>
                  <a:t> </a:t>
                </a:r>
                <a:r>
                  <a:rPr lang="zh-CN" altLang="en-US" sz="1800" dirty="0"/>
                  <a:t>代替除以 </a:t>
                </a:r>
                <a14:m>
                  <m:oMath xmlns:m="http://schemas.openxmlformats.org/officeDocument/2006/math">
                    <m:r>
                      <a:rPr lang="en-US" altLang="zh-CN" sz="1800" i="1" dirty="0" smtClean="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𝑖</m:t>
                        </m:r>
                      </m:sub>
                    </m:sSub>
                    <m:r>
                      <a:rPr lang="en-US" altLang="zh-CN" sz="1800" i="1" dirty="0" smtClean="0">
                        <a:latin typeface="Cambria Math" panose="02040503050406030204" pitchFamily="18" charset="0"/>
                      </a:rPr>
                      <m:t>−1)</m:t>
                    </m:r>
                  </m:oMath>
                </a14:m>
                <a:r>
                  <a:rPr lang="zh-CN" altLang="en-US" sz="1800" dirty="0"/>
                  <a:t>，直接计算等比数列求和公式即可。</a:t>
                </a:r>
                <a:endParaRPr lang="en-US" altLang="zh-CN" sz="1800" dirty="0"/>
              </a:p>
              <a:p>
                <a:pPr>
                  <a:lnSpc>
                    <a:spcPct val="150000"/>
                  </a:lnSpc>
                  <a:spcBef>
                    <a:spcPts val="600"/>
                  </a:spcBef>
                </a:pPr>
                <a:r>
                  <a:rPr lang="zh-Hans" altLang="en-US" sz="1800" dirty="0"/>
                  <a:t>特别的，</a:t>
                </a:r>
                <a:r>
                  <a:rPr lang="zh-CN" altLang="en-US" sz="1800" dirty="0"/>
                  <a:t>若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𝑖</m:t>
                        </m:r>
                      </m:sub>
                    </m:sSub>
                    <m:r>
                      <a:rPr lang="en-US" altLang="zh-Hans" sz="1800" i="1" dirty="0" smtClean="0">
                        <a:latin typeface="Cambria Math" panose="02040503050406030204" pitchFamily="18" charset="0"/>
                      </a:rPr>
                      <m:t>−1</m:t>
                    </m:r>
                  </m:oMath>
                </a14:m>
                <a:r>
                  <a:rPr lang="en-US" altLang="zh-Hans" sz="1800" dirty="0"/>
                  <a:t> </a:t>
                </a:r>
                <a:r>
                  <a:rPr lang="zh-CN" altLang="en-US" sz="1800" dirty="0"/>
                  <a:t>是 </a:t>
                </a:r>
                <a14:m>
                  <m:oMath xmlns:m="http://schemas.openxmlformats.org/officeDocument/2006/math">
                    <m:r>
                      <a:rPr lang="en-US" altLang="zh-CN" sz="1800" i="1" dirty="0" smtClean="0">
                        <a:latin typeface="Cambria Math" panose="02040503050406030204" pitchFamily="18" charset="0"/>
                      </a:rPr>
                      <m:t>9901</m:t>
                    </m:r>
                  </m:oMath>
                </a14:m>
                <a:r>
                  <a:rPr lang="en-US" altLang="zh-CN" sz="1800" dirty="0"/>
                  <a:t> </a:t>
                </a:r>
                <a:r>
                  <a:rPr lang="zh-CN" altLang="en-US" sz="1800" dirty="0"/>
                  <a:t>的倍数，那么此时乘法逆元不存在，但是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𝑖</m:t>
                        </m:r>
                      </m:sub>
                    </m:sSub>
                    <m:r>
                      <a:rPr lang="en-US" altLang="zh-Hans" sz="1800" i="1" dirty="0" smtClean="0">
                        <a:latin typeface="Cambria Math" panose="02040503050406030204" pitchFamily="18" charset="0"/>
                      </a:rPr>
                      <m:t> </m:t>
                    </m:r>
                    <m:r>
                      <m:rPr>
                        <m:sty m:val="p"/>
                      </m:rPr>
                      <a:rPr lang="en-US" altLang="zh-Hans" sz="1800" i="0" dirty="0">
                        <a:latin typeface="Cambria Math" panose="02040503050406030204" pitchFamily="18" charset="0"/>
                      </a:rPr>
                      <m:t>mod</m:t>
                    </m:r>
                    <m:r>
                      <a:rPr lang="en-US" altLang="zh-Hans" sz="1800" i="1" dirty="0">
                        <a:latin typeface="Cambria Math" panose="02040503050406030204" pitchFamily="18" charset="0"/>
                      </a:rPr>
                      <m:t> 9901=1</m:t>
                    </m:r>
                  </m:oMath>
                </a14:m>
                <a:r>
                  <a:rPr lang="zh-Hans" altLang="en-US" sz="1800" dirty="0"/>
                  <a:t>，</a:t>
                </a:r>
                <a:r>
                  <a:rPr lang="zh-CN" altLang="en-US" sz="1800" dirty="0"/>
                  <a:t>所以</a:t>
                </a:r>
                <a:r>
                  <a:rPr lang="zh-Hans" altLang="en-US" sz="1800" dirty="0"/>
                  <a:t>：</a:t>
                </a:r>
                <a:endParaRPr lang="en-US" altLang="zh-Hans" sz="1800"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d>
                        <m:dPr>
                          <m:ctrlPr>
                            <a:rPr lang="en-US" altLang="zh-CN" sz="1800" i="1" dirty="0">
                              <a:latin typeface="Cambria Math" panose="02040503050406030204" pitchFamily="18" charset="0"/>
                            </a:rPr>
                          </m:ctrlPr>
                        </m:dPr>
                        <m:e>
                          <m:r>
                            <a:rPr lang="en-US" altLang="zh-CN" sz="1800" b="0" i="1" dirty="0">
                              <a:latin typeface="Cambria Math" panose="02040503050406030204" pitchFamily="18" charset="0"/>
                            </a:rPr>
                            <m:t>1</m:t>
                          </m:r>
                          <m:r>
                            <a:rPr lang="en-US" altLang="zh-Hans" sz="1800" b="0" i="1" dirty="0">
                              <a:latin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b="0" i="1" dirty="0">
                                  <a:latin typeface="Cambria Math" panose="02040503050406030204" pitchFamily="18" charset="0"/>
                                </a:rPr>
                                <m:t>𝑝</m:t>
                              </m:r>
                            </m:e>
                            <m:sub>
                              <m:r>
                                <a:rPr lang="en-US" altLang="zh-Hans" sz="1800" b="0" i="1" dirty="0" smtClean="0">
                                  <a:latin typeface="Cambria Math" panose="02040503050406030204" pitchFamily="18" charset="0"/>
                                </a:rPr>
                                <m:t>𝑖</m:t>
                              </m:r>
                            </m:sub>
                          </m:sSub>
                          <m:r>
                            <a:rPr lang="en-US" altLang="zh-Hans" sz="1800" b="0"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b="0" i="1" dirty="0">
                                  <a:latin typeface="Cambria Math" panose="02040503050406030204" pitchFamily="18" charset="0"/>
                                </a:rPr>
                                <m:t>𝑝</m:t>
                              </m:r>
                            </m:e>
                            <m:sub>
                              <m:r>
                                <a:rPr lang="en-US" altLang="zh-Hans" sz="1800" b="0" i="1" dirty="0" smtClean="0">
                                  <a:latin typeface="Cambria Math" panose="02040503050406030204" pitchFamily="18" charset="0"/>
                                </a:rPr>
                                <m:t>𝑖</m:t>
                              </m:r>
                            </m:sub>
                            <m:sup>
                              <m:r>
                                <a:rPr lang="en-US" altLang="zh-Hans" sz="1800" b="0" i="1" dirty="0">
                                  <a:latin typeface="Cambria Math" panose="02040503050406030204" pitchFamily="18" charset="0"/>
                                </a:rPr>
                                <m:t>2</m:t>
                              </m:r>
                            </m:sup>
                          </m:sSubSup>
                          <m:r>
                            <a:rPr lang="en-US" altLang="zh-Hans" sz="1800" b="0" i="1" dirty="0">
                              <a:latin typeface="Cambria Math" panose="02040503050406030204" pitchFamily="18" charset="0"/>
                            </a:rPr>
                            <m:t>+…+</m:t>
                          </m:r>
                          <m:sSubSup>
                            <m:sSubSupPr>
                              <m:ctrlPr>
                                <a:rPr lang="en-US" altLang="zh-Hans" sz="1800" i="1" dirty="0">
                                  <a:latin typeface="Cambria Math" panose="02040503050406030204" pitchFamily="18" charset="0"/>
                                </a:rPr>
                              </m:ctrlPr>
                            </m:sSubSupPr>
                            <m:e>
                              <m:r>
                                <a:rPr lang="en-US" altLang="zh-Hans" sz="1800" b="0" i="1" dirty="0">
                                  <a:latin typeface="Cambria Math" panose="02040503050406030204" pitchFamily="18" charset="0"/>
                                </a:rPr>
                                <m:t>𝑝</m:t>
                              </m:r>
                            </m:e>
                            <m:sub>
                              <m:r>
                                <a:rPr lang="en-US" altLang="zh-Hans" sz="1800" b="0" i="1" dirty="0" smtClean="0">
                                  <a:latin typeface="Cambria Math" panose="02040503050406030204" pitchFamily="18" charset="0"/>
                                </a:rPr>
                                <m:t>𝑖</m:t>
                              </m:r>
                            </m:sub>
                            <m:sup>
                              <m:sSub>
                                <m:sSubPr>
                                  <m:ctrlPr>
                                    <a:rPr lang="en-US" altLang="zh-Hans" sz="1800" i="1" dirty="0">
                                      <a:latin typeface="Cambria Math" panose="02040503050406030204" pitchFamily="18" charset="0"/>
                                    </a:rPr>
                                  </m:ctrlPr>
                                </m:sSubPr>
                                <m:e>
                                  <m:r>
                                    <a:rPr lang="en-US" altLang="zh-Hans" sz="1800" b="0" i="1" dirty="0">
                                      <a:latin typeface="Cambria Math" panose="02040503050406030204" pitchFamily="18" charset="0"/>
                                    </a:rPr>
                                    <m:t>𝐵</m:t>
                                  </m:r>
                                  <m:r>
                                    <a:rPr lang="en-US" altLang="zh-Hans" sz="1800" b="0" i="1" dirty="0">
                                      <a:latin typeface="Cambria Math" panose="02040503050406030204" pitchFamily="18" charset="0"/>
                                    </a:rPr>
                                    <m:t>∗</m:t>
                                  </m:r>
                                  <m:r>
                                    <a:rPr lang="en-US" altLang="zh-Hans" sz="1800" b="0" i="1" dirty="0">
                                      <a:latin typeface="Cambria Math" panose="02040503050406030204" pitchFamily="18" charset="0"/>
                                    </a:rPr>
                                    <m:t>𝑐</m:t>
                                  </m:r>
                                </m:e>
                                <m:sub>
                                  <m:r>
                                    <a:rPr lang="en-US" altLang="zh-Hans" sz="1800" b="0" i="1" dirty="0" smtClean="0">
                                      <a:latin typeface="Cambria Math" panose="02040503050406030204" pitchFamily="18" charset="0"/>
                                    </a:rPr>
                                    <m:t>𝑖</m:t>
                                  </m:r>
                                </m:sub>
                              </m:sSub>
                            </m:sup>
                          </m:sSubSup>
                        </m:e>
                      </m:d>
                      <m:r>
                        <a:rPr lang="en-US" altLang="zh-Hans" sz="1800" b="0" i="1" dirty="0" smtClean="0">
                          <a:latin typeface="Cambria Math" panose="02040503050406030204" pitchFamily="18" charset="0"/>
                          <a:ea typeface="Cambria Math" panose="02040503050406030204" pitchFamily="18" charset="0"/>
                        </a:rPr>
                        <m:t>≡1+1+</m:t>
                      </m:r>
                      <m:sSup>
                        <m:sSupPr>
                          <m:ctrlPr>
                            <a:rPr lang="en-US" altLang="zh-Hans" sz="1800" b="0" i="1" dirty="0" smtClean="0">
                              <a:latin typeface="Cambria Math" panose="02040503050406030204" pitchFamily="18" charset="0"/>
                              <a:ea typeface="Cambria Math" panose="02040503050406030204" pitchFamily="18" charset="0"/>
                            </a:rPr>
                          </m:ctrlPr>
                        </m:sSupPr>
                        <m:e>
                          <m:r>
                            <a:rPr lang="en-US" altLang="zh-Hans" sz="1800" b="0" i="1" dirty="0" smtClean="0">
                              <a:latin typeface="Cambria Math" panose="02040503050406030204" pitchFamily="18" charset="0"/>
                              <a:ea typeface="Cambria Math" panose="02040503050406030204" pitchFamily="18" charset="0"/>
                            </a:rPr>
                            <m:t>1</m:t>
                          </m:r>
                        </m:e>
                        <m:sup>
                          <m:r>
                            <a:rPr lang="en-US" altLang="zh-Hans" sz="1800" b="0" i="1" dirty="0" smtClean="0">
                              <a:latin typeface="Cambria Math" panose="02040503050406030204" pitchFamily="18" charset="0"/>
                              <a:ea typeface="Cambria Math" panose="02040503050406030204" pitchFamily="18" charset="0"/>
                            </a:rPr>
                            <m:t>2</m:t>
                          </m:r>
                        </m:sup>
                      </m:sSup>
                      <m:r>
                        <a:rPr lang="en-US" altLang="zh-Hans" sz="1800" b="0" i="1" dirty="0" smtClean="0">
                          <a:latin typeface="Cambria Math" panose="02040503050406030204" pitchFamily="18" charset="0"/>
                          <a:ea typeface="Cambria Math" panose="02040503050406030204" pitchFamily="18" charset="0"/>
                        </a:rPr>
                        <m:t>+…+</m:t>
                      </m:r>
                      <m:sSup>
                        <m:sSupPr>
                          <m:ctrlPr>
                            <a:rPr lang="en-US" altLang="zh-Hans" sz="1800" b="0" i="1" dirty="0" smtClean="0">
                              <a:latin typeface="Cambria Math" panose="02040503050406030204" pitchFamily="18" charset="0"/>
                              <a:ea typeface="Cambria Math" panose="02040503050406030204" pitchFamily="18" charset="0"/>
                            </a:rPr>
                          </m:ctrlPr>
                        </m:sSupPr>
                        <m:e>
                          <m:r>
                            <a:rPr lang="en-US" altLang="zh-Hans" sz="1800" b="0" i="1" dirty="0" smtClean="0">
                              <a:latin typeface="Cambria Math" panose="02040503050406030204" pitchFamily="18" charset="0"/>
                              <a:ea typeface="Cambria Math" panose="02040503050406030204" pitchFamily="18" charset="0"/>
                            </a:rPr>
                            <m:t>1</m:t>
                          </m:r>
                        </m:e>
                        <m:sup>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𝐵</m:t>
                              </m:r>
                              <m:r>
                                <a:rPr lang="en-US" altLang="zh-Hans" sz="1800" i="1" dirty="0">
                                  <a:latin typeface="Cambria Math" panose="02040503050406030204" pitchFamily="18" charset="0"/>
                                </a:rPr>
                                <m:t>∗</m:t>
                              </m:r>
                              <m:r>
                                <a:rPr lang="en-US" altLang="zh-Hans" sz="1800" i="1" dirty="0">
                                  <a:latin typeface="Cambria Math" panose="02040503050406030204" pitchFamily="18" charset="0"/>
                                </a:rPr>
                                <m:t>𝑐</m:t>
                              </m:r>
                            </m:e>
                            <m:sub>
                              <m:r>
                                <a:rPr lang="en-US" altLang="zh-Hans" sz="1800" i="1" dirty="0">
                                  <a:latin typeface="Cambria Math" panose="02040503050406030204" pitchFamily="18" charset="0"/>
                                </a:rPr>
                                <m:t>𝑖</m:t>
                              </m:r>
                            </m:sub>
                          </m:sSub>
                        </m:sup>
                      </m:sSup>
                      <m:r>
                        <a:rPr lang="en-US" altLang="zh-Hans" sz="1800" b="0" i="1" dirty="0" smtClean="0">
                          <a:latin typeface="Cambria Math" panose="02040503050406030204" pitchFamily="18" charset="0"/>
                          <a:ea typeface="Cambria Math" panose="02040503050406030204" pitchFamily="18" charset="0"/>
                        </a:rPr>
                        <m:t>≡</m:t>
                      </m:r>
                      <m:sSub>
                        <m:sSubPr>
                          <m:ctrlPr>
                            <a:rPr lang="en-US" altLang="zh-Hans" sz="1800" i="1" dirty="0">
                              <a:latin typeface="Cambria Math" panose="02040503050406030204" pitchFamily="18" charset="0"/>
                            </a:rPr>
                          </m:ctrlPr>
                        </m:sSubPr>
                        <m:e>
                          <m:r>
                            <a:rPr lang="en-US" altLang="zh-Hans" sz="1800" i="1" dirty="0">
                              <a:latin typeface="Cambria Math" panose="02040503050406030204" pitchFamily="18" charset="0"/>
                            </a:rPr>
                            <m:t>𝐵</m:t>
                          </m:r>
                          <m:r>
                            <a:rPr lang="en-US" altLang="zh-Hans" sz="1800" i="1" dirty="0">
                              <a:latin typeface="Cambria Math" panose="02040503050406030204" pitchFamily="18" charset="0"/>
                            </a:rPr>
                            <m:t>∗</m:t>
                          </m:r>
                          <m:r>
                            <a:rPr lang="en-US" altLang="zh-Hans" sz="1800" i="1" dirty="0">
                              <a:latin typeface="Cambria Math" panose="02040503050406030204" pitchFamily="18" charset="0"/>
                            </a:rPr>
                            <m:t>𝑐</m:t>
                          </m:r>
                        </m:e>
                        <m:sub>
                          <m:r>
                            <a:rPr lang="en-US" altLang="zh-Hans" sz="1800" i="1" dirty="0">
                              <a:latin typeface="Cambria Math" panose="02040503050406030204" pitchFamily="18" charset="0"/>
                            </a:rPr>
                            <m:t>𝑖</m:t>
                          </m:r>
                        </m:sub>
                      </m:sSub>
                      <m:r>
                        <a:rPr lang="en-US" altLang="zh-Hans" sz="1800" b="0" i="1" dirty="0" smtClean="0">
                          <a:latin typeface="Cambria Math" panose="02040503050406030204" pitchFamily="18" charset="0"/>
                        </a:rPr>
                        <m:t>+1</m:t>
                      </m:r>
                      <m:d>
                        <m:dPr>
                          <m:ctrlPr>
                            <a:rPr lang="en-US" altLang="zh-Hans" sz="1800" b="0" i="1" dirty="0" smtClean="0">
                              <a:latin typeface="Cambria Math" panose="02040503050406030204" pitchFamily="18" charset="0"/>
                            </a:rPr>
                          </m:ctrlPr>
                        </m:dPr>
                        <m:e>
                          <m:r>
                            <m:rPr>
                              <m:sty m:val="p"/>
                            </m:rPr>
                            <a:rPr lang="en-US" altLang="zh-Hans" sz="1800" b="0" i="0" dirty="0" smtClean="0">
                              <a:latin typeface="Cambria Math" panose="02040503050406030204" pitchFamily="18" charset="0"/>
                            </a:rPr>
                            <m:t>mod</m:t>
                          </m:r>
                          <m:r>
                            <a:rPr lang="en-US" altLang="zh-Hans" sz="1800" b="0" i="1" dirty="0" smtClean="0">
                              <a:latin typeface="Cambria Math" panose="02040503050406030204" pitchFamily="18" charset="0"/>
                            </a:rPr>
                            <m:t> 9901</m:t>
                          </m:r>
                        </m:e>
                      </m:d>
                    </m:oMath>
                  </m:oMathPara>
                </a14:m>
                <a:endParaRPr lang="zh-CN" altLang="en-US" sz="18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257800"/>
              </a:xfrm>
              <a:blipFill>
                <a:blip r:embed="rId2"/>
                <a:stretch>
                  <a:fillRect l="-1271" r="-12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7675FBFB-CF06-BB48-974B-E8D89D771FB2}"/>
              </a:ext>
            </a:extLst>
          </p:cNvPr>
          <p:cNvSpPr>
            <a:spLocks noGrp="1"/>
          </p:cNvSpPr>
          <p:nvPr>
            <p:ph type="sldNum" sz="quarter" idx="12"/>
          </p:nvPr>
        </p:nvSpPr>
        <p:spPr/>
        <p:txBody>
          <a:bodyPr/>
          <a:lstStyle/>
          <a:p>
            <a:fld id="{0FF54DE5-C571-48E8-A5BC-B369434E2F44}" type="slidenum">
              <a:rPr lang="en-US" altLang="zh-CN" smtClean="0"/>
              <a:pPr/>
              <a:t>88</a:t>
            </a:fld>
            <a:endParaRPr lang="zh-CN" altLang="en-US" dirty="0"/>
          </a:p>
        </p:txBody>
      </p:sp>
    </p:spTree>
    <p:extLst>
      <p:ext uri="{BB962C8B-B14F-4D97-AF65-F5344CB8AC3E}">
        <p14:creationId xmlns:p14="http://schemas.microsoft.com/office/powerpoint/2010/main" val="333957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线性同余方程</a:t>
            </a:r>
            <a:endParaRPr lang="en-US" dirty="0"/>
          </a:p>
        </p:txBody>
      </p:sp>
      <p:sp>
        <p:nvSpPr>
          <p:cNvPr id="3" name="幻灯片编号占位符 2">
            <a:extLst>
              <a:ext uri="{FF2B5EF4-FFF2-40B4-BE49-F238E27FC236}">
                <a16:creationId xmlns:a16="http://schemas.microsoft.com/office/drawing/2014/main" id="{B60E4D2A-B640-9B4A-B6AF-4E2ADB84558F}"/>
              </a:ext>
            </a:extLst>
          </p:cNvPr>
          <p:cNvSpPr>
            <a:spLocks noGrp="1"/>
          </p:cNvSpPr>
          <p:nvPr>
            <p:ph type="sldNum" sz="quarter" idx="12"/>
          </p:nvPr>
        </p:nvSpPr>
        <p:spPr/>
        <p:txBody>
          <a:bodyPr/>
          <a:lstStyle/>
          <a:p>
            <a:fld id="{0FF54DE5-C571-48E8-A5BC-B369434E2F44}" type="slidenum">
              <a:rPr lang="en-US" altLang="zh-CN" smtClean="0"/>
              <a:pPr/>
              <a:t>89</a:t>
            </a:fld>
            <a:endParaRPr lang="zh-CN" altLang="en-US" dirty="0"/>
          </a:p>
        </p:txBody>
      </p:sp>
    </p:spTree>
    <p:extLst>
      <p:ext uri="{BB962C8B-B14F-4D97-AF65-F5344CB8AC3E}">
        <p14:creationId xmlns:p14="http://schemas.microsoft.com/office/powerpoint/2010/main" val="2907074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noChangeArrowheads="1"/>
          </p:cNvSpPr>
          <p:nvPr>
            <p:ph type="title"/>
          </p:nvPr>
        </p:nvSpPr>
        <p:spPr/>
        <p:txBody>
          <a:bodyPr/>
          <a:lstStyle/>
          <a:p>
            <a:pPr eaLnBrk="1" hangingPunct="1"/>
            <a:r>
              <a:rPr lang="zh-CN" altLang="en-US" dirty="0"/>
              <a:t>线性同余方程</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611699"/>
                <a:ext cx="9980682" cy="5052148"/>
              </a:xfrm>
            </p:spPr>
            <p:txBody>
              <a:bodyPr>
                <a:normAutofit/>
              </a:bodyPr>
              <a:lstStyle/>
              <a:p>
                <a:pPr>
                  <a:lnSpc>
                    <a:spcPct val="150000"/>
                  </a:lnSpc>
                  <a:spcBef>
                    <a:spcPts val="1200"/>
                  </a:spcBef>
                </a:pPr>
                <a:r>
                  <a:rPr lang="zh-CN" altLang="en-US" dirty="0"/>
                  <a:t>形如</a:t>
                </a:r>
                <a14:m>
                  <m:oMath xmlns:m="http://schemas.openxmlformats.org/officeDocument/2006/math">
                    <m:r>
                      <a:rPr lang="en-US" altLang="zh-CN" i="1" dirty="0" smtClean="0">
                        <a:latin typeface="Cambria Math" panose="02040503050406030204" pitchFamily="18" charset="0"/>
                      </a:rPr>
                      <m:t>𝑎𝑥</m:t>
                    </m:r>
                    <m:r>
                      <a:rPr lang="en-US" altLang="zh-CN" i="1" dirty="0" err="1"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𝑐</m:t>
                    </m:r>
                    <m:r>
                      <a:rPr lang="en-US" altLang="zh-CN" i="1" dirty="0" smtClean="0">
                        <a:latin typeface="Cambria Math" panose="02040503050406030204" pitchFamily="18" charset="0"/>
                      </a:rPr>
                      <m:t> (</m:t>
                    </m:r>
                    <m:r>
                      <m:rPr>
                        <m:sty m:val="p"/>
                      </m:rPr>
                      <a:rPr lang="en-US" altLang="zh-CN" i="0" dirty="0" smtClean="0">
                        <a:latin typeface="Cambria Math" panose="02040503050406030204" pitchFamily="18" charset="0"/>
                      </a:rPr>
                      <m:t>mod</m:t>
                    </m:r>
                    <m:r>
                      <a:rPr lang="en-US" altLang="zh-CN" i="1" dirty="0" smtClean="0">
                        <a:latin typeface="Cambria Math" panose="02040503050406030204" pitchFamily="18" charset="0"/>
                      </a:rPr>
                      <m:t> </m:t>
                    </m:r>
                    <m:r>
                      <a:rPr lang="en-US" altLang="zh-CN" b="0" i="1" dirty="0" smtClean="0">
                        <a:latin typeface="Cambria Math" panose="02040503050406030204" pitchFamily="18" charset="0"/>
                      </a:rPr>
                      <m:t>𝑚</m:t>
                    </m:r>
                    <m:r>
                      <a:rPr lang="en-US" altLang="zh-CN" i="1" dirty="0" smtClean="0">
                        <a:latin typeface="Cambria Math" panose="02040503050406030204" pitchFamily="18" charset="0"/>
                      </a:rPr>
                      <m:t>)</m:t>
                    </m:r>
                  </m:oMath>
                </a14:m>
                <a:r>
                  <a:rPr lang="zh-CN" altLang="en-US" dirty="0"/>
                  <a:t>的方程，称为线性同余方程，</a:t>
                </a:r>
                <a:r>
                  <a:rPr lang="zh-Hans" altLang="en-US" dirty="0"/>
                  <a:t>其中“</a:t>
                </a:r>
                <a:r>
                  <a:rPr lang="zh-CN" altLang="en-US" dirty="0"/>
                  <a:t>线性</a:t>
                </a:r>
                <a:r>
                  <a:rPr lang="zh-Hans" altLang="en-US" dirty="0"/>
                  <a:t>”</a:t>
                </a:r>
                <a:r>
                  <a:rPr lang="zh-CN" altLang="en-US" dirty="0"/>
                  <a:t>表示方程的未知数</a:t>
                </a:r>
                <a:r>
                  <a:rPr lang="zh-Hans" altLang="en-US" dirty="0"/>
                  <a:t> </a:t>
                </a:r>
                <a14:m>
                  <m:oMath xmlns:m="http://schemas.openxmlformats.org/officeDocument/2006/math">
                    <m:r>
                      <a:rPr lang="en-US" altLang="zh-CN" i="1" dirty="0">
                        <a:latin typeface="Cambria Math" panose="02040503050406030204" pitchFamily="18" charset="0"/>
                      </a:rPr>
                      <m:t>𝑥</m:t>
                    </m:r>
                  </m:oMath>
                </a14:m>
                <a:r>
                  <a:rPr lang="zh-Hans" altLang="en-US" dirty="0"/>
                  <a:t> 的</a:t>
                </a:r>
                <a:r>
                  <a:rPr lang="zh-CN" altLang="en-US" dirty="0"/>
                  <a:t>次数是一次。显然，可以简单的尝试，依次用</a:t>
                </a:r>
                <a:r>
                  <a:rPr lang="en-US" altLang="zh-CN" dirty="0"/>
                  <a:t> </a:t>
                </a:r>
                <a14:m>
                  <m:oMath xmlns:m="http://schemas.openxmlformats.org/officeDocument/2006/math">
                    <m:r>
                      <a:rPr lang="en-US" altLang="zh-CN" i="1" dirty="0" smtClean="0">
                        <a:latin typeface="Cambria Math" panose="02040503050406030204" pitchFamily="18" charset="0"/>
                      </a:rPr>
                      <m:t>𝑥</m:t>
                    </m:r>
                    <m:r>
                      <a:rPr lang="en-US" altLang="zh-CN" i="1" dirty="0">
                        <a:latin typeface="Cambria Math" panose="02040503050406030204" pitchFamily="18" charset="0"/>
                      </a:rPr>
                      <m:t>=0,1,…,</m:t>
                    </m:r>
                    <m:r>
                      <a:rPr lang="en-US" altLang="zh-CN" b="0" i="1" dirty="0" smtClean="0">
                        <a:latin typeface="Cambria Math" panose="02040503050406030204" pitchFamily="18" charset="0"/>
                      </a:rPr>
                      <m:t>𝑚</m:t>
                    </m:r>
                    <m:r>
                      <a:rPr lang="en-US" altLang="zh-CN" i="1" dirty="0">
                        <a:latin typeface="Cambria Math" panose="02040503050406030204" pitchFamily="18" charset="0"/>
                      </a:rPr>
                      <m:t>−1</m:t>
                    </m:r>
                  </m:oMath>
                </a14:m>
                <a:r>
                  <a:rPr lang="en-US" altLang="zh-CN" dirty="0"/>
                  <a:t> </a:t>
                </a:r>
                <a:r>
                  <a:rPr lang="zh-CN" altLang="en-US" dirty="0"/>
                  <a:t>来代入该方程，找出其中在模</a:t>
                </a:r>
                <a:r>
                  <a:rPr lang="en-US" altLang="zh-CN" dirty="0"/>
                  <a:t> </a:t>
                </a:r>
                <a14:m>
                  <m:oMath xmlns:m="http://schemas.openxmlformats.org/officeDocument/2006/math">
                    <m:r>
                      <a:rPr lang="en-US" altLang="zh-CN" i="1" dirty="0" smtClean="0">
                        <a:latin typeface="Cambria Math" panose="02040503050406030204" pitchFamily="18" charset="0"/>
                      </a:rPr>
                      <m:t>𝑚</m:t>
                    </m:r>
                  </m:oMath>
                </a14:m>
                <a:r>
                  <a:rPr lang="en-US" altLang="zh-CN" dirty="0"/>
                  <a:t> </a:t>
                </a:r>
                <a:r>
                  <a:rPr lang="zh-CN" altLang="en-US" dirty="0"/>
                  <a:t>时满足该方程的整数</a:t>
                </a:r>
                <a:r>
                  <a:rPr lang="en-US" altLang="zh-CN" dirty="0"/>
                  <a:t> </a:t>
                </a:r>
                <a14:m>
                  <m:oMath xmlns:m="http://schemas.openxmlformats.org/officeDocument/2006/math">
                    <m:r>
                      <a:rPr lang="en-US" altLang="zh-CN" i="1" dirty="0" smtClean="0">
                        <a:latin typeface="Cambria Math" panose="02040503050406030204" pitchFamily="18" charset="0"/>
                      </a:rPr>
                      <m:t>𝑥</m:t>
                    </m:r>
                  </m:oMath>
                </a14:m>
                <a:r>
                  <a:rPr lang="en-US" altLang="zh-CN" dirty="0"/>
                  <a:t> </a:t>
                </a:r>
                <a:r>
                  <a:rPr lang="zh-CN" altLang="en-US" dirty="0"/>
                  <a:t>。但</a:t>
                </a:r>
                <a:r>
                  <a:rPr lang="zh-Hans" altLang="en-US" dirty="0"/>
                  <a:t>时间复杂度</a:t>
                </a:r>
                <a:r>
                  <a:rPr lang="zh-CN" altLang="en-US" dirty="0"/>
                  <a:t>取决于</a:t>
                </a:r>
                <a:r>
                  <a:rPr lang="en-US" altLang="zh-CN" dirty="0"/>
                  <a:t> </a:t>
                </a:r>
                <a14:m>
                  <m:oMath xmlns:m="http://schemas.openxmlformats.org/officeDocument/2006/math">
                    <m:r>
                      <a:rPr lang="en-US" altLang="zh-CN" i="1" dirty="0" smtClean="0">
                        <a:latin typeface="Cambria Math" panose="02040503050406030204" pitchFamily="18" charset="0"/>
                      </a:rPr>
                      <m:t>𝑚</m:t>
                    </m:r>
                  </m:oMath>
                </a14:m>
                <a:r>
                  <a:rPr lang="en-US" altLang="zh-CN" dirty="0"/>
                  <a:t> </a:t>
                </a:r>
                <a:r>
                  <a:rPr lang="zh-CN" altLang="en-US" dirty="0"/>
                  <a:t>的大小，</a:t>
                </a:r>
                <a:r>
                  <a:rPr lang="zh-Hans" altLang="en-US" dirty="0"/>
                  <a:t>效率不高。</a:t>
                </a:r>
                <a:endParaRPr lang="en-US" altLang="zh-Hans" dirty="0"/>
              </a:p>
              <a:p>
                <a:pPr>
                  <a:lnSpc>
                    <a:spcPct val="150000"/>
                  </a:lnSpc>
                  <a:spcBef>
                    <a:spcPts val="1200"/>
                  </a:spcBef>
                </a:pPr>
                <a14:m>
                  <m:oMath xmlns:m="http://schemas.openxmlformats.org/officeDocument/2006/math">
                    <m:r>
                      <a:rPr lang="en-US" altLang="zh-CN" i="1" dirty="0">
                        <a:latin typeface="Cambria Math" panose="02040503050406030204" pitchFamily="18" charset="0"/>
                      </a:rPr>
                      <m:t>𝑎𝑥</m:t>
                    </m:r>
                    <m:r>
                      <a:rPr lang="en-US" altLang="zh-CN" i="1" dirty="0" err="1">
                        <a:latin typeface="Cambria Math" panose="02040503050406030204" pitchFamily="18" charset="0"/>
                        <a:sym typeface="宋体" panose="02010600030101010101" pitchFamily="2" charset="-122"/>
                      </a:rPr>
                      <m:t>≡</m:t>
                    </m:r>
                    <m:r>
                      <a:rPr lang="en-US" altLang="zh-CN" i="1" dirty="0" err="1">
                        <a:latin typeface="Cambria Math" panose="02040503050406030204" pitchFamily="18" charset="0"/>
                        <a:sym typeface="宋体" panose="02010600030101010101" pitchFamily="2" charset="-122"/>
                      </a:rPr>
                      <m:t>𝑐</m:t>
                    </m:r>
                    <m:r>
                      <a:rPr lang="en-US" altLang="zh-CN" i="1" dirty="0">
                        <a:latin typeface="Cambria Math" panose="02040503050406030204" pitchFamily="18" charset="0"/>
                      </a:rPr>
                      <m:t> (</m:t>
                    </m:r>
                    <m:r>
                      <m:rPr>
                        <m:sty m:val="p"/>
                      </m:rPr>
                      <a:rPr lang="en-US" altLang="zh-CN" dirty="0">
                        <a:latin typeface="Cambria Math" panose="02040503050406030204" pitchFamily="18" charset="0"/>
                      </a:rPr>
                      <m:t>mod</m:t>
                    </m:r>
                    <m:r>
                      <a:rPr lang="en-US" altLang="zh-CN" i="1" dirty="0">
                        <a:latin typeface="Cambria Math" panose="02040503050406030204" pitchFamily="18" charset="0"/>
                      </a:rPr>
                      <m:t> </m:t>
                    </m:r>
                    <m:r>
                      <a:rPr lang="en-US" altLang="zh-CN" i="1" dirty="0">
                        <a:latin typeface="Cambria Math" panose="02040503050406030204" pitchFamily="18" charset="0"/>
                      </a:rPr>
                      <m:t>𝑚</m:t>
                    </m:r>
                    <m:r>
                      <a:rPr lang="en-US" altLang="zh-CN" i="1" dirty="0">
                        <a:latin typeface="Cambria Math" panose="02040503050406030204" pitchFamily="18" charset="0"/>
                      </a:rPr>
                      <m:t>)</m:t>
                    </m:r>
                  </m:oMath>
                </a14:m>
                <a:r>
                  <a:rPr lang="en-US" altLang="zh-CN" dirty="0"/>
                  <a:t> </a:t>
                </a:r>
                <a:r>
                  <a:rPr lang="zh-Hans" altLang="en-US" dirty="0"/>
                  <a:t>可以转化为 </a:t>
                </a:r>
                <a14:m>
                  <m:oMath xmlns:m="http://schemas.openxmlformats.org/officeDocument/2006/math">
                    <m:r>
                      <a:rPr lang="en-US" altLang="zh-CN" i="1" dirty="0">
                        <a:latin typeface="Cambria Math" panose="02040503050406030204" pitchFamily="18" charset="0"/>
                      </a:rPr>
                      <m:t>𝑎𝑥</m:t>
                    </m:r>
                    <m:r>
                      <a:rPr lang="en-US" altLang="zh-CN" i="1" dirty="0">
                        <a:latin typeface="Cambria Math" panose="02040503050406030204" pitchFamily="18" charset="0"/>
                      </a:rPr>
                      <m:t>+</m:t>
                    </m:r>
                    <m:r>
                      <a:rPr lang="en-US" altLang="zh-CN" b="0" i="1" dirty="0" smtClean="0">
                        <a:latin typeface="Cambria Math" panose="02040503050406030204" pitchFamily="18" charset="0"/>
                      </a:rPr>
                      <m:t>𝑚</m:t>
                    </m:r>
                    <m:r>
                      <a:rPr lang="en-US" altLang="zh-CN" i="1" dirty="0">
                        <a:latin typeface="Cambria Math" panose="02040503050406030204" pitchFamily="18" charset="0"/>
                      </a:rPr>
                      <m:t>𝑦</m:t>
                    </m:r>
                    <m:r>
                      <a:rPr lang="en-US" altLang="zh-CN" i="1" dirty="0">
                        <a:latin typeface="Cambria Math" panose="02040503050406030204" pitchFamily="18" charset="0"/>
                      </a:rPr>
                      <m:t>=</m:t>
                    </m:r>
                    <m:r>
                      <a:rPr lang="en-US" altLang="zh-CN" i="1" dirty="0">
                        <a:latin typeface="Cambria Math" panose="02040503050406030204" pitchFamily="18" charset="0"/>
                      </a:rPr>
                      <m:t>𝑐</m:t>
                    </m:r>
                  </m:oMath>
                </a14:m>
                <a:r>
                  <a:rPr lang="zh-Hans" altLang="en-US" dirty="0"/>
                  <a:t> ，即可将线性同余方程转换为扩展欧几里得算法求解。根据裴蜀定理， </a:t>
                </a:r>
                <a14:m>
                  <m:oMath xmlns:m="http://schemas.openxmlformats.org/officeDocument/2006/math">
                    <m:r>
                      <a:rPr lang="en-US" altLang="zh-CN" i="1" dirty="0">
                        <a:latin typeface="Cambria Math" panose="02040503050406030204" pitchFamily="18" charset="0"/>
                      </a:rPr>
                      <m:t>𝑎𝑥</m:t>
                    </m:r>
                    <m:r>
                      <a:rPr lang="en-US" altLang="zh-CN" i="1" dirty="0">
                        <a:latin typeface="Cambria Math" panose="02040503050406030204" pitchFamily="18" charset="0"/>
                      </a:rPr>
                      <m:t>+</m:t>
                    </m:r>
                    <m:r>
                      <a:rPr lang="en-US" altLang="zh-CN" i="1" dirty="0">
                        <a:latin typeface="Cambria Math" panose="02040503050406030204" pitchFamily="18" charset="0"/>
                      </a:rPr>
                      <m:t>𝑚𝑦</m:t>
                    </m:r>
                    <m:r>
                      <a:rPr lang="en-US" altLang="zh-CN" i="1" dirty="0">
                        <a:latin typeface="Cambria Math" panose="02040503050406030204" pitchFamily="18" charset="0"/>
                      </a:rPr>
                      <m:t>=</m:t>
                    </m:r>
                    <m:r>
                      <a:rPr lang="en-US" altLang="zh-CN" i="1" dirty="0">
                        <a:latin typeface="Cambria Math" panose="02040503050406030204" pitchFamily="18" charset="0"/>
                      </a:rPr>
                      <m:t>𝑐</m:t>
                    </m:r>
                  </m:oMath>
                </a14:m>
                <a:r>
                  <a:rPr lang="zh-Hans" altLang="en-US" dirty="0"/>
                  <a:t> 的</a:t>
                </a:r>
                <a:r>
                  <a:rPr lang="zh-CN" altLang="en-US" dirty="0"/>
                  <a:t>有解条件为</a:t>
                </a:r>
                <a:r>
                  <a:rPr lang="en-US" altLang="zh-CN" dirty="0"/>
                  <a:t> </a:t>
                </a:r>
                <a14:m>
                  <m:oMath xmlns:m="http://schemas.openxmlformats.org/officeDocument/2006/math">
                    <m:r>
                      <m:rPr>
                        <m:sty m:val="p"/>
                      </m:rPr>
                      <a:rPr lang="en-US" altLang="zh-CN" b="0" i="0" dirty="0" smtClean="0">
                        <a:latin typeface="Cambria Math" panose="02040503050406030204" pitchFamily="18" charset="0"/>
                      </a:rPr>
                      <m:t>gcd</m:t>
                    </m:r>
                    <m:r>
                      <a:rPr lang="en-US" altLang="zh-CN" i="1" dirty="0">
                        <a:latin typeface="Cambria Math" panose="02040503050406030204" pitchFamily="18" charset="0"/>
                      </a:rPr>
                      <m:t>(</m:t>
                    </m:r>
                    <m:r>
                      <a:rPr lang="en-US" altLang="zh-CN" i="1" dirty="0" err="1">
                        <a:latin typeface="Cambria Math" panose="02040503050406030204" pitchFamily="18" charset="0"/>
                      </a:rPr>
                      <m:t>𝑎</m:t>
                    </m:r>
                    <m:r>
                      <a:rPr lang="en-US" altLang="zh-CN" i="1" dirty="0" err="1">
                        <a:latin typeface="Cambria Math" panose="02040503050406030204" pitchFamily="18" charset="0"/>
                      </a:rPr>
                      <m:t>,</m:t>
                    </m:r>
                    <m:r>
                      <a:rPr lang="en-US" altLang="zh-CN" b="0" i="1" dirty="0" smtClean="0">
                        <a:latin typeface="Cambria Math" panose="02040503050406030204" pitchFamily="18" charset="0"/>
                      </a:rPr>
                      <m:t>𝑚</m:t>
                    </m:r>
                    <m:r>
                      <a:rPr lang="en-US" altLang="zh-CN" i="1" dirty="0">
                        <a:latin typeface="Cambria Math" panose="02040503050406030204" pitchFamily="18" charset="0"/>
                      </a:rPr>
                      <m:t>)|</m:t>
                    </m:r>
                    <m:r>
                      <a:rPr lang="en-US" altLang="zh-CN" i="1" dirty="0">
                        <a:latin typeface="Cambria Math" panose="02040503050406030204" pitchFamily="18" charset="0"/>
                      </a:rPr>
                      <m:t>𝑐</m:t>
                    </m:r>
                  </m:oMath>
                </a14:m>
                <a:r>
                  <a:rPr lang="zh-Hans" altLang="en-US" dirty="0"/>
                  <a:t>，否则方程无解。</a:t>
                </a:r>
                <a:endParaRPr lang="en-US" altLang="zh-Hans" dirty="0"/>
              </a:p>
              <a:p>
                <a:pPr>
                  <a:lnSpc>
                    <a:spcPct val="150000"/>
                  </a:lnSpc>
                  <a:spcBef>
                    <a:spcPts val="1200"/>
                  </a:spcBef>
                </a:pPr>
                <a:r>
                  <a:rPr lang="zh-Hans" altLang="en-US" dirty="0"/>
                  <a:t>在有解时，使用扩展欧几里得算法求出一组整数解，满足 </a:t>
                </a:r>
                <a14:m>
                  <m:oMath xmlns:m="http://schemas.openxmlformats.org/officeDocument/2006/math">
                    <m:r>
                      <a:rPr lang="en-US" altLang="zh-CN" i="1" dirty="0">
                        <a:latin typeface="Cambria Math" panose="02040503050406030204" pitchFamily="18" charset="0"/>
                      </a:rPr>
                      <m:t>𝑎</m:t>
                    </m:r>
                    <m:r>
                      <a:rPr lang="en-US" altLang="zh-CN" i="1" noProof="1">
                        <a:latin typeface="Cambria Math" panose="02040503050406030204" pitchFamily="18" charset="0"/>
                      </a:rPr>
                      <m:t>𝑥</m:t>
                    </m:r>
                    <m:r>
                      <a:rPr lang="en-US" altLang="zh-CN" i="1" baseline="-30000" noProof="1">
                        <a:latin typeface="Cambria Math" panose="02040503050406030204" pitchFamily="18" charset="0"/>
                      </a:rPr>
                      <m:t>0</m:t>
                    </m:r>
                    <m:r>
                      <a:rPr lang="en-US" altLang="zh-CN" i="1" dirty="0">
                        <a:latin typeface="Cambria Math" panose="02040503050406030204" pitchFamily="18" charset="0"/>
                      </a:rPr>
                      <m:t>+</m:t>
                    </m:r>
                    <m:r>
                      <a:rPr lang="en-US" altLang="zh-CN" i="1" dirty="0">
                        <a:latin typeface="Cambria Math" panose="02040503050406030204" pitchFamily="18" charset="0"/>
                      </a:rPr>
                      <m:t>𝑚𝑦</m:t>
                    </m:r>
                    <m:r>
                      <a:rPr lang="en-US" altLang="zh-CN" i="1" baseline="-30000" noProof="1">
                        <a:latin typeface="Cambria Math" panose="02040503050406030204" pitchFamily="18" charset="0"/>
                      </a:rPr>
                      <m:t>0</m:t>
                    </m:r>
                    <m:r>
                      <a:rPr lang="en-US" altLang="zh-CN" i="1" dirty="0">
                        <a:latin typeface="Cambria Math" panose="02040503050406030204" pitchFamily="18" charset="0"/>
                      </a:rPr>
                      <m:t>=</m:t>
                    </m:r>
                    <m:r>
                      <m:rPr>
                        <m:sty m:val="p"/>
                      </m:rPr>
                      <a:rPr lang="en-US" altLang="zh-CN" b="0" i="0" dirty="0" smtClean="0">
                        <a:latin typeface="Cambria Math" panose="02040503050406030204" pitchFamily="18" charset="0"/>
                      </a:rPr>
                      <m:t>gcd</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𝑚</m:t>
                    </m:r>
                    <m:r>
                      <a:rPr lang="en-US" altLang="zh-CN" b="0" i="1" dirty="0" smtClean="0">
                        <a:latin typeface="Cambria Math" panose="02040503050406030204" pitchFamily="18" charset="0"/>
                      </a:rPr>
                      <m:t>)</m:t>
                    </m:r>
                  </m:oMath>
                </a14:m>
                <a:r>
                  <a:rPr lang="en-US" altLang="zh-Hans" dirty="0"/>
                  <a:t> </a:t>
                </a:r>
                <a:r>
                  <a:rPr lang="zh-Hans" altLang="en-US" dirty="0"/>
                  <a:t>。 </a:t>
                </a:r>
                <a:endParaRPr lang="en-US" altLang="zh-Hans" dirty="0"/>
              </a:p>
              <a:p>
                <a:pPr>
                  <a:lnSpc>
                    <a:spcPct val="150000"/>
                  </a:lnSpc>
                  <a:spcBef>
                    <a:spcPts val="1200"/>
                  </a:spcBef>
                </a:pPr>
                <a:r>
                  <a:rPr lang="zh-CN" altLang="en-US" noProof="1"/>
                  <a:t>在模 </a:t>
                </a:r>
                <a14:m>
                  <m:oMath xmlns:m="http://schemas.openxmlformats.org/officeDocument/2006/math">
                    <m:r>
                      <a:rPr lang="en-US" altLang="zh-CN" i="1" noProof="1">
                        <a:latin typeface="Cambria Math" panose="02040503050406030204" pitchFamily="18" charset="0"/>
                      </a:rPr>
                      <m:t>𝑚</m:t>
                    </m:r>
                  </m:oMath>
                </a14:m>
                <a:r>
                  <a:rPr lang="en-US" altLang="zh-CN" noProof="1"/>
                  <a:t> </a:t>
                </a:r>
                <a:r>
                  <a:rPr lang="zh-CN" altLang="en-US" noProof="1"/>
                  <a:t>的完全剩余系 </a:t>
                </a:r>
                <a14:m>
                  <m:oMath xmlns:m="http://schemas.openxmlformats.org/officeDocument/2006/math">
                    <m:r>
                      <a:rPr lang="zh-CN" altLang="zh-CN" i="1" noProof="1">
                        <a:latin typeface="Cambria Math" panose="02040503050406030204" pitchFamily="18" charset="0"/>
                      </a:rPr>
                      <m:t>{0,1,…</m:t>
                    </m:r>
                    <m:r>
                      <a:rPr lang="en-US" altLang="zh-CN" i="1" noProof="1">
                        <a:latin typeface="Cambria Math" panose="02040503050406030204" pitchFamily="18" charset="0"/>
                      </a:rPr>
                      <m:t>,</m:t>
                    </m:r>
                    <m:r>
                      <a:rPr lang="en-US" altLang="zh-CN" i="1" noProof="1">
                        <a:latin typeface="Cambria Math" panose="02040503050406030204" pitchFamily="18" charset="0"/>
                      </a:rPr>
                      <m:t>𝑚</m:t>
                    </m:r>
                    <m:r>
                      <a:rPr lang="en-US" altLang="zh-CN" i="1" noProof="1">
                        <a:latin typeface="Cambria Math" panose="02040503050406030204" pitchFamily="18" charset="0"/>
                      </a:rPr>
                      <m:t>−1}</m:t>
                    </m:r>
                  </m:oMath>
                </a14:m>
                <a:r>
                  <a:rPr lang="en-US" altLang="zh-CN" noProof="1"/>
                  <a:t> </a:t>
                </a:r>
                <a:r>
                  <a:rPr lang="zh-CN" altLang="en-US" noProof="1"/>
                  <a:t>中，恰有</a:t>
                </a:r>
                <a:r>
                  <a:rPr lang="en-US" altLang="zh-CN" noProof="1"/>
                  <a:t> </a:t>
                </a:r>
                <a14:m>
                  <m:oMath xmlns:m="http://schemas.openxmlformats.org/officeDocument/2006/math">
                    <m:r>
                      <a:rPr lang="en-US" altLang="zh-CN" i="1" noProof="1">
                        <a:latin typeface="Cambria Math" panose="02040503050406030204" pitchFamily="18" charset="0"/>
                      </a:rPr>
                      <m:t>𝑑</m:t>
                    </m:r>
                  </m:oMath>
                </a14:m>
                <a:r>
                  <a:rPr lang="en-US" altLang="zh-CN" noProof="1"/>
                  <a:t> </a:t>
                </a:r>
                <a:r>
                  <a:rPr lang="zh-CN" altLang="en-US" noProof="1"/>
                  <a:t>个解，第一个解为</a:t>
                </a:r>
                <a:r>
                  <a:rPr lang="en-US" altLang="zh-CN" noProof="1"/>
                  <a:t> </a:t>
                </a:r>
                <a14:m>
                  <m:oMath xmlns:m="http://schemas.openxmlformats.org/officeDocument/2006/math">
                    <m:r>
                      <a:rPr lang="en-US" altLang="zh-CN" i="1" noProof="1">
                        <a:latin typeface="Cambria Math" panose="02040503050406030204" pitchFamily="18" charset="0"/>
                      </a:rPr>
                      <m:t>𝑥</m:t>
                    </m:r>
                    <m:r>
                      <a:rPr lang="en-US" altLang="zh-CN" i="1" baseline="-30000" noProof="1">
                        <a:latin typeface="Cambria Math" panose="02040503050406030204" pitchFamily="18" charset="0"/>
                      </a:rPr>
                      <m:t>0</m:t>
                    </m:r>
                  </m:oMath>
                </a14:m>
                <a:r>
                  <a:rPr lang="en-US" altLang="zh-CN" noProof="1"/>
                  <a:t> </a:t>
                </a:r>
                <a:r>
                  <a:rPr lang="zh-Hans" altLang="en-US" noProof="1"/>
                  <a:t>，</a:t>
                </a:r>
                <a:r>
                  <a:rPr lang="en-US" altLang="zh-CN" noProof="1"/>
                  <a:t> </a:t>
                </a:r>
                <a:r>
                  <a:rPr lang="zh-CN" altLang="en-US" noProof="1"/>
                  <a:t>其余</a:t>
                </a:r>
                <a:r>
                  <a:rPr lang="en-US" altLang="zh-CN" noProof="1"/>
                  <a:t> </a:t>
                </a:r>
                <a14:m>
                  <m:oMath xmlns:m="http://schemas.openxmlformats.org/officeDocument/2006/math">
                    <m:r>
                      <a:rPr lang="en-US" altLang="zh-CN" i="1" noProof="1">
                        <a:latin typeface="Cambria Math" panose="02040503050406030204" pitchFamily="18" charset="0"/>
                      </a:rPr>
                      <m:t>𝑑</m:t>
                    </m:r>
                    <m:r>
                      <a:rPr lang="en-US" altLang="zh-CN" i="1" noProof="1">
                        <a:latin typeface="Cambria Math" panose="02040503050406030204" pitchFamily="18" charset="0"/>
                      </a:rPr>
                      <m:t>−1</m:t>
                    </m:r>
                  </m:oMath>
                </a14:m>
                <a:r>
                  <a:rPr lang="en-US" altLang="zh-CN" noProof="1"/>
                  <a:t> </a:t>
                </a:r>
                <a:r>
                  <a:rPr lang="zh-CN" altLang="en-US" noProof="1"/>
                  <a:t>个解可以通过</a:t>
                </a:r>
                <a:r>
                  <a:rPr lang="zh-Hans" altLang="en-US" noProof="1"/>
                  <a:t>以下式子</a:t>
                </a:r>
                <a:r>
                  <a:rPr lang="zh-CN" altLang="en-US" noProof="1"/>
                  <a:t>得到，即：</a:t>
                </a:r>
                <a:endParaRPr lang="en-US" altLang="zh-CN" noProof="1"/>
              </a:p>
              <a:p>
                <a:pPr marL="0" indent="0">
                  <a:lnSpc>
                    <a:spcPct val="150000"/>
                  </a:lnSpc>
                  <a:spcBef>
                    <a:spcPts val="1200"/>
                  </a:spcBef>
                  <a:buNone/>
                </a:pPr>
                <a14:m>
                  <m:oMathPara xmlns:m="http://schemas.openxmlformats.org/officeDocument/2006/math">
                    <m:oMathParaPr>
                      <m:jc m:val="centerGroup"/>
                    </m:oMathParaPr>
                    <m:oMath xmlns:m="http://schemas.openxmlformats.org/officeDocument/2006/math">
                      <m:r>
                        <a:rPr lang="en-US" altLang="zh-CN" i="1" noProof="1">
                          <a:latin typeface="Cambria Math" panose="02040503050406030204" pitchFamily="18" charset="0"/>
                        </a:rPr>
                        <m:t>𝑥</m:t>
                      </m:r>
                      <m:r>
                        <a:rPr lang="en-US" altLang="zh-CN" i="1" baseline="-30000" noProof="1">
                          <a:latin typeface="Cambria Math" panose="02040503050406030204" pitchFamily="18" charset="0"/>
                        </a:rPr>
                        <m:t>𝑖</m:t>
                      </m:r>
                      <m:r>
                        <a:rPr lang="en-US" altLang="zh-CN" i="1" noProof="1">
                          <a:latin typeface="Cambria Math" panose="02040503050406030204" pitchFamily="18" charset="0"/>
                        </a:rPr>
                        <m:t>=(</m:t>
                      </m:r>
                      <m:r>
                        <a:rPr lang="en-US" altLang="zh-CN" i="1" noProof="1">
                          <a:latin typeface="Cambria Math" panose="02040503050406030204" pitchFamily="18" charset="0"/>
                        </a:rPr>
                        <m:t>𝑥</m:t>
                      </m:r>
                      <m:r>
                        <a:rPr lang="en-US" altLang="zh-CN" i="1" baseline="-30000" noProof="1">
                          <a:latin typeface="Cambria Math" panose="02040503050406030204" pitchFamily="18" charset="0"/>
                        </a:rPr>
                        <m:t>0</m:t>
                      </m:r>
                      <m:r>
                        <a:rPr lang="en-US" altLang="zh-CN" i="1" noProof="1">
                          <a:latin typeface="Cambria Math" panose="02040503050406030204" pitchFamily="18" charset="0"/>
                        </a:rPr>
                        <m:t>+</m:t>
                      </m:r>
                      <m:r>
                        <a:rPr lang="en-US" altLang="zh-CN" i="1" noProof="1">
                          <a:latin typeface="Cambria Math" panose="02040503050406030204" pitchFamily="18" charset="0"/>
                        </a:rPr>
                        <m:t>𝑖</m:t>
                      </m:r>
                      <m:d>
                        <m:dPr>
                          <m:ctrlPr>
                            <a:rPr lang="en-US" altLang="zh-CN" i="1" noProof="1">
                              <a:latin typeface="Cambria Math" panose="02040503050406030204" pitchFamily="18" charset="0"/>
                            </a:rPr>
                          </m:ctrlPr>
                        </m:dPr>
                        <m:e>
                          <m:f>
                            <m:fPr>
                              <m:ctrlPr>
                                <a:rPr lang="en-US" altLang="zh-CN" i="1" noProof="1">
                                  <a:latin typeface="Cambria Math" panose="02040503050406030204" pitchFamily="18" charset="0"/>
                                </a:rPr>
                              </m:ctrlPr>
                            </m:fPr>
                            <m:num>
                              <m:r>
                                <a:rPr lang="en-US" altLang="zh-CN" i="1" noProof="1">
                                  <a:latin typeface="Cambria Math" panose="02040503050406030204" pitchFamily="18" charset="0"/>
                                </a:rPr>
                                <m:t>𝑚</m:t>
                              </m:r>
                            </m:num>
                            <m:den>
                              <m:r>
                                <a:rPr lang="en-US" altLang="zh-CN" i="1" noProof="1">
                                  <a:latin typeface="Cambria Math" panose="02040503050406030204" pitchFamily="18" charset="0"/>
                                </a:rPr>
                                <m:t>𝑑</m:t>
                              </m:r>
                            </m:den>
                          </m:f>
                        </m:e>
                      </m:d>
                      <m:r>
                        <a:rPr lang="en-US" altLang="en-US" i="1" noProof="1">
                          <a:latin typeface="Cambria Math" panose="02040503050406030204" pitchFamily="18" charset="0"/>
                        </a:rPr>
                        <m:t>) </m:t>
                      </m:r>
                      <m:r>
                        <m:rPr>
                          <m:sty m:val="p"/>
                        </m:rPr>
                        <a:rPr lang="en-US" altLang="en-US" noProof="1">
                          <a:latin typeface="Cambria Math" panose="02040503050406030204" pitchFamily="18" charset="0"/>
                        </a:rPr>
                        <m:t>mod</m:t>
                      </m:r>
                      <m:r>
                        <a:rPr lang="en-US" altLang="en-US" i="1" noProof="1">
                          <a:latin typeface="Cambria Math" panose="02040503050406030204" pitchFamily="18" charset="0"/>
                        </a:rPr>
                        <m:t> </m:t>
                      </m:r>
                      <m:r>
                        <a:rPr lang="en-US" altLang="en-US" i="1" noProof="1">
                          <a:latin typeface="Cambria Math" panose="02040503050406030204" pitchFamily="18" charset="0"/>
                        </a:rPr>
                        <m:t>𝑚</m:t>
                      </m:r>
                      <m:r>
                        <a:rPr lang="en-US" altLang="en-US" i="1" noProof="1">
                          <a:latin typeface="Cambria Math" panose="02040503050406030204" pitchFamily="18" charset="0"/>
                        </a:rPr>
                        <m:t> (1≤</m:t>
                      </m:r>
                      <m:r>
                        <a:rPr lang="en-US" altLang="en-US" i="1" noProof="1">
                          <a:latin typeface="Cambria Math" panose="02040503050406030204" pitchFamily="18" charset="0"/>
                        </a:rPr>
                        <m:t>𝑖</m:t>
                      </m:r>
                      <m:r>
                        <a:rPr lang="en-US" altLang="en-US" i="1" noProof="1">
                          <a:latin typeface="Cambria Math" panose="02040503050406030204" pitchFamily="18" charset="0"/>
                        </a:rPr>
                        <m:t>≤</m:t>
                      </m:r>
                      <m:r>
                        <a:rPr lang="en-US" altLang="en-US" i="1" noProof="1">
                          <a:latin typeface="Cambria Math" panose="02040503050406030204" pitchFamily="18" charset="0"/>
                        </a:rPr>
                        <m:t>𝑑</m:t>
                      </m:r>
                      <m:r>
                        <a:rPr lang="en-US" altLang="en-US" i="1" noProof="1">
                          <a:latin typeface="Cambria Math" panose="02040503050406030204" pitchFamily="18" charset="0"/>
                        </a:rPr>
                        <m:t>−1)</m:t>
                      </m:r>
                    </m:oMath>
                  </m:oMathPara>
                </a14:m>
                <a:endParaRPr lang="en-US" altLang="en-US" noProof="1"/>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11699"/>
                <a:ext cx="9980682" cy="5052148"/>
              </a:xfrm>
              <a:blipFill>
                <a:blip r:embed="rId2"/>
                <a:stretch>
                  <a:fillRect l="-1398" r="-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1018FDDE-357A-3646-BB0A-0B76010E57C5}"/>
              </a:ext>
            </a:extLst>
          </p:cNvPr>
          <p:cNvSpPr>
            <a:spLocks noGrp="1"/>
          </p:cNvSpPr>
          <p:nvPr>
            <p:ph type="sldNum" sz="quarter" idx="12"/>
          </p:nvPr>
        </p:nvSpPr>
        <p:spPr/>
        <p:txBody>
          <a:bodyPr/>
          <a:lstStyle/>
          <a:p>
            <a:fld id="{0FF54DE5-C571-48E8-A5BC-B369434E2F44}" type="slidenum">
              <a:rPr lang="en-US" altLang="zh-CN" smtClean="0"/>
              <a:pPr/>
              <a:t>90</a:t>
            </a:fld>
            <a:endParaRPr lang="zh-CN" altLang="en-US" dirty="0"/>
          </a:p>
        </p:txBody>
      </p:sp>
    </p:spTree>
    <p:extLst>
      <p:ext uri="{BB962C8B-B14F-4D97-AF65-F5344CB8AC3E}">
        <p14:creationId xmlns:p14="http://schemas.microsoft.com/office/powerpoint/2010/main" val="373668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线性同余方程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a:lnSpc>
                    <a:spcPct val="150000"/>
                  </a:lnSpc>
                  <a:spcBef>
                    <a:spcPts val="1200"/>
                  </a:spcBef>
                </a:pPr>
                <a:r>
                  <a:rPr lang="zh-Hans" altLang="en-US" dirty="0"/>
                  <a:t>使用</a:t>
                </a:r>
                <a:r>
                  <a:rPr lang="zh-CN" altLang="en-US" dirty="0"/>
                  <a:t>欧拉定理</a:t>
                </a:r>
                <a:r>
                  <a:rPr lang="zh-Hans" altLang="en-US" dirty="0"/>
                  <a:t>求解：</a:t>
                </a:r>
                <a:endParaRPr lang="en-US" altLang="zh-CN" dirty="0"/>
              </a:p>
              <a:p>
                <a:pPr>
                  <a:lnSpc>
                    <a:spcPct val="150000"/>
                  </a:lnSpc>
                  <a:spcBef>
                    <a:spcPts val="1200"/>
                  </a:spcBef>
                </a:pPr>
                <a:r>
                  <a:rPr lang="zh-CN" altLang="en-US" dirty="0"/>
                  <a:t>令</a:t>
                </a:r>
                <a:r>
                  <a:rPr lang="en-US" altLang="zh-CN" dirty="0"/>
                  <a:t> </a:t>
                </a:r>
                <a14:m>
                  <m:oMath xmlns:m="http://schemas.openxmlformats.org/officeDocument/2006/math">
                    <m:r>
                      <a:rPr lang="en-US" altLang="zh-CN" b="0" i="1" smtClean="0">
                        <a:latin typeface="Cambria Math" panose="02040503050406030204" pitchFamily="18" charset="0"/>
                      </a:rPr>
                      <m:t>𝑑</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gcd</m:t>
                        </m:r>
                      </m:fName>
                      <m:e>
                        <m:d>
                          <m:dPr>
                            <m:ctrlPr>
                              <a:rPr lang="en-US" altLang="zh-CN" b="0" i="1" smtClean="0">
                                <a:latin typeface="Cambria Math" panose="02040503050406030204" pitchFamily="18" charset="0"/>
                              </a:rPr>
                            </m:ctrlPr>
                          </m:dPr>
                          <m:e>
                            <m:r>
                              <a:rPr lang="en-US" altLang="zh-CN" i="1">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𝑚</m:t>
                            </m:r>
                          </m:e>
                        </m:d>
                      </m:e>
                    </m:func>
                  </m:oMath>
                </a14:m>
                <a:r>
                  <a:rPr lang="zh-CN" altLang="en-US" dirty="0"/>
                  <a:t>，若</a:t>
                </a:r>
                <a:r>
                  <a:rPr lang="en-US" altLang="zh-CN" dirty="0"/>
                  <a:t> </a:t>
                </a:r>
                <a14:m>
                  <m:oMath xmlns:m="http://schemas.openxmlformats.org/officeDocument/2006/math">
                    <m:r>
                      <a:rPr lang="en-US" altLang="zh-CN" b="0" i="1" smtClean="0">
                        <a:latin typeface="Cambria Math" panose="02040503050406030204" pitchFamily="18" charset="0"/>
                      </a:rPr>
                      <m:t>𝑑</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m:t>
                    </m:r>
                  </m:oMath>
                </a14:m>
                <a:r>
                  <a:rPr lang="en-US" altLang="zh-CN" dirty="0"/>
                  <a:t> </a:t>
                </a:r>
                <a:r>
                  <a:rPr lang="zh-CN" altLang="en-US" dirty="0"/>
                  <a:t>则方程组无解，否则方程组可</a:t>
                </a:r>
                <a:r>
                  <a:rPr lang="zh-Hans" altLang="en-US" dirty="0"/>
                  <a:t>变为：</a:t>
                </a:r>
                <a:endParaRPr lang="en-US" altLang="zh-CN" dirty="0"/>
              </a:p>
              <a:p>
                <a:pPr marL="0" indent="0">
                  <a:lnSpc>
                    <a:spcPct val="150000"/>
                  </a:lnSpc>
                  <a:spcBef>
                    <a:spcPts val="1200"/>
                  </a:spcBef>
                  <a:buNone/>
                </a:pPr>
                <a14:m>
                  <m:oMathPara xmlns:m="http://schemas.openxmlformats.org/officeDocument/2006/math">
                    <m:oMathParaPr>
                      <m:jc m:val="centerGroup"/>
                    </m:oMathParaPr>
                    <m:oMath xmlns:m="http://schemas.openxmlformats.org/officeDocument/2006/math">
                      <m:sSup>
                        <m:sSupPr>
                          <m:ctrlPr>
                            <a:rPr lang="en-US" altLang="zh-CN" b="0" i="1" dirty="0" smtClean="0">
                              <a:latin typeface="Cambria Math" panose="02040503050406030204" pitchFamily="18" charset="0"/>
                            </a:rPr>
                          </m:ctrlPr>
                        </m:sSupPr>
                        <m:e>
                          <m:r>
                            <a:rPr lang="en-US" altLang="zh-CN" i="1" dirty="0">
                              <a:latin typeface="Cambria Math" panose="02040503050406030204" pitchFamily="18" charset="0"/>
                            </a:rPr>
                            <m:t>𝑎</m:t>
                          </m:r>
                        </m:e>
                        <m:sup>
                          <m:r>
                            <a:rPr lang="en-US" altLang="zh-CN" b="0" i="1" dirty="0" smtClean="0">
                              <a:latin typeface="Cambria Math" panose="02040503050406030204" pitchFamily="18" charset="0"/>
                            </a:rPr>
                            <m:t>′</m:t>
                          </m:r>
                        </m:sup>
                      </m:sSup>
                      <m:r>
                        <a:rPr lang="en-US" altLang="zh-CN" i="1" dirty="0">
                          <a:latin typeface="Cambria Math" panose="02040503050406030204" pitchFamily="18" charset="0"/>
                        </a:rPr>
                        <m:t>𝑥</m:t>
                      </m:r>
                      <m:r>
                        <a:rPr lang="en-US" altLang="zh-CN" i="1" dirty="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𝑐</m:t>
                          </m:r>
                        </m:e>
                        <m:sup>
                          <m:r>
                            <a:rPr lang="en-US" altLang="zh-CN" b="0" i="1" dirty="0" smtClean="0">
                              <a:latin typeface="Cambria Math" panose="02040503050406030204" pitchFamily="18" charset="0"/>
                              <a:ea typeface="Cambria Math" panose="02040503050406030204" pitchFamily="18" charset="0"/>
                            </a:rPr>
                            <m:t>′</m:t>
                          </m:r>
                        </m:sup>
                      </m:sSup>
                      <m:d>
                        <m:dPr>
                          <m:ctrlPr>
                            <a:rPr lang="en-US" altLang="zh-CN" b="0" i="1" dirty="0" smtClean="0">
                              <a:latin typeface="Cambria Math" panose="02040503050406030204" pitchFamily="18" charset="0"/>
                              <a:ea typeface="Cambria Math" panose="02040503050406030204" pitchFamily="18" charset="0"/>
                            </a:rPr>
                          </m:ctrlPr>
                        </m:dPr>
                        <m:e>
                          <m:r>
                            <m:rPr>
                              <m:sty m:val="p"/>
                            </m:rPr>
                            <a:rPr lang="en-US" altLang="zh-CN" i="0" dirty="0">
                              <a:latin typeface="Cambria Math" panose="02040503050406030204" pitchFamily="18" charset="0"/>
                              <a:ea typeface="Cambria Math" panose="02040503050406030204" pitchFamily="18" charset="0"/>
                            </a:rPr>
                            <m:t>mod</m:t>
                          </m:r>
                          <m:r>
                            <a:rPr lang="en-US" altLang="zh-CN" i="1" dirty="0">
                              <a:latin typeface="Cambria Math" panose="02040503050406030204" pitchFamily="18" charset="0"/>
                              <a:ea typeface="Cambria Math" panose="02040503050406030204" pitchFamily="18" charset="0"/>
                            </a:rPr>
                            <m:t> </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𝑚</m:t>
                              </m:r>
                            </m:e>
                            <m:sup>
                              <m:r>
                                <a:rPr lang="en-US" altLang="zh-CN" b="0" i="1" dirty="0" smtClean="0">
                                  <a:latin typeface="Cambria Math" panose="02040503050406030204" pitchFamily="18" charset="0"/>
                                  <a:ea typeface="Cambria Math" panose="02040503050406030204" pitchFamily="18" charset="0"/>
                                </a:rPr>
                                <m:t>′</m:t>
                              </m:r>
                            </m:sup>
                          </m:sSup>
                        </m:e>
                      </m:d>
                      <m:r>
                        <a:rPr lang="en-US" altLang="zh-CN" b="0" i="1" dirty="0" smtClean="0">
                          <a:latin typeface="Cambria Math" panose="02040503050406030204" pitchFamily="18" charset="0"/>
                          <a:ea typeface="Cambria Math" panose="02040503050406030204" pitchFamily="18" charset="0"/>
                        </a:rPr>
                        <m:t>, </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𝑎</m:t>
                          </m:r>
                        </m:e>
                        <m:sup>
                          <m:r>
                            <a:rPr lang="en-US" altLang="zh-CN" b="0" i="1" dirty="0" smtClean="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f>
                        <m:fPr>
                          <m:ctrlPr>
                            <a:rPr lang="en-US" altLang="zh-CN" b="0" i="1" dirty="0" smtClean="0">
                              <a:latin typeface="Cambria Math" panose="02040503050406030204" pitchFamily="18" charset="0"/>
                              <a:ea typeface="Cambria Math" panose="02040503050406030204" pitchFamily="18" charset="0"/>
                            </a:rPr>
                          </m:ctrlPr>
                        </m:fPr>
                        <m:num>
                          <m:r>
                            <a:rPr lang="en-US" altLang="zh-CN" b="0" i="1" dirty="0" smtClean="0">
                              <a:latin typeface="Cambria Math" panose="02040503050406030204" pitchFamily="18" charset="0"/>
                              <a:ea typeface="Cambria Math" panose="02040503050406030204" pitchFamily="18" charset="0"/>
                            </a:rPr>
                            <m:t>𝑎</m:t>
                          </m:r>
                        </m:num>
                        <m:den>
                          <m:r>
                            <a:rPr lang="en-US" altLang="zh-CN" b="0" i="1" dirty="0" smtClean="0">
                              <a:latin typeface="Cambria Math" panose="02040503050406030204" pitchFamily="18" charset="0"/>
                              <a:ea typeface="Cambria Math" panose="02040503050406030204" pitchFamily="18" charset="0"/>
                            </a:rPr>
                            <m:t>𝑑</m:t>
                          </m:r>
                        </m:den>
                      </m:f>
                      <m:r>
                        <a:rPr lang="en-US" altLang="zh-CN" b="0" i="1" dirty="0" smtClean="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𝑚</m:t>
                          </m:r>
                        </m:e>
                        <m:sup>
                          <m:r>
                            <a:rPr lang="en-US" altLang="zh-CN" i="1" dirty="0">
                              <a:latin typeface="Cambria Math" panose="02040503050406030204" pitchFamily="18" charset="0"/>
                              <a:ea typeface="Cambria Math" panose="02040503050406030204" pitchFamily="18" charset="0"/>
                            </a:rPr>
                            <m:t>′</m:t>
                          </m:r>
                        </m:sup>
                      </m:sSup>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b="0" i="1" dirty="0" smtClean="0">
                              <a:latin typeface="Cambria Math" panose="02040503050406030204" pitchFamily="18" charset="0"/>
                              <a:ea typeface="Cambria Math" panose="02040503050406030204" pitchFamily="18" charset="0"/>
                            </a:rPr>
                            <m:t>𝑚</m:t>
                          </m:r>
                        </m:num>
                        <m:den>
                          <m:r>
                            <a:rPr lang="en-US" altLang="zh-CN" b="0" i="1" dirty="0" smtClean="0">
                              <a:latin typeface="Cambria Math" panose="02040503050406030204" pitchFamily="18" charset="0"/>
                              <a:ea typeface="Cambria Math" panose="02040503050406030204" pitchFamily="18" charset="0"/>
                            </a:rPr>
                            <m:t>𝑑</m:t>
                          </m:r>
                        </m:den>
                      </m:f>
                      <m:r>
                        <a:rPr lang="en-US" altLang="zh-CN" b="0" i="1" dirty="0" smtClean="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𝑐</m:t>
                          </m:r>
                        </m:e>
                        <m:sup>
                          <m:r>
                            <a:rPr lang="en-US" altLang="zh-CN" i="1" dirty="0">
                              <a:latin typeface="Cambria Math" panose="02040503050406030204" pitchFamily="18" charset="0"/>
                              <a:ea typeface="Cambria Math" panose="02040503050406030204" pitchFamily="18" charset="0"/>
                            </a:rPr>
                            <m:t>′</m:t>
                          </m:r>
                        </m:sup>
                      </m:sSup>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b="0" i="1" dirty="0" smtClean="0">
                              <a:latin typeface="Cambria Math" panose="02040503050406030204" pitchFamily="18" charset="0"/>
                              <a:ea typeface="Cambria Math" panose="02040503050406030204" pitchFamily="18" charset="0"/>
                            </a:rPr>
                            <m:t>𝑐</m:t>
                          </m:r>
                        </m:num>
                        <m:den>
                          <m:r>
                            <a:rPr lang="en-US" altLang="zh-CN" b="0" i="1" dirty="0" smtClean="0">
                              <a:latin typeface="Cambria Math" panose="02040503050406030204" pitchFamily="18" charset="0"/>
                              <a:ea typeface="Cambria Math" panose="02040503050406030204" pitchFamily="18" charset="0"/>
                            </a:rPr>
                            <m:t>𝑑</m:t>
                          </m:r>
                        </m:den>
                      </m:f>
                      <m:r>
                        <a:rPr lang="en-US" altLang="zh-CN" b="0" i="1" dirty="0" smtClean="0">
                          <a:latin typeface="Cambria Math" panose="02040503050406030204" pitchFamily="18" charset="0"/>
                          <a:ea typeface="Cambria Math" panose="02040503050406030204" pitchFamily="18" charset="0"/>
                        </a:rPr>
                        <m:t>,</m:t>
                      </m:r>
                      <m:r>
                        <m:rPr>
                          <m:sty m:val="p"/>
                        </m:rPr>
                        <a:rPr lang="en-US" altLang="zh-CN" b="0" i="0" dirty="0" smtClean="0">
                          <a:latin typeface="Cambria Math" panose="02040503050406030204" pitchFamily="18" charset="0"/>
                          <a:ea typeface="Cambria Math" panose="02040503050406030204" pitchFamily="18" charset="0"/>
                        </a:rPr>
                        <m:t>gcd</m:t>
                      </m:r>
                      <m:d>
                        <m:dPr>
                          <m:ctrlPr>
                            <a:rPr lang="en-US" altLang="zh-CN" b="0" i="1" dirty="0" smtClean="0">
                              <a:latin typeface="Cambria Math" panose="02040503050406030204" pitchFamily="18" charset="0"/>
                              <a:ea typeface="Cambria Math" panose="02040503050406030204" pitchFamily="18" charset="0"/>
                            </a:rPr>
                          </m:ctrlPr>
                        </m:dPr>
                        <m:e>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𝑎</m:t>
                              </m:r>
                            </m:e>
                            <m:sup>
                              <m:r>
                                <a:rPr lang="en-US" altLang="zh-CN" b="0" i="1" dirty="0" smtClean="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𝑐</m:t>
                              </m:r>
                            </m:e>
                            <m:sup>
                              <m:r>
                                <a:rPr lang="en-US" altLang="zh-CN" b="0" i="1" dirty="0" smtClean="0">
                                  <a:latin typeface="Cambria Math" panose="02040503050406030204" pitchFamily="18" charset="0"/>
                                  <a:ea typeface="Cambria Math" panose="02040503050406030204" pitchFamily="18" charset="0"/>
                                </a:rPr>
                                <m:t>′</m:t>
                              </m:r>
                            </m:sup>
                          </m:sSup>
                        </m:e>
                      </m:d>
                      <m:r>
                        <a:rPr lang="en-US" altLang="zh-CN" b="0" i="1" dirty="0" smtClean="0">
                          <a:latin typeface="Cambria Math" panose="02040503050406030204" pitchFamily="18" charset="0"/>
                          <a:ea typeface="Cambria Math" panose="02040503050406030204" pitchFamily="18" charset="0"/>
                        </a:rPr>
                        <m:t>=1</m:t>
                      </m:r>
                    </m:oMath>
                  </m:oMathPara>
                </a14:m>
                <a:endParaRPr lang="en-US" altLang="zh-CN" i="1" dirty="0"/>
              </a:p>
              <a:p>
                <a:pPr marL="2667000" indent="-34925">
                  <a:lnSpc>
                    <a:spcPct val="150000"/>
                  </a:lnSpc>
                  <a:spcBef>
                    <a:spcPts val="1200"/>
                  </a:spcBef>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𝑥</m:t>
                      </m:r>
                      <m:r>
                        <a:rPr lang="en-US" altLang="zh-CN" i="1" dirty="0">
                          <a:latin typeface="Cambria Math" panose="02040503050406030204" pitchFamily="18" charset="0"/>
                          <a:ea typeface="Cambria Math" panose="02040503050406030204" pitchFamily="18" charset="0"/>
                        </a:rPr>
                        <m:t>≡</m:t>
                      </m:r>
                      <m:sSup>
                        <m:sSupPr>
                          <m:ctrlPr>
                            <a:rPr lang="en-US" altLang="zh-CN" b="0" i="1" dirty="0" smtClean="0">
                              <a:latin typeface="Cambria Math" panose="02040503050406030204" pitchFamily="18" charset="0"/>
                              <a:ea typeface="Cambria Math" panose="02040503050406030204" pitchFamily="18" charset="0"/>
                            </a:rPr>
                          </m:ctrlPr>
                        </m:sSupPr>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m:t>
                              </m:r>
                            </m:sup>
                          </m:sSup>
                        </m:e>
                        <m:sup>
                          <m:r>
                            <a:rPr lang="zh-CN" altLang="en-US" b="0" i="1" dirty="0" smtClean="0">
                              <a:latin typeface="Cambria Math" panose="02040503050406030204" pitchFamily="18" charset="0"/>
                              <a:ea typeface="Cambria Math" panose="02040503050406030204" pitchFamily="18" charset="0"/>
                            </a:rPr>
                            <m:t>𝜑</m:t>
                          </m:r>
                          <m:d>
                            <m:dPr>
                              <m:ctrlPr>
                                <a:rPr lang="en-US" altLang="zh-CN" b="0" i="1" dirty="0" smtClean="0">
                                  <a:latin typeface="Cambria Math" panose="02040503050406030204" pitchFamily="18" charset="0"/>
                                  <a:ea typeface="Cambria Math" panose="02040503050406030204" pitchFamily="18" charset="0"/>
                                </a:rPr>
                              </m:ctrlPr>
                            </m:dPr>
                            <m:e>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𝑚</m:t>
                                  </m:r>
                                </m:e>
                                <m:sup>
                                  <m:r>
                                    <a:rPr lang="en-US" altLang="zh-CN" b="0" i="1" dirty="0" smtClean="0">
                                      <a:latin typeface="Cambria Math" panose="02040503050406030204" pitchFamily="18" charset="0"/>
                                      <a:ea typeface="Cambria Math" panose="02040503050406030204" pitchFamily="18" charset="0"/>
                                    </a:rPr>
                                    <m:t>′</m:t>
                                  </m:r>
                                </m:sup>
                              </m:sSup>
                            </m:e>
                          </m:d>
                          <m:r>
                            <a:rPr lang="en-US" altLang="zh-CN" b="0" i="1" dirty="0" smtClean="0">
                              <a:latin typeface="Cambria Math" panose="02040503050406030204" pitchFamily="18" charset="0"/>
                              <a:ea typeface="Cambria Math" panose="02040503050406030204" pitchFamily="18" charset="0"/>
                            </a:rPr>
                            <m:t>−1</m:t>
                          </m:r>
                        </m:sup>
                      </m:sSup>
                      <m:sSup>
                        <m:sSupPr>
                          <m:ctrlPr>
                            <a:rPr lang="en-US" altLang="zh-CN" b="0"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𝑐</m:t>
                          </m:r>
                        </m:e>
                        <m:sup>
                          <m:r>
                            <a:rPr lang="en-US" altLang="zh-CN" b="0" i="1" dirty="0" smtClean="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r>
                        <m:rPr>
                          <m:sty m:val="p"/>
                        </m:rPr>
                        <a:rPr lang="en-US" altLang="zh-CN" b="0" i="0" dirty="0" smtClean="0">
                          <a:latin typeface="Cambria Math" panose="02040503050406030204" pitchFamily="18" charset="0"/>
                          <a:ea typeface="Cambria Math" panose="02040503050406030204" pitchFamily="18" charset="0"/>
                        </a:rPr>
                        <m:t>mod</m:t>
                      </m:r>
                      <m:r>
                        <a:rPr lang="en-US" altLang="zh-CN" b="0" i="1" dirty="0" smtClean="0">
                          <a:latin typeface="Cambria Math" panose="02040503050406030204" pitchFamily="18" charset="0"/>
                          <a:ea typeface="Cambria Math" panose="02040503050406030204" pitchFamily="18" charset="0"/>
                        </a:rPr>
                        <m:t> </m:t>
                      </m:r>
                      <m:r>
                        <a:rPr lang="en-US" altLang="zh-CN" b="0" i="1" dirty="0" smtClean="0">
                          <a:latin typeface="Cambria Math" panose="02040503050406030204" pitchFamily="18" charset="0"/>
                          <a:ea typeface="Cambria Math" panose="02040503050406030204" pitchFamily="18" charset="0"/>
                        </a:rPr>
                        <m:t>𝑚</m:t>
                      </m:r>
                      <m:r>
                        <a:rPr lang="en-US" altLang="zh-CN" b="0" i="1" dirty="0" smtClean="0">
                          <a:latin typeface="Cambria Math" panose="02040503050406030204" pitchFamily="18" charset="0"/>
                          <a:ea typeface="Cambria Math" panose="02040503050406030204" pitchFamily="18" charset="0"/>
                        </a:rPr>
                        <m:t>′)</m:t>
                      </m:r>
                    </m:oMath>
                  </m:oMathPara>
                </a14:m>
                <a:endParaRPr lang="en-US" altLang="zh-CN" i="1" dirty="0"/>
              </a:p>
              <a:p>
                <a:pPr marL="0" indent="0">
                  <a:lnSpc>
                    <a:spcPct val="150000"/>
                  </a:lnSpc>
                  <a:spcBef>
                    <a:spcPts val="1200"/>
                  </a:spcBef>
                  <a:buNone/>
                </a:pPr>
                <a14:m>
                  <m:oMathPara xmlns:m="http://schemas.openxmlformats.org/officeDocument/2006/math">
                    <m:oMathParaPr>
                      <m:jc m:val="centerGroup"/>
                    </m:oMathParaPr>
                    <m:oMath xmlns:m="http://schemas.openxmlformats.org/officeDocument/2006/math">
                      <m:r>
                        <a:rPr lang="en-US" altLang="zh-CN" b="0" i="1" dirty="0">
                          <a:latin typeface="Cambria Math" panose="02040503050406030204" pitchFamily="18" charset="0"/>
                        </a:rPr>
                        <m:t>𝑥</m:t>
                      </m:r>
                      <m:r>
                        <a:rPr lang="en-US" altLang="zh-CN" b="0" i="1" dirty="0">
                          <a:latin typeface="Cambria Math" panose="02040503050406030204" pitchFamily="18" charset="0"/>
                          <a:ea typeface="Cambria Math" panose="02040503050406030204" pitchFamily="18" charset="0"/>
                        </a:rPr>
                        <m:t>≡</m:t>
                      </m:r>
                      <m:sSup>
                        <m:sSupPr>
                          <m:ctrlPr>
                            <a:rPr lang="en-US" altLang="zh-CN" i="1" dirty="0">
                              <a:latin typeface="Cambria Math" panose="02040503050406030204" pitchFamily="18" charset="0"/>
                              <a:ea typeface="Cambria Math" panose="02040503050406030204" pitchFamily="18" charset="0"/>
                            </a:rPr>
                          </m:ctrlPr>
                        </m:sSupPr>
                        <m:e>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m:t>
                              </m:r>
                            </m:sup>
                          </m:sSup>
                        </m:e>
                        <m:sup>
                          <m:r>
                            <a:rPr lang="zh-CN" altLang="en-US" b="0" i="1" dirty="0">
                              <a:latin typeface="Cambria Math" panose="02040503050406030204" pitchFamily="18" charset="0"/>
                              <a:ea typeface="Cambria Math" panose="02040503050406030204" pitchFamily="18" charset="0"/>
                            </a:rPr>
                            <m:t>𝜑</m:t>
                          </m:r>
                          <m:d>
                            <m:dPr>
                              <m:ctrlPr>
                                <a:rPr lang="en-US" altLang="zh-CN" i="1" dirty="0">
                                  <a:latin typeface="Cambria Math" panose="02040503050406030204" pitchFamily="18" charset="0"/>
                                  <a:ea typeface="Cambria Math" panose="02040503050406030204" pitchFamily="18" charset="0"/>
                                </a:rPr>
                              </m:ctrlPr>
                            </m:dPr>
                            <m:e>
                              <m:sSup>
                                <m:sSupPr>
                                  <m:ctrlPr>
                                    <a:rPr lang="en-US" altLang="zh-CN" i="1" dirty="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𝑚</m:t>
                                  </m:r>
                                </m:e>
                                <m:sup>
                                  <m:r>
                                    <a:rPr lang="en-US" altLang="zh-CN" b="0" i="1" dirty="0">
                                      <a:latin typeface="Cambria Math" panose="02040503050406030204" pitchFamily="18" charset="0"/>
                                      <a:ea typeface="Cambria Math" panose="02040503050406030204" pitchFamily="18" charset="0"/>
                                    </a:rPr>
                                    <m:t>′</m:t>
                                  </m:r>
                                </m:sup>
                              </m:sSup>
                            </m:e>
                          </m:d>
                          <m:r>
                            <a:rPr lang="en-US" altLang="zh-CN" b="0" i="1" dirty="0" smtClean="0">
                              <a:latin typeface="Cambria Math" panose="02040503050406030204" pitchFamily="18" charset="0"/>
                              <a:ea typeface="Cambria Math" panose="02040503050406030204" pitchFamily="18" charset="0"/>
                            </a:rPr>
                            <m:t>−1</m:t>
                          </m:r>
                        </m:sup>
                      </m:sSup>
                      <m:sSup>
                        <m:sSupPr>
                          <m:ctrlPr>
                            <a:rPr lang="en-US" altLang="zh-CN" i="1" dirty="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𝑐</m:t>
                          </m:r>
                        </m:e>
                        <m:sup>
                          <m:r>
                            <a:rPr lang="en-US" altLang="zh-CN" b="0" i="1" dirty="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𝑘</m:t>
                      </m:r>
                      <m:sSup>
                        <m:sSupPr>
                          <m:ctrlPr>
                            <a:rPr lang="en-US" altLang="zh-CN" b="0" i="1" dirty="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𝑚</m:t>
                          </m:r>
                        </m:e>
                        <m:sup>
                          <m:r>
                            <a:rPr lang="en-US" altLang="zh-CN" b="0" i="1" dirty="0">
                              <a:latin typeface="Cambria Math" panose="02040503050406030204" pitchFamily="18" charset="0"/>
                              <a:ea typeface="Cambria Math" panose="02040503050406030204" pitchFamily="18" charset="0"/>
                            </a:rPr>
                            <m:t>′</m:t>
                          </m:r>
                        </m:sup>
                      </m:sSup>
                      <m:d>
                        <m:dPr>
                          <m:ctrlPr>
                            <a:rPr lang="en-US" altLang="zh-CN" b="0" i="1" dirty="0">
                              <a:latin typeface="Cambria Math" panose="02040503050406030204" pitchFamily="18" charset="0"/>
                              <a:ea typeface="Cambria Math" panose="02040503050406030204" pitchFamily="18" charset="0"/>
                            </a:rPr>
                          </m:ctrlPr>
                        </m:dPr>
                        <m:e>
                          <m:r>
                            <m:rPr>
                              <m:sty m:val="p"/>
                            </m:rPr>
                            <a:rPr lang="en-US" altLang="zh-CN" b="0" i="0" dirty="0">
                              <a:latin typeface="Cambria Math" panose="02040503050406030204" pitchFamily="18" charset="0"/>
                              <a:ea typeface="Cambria Math" panose="02040503050406030204" pitchFamily="18" charset="0"/>
                            </a:rPr>
                            <m:t>mod</m:t>
                          </m:r>
                          <m:r>
                            <a:rPr lang="en-US" altLang="zh-CN" b="0" i="1" dirty="0">
                              <a:latin typeface="Cambria Math" panose="02040503050406030204" pitchFamily="18" charset="0"/>
                              <a:ea typeface="Cambria Math" panose="02040503050406030204" pitchFamily="18" charset="0"/>
                            </a:rPr>
                            <m:t> </m:t>
                          </m:r>
                          <m:r>
                            <a:rPr lang="en-US" altLang="zh-CN" b="0" i="1" dirty="0" smtClean="0">
                              <a:latin typeface="Cambria Math" panose="02040503050406030204" pitchFamily="18" charset="0"/>
                              <a:ea typeface="Cambria Math" panose="02040503050406030204" pitchFamily="18" charset="0"/>
                            </a:rPr>
                            <m:t>𝑚</m:t>
                          </m:r>
                        </m:e>
                      </m:d>
                      <m:r>
                        <a:rPr lang="en-US" altLang="zh-CN" b="0" i="1" dirty="0" smtClean="0">
                          <a:latin typeface="Cambria Math" panose="02040503050406030204" pitchFamily="18" charset="0"/>
                          <a:ea typeface="Cambria Math" panose="02040503050406030204" pitchFamily="18" charset="0"/>
                        </a:rPr>
                        <m:t>,</m:t>
                      </m:r>
                      <m:r>
                        <a:rPr lang="en-US" altLang="zh-CN" b="0" i="1" dirty="0">
                          <a:latin typeface="Cambria Math" panose="02040503050406030204" pitchFamily="18" charset="0"/>
                          <a:ea typeface="Cambria Math" panose="02040503050406030204" pitchFamily="18" charset="0"/>
                        </a:rPr>
                        <m:t>(0≤</m:t>
                      </m:r>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&lt;</m:t>
                      </m:r>
                      <m:r>
                        <a:rPr lang="en-US" altLang="zh-CN" b="0" i="1" dirty="0" smtClean="0">
                          <a:latin typeface="Cambria Math" panose="02040503050406030204" pitchFamily="18" charset="0"/>
                          <a:ea typeface="Cambria Math" panose="02040503050406030204" pitchFamily="18" charset="0"/>
                        </a:rPr>
                        <m:t>𝑑</m:t>
                      </m:r>
                      <m:r>
                        <a:rPr lang="en-US" altLang="zh-CN" b="0" i="1" dirty="0" smtClean="0">
                          <a:latin typeface="Cambria Math" panose="02040503050406030204" pitchFamily="18" charset="0"/>
                          <a:ea typeface="Cambria Math" panose="02040503050406030204" pitchFamily="18" charset="0"/>
                        </a:rPr>
                        <m:t>)</m:t>
                      </m:r>
                    </m:oMath>
                  </m:oMathPara>
                </a14:m>
                <a:endParaRPr lang="en-US" altLang="zh-CN" i="1"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C8C2AFFE-A314-F34A-8784-E0F2EC2EC6CC}"/>
              </a:ext>
            </a:extLst>
          </p:cNvPr>
          <p:cNvSpPr>
            <a:spLocks noGrp="1"/>
          </p:cNvSpPr>
          <p:nvPr>
            <p:ph type="sldNum" sz="quarter" idx="12"/>
          </p:nvPr>
        </p:nvSpPr>
        <p:spPr/>
        <p:txBody>
          <a:bodyPr/>
          <a:lstStyle/>
          <a:p>
            <a:fld id="{0FF54DE5-C571-48E8-A5BC-B369434E2F44}" type="slidenum">
              <a:rPr lang="en-US" altLang="zh-CN" smtClean="0"/>
              <a:pPr/>
              <a:t>91</a:t>
            </a:fld>
            <a:endParaRPr lang="zh-CN" altLang="en-US" dirty="0"/>
          </a:p>
        </p:txBody>
      </p:sp>
    </p:spTree>
    <p:extLst>
      <p:ext uri="{BB962C8B-B14F-4D97-AF65-F5344CB8AC3E}">
        <p14:creationId xmlns:p14="http://schemas.microsoft.com/office/powerpoint/2010/main" val="47928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60097">
            <a:extLst>
              <a:ext uri="{FF2B5EF4-FFF2-40B4-BE49-F238E27FC236}">
                <a16:creationId xmlns:a16="http://schemas.microsoft.com/office/drawing/2014/main" id="{709EADC7-B104-804B-8344-C507DB459E56}"/>
              </a:ext>
            </a:extLst>
          </p:cNvPr>
          <p:cNvSpPr>
            <a:spLocks noGrp="1" noChangeArrowheads="1"/>
          </p:cNvSpPr>
          <p:nvPr>
            <p:ph type="title"/>
          </p:nvPr>
        </p:nvSpPr>
        <p:spPr/>
        <p:txBody>
          <a:bodyPr/>
          <a:lstStyle/>
          <a:p>
            <a:pPr eaLnBrk="1" hangingPunct="1"/>
            <a:r>
              <a:rPr lang="zh-CN" altLang="en-US"/>
              <a:t>线性同余方程</a:t>
            </a:r>
          </a:p>
        </p:txBody>
      </p:sp>
      <mc:AlternateContent xmlns:mc="http://schemas.openxmlformats.org/markup-compatibility/2006" xmlns:a14="http://schemas.microsoft.com/office/drawing/2010/main">
        <mc:Choice Requires="a14">
          <p:sp>
            <p:nvSpPr>
              <p:cNvPr id="60419" name="文本占位符 260098">
                <a:extLst>
                  <a:ext uri="{FF2B5EF4-FFF2-40B4-BE49-F238E27FC236}">
                    <a16:creationId xmlns:a16="http://schemas.microsoft.com/office/drawing/2014/main" id="{825EE047-00BC-D543-A96B-26DCCB06BE47}"/>
                  </a:ext>
                </a:extLst>
              </p:cNvPr>
              <p:cNvSpPr>
                <a:spLocks noGrp="1" noChangeArrowheads="1"/>
              </p:cNvSpPr>
              <p:nvPr>
                <p:ph idx="1"/>
              </p:nvPr>
            </p:nvSpPr>
            <p:spPr/>
            <p:txBody>
              <a:bodyPr/>
              <a:lstStyle/>
              <a:p>
                <a:pPr eaLnBrk="1" hangingPunct="1">
                  <a:lnSpc>
                    <a:spcPct val="120000"/>
                  </a:lnSpc>
                </a:pPr>
                <a:r>
                  <a:rPr lang="zh-CN" altLang="zh-CN" dirty="0"/>
                  <a:t>在方程</a:t>
                </a:r>
                <a:r>
                  <a:rPr lang="zh-CN" altLang="en-US" dirty="0"/>
                  <a:t> </a:t>
                </a:r>
                <a14:m>
                  <m:oMath xmlns:m="http://schemas.openxmlformats.org/officeDocument/2006/math">
                    <m:r>
                      <a:rPr lang="zh-CN" altLang="zh-CN" i="1" dirty="0" smtClean="0">
                        <a:latin typeface="Cambria Math" panose="02040503050406030204" pitchFamily="18" charset="0"/>
                      </a:rPr>
                      <m:t>3</m:t>
                    </m:r>
                    <m:r>
                      <a:rPr lang="zh-CN" altLang="zh-CN" i="1" dirty="0" smtClean="0">
                        <a:latin typeface="Cambria Math" panose="02040503050406030204" pitchFamily="18" charset="0"/>
                      </a:rPr>
                      <m:t>𝑥</m:t>
                    </m:r>
                    <m:r>
                      <a:rPr lang="zh-CN" altLang="zh-CN" i="1" dirty="0" smtClean="0">
                        <a:latin typeface="Cambria Math" panose="02040503050406030204" pitchFamily="18" charset="0"/>
                      </a:rPr>
                      <m:t>≡2 (</m:t>
                    </m:r>
                    <m:r>
                      <m:rPr>
                        <m:sty m:val="p"/>
                      </m:rPr>
                      <a:rPr lang="zh-CN" altLang="zh-CN" i="0" dirty="0" smtClean="0">
                        <a:latin typeface="Cambria Math" panose="02040503050406030204" pitchFamily="18" charset="0"/>
                      </a:rPr>
                      <m:t>mod</m:t>
                    </m:r>
                    <m:r>
                      <a:rPr lang="zh-CN" altLang="zh-CN" i="1" dirty="0" smtClean="0">
                        <a:latin typeface="Cambria Math" panose="02040503050406030204" pitchFamily="18" charset="0"/>
                      </a:rPr>
                      <m:t> 6)</m:t>
                    </m:r>
                  </m:oMath>
                </a14:m>
                <a:r>
                  <a:rPr lang="zh-CN" altLang="en-US" dirty="0"/>
                  <a:t> </a:t>
                </a:r>
                <a:r>
                  <a:rPr lang="zh-CN" altLang="zh-CN" dirty="0"/>
                  <a:t>中， </a:t>
                </a:r>
                <a14:m>
                  <m:oMath xmlns:m="http://schemas.openxmlformats.org/officeDocument/2006/math">
                    <m:r>
                      <a:rPr lang="zh-CN" altLang="zh-CN" i="1" dirty="0" smtClean="0">
                        <a:latin typeface="Cambria Math" panose="02040503050406030204" pitchFamily="18" charset="0"/>
                      </a:rPr>
                      <m:t>𝑑</m:t>
                    </m:r>
                    <m:r>
                      <a:rPr lang="zh-CN" altLang="zh-CN" i="1" dirty="0" smtClean="0">
                        <a:latin typeface="Cambria Math" panose="02040503050406030204" pitchFamily="18" charset="0"/>
                      </a:rPr>
                      <m:t> = </m:t>
                    </m:r>
                    <m:r>
                      <m:rPr>
                        <m:sty m:val="p"/>
                      </m:rPr>
                      <a:rPr lang="zh-CN" altLang="zh-CN" i="1" dirty="0" smtClean="0">
                        <a:latin typeface="Cambria Math" panose="02040503050406030204" pitchFamily="18" charset="0"/>
                      </a:rPr>
                      <m:t>gcd</m:t>
                    </m:r>
                    <m:r>
                      <a:rPr lang="zh-CN" altLang="zh-CN" i="1" dirty="0" smtClean="0">
                        <a:latin typeface="Cambria Math" panose="02040503050406030204" pitchFamily="18" charset="0"/>
                      </a:rPr>
                      <m:t>⁡(3,6) = 3 </m:t>
                    </m:r>
                  </m:oMath>
                </a14:m>
                <a:r>
                  <a:rPr lang="zh-CN" altLang="zh-CN" dirty="0"/>
                  <a:t>，</a:t>
                </a:r>
                <a14:m>
                  <m:oMath xmlns:m="http://schemas.openxmlformats.org/officeDocument/2006/math">
                    <m:r>
                      <a:rPr lang="zh-CN" altLang="zh-CN" i="1" dirty="0" smtClean="0">
                        <a:latin typeface="Cambria Math" panose="02040503050406030204" pitchFamily="18" charset="0"/>
                      </a:rPr>
                      <m:t>3 </m:t>
                    </m:r>
                  </m:oMath>
                </a14:m>
                <a:r>
                  <a:rPr lang="zh-CN" altLang="zh-CN" dirty="0"/>
                  <a:t>不整除 </a:t>
                </a:r>
                <a14:m>
                  <m:oMath xmlns:m="http://schemas.openxmlformats.org/officeDocument/2006/math">
                    <m:r>
                      <a:rPr lang="zh-CN" altLang="zh-CN" i="1" dirty="0" smtClean="0">
                        <a:latin typeface="Cambria Math" panose="02040503050406030204" pitchFamily="18" charset="0"/>
                      </a:rPr>
                      <m:t>2</m:t>
                    </m:r>
                  </m:oMath>
                </a14:m>
                <a:r>
                  <a:rPr lang="zh-CN" altLang="zh-CN" dirty="0"/>
                  <a:t>，因此方程无解。</a:t>
                </a:r>
              </a:p>
              <a:p>
                <a:pPr eaLnBrk="1" hangingPunct="1">
                  <a:lnSpc>
                    <a:spcPct val="120000"/>
                  </a:lnSpc>
                </a:pPr>
                <a:r>
                  <a:rPr lang="zh-CN" altLang="zh-CN" dirty="0"/>
                  <a:t>在方程</a:t>
                </a:r>
                <a:r>
                  <a:rPr lang="zh-CN" altLang="en-US" dirty="0"/>
                  <a:t> </a:t>
                </a:r>
                <a14:m>
                  <m:oMath xmlns:m="http://schemas.openxmlformats.org/officeDocument/2006/math">
                    <m:r>
                      <a:rPr lang="zh-CN" altLang="zh-CN" i="1" dirty="0" smtClean="0">
                        <a:latin typeface="Cambria Math" panose="02040503050406030204" pitchFamily="18" charset="0"/>
                      </a:rPr>
                      <m:t>5</m:t>
                    </m:r>
                    <m:r>
                      <a:rPr lang="zh-CN" altLang="zh-CN" i="1" dirty="0" smtClean="0">
                        <a:latin typeface="Cambria Math" panose="02040503050406030204" pitchFamily="18" charset="0"/>
                      </a:rPr>
                      <m:t>𝑥</m:t>
                    </m:r>
                    <m:r>
                      <a:rPr lang="zh-CN" altLang="zh-CN" i="1" dirty="0" smtClean="0">
                        <a:latin typeface="Cambria Math" panose="02040503050406030204" pitchFamily="18" charset="0"/>
                      </a:rPr>
                      <m:t>≡2 </m:t>
                    </m:r>
                    <m:d>
                      <m:dPr>
                        <m:ctrlPr>
                          <a:rPr lang="zh-CN" altLang="zh-CN" i="1" dirty="0" smtClean="0">
                            <a:latin typeface="Cambria Math" panose="02040503050406030204" pitchFamily="18" charset="0"/>
                          </a:rPr>
                        </m:ctrlPr>
                      </m:dPr>
                      <m:e>
                        <m:r>
                          <m:rPr>
                            <m:sty m:val="p"/>
                          </m:rPr>
                          <a:rPr lang="zh-CN" altLang="zh-CN" i="0" dirty="0" smtClean="0">
                            <a:latin typeface="Cambria Math" panose="02040503050406030204" pitchFamily="18" charset="0"/>
                          </a:rPr>
                          <m:t>mod</m:t>
                        </m:r>
                        <m:r>
                          <a:rPr lang="zh-CN" altLang="zh-CN" i="1" dirty="0" smtClean="0">
                            <a:latin typeface="Cambria Math" panose="02040503050406030204" pitchFamily="18" charset="0"/>
                          </a:rPr>
                          <m:t> 6</m:t>
                        </m:r>
                      </m:e>
                    </m:d>
                  </m:oMath>
                </a14:m>
                <a:r>
                  <a:rPr lang="zh-CN" altLang="en-US" dirty="0"/>
                  <a:t> </a:t>
                </a:r>
                <a:r>
                  <a:rPr lang="zh-CN" altLang="zh-CN" dirty="0"/>
                  <a:t>中， </a:t>
                </a:r>
                <a14:m>
                  <m:oMath xmlns:m="http://schemas.openxmlformats.org/officeDocument/2006/math">
                    <m:r>
                      <a:rPr lang="zh-CN" altLang="zh-CN" i="1" dirty="0" smtClean="0">
                        <a:latin typeface="Cambria Math" panose="02040503050406030204" pitchFamily="18" charset="0"/>
                      </a:rPr>
                      <m:t>𝑑</m:t>
                    </m:r>
                    <m:r>
                      <a:rPr lang="zh-CN" altLang="zh-CN" i="1" dirty="0" smtClean="0">
                        <a:latin typeface="Cambria Math" panose="02040503050406030204" pitchFamily="18" charset="0"/>
                      </a:rPr>
                      <m:t> = </m:t>
                    </m:r>
                    <m:r>
                      <m:rPr>
                        <m:sty m:val="p"/>
                      </m:rPr>
                      <a:rPr lang="zh-CN" altLang="zh-CN" i="1" dirty="0" smtClean="0">
                        <a:latin typeface="Cambria Math" panose="02040503050406030204" pitchFamily="18" charset="0"/>
                      </a:rPr>
                      <m:t>gcd</m:t>
                    </m:r>
                    <m:r>
                      <a:rPr lang="zh-CN" altLang="zh-CN" i="1" dirty="0" smtClean="0">
                        <a:latin typeface="Cambria Math" panose="02040503050406030204" pitchFamily="18" charset="0"/>
                      </a:rPr>
                      <m:t>⁡(5,6) = 1</m:t>
                    </m:r>
                  </m:oMath>
                </a14:m>
                <a:r>
                  <a:rPr lang="zh-CN" altLang="zh-CN" dirty="0"/>
                  <a:t>，</a:t>
                </a:r>
                <a14:m>
                  <m:oMath xmlns:m="http://schemas.openxmlformats.org/officeDocument/2006/math">
                    <m:r>
                      <a:rPr lang="zh-CN" altLang="zh-CN" i="1" dirty="0" smtClean="0">
                        <a:latin typeface="Cambria Math" panose="02040503050406030204" pitchFamily="18" charset="0"/>
                      </a:rPr>
                      <m:t>1</m:t>
                    </m:r>
                  </m:oMath>
                </a14:m>
                <a:r>
                  <a:rPr lang="zh-CN" altLang="zh-CN" dirty="0"/>
                  <a:t> 整除 </a:t>
                </a:r>
                <a14:m>
                  <m:oMath xmlns:m="http://schemas.openxmlformats.org/officeDocument/2006/math">
                    <m:r>
                      <a:rPr lang="zh-CN" altLang="zh-CN" i="1" dirty="0" smtClean="0">
                        <a:latin typeface="Cambria Math" panose="02040503050406030204" pitchFamily="18" charset="0"/>
                      </a:rPr>
                      <m:t>2</m:t>
                    </m:r>
                  </m:oMath>
                </a14:m>
                <a:r>
                  <a:rPr lang="zh-CN" altLang="zh-CN" dirty="0"/>
                  <a:t>，因此方程在</a:t>
                </a:r>
                <a:r>
                  <a:rPr lang="zh-CN" altLang="en-US" dirty="0"/>
                  <a:t> </a:t>
                </a:r>
                <a14:m>
                  <m:oMath xmlns:m="http://schemas.openxmlformats.org/officeDocument/2006/math">
                    <m:r>
                      <a:rPr lang="zh-CN" altLang="zh-CN" i="1" dirty="0" smtClean="0">
                        <a:latin typeface="Cambria Math" panose="02040503050406030204" pitchFamily="18" charset="0"/>
                      </a:rPr>
                      <m:t>{0,1,2,3,4,5} </m:t>
                    </m:r>
                  </m:oMath>
                </a14:m>
                <a:r>
                  <a:rPr lang="zh-CN" altLang="zh-CN" dirty="0"/>
                  <a:t>中恰有一个解: </a:t>
                </a:r>
                <a14:m>
                  <m:oMath xmlns:m="http://schemas.openxmlformats.org/officeDocument/2006/math">
                    <m:r>
                      <a:rPr lang="zh-CN" altLang="zh-CN" i="1" dirty="0" smtClean="0">
                        <a:latin typeface="Cambria Math" panose="02040503050406030204" pitchFamily="18" charset="0"/>
                      </a:rPr>
                      <m:t>𝑥</m:t>
                    </m:r>
                    <m:r>
                      <a:rPr lang="zh-CN" altLang="zh-CN" i="1" dirty="0" smtClean="0">
                        <a:latin typeface="Cambria Math" panose="02040503050406030204" pitchFamily="18" charset="0"/>
                      </a:rPr>
                      <m:t>=4</m:t>
                    </m:r>
                  </m:oMath>
                </a14:m>
                <a:r>
                  <a:rPr lang="zh-CN" altLang="zh-CN" dirty="0"/>
                  <a:t>。</a:t>
                </a:r>
              </a:p>
              <a:p>
                <a:pPr eaLnBrk="1" hangingPunct="1">
                  <a:lnSpc>
                    <a:spcPct val="120000"/>
                  </a:lnSpc>
                </a:pPr>
                <a:r>
                  <a:rPr lang="zh-CN" altLang="zh-CN" dirty="0"/>
                  <a:t>在方程</a:t>
                </a:r>
                <a:r>
                  <a:rPr lang="zh-CN" altLang="en-US" dirty="0"/>
                  <a:t> </a:t>
                </a:r>
                <a14:m>
                  <m:oMath xmlns:m="http://schemas.openxmlformats.org/officeDocument/2006/math">
                    <m:r>
                      <a:rPr lang="zh-CN" altLang="zh-CN" i="1" dirty="0" smtClean="0">
                        <a:latin typeface="Cambria Math" panose="02040503050406030204" pitchFamily="18" charset="0"/>
                      </a:rPr>
                      <m:t>4</m:t>
                    </m:r>
                    <m:r>
                      <a:rPr lang="zh-CN" altLang="zh-CN" i="1" dirty="0" smtClean="0">
                        <a:latin typeface="Cambria Math" panose="02040503050406030204" pitchFamily="18" charset="0"/>
                      </a:rPr>
                      <m:t>𝑥</m:t>
                    </m:r>
                    <m:r>
                      <a:rPr lang="zh-CN" altLang="zh-CN" i="1" dirty="0" smtClean="0">
                        <a:latin typeface="Cambria Math" panose="02040503050406030204" pitchFamily="18" charset="0"/>
                      </a:rPr>
                      <m:t>≡2 </m:t>
                    </m:r>
                    <m:d>
                      <m:dPr>
                        <m:ctrlPr>
                          <a:rPr lang="zh-CN" altLang="zh-CN" i="1" dirty="0" smtClean="0">
                            <a:latin typeface="Cambria Math" panose="02040503050406030204" pitchFamily="18" charset="0"/>
                          </a:rPr>
                        </m:ctrlPr>
                      </m:dPr>
                      <m:e>
                        <m:r>
                          <m:rPr>
                            <m:sty m:val="p"/>
                          </m:rPr>
                          <a:rPr lang="zh-CN" altLang="zh-CN" i="0" dirty="0" smtClean="0">
                            <a:latin typeface="Cambria Math" panose="02040503050406030204" pitchFamily="18" charset="0"/>
                          </a:rPr>
                          <m:t>mod</m:t>
                        </m:r>
                        <m:r>
                          <a:rPr lang="zh-CN" altLang="zh-CN" i="1" dirty="0" smtClean="0">
                            <a:latin typeface="Cambria Math" panose="02040503050406030204" pitchFamily="18" charset="0"/>
                          </a:rPr>
                          <m:t> 6</m:t>
                        </m:r>
                      </m:e>
                    </m:d>
                  </m:oMath>
                </a14:m>
                <a:r>
                  <a:rPr lang="zh-CN" altLang="en-US" dirty="0"/>
                  <a:t> </a:t>
                </a:r>
                <a:r>
                  <a:rPr lang="zh-CN" altLang="zh-CN" dirty="0"/>
                  <a:t>中， </a:t>
                </a:r>
                <a14:m>
                  <m:oMath xmlns:m="http://schemas.openxmlformats.org/officeDocument/2006/math">
                    <m:r>
                      <a:rPr lang="zh-CN" altLang="zh-CN" i="1" dirty="0" smtClean="0">
                        <a:latin typeface="Cambria Math" panose="02040503050406030204" pitchFamily="18" charset="0"/>
                      </a:rPr>
                      <m:t>𝑑</m:t>
                    </m:r>
                    <m:r>
                      <a:rPr lang="zh-CN" altLang="zh-CN" i="1" dirty="0" smtClean="0">
                        <a:latin typeface="Cambria Math" panose="02040503050406030204" pitchFamily="18" charset="0"/>
                      </a:rPr>
                      <m:t> = </m:t>
                    </m:r>
                    <m:r>
                      <m:rPr>
                        <m:sty m:val="p"/>
                      </m:rPr>
                      <a:rPr lang="zh-CN" altLang="zh-CN" i="1" dirty="0" smtClean="0">
                        <a:latin typeface="Cambria Math" panose="02040503050406030204" pitchFamily="18" charset="0"/>
                      </a:rPr>
                      <m:t>gcd</m:t>
                    </m:r>
                    <m:r>
                      <a:rPr lang="zh-CN" altLang="zh-CN" i="1" dirty="0" smtClean="0">
                        <a:latin typeface="Cambria Math" panose="02040503050406030204" pitchFamily="18" charset="0"/>
                      </a:rPr>
                      <m:t>⁡(4,6) = 2</m:t>
                    </m:r>
                  </m:oMath>
                </a14:m>
                <a:r>
                  <a:rPr lang="zh-CN" altLang="zh-CN" dirty="0"/>
                  <a:t>，</a:t>
                </a:r>
                <a14:m>
                  <m:oMath xmlns:m="http://schemas.openxmlformats.org/officeDocument/2006/math">
                    <m:r>
                      <a:rPr lang="zh-CN" altLang="zh-CN" i="1" dirty="0" smtClean="0">
                        <a:latin typeface="Cambria Math" panose="02040503050406030204" pitchFamily="18" charset="0"/>
                      </a:rPr>
                      <m:t>2 </m:t>
                    </m:r>
                  </m:oMath>
                </a14:m>
                <a:r>
                  <a:rPr lang="zh-CN" altLang="zh-CN" dirty="0"/>
                  <a:t>整除 </a:t>
                </a:r>
                <a14:m>
                  <m:oMath xmlns:m="http://schemas.openxmlformats.org/officeDocument/2006/math">
                    <m:r>
                      <a:rPr lang="zh-CN" altLang="zh-CN" i="1" dirty="0" smtClean="0">
                        <a:latin typeface="Cambria Math" panose="02040503050406030204" pitchFamily="18" charset="0"/>
                      </a:rPr>
                      <m:t>2</m:t>
                    </m:r>
                  </m:oMath>
                </a14:m>
                <a:r>
                  <a:rPr lang="zh-CN" altLang="zh-CN" dirty="0"/>
                  <a:t>，因此方程在</a:t>
                </a:r>
                <a:r>
                  <a:rPr lang="zh-CN" altLang="en-US" dirty="0"/>
                  <a:t> </a:t>
                </a:r>
                <a14:m>
                  <m:oMath xmlns:m="http://schemas.openxmlformats.org/officeDocument/2006/math">
                    <m:r>
                      <a:rPr lang="zh-CN" altLang="zh-CN" i="1" dirty="0" smtClean="0">
                        <a:latin typeface="Cambria Math" panose="02040503050406030204" pitchFamily="18" charset="0"/>
                      </a:rPr>
                      <m:t>{0,1,2,3,4,5} </m:t>
                    </m:r>
                  </m:oMath>
                </a14:m>
                <a:r>
                  <a:rPr lang="zh-CN" altLang="zh-CN" dirty="0"/>
                  <a:t>中恰有两个解: </a:t>
                </a:r>
                <a14:m>
                  <m:oMath xmlns:m="http://schemas.openxmlformats.org/officeDocument/2006/math">
                    <m:r>
                      <a:rPr lang="zh-CN" altLang="zh-CN" i="1" dirty="0" smtClean="0">
                        <a:latin typeface="Cambria Math" panose="02040503050406030204" pitchFamily="18" charset="0"/>
                      </a:rPr>
                      <m:t>𝑥</m:t>
                    </m:r>
                    <m:r>
                      <a:rPr lang="zh-CN" altLang="zh-CN" i="1" dirty="0" smtClean="0">
                        <a:latin typeface="Cambria Math" panose="02040503050406030204" pitchFamily="18" charset="0"/>
                      </a:rPr>
                      <m:t>=2</m:t>
                    </m:r>
                  </m:oMath>
                </a14:m>
                <a:r>
                  <a:rPr lang="zh-CN" altLang="zh-CN" dirty="0"/>
                  <a:t> </a:t>
                </a:r>
                <a:r>
                  <a:rPr lang="zh-CN" altLang="en-US" dirty="0"/>
                  <a:t>，</a:t>
                </a:r>
                <a:r>
                  <a:rPr lang="zh-CN" altLang="zh-CN" dirty="0"/>
                  <a:t> </a:t>
                </a:r>
                <a14:m>
                  <m:oMath xmlns:m="http://schemas.openxmlformats.org/officeDocument/2006/math">
                    <m:r>
                      <a:rPr lang="zh-CN" altLang="zh-CN" i="1" dirty="0" smtClean="0">
                        <a:latin typeface="Cambria Math" panose="02040503050406030204" pitchFamily="18" charset="0"/>
                      </a:rPr>
                      <m:t>𝑥</m:t>
                    </m:r>
                    <m:r>
                      <a:rPr lang="zh-CN" altLang="zh-CN" i="1" dirty="0" smtClean="0">
                        <a:latin typeface="Cambria Math" panose="02040503050406030204" pitchFamily="18" charset="0"/>
                      </a:rPr>
                      <m:t>=5</m:t>
                    </m:r>
                  </m:oMath>
                </a14:m>
                <a:r>
                  <a:rPr lang="zh-CN" altLang="zh-CN" dirty="0"/>
                  <a:t>。</a:t>
                </a:r>
                <a:endParaRPr lang="en-US" altLang="zh-CN" dirty="0"/>
              </a:p>
            </p:txBody>
          </p:sp>
        </mc:Choice>
        <mc:Fallback xmlns="">
          <p:sp>
            <p:nvSpPr>
              <p:cNvPr id="60419" name="文本占位符 260098">
                <a:extLst>
                  <a:ext uri="{FF2B5EF4-FFF2-40B4-BE49-F238E27FC236}">
                    <a16:creationId xmlns:a16="http://schemas.microsoft.com/office/drawing/2014/main" id="{825EE047-00BC-D543-A96B-26DCCB06BE47}"/>
                  </a:ext>
                </a:extLst>
              </p:cNvPr>
              <p:cNvSpPr>
                <a:spLocks noGrp="1" noRot="1" noChangeAspect="1" noMove="1" noResize="1" noEditPoints="1" noAdjustHandles="1" noChangeArrowheads="1" noChangeShapeType="1" noTextEdit="1"/>
              </p:cNvSpPr>
              <p:nvPr>
                <p:ph idx="1"/>
              </p:nvPr>
            </p:nvSpPr>
            <p:spPr>
              <a:blipFill>
                <a:blip r:embed="rId2"/>
                <a:stretch>
                  <a:fillRect l="-1398" r="-1144"/>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865CDBB6-8F59-A44F-B41B-7F59B5838034}"/>
              </a:ext>
            </a:extLst>
          </p:cNvPr>
          <p:cNvSpPr>
            <a:spLocks noGrp="1"/>
          </p:cNvSpPr>
          <p:nvPr>
            <p:ph type="sldNum" sz="quarter" idx="12"/>
          </p:nvPr>
        </p:nvSpPr>
        <p:spPr/>
        <p:txBody>
          <a:bodyPr/>
          <a:lstStyle/>
          <a:p>
            <a:fld id="{0FF54DE5-C571-48E8-A5BC-B369434E2F44}" type="slidenum">
              <a:rPr lang="en-US" altLang="zh-CN" smtClean="0"/>
              <a:pPr/>
              <a:t>92</a:t>
            </a:fld>
            <a:endParaRPr lang="zh-CN" altLang="en-US" dirty="0"/>
          </a:p>
        </p:txBody>
      </p:sp>
    </p:spTree>
    <p:extLst>
      <p:ext uri="{BB962C8B-B14F-4D97-AF65-F5344CB8AC3E}">
        <p14:creationId xmlns:p14="http://schemas.microsoft.com/office/powerpoint/2010/main" val="255325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例题：线性组合</a:t>
            </a:r>
            <a:endParaRPr lang="en-US" altLang="zh-CN" dirty="0"/>
          </a:p>
        </p:txBody>
      </p:sp>
      <mc:AlternateContent xmlns:mc="http://schemas.openxmlformats.org/markup-compatibility/2006" xmlns:a14="http://schemas.microsoft.com/office/drawing/2010/main">
        <mc:Choice Requires="a14">
          <p:sp>
            <p:nvSpPr>
              <p:cNvPr id="7" name="内容占位符 2"/>
              <p:cNvSpPr>
                <a:spLocks noGrp="1" noChangeArrowheads="1"/>
              </p:cNvSpPr>
              <p:nvPr>
                <p:ph idx="1"/>
              </p:nvPr>
            </p:nvSpPr>
            <p:spPr>
              <a:xfrm>
                <a:off x="1104900" y="1607915"/>
                <a:ext cx="9982200" cy="5037190"/>
              </a:xfrm>
            </p:spPr>
            <p:txBody>
              <a:bodyPr>
                <a:normAutofit/>
              </a:bodyPr>
              <a:lstStyle/>
              <a:p>
                <a:pPr>
                  <a:lnSpc>
                    <a:spcPct val="150000"/>
                  </a:lnSpc>
                  <a:spcBef>
                    <a:spcPts val="0"/>
                  </a:spcBef>
                </a:pPr>
                <a:r>
                  <a:rPr lang="zh-CN" altLang="en-US" dirty="0"/>
                  <a:t>对应整数数列</a:t>
                </a:r>
                <a14:m>
                  <m:oMath xmlns:m="http://schemas.openxmlformats.org/officeDocument/2006/math">
                    <m:sSub>
                      <m:sSubPr>
                        <m:ctrlPr>
                          <a:rPr lang="en-US" altLang="zh-CN" i="1" dirty="0" smtClean="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𝐴</m:t>
                        </m:r>
                      </m:e>
                      <m:sub>
                        <m:r>
                          <a:rPr lang="en-US" altLang="zh-Hans" b="0" i="1" dirty="0" smtClean="0">
                            <a:latin typeface="Cambria Math" panose="02040503050406030204" pitchFamily="18" charset="0"/>
                            <a:ea typeface="新宋体" panose="02010609030101010101" pitchFamily="49" charset="-122"/>
                          </a:rPr>
                          <m:t>1</m:t>
                        </m:r>
                      </m:sub>
                    </m:sSub>
                    <m:r>
                      <a:rPr lang="en-US" altLang="zh-CN"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2</m:t>
                        </m:r>
                      </m:sub>
                    </m:sSub>
                    <m:r>
                      <a:rPr lang="en-US" altLang="zh-Hans"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𝑛</m:t>
                        </m:r>
                      </m:sub>
                    </m:sSub>
                  </m:oMath>
                </a14:m>
                <a:r>
                  <a:rPr lang="en-US" altLang="zh-CN" dirty="0"/>
                  <a:t> </a:t>
                </a:r>
                <a:r>
                  <a:rPr lang="zh-CN" altLang="zh-CN" dirty="0"/>
                  <a:t>是否存在</a:t>
                </a:r>
                <a14:m>
                  <m:oMath xmlns:m="http://schemas.openxmlformats.org/officeDocument/2006/math">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𝑋</m:t>
                        </m:r>
                      </m:e>
                      <m:sub>
                        <m:r>
                          <a:rPr lang="en-US" altLang="zh-Hans" i="1" dirty="0">
                            <a:latin typeface="Cambria Math" panose="02040503050406030204" pitchFamily="18" charset="0"/>
                            <a:ea typeface="新宋体" panose="02010609030101010101" pitchFamily="49" charset="-122"/>
                          </a:rPr>
                          <m:t>1</m:t>
                        </m:r>
                      </m:sub>
                    </m:sSub>
                    <m:r>
                      <a:rPr lang="en-US" altLang="zh-Hans"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𝑋</m:t>
                        </m:r>
                      </m:e>
                      <m:sub>
                        <m:r>
                          <a:rPr lang="en-US" altLang="zh-CN" b="0" i="1" dirty="0" smtClean="0">
                            <a:latin typeface="Cambria Math" panose="02040503050406030204" pitchFamily="18" charset="0"/>
                            <a:ea typeface="新宋体" panose="02010609030101010101" pitchFamily="49" charset="-122"/>
                          </a:rPr>
                          <m:t>2</m:t>
                        </m:r>
                      </m:sub>
                    </m:sSub>
                    <m:r>
                      <a:rPr lang="en-US" altLang="zh-Hans"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𝑋</m:t>
                        </m:r>
                      </m:e>
                      <m:sub>
                        <m:r>
                          <a:rPr lang="en-US" altLang="zh-CN" b="0" i="1" dirty="0" smtClean="0">
                            <a:latin typeface="Cambria Math" panose="02040503050406030204" pitchFamily="18" charset="0"/>
                            <a:ea typeface="新宋体" panose="02010609030101010101" pitchFamily="49" charset="-122"/>
                          </a:rPr>
                          <m:t>𝑛</m:t>
                        </m:r>
                      </m:sub>
                    </m:sSub>
                  </m:oMath>
                </a14:m>
                <a:r>
                  <a:rPr lang="zh-CN" altLang="zh-CN" dirty="0"/>
                  <a:t>，使得</a:t>
                </a:r>
                <a14:m>
                  <m:oMath xmlns:m="http://schemas.openxmlformats.org/officeDocument/2006/math">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𝐴</m:t>
                        </m:r>
                      </m:e>
                      <m:sub>
                        <m:r>
                          <a:rPr lang="en-US" altLang="zh-Hans" i="1" dirty="0">
                            <a:latin typeface="Cambria Math" panose="02040503050406030204" pitchFamily="18" charset="0"/>
                            <a:ea typeface="新宋体" panose="02010609030101010101" pitchFamily="49" charset="-122"/>
                          </a:rPr>
                          <m:t>1</m:t>
                        </m:r>
                      </m:sub>
                    </m:sSub>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𝑋</m:t>
                        </m:r>
                      </m:e>
                      <m:sub>
                        <m:r>
                          <a:rPr lang="en-US" altLang="zh-Hans" i="1" dirty="0" smtClean="0">
                            <a:latin typeface="Cambria Math" panose="02040503050406030204" pitchFamily="18" charset="0"/>
                            <a:ea typeface="新宋体" panose="02010609030101010101" pitchFamily="49" charset="-122"/>
                          </a:rPr>
                          <m:t>1</m:t>
                        </m:r>
                      </m:sub>
                    </m:sSub>
                    <m:r>
                      <a:rPr lang="zh-CN" altLang="en-US"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2</m:t>
                        </m:r>
                      </m:sub>
                    </m:sSub>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𝑋</m:t>
                        </m:r>
                      </m:e>
                      <m:sub>
                        <m:r>
                          <a:rPr lang="en-US" altLang="zh-CN" b="0" i="1" dirty="0" smtClean="0">
                            <a:latin typeface="Cambria Math" panose="02040503050406030204" pitchFamily="18" charset="0"/>
                            <a:ea typeface="新宋体" panose="02010609030101010101" pitchFamily="49" charset="-122"/>
                          </a:rPr>
                          <m:t>2</m:t>
                        </m:r>
                      </m:sub>
                    </m:sSub>
                    <m:r>
                      <a:rPr lang="zh-CN" altLang="en-US"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𝑛</m:t>
                        </m:r>
                      </m:sub>
                    </m:sSub>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𝑋</m:t>
                        </m:r>
                      </m:e>
                      <m:sub>
                        <m:r>
                          <a:rPr lang="en-US" altLang="zh-CN" b="0" i="1" dirty="0" smtClean="0">
                            <a:latin typeface="Cambria Math" panose="02040503050406030204" pitchFamily="18" charset="0"/>
                            <a:ea typeface="新宋体" panose="02010609030101010101" pitchFamily="49" charset="-122"/>
                          </a:rPr>
                          <m:t>𝑛</m:t>
                        </m:r>
                      </m:sub>
                    </m:sSub>
                    <m:r>
                      <a:rPr lang="zh-CN" altLang="en-US" i="1" dirty="0" smtClean="0">
                        <a:latin typeface="Cambria Math" panose="02040503050406030204" pitchFamily="18" charset="0"/>
                        <a:ea typeface="新宋体" panose="02010609030101010101" pitchFamily="49" charset="-122"/>
                      </a:rPr>
                      <m:t>=</m:t>
                    </m:r>
                    <m:r>
                      <a:rPr lang="en-US" altLang="zh-CN" i="1" dirty="0">
                        <a:latin typeface="Cambria Math" panose="02040503050406030204" pitchFamily="18" charset="0"/>
                        <a:ea typeface="新宋体" panose="02010609030101010101" pitchFamily="49" charset="-122"/>
                      </a:rPr>
                      <m:t>𝐶</m:t>
                    </m:r>
                  </m:oMath>
                </a14:m>
                <a:r>
                  <a:rPr lang="zh-Hans" altLang="en-US" dirty="0">
                    <a:latin typeface="Times New Roman" panose="02020603050405020304" pitchFamily="18" charset="0"/>
                    <a:ea typeface="新宋体" panose="02010609030101010101" pitchFamily="49" charset="-122"/>
                  </a:rPr>
                  <a:t>，</a:t>
                </a:r>
                <a:r>
                  <a:rPr lang="zh-CN" altLang="en-US" dirty="0">
                    <a:latin typeface="Times New Roman" panose="02020603050405020304" pitchFamily="18" charset="0"/>
                    <a:ea typeface="新宋体" panose="02010609030101010101" pitchFamily="49" charset="-122"/>
                  </a:rPr>
                  <a:t>其中</a:t>
                </a:r>
                <a:r>
                  <a:rPr lang="zh-Hans" altLang="en-US" dirty="0">
                    <a:latin typeface="Times New Roman" panose="02020603050405020304" pitchFamily="18" charset="0"/>
                    <a:ea typeface="新宋体" panose="02010609030101010101" pitchFamily="49" charset="-122"/>
                  </a:rPr>
                  <a:t> </a:t>
                </a:r>
                <a14:m>
                  <m:oMath xmlns:m="http://schemas.openxmlformats.org/officeDocument/2006/math">
                    <m:r>
                      <m:rPr>
                        <m:sty m:val="p"/>
                      </m:rPr>
                      <a:rPr lang="zh-CN" altLang="en-US" i="1" dirty="0" smtClean="0">
                        <a:latin typeface="Cambria Math" panose="02040503050406030204" pitchFamily="18" charset="0"/>
                        <a:ea typeface="新宋体" panose="02010609030101010101" pitchFamily="49" charset="-122"/>
                      </a:rPr>
                      <m:t>gcd</m:t>
                    </m:r>
                    <m:r>
                      <a:rPr lang="zh-CN" altLang="en-US"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Hans" i="1" dirty="0">
                            <a:latin typeface="Cambria Math" panose="02040503050406030204" pitchFamily="18" charset="0"/>
                            <a:ea typeface="新宋体" panose="02010609030101010101" pitchFamily="49" charset="-122"/>
                          </a:rPr>
                          <m:t>1</m:t>
                        </m:r>
                      </m:sub>
                    </m:sSub>
                    <m:r>
                      <a:rPr lang="en-US" altLang="zh-Hans"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2</m:t>
                        </m:r>
                      </m:sub>
                    </m:sSub>
                    <m:r>
                      <a:rPr lang="zh-CN" altLang="en-US" i="1" dirty="0" smtClean="0">
                        <a:latin typeface="Cambria Math" panose="02040503050406030204" pitchFamily="18" charset="0"/>
                        <a:ea typeface="新宋体" panose="02010609030101010101" pitchFamily="49" charset="-122"/>
                      </a:rPr>
                      <m:t>,…</m:t>
                    </m:r>
                    <m:r>
                      <a:rPr lang="en-US" altLang="zh-CN" b="0" i="1" dirty="0" smtClean="0">
                        <a:latin typeface="Cambria Math" panose="02040503050406030204" pitchFamily="18" charset="0"/>
                        <a:ea typeface="新宋体" panose="02010609030101010101" pitchFamily="49" charset="-122"/>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𝐴</m:t>
                        </m:r>
                      </m:e>
                      <m:sub>
                        <m:r>
                          <a:rPr lang="en-US" altLang="zh-CN" b="0" i="1" dirty="0" smtClean="0">
                            <a:latin typeface="Cambria Math" panose="02040503050406030204" pitchFamily="18" charset="0"/>
                            <a:ea typeface="新宋体" panose="02010609030101010101" pitchFamily="49" charset="-122"/>
                          </a:rPr>
                          <m:t>𝑛</m:t>
                        </m:r>
                      </m:sub>
                    </m:sSub>
                    <m:r>
                      <a:rPr lang="zh-CN" altLang="en-US" i="1" dirty="0" smtClean="0">
                        <a:latin typeface="Cambria Math" panose="02040503050406030204" pitchFamily="18" charset="0"/>
                        <a:ea typeface="新宋体" panose="02010609030101010101" pitchFamily="49" charset="-122"/>
                      </a:rPr>
                      <m:t>)|</m:t>
                    </m:r>
                    <m:r>
                      <a:rPr lang="en-US" altLang="zh-CN" i="1" dirty="0">
                        <a:latin typeface="Cambria Math" panose="02040503050406030204" pitchFamily="18" charset="0"/>
                        <a:ea typeface="新宋体" panose="02010609030101010101" pitchFamily="49" charset="-122"/>
                      </a:rPr>
                      <m:t>𝐶</m:t>
                    </m:r>
                    <m:r>
                      <a:rPr lang="zh-CN" altLang="en-US" i="1" dirty="0">
                        <a:latin typeface="Cambria Math" panose="02040503050406030204" pitchFamily="18" charset="0"/>
                        <a:ea typeface="新宋体" panose="02010609030101010101" pitchFamily="49" charset="-122"/>
                      </a:rPr>
                      <m:t>(</m:t>
                    </m:r>
                    <m:r>
                      <a:rPr lang="zh-CN" altLang="en-US" i="1" dirty="0">
                        <a:latin typeface="Cambria Math" panose="02040503050406030204" pitchFamily="18" charset="0"/>
                        <a:ea typeface="新宋体" panose="02010609030101010101" pitchFamily="49" charset="-122"/>
                      </a:rPr>
                      <m:t>𝑛</m:t>
                    </m:r>
                    <m:r>
                      <a:rPr lang="zh-CN" altLang="en-US" i="1" dirty="0" smtClean="0">
                        <a:latin typeface="Cambria Math" panose="02040503050406030204" pitchFamily="18" charset="0"/>
                        <a:ea typeface="新宋体" panose="02010609030101010101" pitchFamily="49" charset="-122"/>
                      </a:rPr>
                      <m:t>≥</m:t>
                    </m:r>
                    <m:r>
                      <a:rPr lang="zh-CN" altLang="en-US" i="1" dirty="0">
                        <a:latin typeface="Cambria Math" panose="02040503050406030204" pitchFamily="18" charset="0"/>
                        <a:ea typeface="新宋体" panose="02010609030101010101" pitchFamily="49" charset="-122"/>
                      </a:rPr>
                      <m:t>2)</m:t>
                    </m:r>
                  </m:oMath>
                </a14:m>
                <a:r>
                  <a:rPr lang="zh-Hans" altLang="en-US" dirty="0"/>
                  <a:t> 。</a:t>
                </a:r>
                <a:r>
                  <a:rPr lang="zh-CN" altLang="en-US" dirty="0"/>
                  <a:t>如请找出一组整数解</a:t>
                </a:r>
                <a14:m>
                  <m:oMath xmlns:m="http://schemas.openxmlformats.org/officeDocument/2006/math">
                    <m:r>
                      <a:rPr lang="en-US" altLang="zh-CN" i="1" dirty="0" smtClean="0">
                        <a:latin typeface="Cambria Math" panose="02040503050406030204" pitchFamily="18" charset="0"/>
                      </a:rPr>
                      <m:t>(</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𝑥</m:t>
                        </m:r>
                      </m:e>
                      <m:sub>
                        <m:r>
                          <a:rPr lang="en-US" altLang="zh-Hans" i="1" dirty="0">
                            <a:latin typeface="Cambria Math" panose="02040503050406030204" pitchFamily="18" charset="0"/>
                            <a:ea typeface="新宋体" panose="02010609030101010101" pitchFamily="49" charset="-122"/>
                          </a:rPr>
                          <m:t>1</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2</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3</m:t>
                        </m:r>
                      </m:sub>
                    </m:sSub>
                    <m:r>
                      <a:rPr lang="en-US" altLang="zh-CN" i="1" dirty="0" smtClean="0">
                        <a:latin typeface="Cambria Math" panose="02040503050406030204" pitchFamily="18" charset="0"/>
                      </a:rPr>
                      <m:t>,</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4</m:t>
                        </m:r>
                      </m:sub>
                    </m:sSub>
                    <m:r>
                      <a:rPr lang="en-US" altLang="zh-CN" i="1" dirty="0" smtClean="0">
                        <a:latin typeface="Cambria Math" panose="02040503050406030204" pitchFamily="18" charset="0"/>
                      </a:rPr>
                      <m:t>)</m:t>
                    </m:r>
                  </m:oMath>
                </a14:m>
                <a:r>
                  <a:rPr lang="zh-CN" altLang="en-US" dirty="0"/>
                  <a:t>满足</a:t>
                </a:r>
                <a14:m>
                  <m:oMath xmlns:m="http://schemas.openxmlformats.org/officeDocument/2006/math">
                    <m:r>
                      <a:rPr lang="en-US" altLang="zh-CN" i="1" dirty="0" smtClean="0">
                        <a:latin typeface="Cambria Math" panose="02040503050406030204" pitchFamily="18" charset="0"/>
                      </a:rPr>
                      <m:t>12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Hans" i="1" dirty="0">
                            <a:latin typeface="Cambria Math" panose="02040503050406030204" pitchFamily="18" charset="0"/>
                            <a:ea typeface="新宋体" panose="02010609030101010101" pitchFamily="49" charset="-122"/>
                          </a:rPr>
                          <m:t>1</m:t>
                        </m:r>
                      </m:sub>
                    </m:sSub>
                    <m:r>
                      <a:rPr lang="en-US" altLang="zh-CN" i="1" dirty="0" smtClean="0">
                        <a:latin typeface="Cambria Math" panose="02040503050406030204" pitchFamily="18" charset="0"/>
                      </a:rPr>
                      <m:t>+24</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2</m:t>
                        </m:r>
                      </m:sub>
                    </m:sSub>
                    <m:r>
                      <a:rPr lang="en-US" altLang="zh-CN" i="1" dirty="0" smtClean="0">
                        <a:latin typeface="Cambria Math" panose="02040503050406030204" pitchFamily="18" charset="0"/>
                      </a:rPr>
                      <m:t>+18</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3</m:t>
                        </m:r>
                      </m:sub>
                    </m:sSub>
                    <m:r>
                      <a:rPr lang="en-US" altLang="zh-CN" i="1" dirty="0" smtClean="0">
                        <a:latin typeface="Cambria Math" panose="02040503050406030204" pitchFamily="18" charset="0"/>
                      </a:rPr>
                      <m:t>+15</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4</m:t>
                        </m:r>
                      </m:sub>
                    </m:sSub>
                    <m:r>
                      <a:rPr lang="en-US" altLang="zh-CN" i="1" dirty="0" smtClean="0">
                        <a:latin typeface="Cambria Math" panose="02040503050406030204" pitchFamily="18" charset="0"/>
                      </a:rPr>
                      <m:t>=3</m:t>
                    </m:r>
                  </m:oMath>
                </a14:m>
                <a:r>
                  <a:rPr lang="en-US" altLang="zh-CN" dirty="0"/>
                  <a:t> </a:t>
                </a:r>
                <a:r>
                  <a:rPr lang="zh-Hans" altLang="en-US" dirty="0"/>
                  <a:t>。</a:t>
                </a:r>
                <a:endParaRPr lang="en-US" altLang="zh-CN" dirty="0"/>
              </a:p>
              <a:p>
                <a:pPr>
                  <a:lnSpc>
                    <a:spcPct val="150000"/>
                  </a:lnSpc>
                  <a:spcBef>
                    <a:spcPts val="0"/>
                  </a:spcBef>
                </a:pPr>
                <a:endParaRPr lang="es-ES" altLang="zh-CN" dirty="0"/>
              </a:p>
              <a:p>
                <a:pPr>
                  <a:lnSpc>
                    <a:spcPct val="150000"/>
                  </a:lnSpc>
                  <a:spcBef>
                    <a:spcPts val="0"/>
                  </a:spcBef>
                </a:pPr>
                <a:endParaRPr lang="en-US" altLang="zh-CN" dirty="0"/>
              </a:p>
              <a:p>
                <a:pPr>
                  <a:lnSpc>
                    <a:spcPct val="150000"/>
                  </a:lnSpc>
                  <a:spcBef>
                    <a:spcPts val="0"/>
                  </a:spcBef>
                </a:pPr>
                <a:endParaRPr lang="en-US" altLang="zh-CN" dirty="0"/>
              </a:p>
              <a:p>
                <a:pPr>
                  <a:lnSpc>
                    <a:spcPct val="150000"/>
                  </a:lnSpc>
                  <a:spcBef>
                    <a:spcPts val="0"/>
                  </a:spcBef>
                </a:pPr>
                <a:endParaRPr lang="en-US" altLang="zh-CN" dirty="0"/>
              </a:p>
              <a:p>
                <a:pPr>
                  <a:lnSpc>
                    <a:spcPct val="150000"/>
                  </a:lnSpc>
                  <a:spcBef>
                    <a:spcPts val="0"/>
                  </a:spcBef>
                </a:pPr>
                <a:endParaRPr lang="en-US" altLang="zh-CN" noProof="1"/>
              </a:p>
            </p:txBody>
          </p:sp>
        </mc:Choice>
        <mc:Fallback xmlns="">
          <p:sp>
            <p:nvSpPr>
              <p:cNvPr id="7" name="内容占位符 2"/>
              <p:cNvSpPr>
                <a:spLocks noGrp="1" noRot="1" noChangeAspect="1" noMove="1" noResize="1" noEditPoints="1" noAdjustHandles="1" noChangeArrowheads="1" noChangeShapeType="1" noTextEdit="1"/>
              </p:cNvSpPr>
              <p:nvPr>
                <p:ph idx="1"/>
              </p:nvPr>
            </p:nvSpPr>
            <p:spPr>
              <a:xfrm>
                <a:off x="1104900" y="1607915"/>
                <a:ext cx="9982200" cy="5037190"/>
              </a:xfrm>
              <a:blipFill>
                <a:blip r:embed="rId2"/>
                <a:stretch>
                  <a:fillRect l="-1398" r="-12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B000DA6B-63C9-584C-A127-C2D02F680248}"/>
              </a:ext>
            </a:extLst>
          </p:cNvPr>
          <p:cNvSpPr>
            <a:spLocks noGrp="1"/>
          </p:cNvSpPr>
          <p:nvPr>
            <p:ph type="sldNum" sz="quarter" idx="12"/>
          </p:nvPr>
        </p:nvSpPr>
        <p:spPr/>
        <p:txBody>
          <a:bodyPr/>
          <a:lstStyle/>
          <a:p>
            <a:fld id="{0FF54DE5-C571-48E8-A5BC-B369434E2F44}" type="slidenum">
              <a:rPr lang="en-US" altLang="zh-CN" smtClean="0"/>
              <a:pPr/>
              <a:t>93</a:t>
            </a:fld>
            <a:endParaRPr lang="zh-CN" altLang="en-US" dirty="0"/>
          </a:p>
        </p:txBody>
      </p:sp>
    </p:spTree>
    <p:extLst>
      <p:ext uri="{BB962C8B-B14F-4D97-AF65-F5344CB8AC3E}">
        <p14:creationId xmlns:p14="http://schemas.microsoft.com/office/powerpoint/2010/main" val="354995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例题：线性组合</a:t>
            </a:r>
            <a:endParaRPr lang="en-US" altLang="zh-CN" dirty="0"/>
          </a:p>
        </p:txBody>
      </p:sp>
      <mc:AlternateContent xmlns:mc="http://schemas.openxmlformats.org/markup-compatibility/2006" xmlns:a14="http://schemas.microsoft.com/office/drawing/2010/main">
        <mc:Choice Requires="a14">
          <p:sp>
            <p:nvSpPr>
              <p:cNvPr id="7" name="内容占位符 2"/>
              <p:cNvSpPr>
                <a:spLocks noGrp="1" noChangeArrowheads="1"/>
              </p:cNvSpPr>
              <p:nvPr>
                <p:ph idx="1"/>
              </p:nvPr>
            </p:nvSpPr>
            <p:spPr>
              <a:xfrm>
                <a:off x="1104900" y="1607914"/>
                <a:ext cx="9982200" cy="5250085"/>
              </a:xfrm>
            </p:spPr>
            <p:txBody>
              <a:bodyPr>
                <a:normAutofit lnSpcReduction="10000"/>
              </a:bodyPr>
              <a:lstStyle/>
              <a:p>
                <a:pPr>
                  <a:lnSpc>
                    <a:spcPct val="150000"/>
                  </a:lnSpc>
                  <a:spcBef>
                    <a:spcPts val="0"/>
                  </a:spcBef>
                </a:pPr>
                <a:r>
                  <a:rPr lang="zh-CN" altLang="en-US" dirty="0"/>
                  <a:t>预处理：</a:t>
                </a:r>
                <a:br>
                  <a:rPr lang="en-US" altLang="zh-CN" dirty="0"/>
                </a:br>
                <a14:m>
                  <m:oMath xmlns:m="http://schemas.openxmlformats.org/officeDocument/2006/math">
                    <m:func>
                      <m:funcPr>
                        <m:ctrlPr>
                          <a:rPr lang="en-US" altLang="zh-CN" i="1" dirty="0" smtClean="0">
                            <a:latin typeface="Cambria Math" panose="02040503050406030204" pitchFamily="18" charset="0"/>
                          </a:rPr>
                        </m:ctrlPr>
                      </m:funcPr>
                      <m:fName>
                        <m:r>
                          <m:rPr>
                            <m:sty m:val="p"/>
                          </m:rPr>
                          <a:rPr lang="en-US" altLang="zh-CN" i="0" dirty="0" smtClean="0">
                            <a:latin typeface="Cambria Math" panose="02040503050406030204" pitchFamily="18" charset="0"/>
                          </a:rPr>
                          <m:t>gcd</m:t>
                        </m:r>
                      </m:fName>
                      <m:e>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12,24</m:t>
                            </m:r>
                          </m:e>
                        </m:d>
                      </m:e>
                    </m:func>
                    <m:r>
                      <a:rPr lang="en-US" altLang="zh-CN" i="1" dirty="0">
                        <a:latin typeface="Cambria Math" panose="02040503050406030204" pitchFamily="18" charset="0"/>
                      </a:rPr>
                      <m:t>=</m:t>
                    </m:r>
                    <m:r>
                      <a:rPr lang="en-US" altLang="zh-CN" i="1" dirty="0" smtClean="0">
                        <a:latin typeface="Cambria Math" panose="02040503050406030204" pitchFamily="18" charset="0"/>
                      </a:rPr>
                      <m:t>12</m:t>
                    </m:r>
                  </m:oMath>
                </a14:m>
                <a:br>
                  <a:rPr lang="en-US" altLang="zh-CN" i="1" dirty="0">
                    <a:latin typeface="Cambria Math" panose="02040503050406030204" pitchFamily="18" charset="0"/>
                  </a:rPr>
                </a:br>
                <a14:m>
                  <m:oMath xmlns:m="http://schemas.openxmlformats.org/officeDocument/2006/math">
                    <m:r>
                      <m:rPr>
                        <m:sty m:val="p"/>
                      </m:rPr>
                      <a:rPr lang="en-US" altLang="zh-CN" i="1" dirty="0" err="1" smtClean="0">
                        <a:latin typeface="Cambria Math" panose="02040503050406030204" pitchFamily="18" charset="0"/>
                      </a:rPr>
                      <m:t>gcd</m:t>
                    </m:r>
                    <m:r>
                      <a:rPr lang="en-US" altLang="zh-CN" i="1" dirty="0" smtClean="0">
                        <a:latin typeface="Cambria Math" panose="02040503050406030204" pitchFamily="18" charset="0"/>
                      </a:rPr>
                      <m:t>⁡(12,24,18</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⁡(12,24),18)=</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⁡(12,18)=6</m:t>
                    </m:r>
                  </m:oMath>
                </a14:m>
                <a:endParaRPr lang="en-US" altLang="zh-CN" dirty="0"/>
              </a:p>
              <a:p>
                <a:pPr>
                  <a:lnSpc>
                    <a:spcPct val="150000"/>
                  </a:lnSpc>
                  <a:spcBef>
                    <a:spcPts val="0"/>
                  </a:spcBef>
                </a:pPr>
                <a:r>
                  <a:rPr lang="zh-CN" altLang="es-ES" dirty="0"/>
                  <a:t>求解方程：</a:t>
                </a:r>
                <a:br>
                  <a:rPr lang="en-US" altLang="zh-CN" dirty="0"/>
                </a:br>
                <a14:m>
                  <m:oMath xmlns:m="http://schemas.openxmlformats.org/officeDocument/2006/math">
                    <m:r>
                      <m:rPr>
                        <m:sty m:val="p"/>
                      </m:rPr>
                      <a:rPr lang="es-ES" altLang="zh-CN" i="1" dirty="0" smtClean="0">
                        <a:latin typeface="Cambria Math" panose="02040503050406030204" pitchFamily="18" charset="0"/>
                      </a:rPr>
                      <m:t>gcd</m:t>
                    </m:r>
                    <m:r>
                      <a:rPr lang="es-ES" altLang="zh-CN" i="1" dirty="0" smtClean="0">
                        <a:latin typeface="Cambria Math" panose="02040503050406030204" pitchFamily="18" charset="0"/>
                      </a:rPr>
                      <m:t>⁡(12,24,18)</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1</m:t>
                        </m:r>
                      </m:sub>
                    </m:sSub>
                    <m:r>
                      <a:rPr lang="es-ES" altLang="zh-CN" i="1" dirty="0" smtClean="0">
                        <a:latin typeface="Cambria Math" panose="02040503050406030204" pitchFamily="18" charset="0"/>
                      </a:rPr>
                      <m:t>+15</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i="1" dirty="0">
                            <a:latin typeface="Cambria Math" panose="02040503050406030204" pitchFamily="18" charset="0"/>
                            <a:ea typeface="新宋体" panose="02010609030101010101" pitchFamily="49" charset="-122"/>
                          </a:rPr>
                          <m:t>4</m:t>
                        </m:r>
                      </m:sub>
                    </m:sSub>
                    <m:r>
                      <a:rPr lang="es-ES" altLang="zh-CN" i="1" dirty="0" smtClean="0">
                        <a:latin typeface="Cambria Math" panose="02040503050406030204" pitchFamily="18" charset="0"/>
                      </a:rPr>
                      <m:t>=3</m:t>
                    </m:r>
                    <m:r>
                      <a:rPr lang="zh-CN" altLang="es-ES" i="1" dirty="0">
                        <a:latin typeface="Cambria Math" panose="02040503050406030204" pitchFamily="18" charset="0"/>
                      </a:rPr>
                      <m:t>即</m:t>
                    </m:r>
                    <m:r>
                      <a:rPr lang="es-ES" altLang="zh-CN" i="1" dirty="0">
                        <a:latin typeface="Cambria Math" panose="02040503050406030204" pitchFamily="18" charset="0"/>
                      </a:rPr>
                      <m:t>6</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1</m:t>
                        </m:r>
                      </m:sub>
                    </m:sSub>
                    <m:r>
                      <a:rPr lang="es-ES" altLang="zh-CN" i="1" dirty="0">
                        <a:latin typeface="Cambria Math" panose="02040503050406030204" pitchFamily="18" charset="0"/>
                      </a:rPr>
                      <m:t>+15</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i="1" dirty="0">
                            <a:latin typeface="Cambria Math" panose="02040503050406030204" pitchFamily="18" charset="0"/>
                            <a:ea typeface="新宋体" panose="02010609030101010101" pitchFamily="49" charset="-122"/>
                          </a:rPr>
                          <m:t>4</m:t>
                        </m:r>
                      </m:sub>
                    </m:sSub>
                    <m:r>
                      <a:rPr lang="es-ES" altLang="zh-CN" i="1" dirty="0">
                        <a:latin typeface="Cambria Math" panose="02040503050406030204" pitchFamily="18" charset="0"/>
                      </a:rPr>
                      <m:t>=3</m:t>
                    </m:r>
                  </m:oMath>
                </a14:m>
                <a:endParaRPr lang="es-ES" altLang="zh-CN" dirty="0"/>
              </a:p>
              <a:p>
                <a:pPr>
                  <a:lnSpc>
                    <a:spcPct val="150000"/>
                  </a:lnSpc>
                  <a:spcBef>
                    <a:spcPts val="0"/>
                  </a:spcBef>
                </a:pPr>
                <a:r>
                  <a:rPr lang="zh-CN" altLang="zh-CN" noProof="1"/>
                  <a:t>利用扩展欧几里得算出一组特解：</a:t>
                </a:r>
                <a:br>
                  <a:rPr lang="en-US" altLang="zh-CN" noProof="1"/>
                </a:br>
                <a14:m>
                  <m:oMath xmlns:m="http://schemas.openxmlformats.org/officeDocument/2006/math">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1</m:t>
                        </m:r>
                      </m:sub>
                    </m:sSub>
                    <m:r>
                      <a:rPr lang="zh-CN" altLang="en-US" i="1" noProof="1">
                        <a:latin typeface="Cambria Math" panose="02040503050406030204" pitchFamily="18" charset="0"/>
                        <a:ea typeface="新宋体" panose="02010609030101010101" charset="-122"/>
                      </a:rPr>
                      <m:t>=−2,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i="1" dirty="0">
                            <a:latin typeface="Cambria Math" panose="02040503050406030204" pitchFamily="18" charset="0"/>
                            <a:ea typeface="新宋体" panose="02010609030101010101" pitchFamily="49" charset="-122"/>
                          </a:rPr>
                          <m:t>4</m:t>
                        </m:r>
                      </m:sub>
                    </m:sSub>
                    <m:r>
                      <a:rPr lang="zh-CN" altLang="en-US" i="1" noProof="1">
                        <a:latin typeface="Cambria Math" panose="02040503050406030204" pitchFamily="18" charset="0"/>
                        <a:ea typeface="新宋体" panose="02010609030101010101" charset="-122"/>
                      </a:rPr>
                      <m:t>=1</m:t>
                    </m:r>
                  </m:oMath>
                </a14:m>
                <a:endParaRPr lang="en-US" altLang="zh-CN" noProof="1"/>
              </a:p>
              <a:p>
                <a:pPr>
                  <a:lnSpc>
                    <a:spcPct val="100000"/>
                  </a:lnSpc>
                  <a:spcBef>
                    <a:spcPts val="600"/>
                  </a:spcBef>
                </a:pPr>
                <a:r>
                  <a:rPr lang="zh-CN" altLang="en-US" noProof="1"/>
                  <a:t>继续</a:t>
                </a:r>
                <a:r>
                  <a:rPr lang="zh-CN" altLang="zh-CN" noProof="1"/>
                  <a:t>列方程：</a:t>
                </a:r>
                <a:br>
                  <a:rPr lang="en-US" altLang="zh-CN" noProof="1"/>
                </a:br>
                <a14:m>
                  <m:oMath xmlns:m="http://schemas.openxmlformats.org/officeDocument/2006/math">
                    <m:r>
                      <a:rPr lang="zh-CN" altLang="en-US" i="1" noProof="1">
                        <a:latin typeface="Cambria Math" panose="02040503050406030204" pitchFamily="18" charset="0"/>
                        <a:ea typeface="新宋体" panose="02010609030101010101" charset="-122"/>
                      </a:rPr>
                      <m:t>1</m:t>
                    </m:r>
                    <m:r>
                      <a:rPr lang="en-US" altLang="zh-CN" b="0" i="1" noProof="1" smtClean="0">
                        <a:latin typeface="Cambria Math" panose="02040503050406030204" pitchFamily="18" charset="0"/>
                        <a:ea typeface="新宋体" panose="02010609030101010101" charset="-122"/>
                      </a:rPr>
                      <m:t>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1</m:t>
                        </m:r>
                      </m:sub>
                    </m:sSub>
                    <m:r>
                      <a:rPr lang="zh-CN" altLang="en-US" i="1" noProof="1">
                        <a:latin typeface="Cambria Math" panose="02040503050406030204" pitchFamily="18" charset="0"/>
                        <a:ea typeface="新宋体" panose="02010609030101010101" charset="-122"/>
                      </a:rPr>
                      <m:t>+24</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+18</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3</m:t>
                        </m:r>
                      </m:sub>
                    </m:sSub>
                    <m:r>
                      <a:rPr lang="zh-CN" altLang="en-US" i="1" noProof="1">
                        <a:latin typeface="Cambria Math" panose="02040503050406030204" pitchFamily="18" charset="0"/>
                        <a:ea typeface="新宋体" panose="02010609030101010101" charset="-122"/>
                      </a:rPr>
                      <m:t>=6</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1</m:t>
                        </m:r>
                      </m:sub>
                    </m:sSub>
                    <m:r>
                      <a:rPr lang="zh-CN" altLang="en-US" i="1" noProof="1">
                        <a:latin typeface="Cambria Math" panose="02040503050406030204" pitchFamily="18" charset="0"/>
                        <a:ea typeface="新宋体" panose="02010609030101010101" charset="-122"/>
                      </a:rPr>
                      <m:t>=−12</m:t>
                    </m:r>
                  </m:oMath>
                </a14:m>
                <a:endParaRPr lang="en-US" altLang="zh-CN" noProof="1"/>
              </a:p>
              <a:p>
                <a:pPr>
                  <a:lnSpc>
                    <a:spcPct val="100000"/>
                  </a:lnSpc>
                  <a:spcBef>
                    <a:spcPts val="600"/>
                  </a:spcBef>
                </a:pPr>
                <a:r>
                  <a:rPr lang="zh-CN" altLang="en-US" noProof="1"/>
                  <a:t>先不求解</a:t>
                </a:r>
                <a:r>
                  <a:rPr lang="zh-Hans" altLang="en-US" noProof="1"/>
                  <a:t>，</a:t>
                </a:r>
                <a:r>
                  <a:rPr lang="zh-CN" altLang="zh-CN" noProof="1"/>
                  <a:t>而是求解</a:t>
                </a:r>
                <a:br>
                  <a:rPr lang="en-US" altLang="zh-CN" noProof="1"/>
                </a:br>
                <a14:m>
                  <m:oMath xmlns:m="http://schemas.openxmlformats.org/officeDocument/2006/math">
                    <m:r>
                      <m:rPr>
                        <m:sty m:val="p"/>
                      </m:rPr>
                      <a:rPr lang="zh-CN" altLang="en-US" i="1" noProof="1">
                        <a:latin typeface="Cambria Math" panose="02040503050406030204" pitchFamily="18" charset="0"/>
                        <a:ea typeface="新宋体" panose="02010609030101010101" charset="-122"/>
                      </a:rPr>
                      <m:t>gcd</m:t>
                    </m:r>
                    <m:r>
                      <a:rPr lang="zh-CN" altLang="en-US" i="1" noProof="1">
                        <a:latin typeface="Cambria Math" panose="02040503050406030204" pitchFamily="18" charset="0"/>
                        <a:ea typeface="新宋体" panose="02010609030101010101" charset="-122"/>
                      </a:rPr>
                      <m:t>⁡(12,24)</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+18</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3</m:t>
                        </m:r>
                      </m:sub>
                    </m:sSub>
                    <m:r>
                      <a:rPr lang="zh-CN" altLang="en-US" i="1" noProof="1">
                        <a:latin typeface="Cambria Math" panose="02040503050406030204" pitchFamily="18" charset="0"/>
                        <a:ea typeface="新宋体" panose="02010609030101010101" charset="-122"/>
                      </a:rPr>
                      <m:t>=−12</m:t>
                    </m:r>
                  </m:oMath>
                </a14:m>
                <a:br>
                  <a:rPr lang="en-US" altLang="zh-CN" noProof="1"/>
                </a:br>
                <a:r>
                  <a:rPr lang="zh-CN" altLang="en-US" noProof="1"/>
                  <a:t>即</a:t>
                </a:r>
                <a:endParaRPr lang="en-US" altLang="zh-CN" i="1" noProof="1"/>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zh-CN" altLang="en-US" i="1" noProof="1">
                          <a:latin typeface="Cambria Math" panose="02040503050406030204" pitchFamily="18" charset="0"/>
                          <a:ea typeface="新宋体" panose="02010609030101010101" charset="-122"/>
                        </a:rPr>
                        <m:t>1</m:t>
                      </m:r>
                      <m:r>
                        <a:rPr lang="en-US" altLang="zh-CN" b="0" i="1" noProof="1" smtClean="0">
                          <a:latin typeface="Cambria Math" panose="02040503050406030204" pitchFamily="18" charset="0"/>
                          <a:ea typeface="新宋体" panose="02010609030101010101" charset="-122"/>
                        </a:rPr>
                        <m:t>2</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+18</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i="1" dirty="0">
                              <a:latin typeface="Cambria Math" panose="02040503050406030204" pitchFamily="18" charset="0"/>
                              <a:ea typeface="新宋体" panose="02010609030101010101" pitchFamily="49" charset="-122"/>
                            </a:rPr>
                            <m:t>3</m:t>
                          </m:r>
                        </m:sub>
                      </m:sSub>
                      <m:r>
                        <a:rPr lang="zh-CN" altLang="en-US" i="1" noProof="1">
                          <a:latin typeface="Cambria Math" panose="02040503050406030204" pitchFamily="18" charset="0"/>
                          <a:ea typeface="新宋体" panose="02010609030101010101" charset="-122"/>
                        </a:rPr>
                        <m:t>=−12</m:t>
                      </m:r>
                    </m:oMath>
                  </m:oMathPara>
                </a14:m>
                <a:endParaRPr lang="en-US" altLang="zh-CN" noProof="1"/>
              </a:p>
              <a:p>
                <a:pPr>
                  <a:lnSpc>
                    <a:spcPct val="150000"/>
                  </a:lnSpc>
                  <a:spcBef>
                    <a:spcPts val="0"/>
                  </a:spcBef>
                </a:pPr>
                <a:endParaRPr lang="es-ES" altLang="zh-CN" dirty="0"/>
              </a:p>
              <a:p>
                <a:pPr>
                  <a:lnSpc>
                    <a:spcPct val="150000"/>
                  </a:lnSpc>
                  <a:spcBef>
                    <a:spcPts val="0"/>
                  </a:spcBef>
                </a:pPr>
                <a:endParaRPr lang="en-US" altLang="zh-CN" dirty="0"/>
              </a:p>
              <a:p>
                <a:pPr>
                  <a:lnSpc>
                    <a:spcPct val="150000"/>
                  </a:lnSpc>
                  <a:spcBef>
                    <a:spcPts val="0"/>
                  </a:spcBef>
                </a:pPr>
                <a:endParaRPr lang="en-US" altLang="zh-CN" dirty="0"/>
              </a:p>
              <a:p>
                <a:pPr>
                  <a:lnSpc>
                    <a:spcPct val="150000"/>
                  </a:lnSpc>
                  <a:spcBef>
                    <a:spcPts val="0"/>
                  </a:spcBef>
                </a:pPr>
                <a:endParaRPr lang="en-US" altLang="zh-CN" dirty="0"/>
              </a:p>
              <a:p>
                <a:pPr>
                  <a:lnSpc>
                    <a:spcPct val="150000"/>
                  </a:lnSpc>
                  <a:spcBef>
                    <a:spcPts val="0"/>
                  </a:spcBef>
                </a:pPr>
                <a:endParaRPr lang="en-US" altLang="zh-CN" noProof="1"/>
              </a:p>
            </p:txBody>
          </p:sp>
        </mc:Choice>
        <mc:Fallback xmlns="">
          <p:sp>
            <p:nvSpPr>
              <p:cNvPr id="7" name="内容占位符 2"/>
              <p:cNvSpPr>
                <a:spLocks noGrp="1" noRot="1" noChangeAspect="1" noMove="1" noResize="1" noEditPoints="1" noAdjustHandles="1" noChangeArrowheads="1" noChangeShapeType="1" noTextEdit="1"/>
              </p:cNvSpPr>
              <p:nvPr>
                <p:ph idx="1"/>
              </p:nvPr>
            </p:nvSpPr>
            <p:spPr>
              <a:xfrm>
                <a:off x="1104900" y="1607914"/>
                <a:ext cx="9982200" cy="5250085"/>
              </a:xfrm>
              <a:blipFill>
                <a:blip r:embed="rId2"/>
                <a:stretch>
                  <a:fillRect l="-139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3477B1DB-3187-5345-9808-FC0CBAF48A95}"/>
              </a:ext>
            </a:extLst>
          </p:cNvPr>
          <p:cNvSpPr>
            <a:spLocks noGrp="1"/>
          </p:cNvSpPr>
          <p:nvPr>
            <p:ph type="sldNum" sz="quarter" idx="12"/>
          </p:nvPr>
        </p:nvSpPr>
        <p:spPr/>
        <p:txBody>
          <a:bodyPr/>
          <a:lstStyle/>
          <a:p>
            <a:fld id="{0FF54DE5-C571-48E8-A5BC-B369434E2F44}" type="slidenum">
              <a:rPr lang="en-US" altLang="zh-CN" smtClean="0"/>
              <a:pPr/>
              <a:t>94</a:t>
            </a:fld>
            <a:endParaRPr lang="zh-CN" altLang="en-US" dirty="0"/>
          </a:p>
        </p:txBody>
      </p:sp>
    </p:spTree>
    <p:extLst>
      <p:ext uri="{BB962C8B-B14F-4D97-AF65-F5344CB8AC3E}">
        <p14:creationId xmlns:p14="http://schemas.microsoft.com/office/powerpoint/2010/main" val="2020812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例题：线性组合</a:t>
            </a:r>
            <a:endParaRPr lang="en-US" altLang="zh-CN" dirty="0"/>
          </a:p>
        </p:txBody>
      </p:sp>
      <mc:AlternateContent xmlns:mc="http://schemas.openxmlformats.org/markup-compatibility/2006" xmlns:a14="http://schemas.microsoft.com/office/drawing/2010/main">
        <mc:Choice Requires="a14">
          <p:sp>
            <p:nvSpPr>
              <p:cNvPr id="7" name="内容占位符 2"/>
              <p:cNvSpPr>
                <a:spLocks noGrp="1" noChangeArrowheads="1"/>
              </p:cNvSpPr>
              <p:nvPr>
                <p:ph idx="1"/>
              </p:nvPr>
            </p:nvSpPr>
            <p:spPr>
              <a:xfrm>
                <a:off x="1104900" y="1502408"/>
                <a:ext cx="9982200" cy="5203193"/>
              </a:xfrm>
            </p:spPr>
            <p:txBody>
              <a:bodyPr>
                <a:normAutofit/>
              </a:bodyPr>
              <a:lstStyle/>
              <a:p>
                <a:pPr>
                  <a:lnSpc>
                    <a:spcPct val="100000"/>
                  </a:lnSpc>
                  <a:spcBef>
                    <a:spcPts val="600"/>
                  </a:spcBef>
                </a:pPr>
                <a:r>
                  <a:rPr lang="zh-CN" altLang="en-US" noProof="1"/>
                  <a:t>同样利用扩展欧几里得算出一组特解：</a:t>
                </a:r>
                <a:br>
                  <a:rPr lang="en-US" altLang="zh-CN" i="1" noProof="1">
                    <a:latin typeface="Cambria Math" panose="02040503050406030204" pitchFamily="18" charset="0"/>
                  </a:rPr>
                </a:br>
                <a14:m>
                  <m:oMath xmlns:m="http://schemas.openxmlformats.org/officeDocument/2006/math">
                    <m:sSub>
                      <m:sSubPr>
                        <m:ctrlPr>
                          <a:rPr lang="en-US" altLang="zh-CN" i="1" dirty="0" smtClean="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2</m:t>
                        </m:r>
                      </m:sub>
                    </m:sSub>
                    <m:r>
                      <a:rPr lang="en-US" altLang="zh-CN" i="1" noProof="1">
                        <a:latin typeface="Cambria Math" panose="02040503050406030204" pitchFamily="18" charset="0"/>
                      </a:rPr>
                      <m:t>=2,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i="1" dirty="0">
                            <a:latin typeface="Cambria Math" panose="02040503050406030204" pitchFamily="18" charset="0"/>
                            <a:ea typeface="新宋体" panose="02010609030101010101" pitchFamily="49" charset="-122"/>
                          </a:rPr>
                          <m:t>3</m:t>
                        </m:r>
                      </m:sub>
                    </m:sSub>
                    <m:r>
                      <a:rPr lang="en-US" altLang="zh-CN" i="1" noProof="1">
                        <a:latin typeface="Cambria Math" panose="02040503050406030204" pitchFamily="18" charset="0"/>
                      </a:rPr>
                      <m:t>=−2</m:t>
                    </m:r>
                  </m:oMath>
                </a14:m>
                <a:endParaRPr lang="en-US" altLang="zh-CN" noProof="1"/>
              </a:p>
              <a:p>
                <a:pPr>
                  <a:lnSpc>
                    <a:spcPct val="100000"/>
                  </a:lnSpc>
                  <a:spcBef>
                    <a:spcPts val="600"/>
                  </a:spcBef>
                </a:pPr>
                <a:r>
                  <a:rPr lang="zh-CN" altLang="zh-CN" noProof="1"/>
                  <a:t>最后求解</a:t>
                </a:r>
                <a:br>
                  <a:rPr lang="en-US" altLang="zh-CN" noProof="1"/>
                </a:br>
                <a14:m>
                  <m:oMath xmlns:m="http://schemas.openxmlformats.org/officeDocument/2006/math">
                    <m:r>
                      <a:rPr lang="zh-CN" altLang="en-US" i="1" noProof="1">
                        <a:latin typeface="Cambria Math" panose="02040503050406030204" pitchFamily="18" charset="0"/>
                        <a:ea typeface="新宋体" panose="02010609030101010101" charset="-122"/>
                      </a:rPr>
                      <m:t>12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1</m:t>
                        </m:r>
                      </m:sub>
                    </m:sSub>
                    <m:r>
                      <a:rPr lang="zh-CN" altLang="en-US" i="1" noProof="1">
                        <a:latin typeface="Cambria Math" panose="02040503050406030204" pitchFamily="18" charset="0"/>
                        <a:ea typeface="新宋体" panose="02010609030101010101" charset="-122"/>
                      </a:rPr>
                      <m:t>+24</m:t>
                    </m:r>
                    <m:sSub>
                      <m:sSubPr>
                        <m:ctrlPr>
                          <a:rPr lang="en-US" altLang="zh-CN" i="1" dirty="0" smtClean="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=12</m:t>
                    </m:r>
                    <m:sSub>
                      <m:sSubPr>
                        <m:ctrlPr>
                          <a:rPr lang="en-US" altLang="zh-CN" i="1" dirty="0">
                            <a:latin typeface="Cambria Math" panose="02040503050406030204" pitchFamily="18" charset="0"/>
                            <a:ea typeface="新宋体" panose="02010609030101010101" pitchFamily="49" charset="-122"/>
                          </a:rPr>
                        </m:ctrlPr>
                      </m:sSubPr>
                      <m:e>
                        <m:r>
                          <a:rPr lang="en-US" altLang="zh-CN" b="0" i="1" dirty="0" smtClean="0">
                            <a:latin typeface="Cambria Math" panose="02040503050406030204" pitchFamily="18" charset="0"/>
                            <a:ea typeface="新宋体" panose="02010609030101010101" pitchFamily="49" charset="-122"/>
                          </a:rPr>
                          <m:t>𝑦</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=24</m:t>
                    </m:r>
                  </m:oMath>
                </a14:m>
                <a:br>
                  <a:rPr lang="en-US" altLang="zh-CN" noProof="1">
                    <a:latin typeface="Times New Roman" panose="02020603050405020304" charset="0"/>
                    <a:ea typeface="新宋体" panose="02010609030101010101" charset="-122"/>
                  </a:rPr>
                </a:br>
                <a:r>
                  <a:rPr lang="zh-CN" altLang="zh-CN" noProof="1"/>
                  <a:t>得</a:t>
                </a:r>
                <a:r>
                  <a:rPr lang="zh-CN" altLang="en-US" noProof="1"/>
                  <a:t>到</a:t>
                </a:r>
                <a:r>
                  <a:rPr lang="zh-CN" altLang="zh-CN" noProof="1"/>
                  <a:t>特解</a:t>
                </a:r>
                <a:endParaRPr lang="en-US" altLang="zh-CN" noProof="1"/>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1</m:t>
                          </m:r>
                        </m:sub>
                      </m:sSub>
                      <m:r>
                        <a:rPr lang="zh-CN" altLang="en-US" i="1" noProof="1">
                          <a:latin typeface="Cambria Math" panose="02040503050406030204" pitchFamily="18" charset="0"/>
                          <a:ea typeface="新宋体" panose="02010609030101010101" charset="-122"/>
                        </a:rPr>
                        <m:t>=2,</m:t>
                      </m:r>
                      <m:sSub>
                        <m:sSubPr>
                          <m:ctrlPr>
                            <a:rPr lang="en-US" altLang="zh-CN" i="1" dirty="0">
                              <a:latin typeface="Cambria Math" panose="02040503050406030204" pitchFamily="18" charset="0"/>
                              <a:ea typeface="新宋体" panose="02010609030101010101" pitchFamily="49" charset="-122"/>
                            </a:rPr>
                          </m:ctrlPr>
                        </m:sSubPr>
                        <m:e>
                          <m:r>
                            <a:rPr lang="en-US" altLang="zh-CN" i="1" dirty="0">
                              <a:latin typeface="Cambria Math" panose="02040503050406030204" pitchFamily="18" charset="0"/>
                              <a:ea typeface="新宋体" panose="02010609030101010101" pitchFamily="49" charset="-122"/>
                            </a:rPr>
                            <m:t>𝑥</m:t>
                          </m:r>
                        </m:e>
                        <m:sub>
                          <m:r>
                            <a:rPr lang="en-US" altLang="zh-CN" b="0" i="1" dirty="0" smtClean="0">
                              <a:latin typeface="Cambria Math" panose="02040503050406030204" pitchFamily="18" charset="0"/>
                              <a:ea typeface="新宋体" panose="02010609030101010101" pitchFamily="49" charset="-122"/>
                            </a:rPr>
                            <m:t>2</m:t>
                          </m:r>
                        </m:sub>
                      </m:sSub>
                      <m:r>
                        <a:rPr lang="zh-CN" altLang="en-US" i="1" noProof="1">
                          <a:latin typeface="Cambria Math" panose="02040503050406030204" pitchFamily="18" charset="0"/>
                          <a:ea typeface="新宋体" panose="02010609030101010101" charset="-122"/>
                        </a:rPr>
                        <m:t>=0</m:t>
                      </m:r>
                    </m:oMath>
                  </m:oMathPara>
                </a14:m>
                <a:endParaRPr lang="en-US" altLang="zh-CN" noProof="1"/>
              </a:p>
              <a:p>
                <a:pPr>
                  <a:lnSpc>
                    <a:spcPct val="100000"/>
                  </a:lnSpc>
                  <a:spcBef>
                    <a:spcPts val="600"/>
                  </a:spcBef>
                </a:pPr>
                <a:r>
                  <a:rPr lang="zh-CN" altLang="en-US" noProof="1"/>
                  <a:t>最后得到</a:t>
                </a:r>
                <a:r>
                  <a:rPr lang="zh-CN" altLang="zh-CN" noProof="1"/>
                  <a:t>一组整数解</a:t>
                </a:r>
                <a:r>
                  <a:rPr lang="en-US" altLang="zh-CN" noProof="1"/>
                  <a:t> </a:t>
                </a:r>
                <a14:m>
                  <m:oMath xmlns:m="http://schemas.openxmlformats.org/officeDocument/2006/math">
                    <m:d>
                      <m:dPr>
                        <m:ctrlPr>
                          <a:rPr lang="zh-CN" altLang="en-US" i="1" noProof="1" smtClean="0">
                            <a:latin typeface="Cambria Math" panose="02040503050406030204" pitchFamily="18" charset="0"/>
                            <a:ea typeface="新宋体" panose="02010609030101010101" charset="-122"/>
                          </a:rPr>
                        </m:ctrlPr>
                      </m:dPr>
                      <m:e>
                        <m:r>
                          <a:rPr lang="zh-CN" altLang="en-US" i="1" noProof="1" smtClean="0">
                            <a:latin typeface="Cambria Math" panose="02040503050406030204" pitchFamily="18" charset="0"/>
                            <a:ea typeface="新宋体" panose="02010609030101010101" charset="-122"/>
                          </a:rPr>
                          <m:t>2,0,−2,</m:t>
                        </m:r>
                        <m:r>
                          <a:rPr lang="zh-CN" altLang="en-US" i="1" noProof="1">
                            <a:latin typeface="Cambria Math" panose="02040503050406030204" pitchFamily="18" charset="0"/>
                            <a:ea typeface="新宋体" panose="02010609030101010101" charset="-122"/>
                          </a:rPr>
                          <m:t>1</m:t>
                        </m:r>
                      </m:e>
                    </m:d>
                  </m:oMath>
                </a14:m>
                <a:r>
                  <a:rPr lang="en-US" altLang="zh-CN" noProof="1"/>
                  <a:t> </a:t>
                </a:r>
                <a:r>
                  <a:rPr lang="zh-Hans" altLang="en-US" noProof="1"/>
                  <a:t>，</a:t>
                </a:r>
                <a:r>
                  <a:rPr lang="zh-CN" altLang="en-US" noProof="1"/>
                  <a:t>可以根据推导过程写出程序。</a:t>
                </a:r>
                <a:endParaRPr lang="en-US" altLang="zh-CN" noProof="1"/>
              </a:p>
            </p:txBody>
          </p:sp>
        </mc:Choice>
        <mc:Fallback xmlns="">
          <p:sp>
            <p:nvSpPr>
              <p:cNvPr id="7" name="内容占位符 2"/>
              <p:cNvSpPr>
                <a:spLocks noGrp="1" noRot="1" noChangeAspect="1" noMove="1" noResize="1" noEditPoints="1" noAdjustHandles="1" noChangeArrowheads="1" noChangeShapeType="1" noTextEdit="1"/>
              </p:cNvSpPr>
              <p:nvPr>
                <p:ph idx="1"/>
              </p:nvPr>
            </p:nvSpPr>
            <p:spPr>
              <a:xfrm>
                <a:off x="1104900" y="1502408"/>
                <a:ext cx="9982200" cy="5203193"/>
              </a:xfrm>
              <a:blipFill>
                <a:blip r:embed="rId2"/>
                <a:stretch>
                  <a:fillRect l="-1398" t="-487"/>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1B8B9839-F0F6-B741-A412-F6F3037D6D11}"/>
              </a:ext>
            </a:extLst>
          </p:cNvPr>
          <p:cNvSpPr>
            <a:spLocks noGrp="1"/>
          </p:cNvSpPr>
          <p:nvPr>
            <p:ph type="sldNum" sz="quarter" idx="12"/>
          </p:nvPr>
        </p:nvSpPr>
        <p:spPr/>
        <p:txBody>
          <a:bodyPr/>
          <a:lstStyle/>
          <a:p>
            <a:fld id="{0FF54DE5-C571-48E8-A5BC-B369434E2F44}" type="slidenum">
              <a:rPr lang="en-US" altLang="zh-CN" smtClean="0"/>
              <a:pPr/>
              <a:t>95</a:t>
            </a:fld>
            <a:endParaRPr lang="zh-CN" altLang="en-US" dirty="0"/>
          </a:p>
        </p:txBody>
      </p:sp>
    </p:spTree>
    <p:extLst>
      <p:ext uri="{BB962C8B-B14F-4D97-AF65-F5344CB8AC3E}">
        <p14:creationId xmlns:p14="http://schemas.microsoft.com/office/powerpoint/2010/main" val="2150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p:nvPr>
        </p:nvSpPr>
        <p:spPr/>
        <p:txBody>
          <a:bodyPr/>
          <a:lstStyle/>
          <a:p>
            <a:r>
              <a:rPr lang="zh-CN" altLang="en-US" dirty="0">
                <a:sym typeface="宋体" panose="02010600030101010101" pitchFamily="2" charset="-122"/>
              </a:rPr>
              <a:t>线性同余方程组</a:t>
            </a:r>
            <a:r>
              <a:rPr lang="zh-CN" altLang="en-US" dirty="0"/>
              <a:t>（</a:t>
            </a:r>
            <a:r>
              <a:rPr lang="zh-Hans" altLang="en-US" dirty="0"/>
              <a:t>模互素</a:t>
            </a:r>
            <a:r>
              <a:rPr lang="zh-CN" altLang="en-US" dirty="0"/>
              <a:t>）</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700376"/>
                <a:ext cx="9980682" cy="4850736"/>
              </a:xfrm>
            </p:spPr>
            <p:txBody>
              <a:bodyPr>
                <a:normAutofit lnSpcReduction="10000"/>
              </a:bodyPr>
              <a:lstStyle/>
              <a:p>
                <a:pPr>
                  <a:lnSpc>
                    <a:spcPct val="150000"/>
                  </a:lnSpc>
                  <a:spcBef>
                    <a:spcPts val="600"/>
                  </a:spcBef>
                </a:pPr>
                <a:r>
                  <a:rPr lang="zh-CN" altLang="en-US" dirty="0"/>
                  <a:t>考虑形如</a:t>
                </a:r>
                <a14:m>
                  <m:oMath xmlns:m="http://schemas.openxmlformats.org/officeDocument/2006/math">
                    <m:r>
                      <a:rPr lang="en-US" altLang="zh-CN" i="1" dirty="0" smtClean="0">
                        <a:latin typeface="Cambria Math" panose="02040503050406030204" pitchFamily="18" charset="0"/>
                      </a:rPr>
                      <m:t>𝑥</m:t>
                    </m:r>
                    <m:r>
                      <a:rPr lang="en-US" altLang="zh-CN" i="1" dirty="0" err="1" smtClean="0">
                        <a:latin typeface="Cambria Math" panose="02040503050406030204" pitchFamily="18" charset="0"/>
                        <a:sym typeface="宋体" panose="02010600030101010101" pitchFamily="2" charset="-122"/>
                      </a:rPr>
                      <m:t>≡</m:t>
                    </m:r>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𝑎</m:t>
                        </m:r>
                      </m:e>
                      <m:sub>
                        <m:r>
                          <a:rPr lang="en-US" altLang="zh-CN" b="0" i="1" dirty="0" smtClean="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 (</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𝑚</m:t>
                        </m:r>
                      </m:e>
                      <m:sub>
                        <m:r>
                          <a:rPr lang="en-US" altLang="zh-CN" b="0" i="1" dirty="0" smtClean="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m:t>
                    </m:r>
                  </m:oMath>
                </a14:m>
                <a:r>
                  <a:rPr lang="zh-CN" altLang="en-US" dirty="0">
                    <a:sym typeface="宋体" panose="02010600030101010101" pitchFamily="2" charset="-122"/>
                  </a:rPr>
                  <a:t>的若干方程联立得到的方程组，如：</a:t>
                </a:r>
                <a:br>
                  <a:rPr lang="en-US" altLang="zh-CN" dirty="0">
                    <a:sym typeface="宋体" panose="02010600030101010101" pitchFamily="2" charset="-122"/>
                  </a:rPr>
                </a:br>
                <a14:m>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≡2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3) …… (1)</m:t>
                            </m:r>
                            <m:r>
                              <m:rPr>
                                <m:nor/>
                              </m:rPr>
                              <a:rPr lang="en-US" altLang="zh-CN" dirty="0">
                                <a:latin typeface="Consolas" panose="020B0609020204030204" pitchFamily="49" charset="0"/>
                                <a:sym typeface="宋体" panose="02010600030101010101" pitchFamily="2" charset="-122"/>
                              </a:rPr>
                              <m:t> </m:t>
                            </m:r>
                          </m:e>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≡3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5) …… (2)</m:t>
                            </m:r>
                            <m:r>
                              <m:rPr>
                                <m:nor/>
                              </m:rPr>
                              <a:rPr lang="en-US" altLang="zh-CN" dirty="0">
                                <a:latin typeface="Consolas" panose="020B0609020204030204" pitchFamily="49" charset="0"/>
                                <a:sym typeface="宋体" panose="02010600030101010101" pitchFamily="2" charset="-122"/>
                              </a:rPr>
                              <m:t> </m:t>
                            </m:r>
                          </m:e>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m:t>
                            </m:r>
                            <m:r>
                              <a:rPr lang="en-US" altLang="zh-CN" b="0" i="1" dirty="0" smtClean="0">
                                <a:latin typeface="Cambria Math" panose="02040503050406030204" pitchFamily="18" charset="0"/>
                                <a:sym typeface="宋体" panose="02010600030101010101" pitchFamily="2" charset="-122"/>
                              </a:rPr>
                              <m:t>5</m:t>
                            </m:r>
                            <m:r>
                              <a:rPr lang="en-US" altLang="zh-CN" i="1" dirty="0">
                                <a:latin typeface="Cambria Math" panose="02040503050406030204" pitchFamily="18" charset="0"/>
                                <a:sym typeface="宋体" panose="02010600030101010101" pitchFamily="2" charset="-122"/>
                              </a:rPr>
                              <m:t>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7) …… (3)</m:t>
                            </m:r>
                            <m:r>
                              <m:rPr>
                                <m:nor/>
                              </m:rPr>
                              <a:rPr lang="en-US" altLang="zh-CN" dirty="0">
                                <a:latin typeface="Consolas" panose="020B0609020204030204" pitchFamily="49" charset="0"/>
                              </a:rPr>
                              <m:t> </m:t>
                            </m:r>
                          </m:e>
                        </m:eqArr>
                      </m:e>
                    </m:d>
                  </m:oMath>
                </a14:m>
                <a:endParaRPr lang="zh-CN" altLang="en-US" dirty="0">
                  <a:sym typeface="宋体" panose="02010600030101010101" pitchFamily="2" charset="-122"/>
                </a:endParaRPr>
              </a:p>
              <a:p>
                <a:pPr eaLnBrk="1" hangingPunct="1">
                  <a:lnSpc>
                    <a:spcPct val="150000"/>
                  </a:lnSpc>
                  <a:spcBef>
                    <a:spcPts val="600"/>
                  </a:spcBef>
                </a:pPr>
                <a:r>
                  <a:rPr lang="zh-CN" altLang="zh-CN" dirty="0">
                    <a:sym typeface="宋体" panose="02010600030101010101" pitchFamily="2" charset="-122"/>
                  </a:rPr>
                  <a:t>下面是一种可行的解法：</a:t>
                </a:r>
              </a:p>
              <a:p>
                <a:pPr lvl="1" eaLnBrk="1" hangingPunct="1">
                  <a:lnSpc>
                    <a:spcPct val="150000"/>
                  </a:lnSpc>
                </a:pPr>
                <a:r>
                  <a:rPr lang="zh-CN" altLang="en-US" sz="2000" dirty="0">
                    <a:sym typeface="宋体" panose="02010600030101010101" pitchFamily="2" charset="-122"/>
                  </a:rPr>
                  <a:t>由</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(1)</m:t>
                    </m:r>
                  </m:oMath>
                </a14:m>
                <a:r>
                  <a:rPr lang="zh-CN" altLang="en-US" sz="2000" dirty="0">
                    <a:sym typeface="宋体" panose="02010600030101010101" pitchFamily="2" charset="-122"/>
                  </a:rPr>
                  <a:t>设</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𝑥</m:t>
                    </m:r>
                    <m:r>
                      <a:rPr lang="en-US" altLang="zh-CN" sz="2000" i="1" dirty="0" smtClean="0">
                        <a:latin typeface="Cambria Math" panose="02040503050406030204" pitchFamily="18" charset="0"/>
                        <a:sym typeface="宋体" panose="02010600030101010101" pitchFamily="2" charset="-122"/>
                      </a:rPr>
                      <m:t>=3</m:t>
                    </m:r>
                    <m:r>
                      <a:rPr lang="en-US" altLang="zh-CN" sz="2000" i="1" dirty="0" smtClean="0">
                        <a:latin typeface="Cambria Math" panose="02040503050406030204" pitchFamily="18" charset="0"/>
                        <a:sym typeface="宋体" panose="02010600030101010101" pitchFamily="2" charset="-122"/>
                      </a:rPr>
                      <m:t>𝑦</m:t>
                    </m:r>
                    <m:r>
                      <a:rPr lang="en-US" altLang="zh-CN" sz="2000" i="1" dirty="0" smtClean="0">
                        <a:latin typeface="Cambria Math" panose="02040503050406030204" pitchFamily="18" charset="0"/>
                        <a:sym typeface="宋体" panose="02010600030101010101" pitchFamily="2" charset="-122"/>
                      </a:rPr>
                      <m:t>+2</m:t>
                    </m:r>
                  </m:oMath>
                </a14:m>
                <a:r>
                  <a:rPr lang="zh-CN" altLang="en-US" sz="2000" dirty="0">
                    <a:sym typeface="宋体" panose="02010600030101010101" pitchFamily="2" charset="-122"/>
                  </a:rPr>
                  <a:t>，代入</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(2)</m:t>
                    </m:r>
                  </m:oMath>
                </a14:m>
                <a:r>
                  <a:rPr lang="zh-CN" altLang="en-US" sz="2000" dirty="0">
                    <a:sym typeface="宋体" panose="02010600030101010101" pitchFamily="2" charset="-122"/>
                  </a:rPr>
                  <a:t>得到</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3</m:t>
                    </m:r>
                    <m:r>
                      <a:rPr lang="en-US" altLang="zh-CN" sz="2000" i="1" dirty="0" smtClean="0">
                        <a:latin typeface="Cambria Math" panose="02040503050406030204" pitchFamily="18" charset="0"/>
                        <a:sym typeface="宋体" panose="02010600030101010101" pitchFamily="2" charset="-122"/>
                      </a:rPr>
                      <m:t>𝑦</m:t>
                    </m:r>
                    <m:r>
                      <a:rPr lang="en-US" altLang="zh-CN" sz="2000" i="1" dirty="0" smtClean="0">
                        <a:latin typeface="Cambria Math" panose="02040503050406030204" pitchFamily="18" charset="0"/>
                        <a:sym typeface="宋体" panose="02010600030101010101" pitchFamily="2" charset="-122"/>
                      </a:rPr>
                      <m:t>+2≡3</m:t>
                    </m:r>
                    <m:d>
                      <m:dPr>
                        <m:ctrlPr>
                          <a:rPr lang="en-US" altLang="zh-CN" sz="2000" i="1" dirty="0" smtClean="0">
                            <a:latin typeface="Cambria Math" panose="02040503050406030204" pitchFamily="18" charset="0"/>
                            <a:sym typeface="宋体" panose="02010600030101010101" pitchFamily="2" charset="-122"/>
                          </a:rPr>
                        </m:ctrlPr>
                      </m:dPr>
                      <m:e>
                        <m:r>
                          <m:rPr>
                            <m:sty m:val="p"/>
                          </m:rPr>
                          <a:rPr lang="en-US" altLang="zh-CN" sz="2000" i="0" dirty="0" smtClean="0">
                            <a:latin typeface="Cambria Math" panose="02040503050406030204" pitchFamily="18" charset="0"/>
                            <a:sym typeface="宋体" panose="02010600030101010101" pitchFamily="2" charset="-122"/>
                          </a:rPr>
                          <m:t>mod</m:t>
                        </m:r>
                        <m:r>
                          <a:rPr lang="en-US" altLang="zh-CN" sz="2000" i="1" dirty="0" smtClean="0">
                            <a:latin typeface="Cambria Math" panose="02040503050406030204" pitchFamily="18" charset="0"/>
                            <a:sym typeface="宋体" panose="02010600030101010101" pitchFamily="2" charset="-122"/>
                          </a:rPr>
                          <m:t> 5</m:t>
                        </m:r>
                      </m:e>
                    </m:d>
                  </m:oMath>
                </a14:m>
                <a:r>
                  <a:rPr lang="zh-CN" altLang="en-US" sz="2000" dirty="0">
                    <a:sym typeface="宋体" panose="02010600030101010101" pitchFamily="2" charset="-122"/>
                  </a:rPr>
                  <a:t>，解得</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𝑦</m:t>
                    </m:r>
                    <m:r>
                      <a:rPr lang="en-US" altLang="zh-CN" sz="2000" i="1" dirty="0" smtClean="0">
                        <a:latin typeface="Cambria Math" panose="02040503050406030204" pitchFamily="18" charset="0"/>
                        <a:sym typeface="宋体" panose="02010600030101010101" pitchFamily="2" charset="-122"/>
                      </a:rPr>
                      <m:t>≡2(</m:t>
                    </m:r>
                    <m:r>
                      <m:rPr>
                        <m:sty m:val="p"/>
                      </m:rPr>
                      <a:rPr lang="en-US" altLang="zh-CN" sz="2000" i="0" dirty="0" smtClean="0">
                        <a:latin typeface="Cambria Math" panose="02040503050406030204" pitchFamily="18" charset="0"/>
                        <a:sym typeface="宋体" panose="02010600030101010101" pitchFamily="2" charset="-122"/>
                      </a:rPr>
                      <m:t>mod</m:t>
                    </m:r>
                    <m:r>
                      <a:rPr lang="en-US" altLang="zh-CN" sz="2000" i="1" dirty="0" smtClean="0">
                        <a:latin typeface="Cambria Math" panose="02040503050406030204" pitchFamily="18" charset="0"/>
                        <a:sym typeface="宋体" panose="02010600030101010101" pitchFamily="2" charset="-122"/>
                      </a:rPr>
                      <m:t> 5)</m:t>
                    </m:r>
                  </m:oMath>
                </a14:m>
                <a:endParaRPr lang="en-US" altLang="zh-CN" sz="2000" dirty="0">
                  <a:sym typeface="宋体" panose="02010600030101010101" pitchFamily="2" charset="-122"/>
                </a:endParaRPr>
              </a:p>
              <a:p>
                <a:pPr lvl="1" eaLnBrk="1" hangingPunct="1">
                  <a:lnSpc>
                    <a:spcPct val="150000"/>
                  </a:lnSpc>
                </a:pPr>
                <a:r>
                  <a:rPr lang="zh-CN" altLang="en-US" sz="2000" dirty="0">
                    <a:sym typeface="宋体" panose="02010600030101010101" pitchFamily="2" charset="-122"/>
                  </a:rPr>
                  <a:t>设</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𝑦</m:t>
                    </m:r>
                    <m:r>
                      <a:rPr lang="en-US" altLang="zh-CN" sz="2000" i="1" dirty="0" smtClean="0">
                        <a:latin typeface="Cambria Math" panose="02040503050406030204" pitchFamily="18" charset="0"/>
                        <a:sym typeface="宋体" panose="02010600030101010101" pitchFamily="2" charset="-122"/>
                      </a:rPr>
                      <m:t>=5</m:t>
                    </m:r>
                    <m:r>
                      <a:rPr lang="en-US" altLang="zh-CN" sz="2000" i="1" dirty="0" smtClean="0">
                        <a:latin typeface="Cambria Math" panose="02040503050406030204" pitchFamily="18" charset="0"/>
                        <a:sym typeface="宋体" panose="02010600030101010101" pitchFamily="2" charset="-122"/>
                      </a:rPr>
                      <m:t>𝑧</m:t>
                    </m:r>
                    <m:r>
                      <a:rPr lang="en-US" altLang="zh-CN" sz="2000" i="1" dirty="0" smtClean="0">
                        <a:latin typeface="Cambria Math" panose="02040503050406030204" pitchFamily="18" charset="0"/>
                        <a:sym typeface="宋体" panose="02010600030101010101" pitchFamily="2" charset="-122"/>
                      </a:rPr>
                      <m:t>+2</m:t>
                    </m:r>
                  </m:oMath>
                </a14:m>
                <a:r>
                  <a:rPr lang="zh-CN" altLang="en-US" sz="2000" dirty="0">
                    <a:sym typeface="宋体" panose="02010600030101010101" pitchFamily="2" charset="-122"/>
                  </a:rPr>
                  <a:t>，代入</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(3)</m:t>
                    </m:r>
                  </m:oMath>
                </a14:m>
                <a:r>
                  <a:rPr lang="zh-CN" altLang="en-US" sz="2000" dirty="0">
                    <a:sym typeface="宋体" panose="02010600030101010101" pitchFamily="2" charset="-122"/>
                  </a:rPr>
                  <a:t>得到</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3</m:t>
                    </m:r>
                    <m:d>
                      <m:dPr>
                        <m:ctrlPr>
                          <a:rPr lang="en-US" altLang="zh-CN" sz="2000" i="1" dirty="0" smtClean="0">
                            <a:latin typeface="Cambria Math" panose="02040503050406030204" pitchFamily="18" charset="0"/>
                            <a:sym typeface="宋体" panose="02010600030101010101" pitchFamily="2" charset="-122"/>
                          </a:rPr>
                        </m:ctrlPr>
                      </m:dPr>
                      <m:e>
                        <m:r>
                          <a:rPr lang="en-US" altLang="zh-CN" sz="2000" i="1" dirty="0" smtClean="0">
                            <a:latin typeface="Cambria Math" panose="02040503050406030204" pitchFamily="18" charset="0"/>
                            <a:sym typeface="宋体" panose="02010600030101010101" pitchFamily="2" charset="-122"/>
                          </a:rPr>
                          <m:t>5</m:t>
                        </m:r>
                        <m:r>
                          <a:rPr lang="en-US" altLang="zh-CN" sz="2000" i="1" dirty="0" smtClean="0">
                            <a:latin typeface="Cambria Math" panose="02040503050406030204" pitchFamily="18" charset="0"/>
                            <a:sym typeface="宋体" panose="02010600030101010101" pitchFamily="2" charset="-122"/>
                          </a:rPr>
                          <m:t>𝑧</m:t>
                        </m:r>
                        <m:r>
                          <a:rPr lang="en-US" altLang="zh-CN" sz="2000" i="1" dirty="0" smtClean="0">
                            <a:latin typeface="Cambria Math" panose="02040503050406030204" pitchFamily="18" charset="0"/>
                            <a:sym typeface="宋体" panose="02010600030101010101" pitchFamily="2" charset="-122"/>
                          </a:rPr>
                          <m:t>+2</m:t>
                        </m:r>
                      </m:e>
                    </m:d>
                    <m:r>
                      <a:rPr lang="en-US" altLang="zh-CN" sz="2000" i="1" dirty="0" smtClean="0">
                        <a:latin typeface="Cambria Math" panose="02040503050406030204" pitchFamily="18" charset="0"/>
                        <a:sym typeface="宋体" panose="02010600030101010101" pitchFamily="2" charset="-122"/>
                      </a:rPr>
                      <m:t>+2≡5</m:t>
                    </m:r>
                    <m:d>
                      <m:dPr>
                        <m:ctrlPr>
                          <a:rPr lang="en-US" altLang="zh-CN" sz="2000" i="1" dirty="0" smtClean="0">
                            <a:latin typeface="Cambria Math" panose="02040503050406030204" pitchFamily="18" charset="0"/>
                            <a:sym typeface="宋体" panose="02010600030101010101" pitchFamily="2" charset="-122"/>
                          </a:rPr>
                        </m:ctrlPr>
                      </m:dPr>
                      <m:e>
                        <m:r>
                          <m:rPr>
                            <m:sty m:val="p"/>
                          </m:rPr>
                          <a:rPr lang="en-US" altLang="zh-CN" sz="2000" i="0" dirty="0" smtClean="0">
                            <a:latin typeface="Cambria Math" panose="02040503050406030204" pitchFamily="18" charset="0"/>
                            <a:sym typeface="宋体" panose="02010600030101010101" pitchFamily="2" charset="-122"/>
                          </a:rPr>
                          <m:t>mod</m:t>
                        </m:r>
                        <m:r>
                          <a:rPr lang="en-US" altLang="zh-CN" sz="2000" i="1" dirty="0" smtClean="0">
                            <a:latin typeface="Cambria Math" panose="02040503050406030204" pitchFamily="18" charset="0"/>
                            <a:sym typeface="宋体" panose="02010600030101010101" pitchFamily="2" charset="-122"/>
                          </a:rPr>
                          <m:t> 7</m:t>
                        </m:r>
                      </m:e>
                    </m:d>
                  </m:oMath>
                </a14:m>
                <a:r>
                  <a:rPr lang="zh-CN" altLang="en-US" sz="2000" dirty="0">
                    <a:sym typeface="宋体" panose="02010600030101010101" pitchFamily="2" charset="-122"/>
                  </a:rPr>
                  <a:t>，解得</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𝑧</m:t>
                    </m:r>
                    <m:r>
                      <a:rPr lang="en-US" altLang="zh-CN" sz="2000" i="1" dirty="0" smtClean="0">
                        <a:latin typeface="Cambria Math" panose="02040503050406030204" pitchFamily="18" charset="0"/>
                        <a:sym typeface="宋体" panose="02010600030101010101" pitchFamily="2" charset="-122"/>
                      </a:rPr>
                      <m:t>≡4(</m:t>
                    </m:r>
                    <m:r>
                      <m:rPr>
                        <m:sty m:val="p"/>
                      </m:rPr>
                      <a:rPr lang="en-US" altLang="zh-CN" sz="2000" i="0" dirty="0" smtClean="0">
                        <a:latin typeface="Cambria Math" panose="02040503050406030204" pitchFamily="18" charset="0"/>
                        <a:sym typeface="宋体" panose="02010600030101010101" pitchFamily="2" charset="-122"/>
                      </a:rPr>
                      <m:t>mod</m:t>
                    </m:r>
                    <m:r>
                      <a:rPr lang="en-US" altLang="zh-CN" sz="2000" i="1" dirty="0" smtClean="0">
                        <a:latin typeface="Cambria Math" panose="02040503050406030204" pitchFamily="18" charset="0"/>
                        <a:sym typeface="宋体" panose="02010600030101010101" pitchFamily="2" charset="-122"/>
                      </a:rPr>
                      <m:t> 7)</m:t>
                    </m:r>
                  </m:oMath>
                </a14:m>
                <a:endParaRPr lang="en-US" altLang="zh-CN" sz="2000" dirty="0">
                  <a:sym typeface="宋体" panose="02010600030101010101" pitchFamily="2" charset="-122"/>
                </a:endParaRPr>
              </a:p>
              <a:p>
                <a:pPr lvl="1" eaLnBrk="1" hangingPunct="1">
                  <a:lnSpc>
                    <a:spcPct val="150000"/>
                  </a:lnSpc>
                </a:pPr>
                <a:r>
                  <a:rPr lang="zh-CN" altLang="en-US" sz="2000" dirty="0">
                    <a:sym typeface="宋体" panose="02010600030101010101" pitchFamily="2" charset="-122"/>
                  </a:rPr>
                  <a:t>设</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𝑧</m:t>
                    </m:r>
                    <m:r>
                      <a:rPr lang="en-US" altLang="zh-CN" sz="2000" i="1" dirty="0" smtClean="0">
                        <a:latin typeface="Cambria Math" panose="02040503050406030204" pitchFamily="18" charset="0"/>
                        <a:sym typeface="宋体" panose="02010600030101010101" pitchFamily="2" charset="-122"/>
                      </a:rPr>
                      <m:t>=7</m:t>
                    </m:r>
                    <m:r>
                      <a:rPr lang="en-US" altLang="zh-CN" sz="2000" i="1" dirty="0" smtClean="0">
                        <a:latin typeface="Cambria Math" panose="02040503050406030204" pitchFamily="18" charset="0"/>
                        <a:sym typeface="宋体" panose="02010600030101010101" pitchFamily="2" charset="-122"/>
                      </a:rPr>
                      <m:t>𝑘</m:t>
                    </m:r>
                    <m:r>
                      <a:rPr lang="en-US" altLang="zh-CN" sz="2000" i="1" dirty="0" smtClean="0">
                        <a:latin typeface="Cambria Math" panose="02040503050406030204" pitchFamily="18" charset="0"/>
                        <a:sym typeface="宋体" panose="02010600030101010101" pitchFamily="2" charset="-122"/>
                      </a:rPr>
                      <m:t>+4</m:t>
                    </m:r>
                  </m:oMath>
                </a14:m>
                <a:r>
                  <a:rPr lang="zh-CN" altLang="en-US" sz="2000" dirty="0">
                    <a:sym typeface="宋体" panose="02010600030101010101" pitchFamily="2" charset="-122"/>
                  </a:rPr>
                  <a:t>，则</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𝑥</m:t>
                    </m:r>
                    <m:r>
                      <a:rPr lang="en-US" altLang="zh-CN" sz="2000" i="1" dirty="0" smtClean="0">
                        <a:latin typeface="Cambria Math" panose="02040503050406030204" pitchFamily="18" charset="0"/>
                        <a:sym typeface="宋体" panose="02010600030101010101" pitchFamily="2" charset="-122"/>
                      </a:rPr>
                      <m:t>=3(5(7</m:t>
                    </m:r>
                    <m:r>
                      <a:rPr lang="en-US" altLang="zh-CN" sz="2000" i="1" dirty="0" smtClean="0">
                        <a:latin typeface="Cambria Math" panose="02040503050406030204" pitchFamily="18" charset="0"/>
                        <a:sym typeface="宋体" panose="02010600030101010101" pitchFamily="2" charset="-122"/>
                      </a:rPr>
                      <m:t>𝑘</m:t>
                    </m:r>
                    <m:r>
                      <a:rPr lang="en-US" altLang="zh-CN" sz="2000" i="1" dirty="0" smtClean="0">
                        <a:latin typeface="Cambria Math" panose="02040503050406030204" pitchFamily="18" charset="0"/>
                        <a:sym typeface="宋体" panose="02010600030101010101" pitchFamily="2" charset="-122"/>
                      </a:rPr>
                      <m:t>+4)+2)+2=105</m:t>
                    </m:r>
                    <m:r>
                      <a:rPr lang="en-US" altLang="zh-CN" sz="2000" i="1" dirty="0" smtClean="0">
                        <a:latin typeface="Cambria Math" panose="02040503050406030204" pitchFamily="18" charset="0"/>
                        <a:sym typeface="宋体" panose="02010600030101010101" pitchFamily="2" charset="-122"/>
                      </a:rPr>
                      <m:t>𝑘</m:t>
                    </m:r>
                    <m:r>
                      <a:rPr lang="en-US" altLang="zh-CN" sz="2000" i="1" dirty="0" smtClean="0">
                        <a:latin typeface="Cambria Math" panose="02040503050406030204" pitchFamily="18" charset="0"/>
                        <a:sym typeface="宋体" panose="02010600030101010101" pitchFamily="2" charset="-122"/>
                      </a:rPr>
                      <m:t>+68</m:t>
                    </m:r>
                  </m:oMath>
                </a14:m>
                <a:endParaRPr lang="en-US" altLang="zh-CN" sz="2000" dirty="0">
                  <a:sym typeface="宋体" panose="02010600030101010101" pitchFamily="2" charset="-122"/>
                </a:endParaRPr>
              </a:p>
              <a:p>
                <a:pPr lvl="1" eaLnBrk="1" hangingPunct="1">
                  <a:lnSpc>
                    <a:spcPct val="150000"/>
                  </a:lnSpc>
                </a:pPr>
                <a:r>
                  <a:rPr lang="zh-CN" altLang="en-US" sz="2000" dirty="0">
                    <a:sym typeface="宋体" panose="02010600030101010101" pitchFamily="2" charset="-122"/>
                  </a:rPr>
                  <a:t>因此</a:t>
                </a:r>
                <a:r>
                  <a:rPr lang="zh-Hans" altLang="en-US" sz="2000" dirty="0">
                    <a:sym typeface="宋体" panose="02010600030101010101" pitchFamily="2" charset="-122"/>
                  </a:rPr>
                  <a:t> </a:t>
                </a:r>
                <a14:m>
                  <m:oMath xmlns:m="http://schemas.openxmlformats.org/officeDocument/2006/math">
                    <m:r>
                      <a:rPr lang="en-US" altLang="zh-CN" sz="2000" i="1" dirty="0" smtClean="0">
                        <a:latin typeface="Cambria Math" panose="02040503050406030204" pitchFamily="18" charset="0"/>
                        <a:sym typeface="宋体" panose="02010600030101010101" pitchFamily="2" charset="-122"/>
                      </a:rPr>
                      <m:t>𝑥</m:t>
                    </m:r>
                    <m:r>
                      <a:rPr lang="en-US" altLang="zh-CN" sz="2000" i="1" dirty="0" smtClean="0">
                        <a:latin typeface="Cambria Math" panose="02040503050406030204" pitchFamily="18" charset="0"/>
                        <a:sym typeface="宋体" panose="02010600030101010101" pitchFamily="2" charset="-122"/>
                      </a:rPr>
                      <m:t>≡68(</m:t>
                    </m:r>
                    <m:r>
                      <m:rPr>
                        <m:sty m:val="p"/>
                      </m:rPr>
                      <a:rPr lang="en-US" altLang="zh-CN" sz="2000" i="0" dirty="0" smtClean="0">
                        <a:latin typeface="Cambria Math" panose="02040503050406030204" pitchFamily="18" charset="0"/>
                        <a:sym typeface="宋体" panose="02010600030101010101" pitchFamily="2" charset="-122"/>
                      </a:rPr>
                      <m:t>mod</m:t>
                    </m:r>
                    <m:r>
                      <a:rPr lang="en-US" altLang="zh-CN" sz="2000" i="1" dirty="0" smtClean="0">
                        <a:latin typeface="Cambria Math" panose="02040503050406030204" pitchFamily="18" charset="0"/>
                        <a:sym typeface="宋体" panose="02010600030101010101" pitchFamily="2" charset="-122"/>
                      </a:rPr>
                      <m:t> 105)</m:t>
                    </m:r>
                  </m:oMath>
                </a14:m>
                <a:endParaRPr lang="zh-CN" altLang="en-US" sz="2000"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700376"/>
                <a:ext cx="9980682" cy="4850736"/>
              </a:xfrm>
              <a:blipFill>
                <a:blip r:embed="rId2"/>
                <a:stretch>
                  <a:fillRect l="-1398" t="-36031" b="-2088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F72688ED-0366-FB44-A2AD-F9A9D5143371}"/>
              </a:ext>
            </a:extLst>
          </p:cNvPr>
          <p:cNvSpPr>
            <a:spLocks noGrp="1"/>
          </p:cNvSpPr>
          <p:nvPr>
            <p:ph type="sldNum" sz="quarter" idx="12"/>
          </p:nvPr>
        </p:nvSpPr>
        <p:spPr/>
        <p:txBody>
          <a:bodyPr/>
          <a:lstStyle/>
          <a:p>
            <a:fld id="{0FF54DE5-C571-48E8-A5BC-B369434E2F44}" type="slidenum">
              <a:rPr lang="en-US" altLang="zh-CN" smtClean="0"/>
              <a:pPr/>
              <a:t>96</a:t>
            </a:fld>
            <a:endParaRPr lang="zh-CN" altLang="en-US" dirty="0"/>
          </a:p>
        </p:txBody>
      </p:sp>
    </p:spTree>
    <p:extLst>
      <p:ext uri="{BB962C8B-B14F-4D97-AF65-F5344CB8AC3E}">
        <p14:creationId xmlns:p14="http://schemas.microsoft.com/office/powerpoint/2010/main" val="1211382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p:txBody>
          <a:bodyPr/>
          <a:lstStyle/>
          <a:p>
            <a:pPr eaLnBrk="1" hangingPunct="1"/>
            <a:r>
              <a:rPr lang="zh-CN" altLang="en-US" dirty="0"/>
              <a:t>中国剩余定理</a:t>
            </a:r>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3382" y="1506415"/>
                <a:ext cx="9982200" cy="5175739"/>
              </a:xfrm>
            </p:spPr>
            <p:txBody>
              <a:bodyPr>
                <a:noAutofit/>
              </a:bodyPr>
              <a:lstStyle/>
              <a:p>
                <a:pPr>
                  <a:lnSpc>
                    <a:spcPct val="100000"/>
                  </a:lnSpc>
                  <a:spcBef>
                    <a:spcPts val="600"/>
                  </a:spcBef>
                </a:pPr>
                <a:r>
                  <a:rPr lang="zh-CN" altLang="en-US" dirty="0"/>
                  <a:t>对于同余方程组</a:t>
                </a:r>
                <a:r>
                  <a:rPr lang="zh-Hans" altLang="en-US" dirty="0"/>
                  <a:t> </a:t>
                </a:r>
                <a14:m>
                  <m:oMath xmlns:m="http://schemas.openxmlformats.org/officeDocument/2006/math">
                    <m:r>
                      <a:rPr lang="en-US" altLang="zh-CN" i="1" dirty="0" smtClean="0">
                        <a:latin typeface="Cambria Math" panose="02040503050406030204" pitchFamily="18" charset="0"/>
                      </a:rPr>
                      <m:t>𝑥</m:t>
                    </m:r>
                    <m:r>
                      <a:rPr lang="en-US" altLang="zh-CN" i="1" dirty="0" err="1" smtClean="0">
                        <a:latin typeface="Cambria Math" panose="02040503050406030204" pitchFamily="18" charset="0"/>
                        <a:sym typeface="宋体" panose="02010600030101010101" pitchFamily="2" charset="-122"/>
                      </a:rPr>
                      <m:t>≡</m:t>
                    </m:r>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𝑎</m:t>
                        </m:r>
                      </m:e>
                      <m:sub>
                        <m:r>
                          <a:rPr lang="en-US" altLang="zh-CN" b="0" i="1" dirty="0" smtClean="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𝑚</m:t>
                        </m:r>
                      </m:e>
                      <m:sub>
                        <m:r>
                          <a:rPr lang="en-US" altLang="zh-CN" b="0" i="1" dirty="0" smtClean="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 (</m:t>
                    </m:r>
                    <m:r>
                      <a:rPr lang="en-US" altLang="zh-CN" i="1" dirty="0" err="1"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=1…</m:t>
                    </m:r>
                    <m:r>
                      <a:rPr lang="en-US" altLang="zh-CN" i="1" dirty="0" smtClean="0">
                        <a:latin typeface="Cambria Math" panose="02040503050406030204" pitchFamily="18" charset="0"/>
                        <a:sym typeface="宋体" panose="02010600030101010101" pitchFamily="2" charset="-122"/>
                      </a:rPr>
                      <m:t>𝑛</m:t>
                    </m:r>
                    <m:r>
                      <a:rPr lang="en-US" altLang="zh-CN" i="1" dirty="0" smtClean="0">
                        <a:latin typeface="Cambria Math" panose="02040503050406030204" pitchFamily="18" charset="0"/>
                        <a:sym typeface="宋体" panose="02010600030101010101" pitchFamily="2" charset="-122"/>
                      </a:rPr>
                      <m:t>)</m:t>
                    </m:r>
                  </m:oMath>
                </a14:m>
                <a:r>
                  <a:rPr lang="zh-CN" altLang="en-US" dirty="0">
                    <a:sym typeface="宋体" panose="02010600030101010101" pitchFamily="2" charset="-122"/>
                  </a:rPr>
                  <a:t>，若</a:t>
                </a:r>
                <a:r>
                  <a:rPr lang="zh-Hans"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𝑚</m:t>
                    </m:r>
                    <m:r>
                      <a:rPr lang="en-US" altLang="zh-CN" i="1" baseline="-25000" dirty="0" smtClean="0">
                        <a:latin typeface="Cambria Math" panose="02040503050406030204" pitchFamily="18" charset="0"/>
                        <a:sym typeface="宋体" panose="02010600030101010101" pitchFamily="2" charset="-122"/>
                      </a:rPr>
                      <m:t>𝑖</m:t>
                    </m:r>
                  </m:oMath>
                </a14:m>
                <a:r>
                  <a:rPr lang="zh-Hans" altLang="en-US" dirty="0">
                    <a:sym typeface="宋体" panose="02010600030101010101" pitchFamily="2" charset="-122"/>
                  </a:rPr>
                  <a:t> </a:t>
                </a:r>
                <a:r>
                  <a:rPr lang="zh-CN" altLang="en-US" b="1" dirty="0">
                    <a:sym typeface="宋体" panose="02010600030101010101" pitchFamily="2" charset="-122"/>
                  </a:rPr>
                  <a:t>两两互素</a:t>
                </a:r>
                <a:r>
                  <a:rPr lang="zh-CN" altLang="en-US" dirty="0">
                    <a:sym typeface="宋体" panose="02010600030101010101" pitchFamily="2" charset="-122"/>
                  </a:rPr>
                  <a:t>，则</a:t>
                </a:r>
                <a:r>
                  <a:rPr lang="zh-Hans"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𝑥</m:t>
                    </m:r>
                  </m:oMath>
                </a14:m>
                <a:r>
                  <a:rPr lang="zh-Hans" altLang="en-US" dirty="0">
                    <a:sym typeface="宋体" panose="02010600030101010101" pitchFamily="2" charset="-122"/>
                  </a:rPr>
                  <a:t> </a:t>
                </a:r>
                <a:r>
                  <a:rPr lang="zh-CN" altLang="en-US" dirty="0">
                    <a:sym typeface="宋体" panose="02010600030101010101" pitchFamily="2" charset="-122"/>
                  </a:rPr>
                  <a:t>在</a:t>
                </a:r>
                <a:r>
                  <a:rPr lang="zh-Hans" altLang="en-US" dirty="0">
                    <a:sym typeface="宋体" panose="02010600030101010101" pitchFamily="2" charset="-122"/>
                  </a:rPr>
                  <a:t> </a:t>
                </a:r>
                <a14:m>
                  <m:oMath xmlns:m="http://schemas.openxmlformats.org/officeDocument/2006/math">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r>
                      <a:rPr lang="en-US" altLang="zh-CN" i="1" dirty="0" smtClean="0">
                        <a:latin typeface="Cambria Math" panose="02040503050406030204" pitchFamily="18" charset="0"/>
                        <a:sym typeface="宋体" panose="02010600030101010101" pitchFamily="2" charset="-122"/>
                      </a:rPr>
                      <m:t>𝑀</m:t>
                    </m:r>
                    <m:r>
                      <a:rPr lang="en-US" altLang="zh-CN" b="0" i="1" dirty="0" smtClean="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𝑀</m:t>
                    </m:r>
                    <m:r>
                      <a:rPr lang="en-US" altLang="zh-CN" i="1" dirty="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𝑚</m:t>
                    </m:r>
                    <m:r>
                      <a:rPr lang="en-US" altLang="zh-CN" i="1" baseline="-25000" dirty="0">
                        <a:latin typeface="Cambria Math" panose="02040503050406030204" pitchFamily="18" charset="0"/>
                        <a:sym typeface="宋体" panose="02010600030101010101" pitchFamily="2" charset="-122"/>
                      </a:rPr>
                      <m:t>1</m:t>
                    </m:r>
                    <m:r>
                      <a:rPr lang="en-US" altLang="zh-CN" i="1" dirty="0">
                        <a:latin typeface="Cambria Math" panose="02040503050406030204" pitchFamily="18" charset="0"/>
                        <a:sym typeface="宋体" panose="02010600030101010101" pitchFamily="2" charset="-122"/>
                      </a:rPr>
                      <m:t>𝑚</m:t>
                    </m:r>
                    <m:r>
                      <a:rPr lang="en-US" altLang="zh-CN" i="1" baseline="-25000" dirty="0">
                        <a:latin typeface="Cambria Math" panose="02040503050406030204" pitchFamily="18" charset="0"/>
                        <a:sym typeface="宋体" panose="02010600030101010101" pitchFamily="2" charset="-122"/>
                      </a:rPr>
                      <m:t>2</m:t>
                    </m:r>
                    <m:r>
                      <a:rPr lang="en-US" altLang="zh-CN" i="1" dirty="0">
                        <a:latin typeface="Cambria Math" panose="02040503050406030204" pitchFamily="18" charset="0"/>
                        <a:sym typeface="宋体" panose="02010600030101010101" pitchFamily="2" charset="-122"/>
                      </a:rPr>
                      <m:t>…</m:t>
                    </m:r>
                    <m:r>
                      <a:rPr lang="en-US" altLang="zh-CN" i="1" dirty="0" err="1">
                        <a:latin typeface="Cambria Math" panose="02040503050406030204" pitchFamily="18" charset="0"/>
                        <a:sym typeface="宋体" panose="02010600030101010101" pitchFamily="2" charset="-122"/>
                      </a:rPr>
                      <m:t>𝑚</m:t>
                    </m:r>
                    <m:r>
                      <a:rPr lang="en-US" altLang="zh-CN" i="1" baseline="-25000" dirty="0" err="1">
                        <a:latin typeface="Cambria Math" panose="02040503050406030204" pitchFamily="18" charset="0"/>
                        <a:sym typeface="宋体" panose="02010600030101010101" pitchFamily="2" charset="-122"/>
                      </a:rPr>
                      <m:t>𝑛</m:t>
                    </m:r>
                    <m:r>
                      <a:rPr lang="en-US" altLang="zh-CN" b="0" i="1" dirty="0" smtClean="0">
                        <a:latin typeface="Cambria Math" panose="02040503050406030204" pitchFamily="18" charset="0"/>
                        <a:sym typeface="宋体" panose="02010600030101010101" pitchFamily="2" charset="-122"/>
                      </a:rPr>
                      <m:t>)</m:t>
                    </m:r>
                  </m:oMath>
                </a14:m>
                <a:r>
                  <a:rPr lang="zh-Hans" altLang="en-US" dirty="0">
                    <a:sym typeface="宋体" panose="02010600030101010101" pitchFamily="2" charset="-122"/>
                  </a:rPr>
                  <a:t> </a:t>
                </a:r>
                <a:r>
                  <a:rPr lang="zh-CN" altLang="en-US" dirty="0">
                    <a:sym typeface="宋体" panose="02010600030101010101" pitchFamily="2" charset="-122"/>
                  </a:rPr>
                  <a:t>下有唯一解</a:t>
                </a:r>
                <a:r>
                  <a:rPr lang="zh-Hans" altLang="en-US" dirty="0">
                    <a:sym typeface="宋体" panose="02010600030101010101" pitchFamily="2" charset="-122"/>
                  </a:rPr>
                  <a:t> </a:t>
                </a:r>
                <a:r>
                  <a:rPr lang="zh-CN" altLang="en-US" dirty="0">
                    <a:sym typeface="宋体" panose="02010600030101010101" pitchFamily="2" charset="-122"/>
                  </a:rPr>
                  <a:t>。</a:t>
                </a:r>
                <a:endParaRPr lang="zh-CN" altLang="en-US" baseline="-25000" dirty="0">
                  <a:sym typeface="宋体" panose="02010600030101010101" pitchFamily="2" charset="-122"/>
                </a:endParaRPr>
              </a:p>
              <a:p>
                <a:pPr eaLnBrk="1" hangingPunct="1">
                  <a:lnSpc>
                    <a:spcPct val="100000"/>
                  </a:lnSpc>
                  <a:spcBef>
                    <a:spcPts val="600"/>
                  </a:spcBef>
                </a:pPr>
                <a:r>
                  <a:rPr lang="zh-CN" altLang="zh-CN" dirty="0">
                    <a:sym typeface="宋体" panose="02010600030101010101" pitchFamily="2" charset="-122"/>
                  </a:rPr>
                  <a:t>中国剩余定理同时也给出了构造解的方法</a:t>
                </a:r>
                <a:r>
                  <a:rPr lang="zh-CN" altLang="en-US" dirty="0">
                    <a:sym typeface="宋体" panose="02010600030101010101" pitchFamily="2" charset="-122"/>
                  </a:rPr>
                  <a:t>，</a:t>
                </a:r>
                <a:r>
                  <a:rPr lang="zh-CN" altLang="zh-CN" dirty="0">
                    <a:sym typeface="宋体" panose="02010600030101010101" pitchFamily="2" charset="-122"/>
                  </a:rPr>
                  <a:t>令</a:t>
                </a:r>
                <a:r>
                  <a:rPr lang="zh-CN"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𝑀</m:t>
                    </m:r>
                    <m:r>
                      <a:rPr lang="en-US" altLang="zh-CN" i="1" dirty="0" smtClean="0">
                        <a:latin typeface="Cambria Math" panose="02040503050406030204" pitchFamily="18" charset="0"/>
                        <a:sym typeface="宋体" panose="02010600030101010101" pitchFamily="2" charset="-122"/>
                      </a:rPr>
                      <m:t>=</m:t>
                    </m:r>
                    <m:r>
                      <a:rPr lang="en-US" altLang="zh-CN" i="1" dirty="0" smtClean="0">
                        <a:latin typeface="Cambria Math" panose="02040503050406030204" pitchFamily="18" charset="0"/>
                        <a:sym typeface="宋体" panose="02010600030101010101" pitchFamily="2" charset="-122"/>
                      </a:rPr>
                      <m:t>𝑚</m:t>
                    </m:r>
                    <m:r>
                      <a:rPr lang="en-US" altLang="zh-CN" i="1" baseline="-25000" dirty="0" smtClean="0">
                        <a:latin typeface="Cambria Math" panose="02040503050406030204" pitchFamily="18" charset="0"/>
                        <a:sym typeface="宋体" panose="02010600030101010101" pitchFamily="2" charset="-122"/>
                      </a:rPr>
                      <m:t>1</m:t>
                    </m:r>
                    <m:r>
                      <a:rPr lang="en-US" altLang="zh-CN" i="1" dirty="0" smtClean="0">
                        <a:latin typeface="Cambria Math" panose="02040503050406030204" pitchFamily="18" charset="0"/>
                        <a:sym typeface="宋体" panose="02010600030101010101" pitchFamily="2" charset="-122"/>
                      </a:rPr>
                      <m:t>𝑚</m:t>
                    </m:r>
                    <m:r>
                      <a:rPr lang="en-US" altLang="zh-CN" i="1" baseline="-25000" dirty="0" smtClean="0">
                        <a:latin typeface="Cambria Math" panose="02040503050406030204" pitchFamily="18" charset="0"/>
                        <a:sym typeface="宋体" panose="02010600030101010101" pitchFamily="2" charset="-122"/>
                      </a:rPr>
                      <m:t>2</m:t>
                    </m:r>
                    <m:r>
                      <a:rPr lang="en-US" altLang="zh-CN" i="1" dirty="0"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𝑚</m:t>
                    </m:r>
                    <m:r>
                      <a:rPr lang="en-US" altLang="zh-CN" i="1" baseline="-25000" dirty="0" err="1" smtClean="0">
                        <a:latin typeface="Cambria Math" panose="02040503050406030204" pitchFamily="18" charset="0"/>
                        <a:sym typeface="宋体" panose="02010600030101010101" pitchFamily="2" charset="-122"/>
                      </a:rPr>
                      <m:t>𝑛</m:t>
                    </m:r>
                    <m:r>
                      <a:rPr lang="zh-CN" altLang="en-US" i="1" dirty="0"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𝑀</m:t>
                    </m:r>
                    <m:r>
                      <a:rPr lang="en-US" altLang="zh-CN" i="1" baseline="-25000" dirty="0" err="1"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m:t>
                    </m:r>
                    <m:f>
                      <m:fPr>
                        <m:ctrlPr>
                          <a:rPr lang="en-US" altLang="zh-CN" i="1" dirty="0" smtClean="0">
                            <a:latin typeface="Cambria Math" panose="02040503050406030204" pitchFamily="18" charset="0"/>
                            <a:sym typeface="宋体" panose="02010600030101010101" pitchFamily="2" charset="-122"/>
                          </a:rPr>
                        </m:ctrlPr>
                      </m:fPr>
                      <m:num>
                        <m:r>
                          <a:rPr lang="en-US" altLang="zh-CN" i="1" dirty="0" smtClean="0">
                            <a:latin typeface="Cambria Math" panose="02040503050406030204" pitchFamily="18" charset="0"/>
                            <a:sym typeface="宋体" panose="02010600030101010101" pitchFamily="2" charset="-122"/>
                          </a:rPr>
                          <m:t>𝑀</m:t>
                        </m:r>
                      </m:num>
                      <m:den>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𝑚</m:t>
                            </m:r>
                          </m:e>
                          <m:sub>
                            <m:r>
                              <a:rPr lang="en-US" altLang="zh-CN" b="0" i="1" dirty="0" smtClean="0">
                                <a:latin typeface="Cambria Math" panose="02040503050406030204" pitchFamily="18" charset="0"/>
                                <a:sym typeface="宋体" panose="02010600030101010101" pitchFamily="2" charset="-122"/>
                              </a:rPr>
                              <m:t>𝑖</m:t>
                            </m:r>
                          </m:sub>
                        </m:sSub>
                      </m:den>
                    </m:f>
                  </m:oMath>
                </a14:m>
                <a:r>
                  <a:rPr lang="zh-CN" altLang="en-US" dirty="0">
                    <a:sym typeface="宋体" panose="02010600030101010101" pitchFamily="2" charset="-122"/>
                  </a:rPr>
                  <a:t>，显然</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𝑀</m:t>
                    </m:r>
                    <m:r>
                      <a:rPr lang="en-US" altLang="zh-CN" i="1" baseline="-25000" dirty="0" err="1" smtClean="0">
                        <a:latin typeface="Cambria Math" panose="02040503050406030204" pitchFamily="18" charset="0"/>
                        <a:sym typeface="宋体" panose="02010600030101010101" pitchFamily="2" charset="-122"/>
                      </a:rPr>
                      <m:t>𝑖</m:t>
                    </m:r>
                    <m:r>
                      <a:rPr lang="en-US" altLang="zh-CN" i="1" dirty="0" err="1" smtClean="0">
                        <a:latin typeface="Cambria Math" panose="02040503050406030204" pitchFamily="18" charset="0"/>
                        <a:sym typeface="宋体" panose="02010600030101010101" pitchFamily="2" charset="-122"/>
                      </a:rPr>
                      <m:t>,</m:t>
                    </m:r>
                    <m:sSub>
                      <m:sSubPr>
                        <m:ctrlPr>
                          <a:rPr lang="en-US" altLang="zh-CN" i="1" dirty="0">
                            <a:latin typeface="Cambria Math" panose="02040503050406030204" pitchFamily="18" charset="0"/>
                            <a:sym typeface="宋体" panose="02010600030101010101" pitchFamily="2" charset="-122"/>
                          </a:rPr>
                        </m:ctrlPr>
                      </m:sSubPr>
                      <m:e>
                        <m:r>
                          <a:rPr lang="en-US" altLang="zh-CN" i="1" dirty="0">
                            <a:latin typeface="Cambria Math" panose="02040503050406030204" pitchFamily="18" charset="0"/>
                            <a:sym typeface="宋体" panose="02010600030101010101" pitchFamily="2" charset="-122"/>
                          </a:rPr>
                          <m:t>𝑚</m:t>
                        </m:r>
                      </m:e>
                      <m:sub>
                        <m:r>
                          <a:rPr lang="en-US" altLang="zh-CN" i="1" dirty="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)=1</m:t>
                    </m:r>
                  </m:oMath>
                </a14:m>
                <a:r>
                  <a:rPr lang="zh-CN" altLang="en-US" dirty="0">
                    <a:sym typeface="宋体" panose="02010600030101010101" pitchFamily="2" charset="-122"/>
                  </a:rPr>
                  <a:t>，所以</a:t>
                </a:r>
                <a:r>
                  <a:rPr lang="zh-Hans"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𝑀</m:t>
                    </m:r>
                    <m:r>
                      <a:rPr lang="en-US" altLang="zh-CN" i="1" baseline="-25000" dirty="0" err="1" smtClean="0">
                        <a:latin typeface="Cambria Math" panose="02040503050406030204" pitchFamily="18" charset="0"/>
                        <a:sym typeface="宋体" panose="02010600030101010101" pitchFamily="2" charset="-122"/>
                      </a:rPr>
                      <m:t>𝑖</m:t>
                    </m:r>
                  </m:oMath>
                </a14:m>
                <a:r>
                  <a:rPr lang="zh-Hans" altLang="en-US" dirty="0">
                    <a:sym typeface="宋体" panose="02010600030101010101" pitchFamily="2" charset="-122"/>
                  </a:rPr>
                  <a:t> </a:t>
                </a:r>
                <a:r>
                  <a:rPr lang="zh-CN" altLang="en-US" dirty="0">
                    <a:sym typeface="宋体" panose="02010600030101010101" pitchFamily="2" charset="-122"/>
                  </a:rPr>
                  <a:t>关于模</a:t>
                </a:r>
                <a:r>
                  <a:rPr lang="zh-Hans" altLang="en-US" dirty="0">
                    <a:sym typeface="宋体" panose="02010600030101010101" pitchFamily="2" charset="-122"/>
                  </a:rPr>
                  <a:t> </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𝑚</m:t>
                    </m:r>
                    <m:r>
                      <a:rPr lang="en-US" altLang="zh-CN" i="1" baseline="-25000" dirty="0" smtClean="0">
                        <a:latin typeface="Cambria Math" panose="02040503050406030204" pitchFamily="18" charset="0"/>
                        <a:sym typeface="宋体" panose="02010600030101010101" pitchFamily="2" charset="-122"/>
                      </a:rPr>
                      <m:t>𝑖</m:t>
                    </m:r>
                  </m:oMath>
                </a14:m>
                <a:r>
                  <a:rPr lang="zh-Hans" altLang="en-US" dirty="0">
                    <a:sym typeface="宋体" panose="02010600030101010101" pitchFamily="2" charset="-122"/>
                  </a:rPr>
                  <a:t> </a:t>
                </a:r>
                <a:r>
                  <a:rPr lang="zh-CN" altLang="en-US" dirty="0">
                    <a:sym typeface="宋体" panose="02010600030101010101" pitchFamily="2" charset="-122"/>
                  </a:rPr>
                  <a:t>的逆元存在。</a:t>
                </a:r>
                <a:endParaRPr lang="en-US" altLang="zh-CN" dirty="0">
                  <a:sym typeface="宋体" panose="02010600030101010101" pitchFamily="2" charset="-122"/>
                </a:endParaRPr>
              </a:p>
              <a:p>
                <a:pPr eaLnBrk="1" hangingPunct="1">
                  <a:lnSpc>
                    <a:spcPct val="150000"/>
                  </a:lnSpc>
                  <a:spcBef>
                    <a:spcPts val="0"/>
                  </a:spcBef>
                </a:pPr>
                <a:r>
                  <a:rPr lang="zh-CN" altLang="en-US" dirty="0">
                    <a:sym typeface="宋体" panose="02010600030101010101" pitchFamily="2" charset="-122"/>
                  </a:rPr>
                  <a:t>把逆元设为</a:t>
                </a:r>
                <a14:m>
                  <m:oMath xmlns:m="http://schemas.openxmlformats.org/officeDocument/2006/math">
                    <m:r>
                      <a:rPr lang="en-US" altLang="zh-CN" i="1" dirty="0" smtClean="0">
                        <a:latin typeface="Cambria Math" panose="02040503050406030204" pitchFamily="18" charset="0"/>
                        <a:sym typeface="宋体" panose="02010600030101010101" pitchFamily="2" charset="-122"/>
                      </a:rPr>
                      <m:t>𝑡</m:t>
                    </m:r>
                    <m:r>
                      <a:rPr lang="en-US" altLang="zh-CN" i="1" baseline="-25000" dirty="0" err="1" smtClean="0">
                        <a:latin typeface="Cambria Math" panose="02040503050406030204" pitchFamily="18" charset="0"/>
                        <a:sym typeface="宋体" panose="02010600030101010101" pitchFamily="2" charset="-122"/>
                      </a:rPr>
                      <m:t>𝑖</m:t>
                    </m:r>
                  </m:oMath>
                </a14:m>
                <a:r>
                  <a:rPr lang="zh-CN" altLang="en-US" dirty="0">
                    <a:sym typeface="宋体" panose="02010600030101010101" pitchFamily="2" charset="-122"/>
                  </a:rPr>
                  <a:t>，于是有：</a:t>
                </a:r>
                <a:endParaRPr lang="en-US" altLang="zh-CN" dirty="0">
                  <a:sym typeface="宋体" panose="02010600030101010101" pitchFamily="2" charset="-122"/>
                </a:endParaRPr>
              </a:p>
              <a:p>
                <a:pPr marL="0" indent="0" eaLnBrk="1" hangingPunct="1">
                  <a:lnSpc>
                    <a:spcPct val="150000"/>
                  </a:lnSpc>
                  <a:spcBef>
                    <a:spcPts val="0"/>
                  </a:spcBef>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sym typeface="宋体" panose="02010600030101010101" pitchFamily="2" charset="-122"/>
                        </a:rPr>
                        <m:t>𝑀</m:t>
                      </m:r>
                      <m:r>
                        <a:rPr lang="en-US" altLang="zh-CN" i="1" baseline="-25000" dirty="0"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𝑡</m:t>
                      </m:r>
                      <m:r>
                        <a:rPr lang="en-US" altLang="zh-CN" i="1" baseline="-25000" dirty="0"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≡1 (</m:t>
                      </m:r>
                      <m:r>
                        <m:rPr>
                          <m:sty m:val="p"/>
                        </m:rPr>
                        <a:rPr lang="en-US" altLang="zh-CN" i="0" dirty="0" smtClean="0">
                          <a:latin typeface="Cambria Math" panose="02040503050406030204" pitchFamily="18" charset="0"/>
                          <a:sym typeface="宋体" panose="02010600030101010101" pitchFamily="2" charset="-122"/>
                        </a:rPr>
                        <m:t>mod</m:t>
                      </m:r>
                      <m:r>
                        <a:rPr lang="en-US" altLang="zh-CN" b="0" i="1" dirty="0" smtClean="0">
                          <a:latin typeface="Cambria Math" panose="02040503050406030204" pitchFamily="18" charset="0"/>
                          <a:sym typeface="宋体" panose="02010600030101010101" pitchFamily="2" charset="-122"/>
                        </a:rPr>
                        <m:t> </m:t>
                      </m:r>
                      <m:sSub>
                        <m:sSubPr>
                          <m:ctrlPr>
                            <a:rPr lang="en-US" altLang="zh-CN" i="1" dirty="0">
                              <a:latin typeface="Cambria Math" panose="02040503050406030204" pitchFamily="18" charset="0"/>
                              <a:sym typeface="宋体" panose="02010600030101010101" pitchFamily="2" charset="-122"/>
                            </a:rPr>
                          </m:ctrlPr>
                        </m:sSubPr>
                        <m:e>
                          <m:r>
                            <a:rPr lang="en-US" altLang="zh-CN" i="1" dirty="0">
                              <a:latin typeface="Cambria Math" panose="02040503050406030204" pitchFamily="18" charset="0"/>
                              <a:sym typeface="宋体" panose="02010600030101010101" pitchFamily="2" charset="-122"/>
                            </a:rPr>
                            <m:t>𝑚</m:t>
                          </m:r>
                        </m:e>
                        <m:sub>
                          <m:r>
                            <a:rPr lang="en-US" altLang="zh-CN" i="1" dirty="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𝑀</m:t>
                      </m:r>
                      <m:r>
                        <a:rPr lang="en-US" altLang="zh-CN" i="1" baseline="-25000" dirty="0">
                          <a:latin typeface="Cambria Math" panose="02040503050406030204" pitchFamily="18" charset="0"/>
                          <a:sym typeface="宋体" panose="02010600030101010101" pitchFamily="2" charset="-122"/>
                        </a:rPr>
                        <m:t>𝑖</m:t>
                      </m:r>
                      <m:r>
                        <a:rPr lang="en-US" altLang="zh-CN" i="1" dirty="0">
                          <a:latin typeface="Cambria Math" panose="02040503050406030204" pitchFamily="18" charset="0"/>
                          <a:sym typeface="宋体" panose="02010600030101010101" pitchFamily="2" charset="-122"/>
                        </a:rPr>
                        <m:t>𝑡</m:t>
                      </m:r>
                      <m:r>
                        <a:rPr lang="en-US" altLang="zh-CN" i="1" baseline="-25000" dirty="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≡0 (</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r>
                        <a:rPr lang="en-US" altLang="zh-CN" i="1" dirty="0" err="1" smtClean="0">
                          <a:latin typeface="Cambria Math" panose="02040503050406030204" pitchFamily="18" charset="0"/>
                          <a:sym typeface="宋体" panose="02010600030101010101" pitchFamily="2" charset="-122"/>
                        </a:rPr>
                        <m:t>𝑚</m:t>
                      </m:r>
                      <m:r>
                        <a:rPr lang="en-US" altLang="zh-CN" i="1" baseline="-25000" dirty="0" err="1" smtClean="0">
                          <a:latin typeface="Cambria Math" panose="02040503050406030204" pitchFamily="18" charset="0"/>
                          <a:sym typeface="宋体" panose="02010600030101010101" pitchFamily="2" charset="-122"/>
                        </a:rPr>
                        <m:t>𝑗</m:t>
                      </m:r>
                      <m:r>
                        <a:rPr lang="en-US" altLang="zh-CN" i="1" dirty="0" smtClean="0">
                          <a:latin typeface="Cambria Math" panose="02040503050406030204" pitchFamily="18" charset="0"/>
                          <a:sym typeface="宋体" panose="02010600030101010101" pitchFamily="2" charset="-122"/>
                        </a:rPr>
                        <m:t>) (</m:t>
                      </m:r>
                      <m:r>
                        <a:rPr lang="en-US" altLang="zh-CN" i="1" dirty="0" err="1" smtClean="0">
                          <a:latin typeface="Cambria Math" panose="02040503050406030204" pitchFamily="18" charset="0"/>
                          <a:sym typeface="宋体" panose="02010600030101010101" pitchFamily="2" charset="-122"/>
                        </a:rPr>
                        <m:t>𝑗</m:t>
                      </m:r>
                      <m:r>
                        <a:rPr lang="en-US" altLang="zh-CN" i="1" dirty="0" err="1"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m:t>
                      </m:r>
                    </m:oMath>
                  </m:oMathPara>
                </a14:m>
                <a:endParaRPr lang="en-US" altLang="zh-CN" dirty="0">
                  <a:sym typeface="宋体" panose="02010600030101010101" pitchFamily="2" charset="-122"/>
                </a:endParaRPr>
              </a:p>
              <a:p>
                <a:pPr eaLnBrk="1" hangingPunct="1">
                  <a:lnSpc>
                    <a:spcPct val="150000"/>
                  </a:lnSpc>
                  <a:spcBef>
                    <a:spcPts val="0"/>
                  </a:spcBef>
                </a:pPr>
                <a:r>
                  <a:rPr lang="zh-CN" altLang="en-US" dirty="0">
                    <a:sym typeface="宋体" panose="02010600030101010101" pitchFamily="2" charset="-122"/>
                  </a:rPr>
                  <a:t>进一步：</a:t>
                </a:r>
                <a:endParaRPr lang="en-US" altLang="zh-CN" i="1" dirty="0">
                  <a:latin typeface="Cambria Math" panose="02040503050406030204" pitchFamily="18" charset="0"/>
                  <a:sym typeface="宋体" panose="02010600030101010101" pitchFamily="2" charset="-122"/>
                </a:endParaRPr>
              </a:p>
              <a:p>
                <a:pPr marL="0" indent="0" eaLnBrk="1" hangingPunct="1">
                  <a:lnSpc>
                    <a:spcPct val="150000"/>
                  </a:lnSpc>
                  <a:spcBef>
                    <a:spcPts val="0"/>
                  </a:spcBef>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sym typeface="宋体" panose="02010600030101010101" pitchFamily="2" charset="-122"/>
                        </a:rPr>
                        <m:t>𝑎</m:t>
                      </m:r>
                      <m:r>
                        <a:rPr lang="en-US" altLang="zh-CN" i="1" baseline="-25000" dirty="0" err="1" smtClean="0">
                          <a:latin typeface="Cambria Math" panose="02040503050406030204" pitchFamily="18" charset="0"/>
                          <a:sym typeface="宋体" panose="02010600030101010101" pitchFamily="2" charset="-122"/>
                        </a:rPr>
                        <m:t>𝑖</m:t>
                      </m:r>
                      <m:r>
                        <a:rPr lang="en-US" altLang="zh-CN" i="1" dirty="0" err="1" smtClean="0">
                          <a:latin typeface="Cambria Math" panose="02040503050406030204" pitchFamily="18" charset="0"/>
                          <a:sym typeface="宋体" panose="02010600030101010101" pitchFamily="2" charset="-122"/>
                        </a:rPr>
                        <m:t>𝑀</m:t>
                      </m:r>
                      <m:r>
                        <a:rPr lang="en-US" altLang="zh-CN" i="1" baseline="-25000" dirty="0" err="1" smtClean="0">
                          <a:latin typeface="Cambria Math" panose="02040503050406030204" pitchFamily="18" charset="0"/>
                          <a:sym typeface="宋体" panose="02010600030101010101" pitchFamily="2" charset="-122"/>
                        </a:rPr>
                        <m:t>𝑖</m:t>
                      </m:r>
                      <m:r>
                        <a:rPr lang="en-US" altLang="zh-CN" i="1" dirty="0" err="1" smtClean="0">
                          <a:latin typeface="Cambria Math" panose="02040503050406030204" pitchFamily="18" charset="0"/>
                          <a:sym typeface="宋体" panose="02010600030101010101" pitchFamily="2" charset="-122"/>
                        </a:rPr>
                        <m:t>𝑡</m:t>
                      </m:r>
                      <m:r>
                        <a:rPr lang="en-US" altLang="zh-CN" i="1" baseline="-25000" dirty="0" err="1" smtClean="0">
                          <a:latin typeface="Cambria Math" panose="02040503050406030204" pitchFamily="18" charset="0"/>
                          <a:sym typeface="宋体" panose="02010600030101010101" pitchFamily="2" charset="-122"/>
                        </a:rPr>
                        <m:t>𝑖</m:t>
                      </m:r>
                      <m:r>
                        <a:rPr lang="en-US" altLang="zh-CN" i="1" dirty="0" err="1" smtClean="0">
                          <a:latin typeface="Cambria Math" panose="02040503050406030204" pitchFamily="18" charset="0"/>
                          <a:sym typeface="宋体" panose="02010600030101010101" pitchFamily="2" charset="-122"/>
                        </a:rPr>
                        <m:t>≡</m:t>
                      </m:r>
                      <m:sSub>
                        <m:sSubPr>
                          <m:ctrlPr>
                            <a:rPr lang="en-US" altLang="zh-CN" i="1" dirty="0">
                              <a:latin typeface="Cambria Math" panose="02040503050406030204" pitchFamily="18" charset="0"/>
                              <a:sym typeface="宋体" panose="02010600030101010101" pitchFamily="2" charset="-122"/>
                            </a:rPr>
                          </m:ctrlPr>
                        </m:sSubPr>
                        <m:e>
                          <m:r>
                            <a:rPr lang="en-US" altLang="zh-CN" i="1" dirty="0">
                              <a:latin typeface="Cambria Math" panose="02040503050406030204" pitchFamily="18" charset="0"/>
                              <a:sym typeface="宋体" panose="02010600030101010101" pitchFamily="2" charset="-122"/>
                            </a:rPr>
                            <m:t>𝑎</m:t>
                          </m:r>
                        </m:e>
                        <m:sub>
                          <m:r>
                            <a:rPr lang="en-US" altLang="zh-CN" i="1" dirty="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m:t>
                      </m:r>
                      <m:r>
                        <m:rPr>
                          <m:sty m:val="p"/>
                        </m:rPr>
                        <a:rPr lang="en-US" altLang="zh-CN" i="0" dirty="0" smtClean="0">
                          <a:latin typeface="Cambria Math" panose="02040503050406030204" pitchFamily="18" charset="0"/>
                          <a:sym typeface="宋体" panose="02010600030101010101" pitchFamily="2" charset="-122"/>
                        </a:rPr>
                        <m:t>mod</m:t>
                      </m:r>
                      <m:r>
                        <a:rPr lang="en-US" altLang="zh-CN" b="0" i="1" dirty="0" smtClean="0">
                          <a:latin typeface="Cambria Math" panose="02040503050406030204" pitchFamily="18" charset="0"/>
                          <a:sym typeface="宋体" panose="02010600030101010101" pitchFamily="2" charset="-122"/>
                        </a:rPr>
                        <m:t> </m:t>
                      </m:r>
                      <m:sSub>
                        <m:sSubPr>
                          <m:ctrlPr>
                            <a:rPr lang="en-US" altLang="zh-CN" i="1" dirty="0">
                              <a:latin typeface="Cambria Math" panose="02040503050406030204" pitchFamily="18" charset="0"/>
                              <a:sym typeface="宋体" panose="02010600030101010101" pitchFamily="2" charset="-122"/>
                            </a:rPr>
                          </m:ctrlPr>
                        </m:sSubPr>
                        <m:e>
                          <m:r>
                            <a:rPr lang="en-US" altLang="zh-CN" i="1" dirty="0">
                              <a:latin typeface="Cambria Math" panose="02040503050406030204" pitchFamily="18" charset="0"/>
                              <a:sym typeface="宋体" panose="02010600030101010101" pitchFamily="2" charset="-122"/>
                            </a:rPr>
                            <m:t>𝑚</m:t>
                          </m:r>
                        </m:e>
                        <m:sub>
                          <m:r>
                            <a:rPr lang="en-US" altLang="zh-CN" i="1" dirty="0">
                              <a:latin typeface="Cambria Math" panose="02040503050406030204" pitchFamily="18" charset="0"/>
                              <a:sym typeface="宋体" panose="02010600030101010101" pitchFamily="2" charset="-122"/>
                            </a:rPr>
                            <m:t>𝑖</m:t>
                          </m:r>
                        </m:sub>
                      </m:sSub>
                      <m:r>
                        <a:rPr lang="en-US" altLang="zh-CN" i="1" dirty="0" smtClean="0">
                          <a:latin typeface="Cambria Math" panose="02040503050406030204" pitchFamily="18" charset="0"/>
                          <a:sym typeface="宋体" panose="02010600030101010101" pitchFamily="2" charset="-122"/>
                        </a:rPr>
                        <m:t>),</m:t>
                      </m:r>
                      <m:r>
                        <a:rPr lang="en-US" altLang="zh-CN" i="1" dirty="0">
                          <a:latin typeface="Cambria Math" panose="02040503050406030204" pitchFamily="18" charset="0"/>
                          <a:sym typeface="宋体" panose="02010600030101010101" pitchFamily="2" charset="-122"/>
                        </a:rPr>
                        <m:t>𝑎</m:t>
                      </m:r>
                      <m:r>
                        <a:rPr lang="en-US" altLang="zh-CN" i="1" baseline="-25000" dirty="0" err="1">
                          <a:latin typeface="Cambria Math" panose="02040503050406030204" pitchFamily="18" charset="0"/>
                          <a:sym typeface="宋体" panose="02010600030101010101" pitchFamily="2" charset="-122"/>
                        </a:rPr>
                        <m:t>𝑖</m:t>
                      </m:r>
                      <m:r>
                        <a:rPr lang="en-US" altLang="zh-CN" i="1" dirty="0" err="1">
                          <a:latin typeface="Cambria Math" panose="02040503050406030204" pitchFamily="18" charset="0"/>
                          <a:sym typeface="宋体" panose="02010600030101010101" pitchFamily="2" charset="-122"/>
                        </a:rPr>
                        <m:t>𝑀</m:t>
                      </m:r>
                      <m:r>
                        <a:rPr lang="en-US" altLang="zh-CN" i="1" baseline="-25000" dirty="0" err="1">
                          <a:latin typeface="Cambria Math" panose="02040503050406030204" pitchFamily="18" charset="0"/>
                          <a:sym typeface="宋体" panose="02010600030101010101" pitchFamily="2" charset="-122"/>
                        </a:rPr>
                        <m:t>𝑖</m:t>
                      </m:r>
                      <m:r>
                        <a:rPr lang="en-US" altLang="zh-CN" i="1" dirty="0" err="1">
                          <a:latin typeface="Cambria Math" panose="02040503050406030204" pitchFamily="18" charset="0"/>
                          <a:sym typeface="宋体" panose="02010600030101010101" pitchFamily="2" charset="-122"/>
                        </a:rPr>
                        <m:t>𝑡</m:t>
                      </m:r>
                      <m:r>
                        <a:rPr lang="en-US" altLang="zh-CN" i="1" baseline="-25000" dirty="0" err="1">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≡0 (</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r>
                        <a:rPr lang="en-US" altLang="zh-CN" i="1" dirty="0" err="1" smtClean="0">
                          <a:latin typeface="Cambria Math" panose="02040503050406030204" pitchFamily="18" charset="0"/>
                          <a:sym typeface="宋体" panose="02010600030101010101" pitchFamily="2" charset="-122"/>
                        </a:rPr>
                        <m:t>𝑚</m:t>
                      </m:r>
                      <m:r>
                        <a:rPr lang="en-US" altLang="zh-CN" i="1" baseline="-25000" dirty="0" err="1" smtClean="0">
                          <a:latin typeface="Cambria Math" panose="02040503050406030204" pitchFamily="18" charset="0"/>
                          <a:sym typeface="宋体" panose="02010600030101010101" pitchFamily="2" charset="-122"/>
                        </a:rPr>
                        <m:t>𝑗</m:t>
                      </m:r>
                      <m:r>
                        <a:rPr lang="en-US" altLang="zh-CN" i="1" dirty="0" smtClean="0">
                          <a:latin typeface="Cambria Math" panose="02040503050406030204" pitchFamily="18" charset="0"/>
                          <a:sym typeface="宋体" panose="02010600030101010101" pitchFamily="2" charset="-122"/>
                        </a:rPr>
                        <m:t>) (</m:t>
                      </m:r>
                      <m:r>
                        <a:rPr lang="en-US" altLang="zh-CN" i="1" dirty="0" err="1" smtClean="0">
                          <a:latin typeface="Cambria Math" panose="02040503050406030204" pitchFamily="18" charset="0"/>
                          <a:sym typeface="宋体" panose="02010600030101010101" pitchFamily="2" charset="-122"/>
                        </a:rPr>
                        <m:t>𝑗</m:t>
                      </m:r>
                      <m:r>
                        <a:rPr lang="en-US" altLang="zh-CN" i="1" dirty="0" err="1" smtClean="0">
                          <a:latin typeface="Cambria Math" panose="02040503050406030204" pitchFamily="18" charset="0"/>
                          <a:sym typeface="宋体" panose="02010600030101010101" pitchFamily="2" charset="-122"/>
                        </a:rPr>
                        <m:t>≠</m:t>
                      </m:r>
                      <m:r>
                        <a:rPr lang="en-US" altLang="zh-CN" i="1" dirty="0" err="1" smtClean="0">
                          <a:latin typeface="Cambria Math" panose="02040503050406030204" pitchFamily="18" charset="0"/>
                          <a:sym typeface="宋体" panose="02010600030101010101" pitchFamily="2" charset="-122"/>
                        </a:rPr>
                        <m:t>𝑖</m:t>
                      </m:r>
                      <m:r>
                        <a:rPr lang="en-US" altLang="zh-CN" i="1" dirty="0" smtClean="0">
                          <a:latin typeface="Cambria Math" panose="02040503050406030204" pitchFamily="18" charset="0"/>
                          <a:sym typeface="宋体" panose="02010600030101010101" pitchFamily="2" charset="-122"/>
                        </a:rPr>
                        <m:t>)</m:t>
                      </m:r>
                    </m:oMath>
                  </m:oMathPara>
                </a14:m>
                <a:endParaRPr lang="en-US" altLang="zh-CN" dirty="0">
                  <a:sym typeface="宋体" panose="02010600030101010101" pitchFamily="2" charset="-122"/>
                </a:endParaRPr>
              </a:p>
              <a:p>
                <a:pPr>
                  <a:lnSpc>
                    <a:spcPct val="150000"/>
                  </a:lnSpc>
                  <a:spcBef>
                    <a:spcPts val="0"/>
                  </a:spcBef>
                </a:pPr>
                <a:r>
                  <a:rPr lang="zh-CN" altLang="en-US" dirty="0">
                    <a:sym typeface="宋体" panose="02010600030101010101" pitchFamily="2" charset="-122"/>
                  </a:rPr>
                  <a:t>解为</a:t>
                </a:r>
                <a:endParaRPr lang="en-US" altLang="zh-CN" i="1" dirty="0">
                  <a:latin typeface="Cambria Math" panose="02040503050406030204" pitchFamily="18" charset="0"/>
                  <a:sym typeface="宋体" panose="02010600030101010101" pitchFamily="2" charset="-122"/>
                </a:endParaRPr>
              </a:p>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sym typeface="宋体" panose="02010600030101010101" pitchFamily="2" charset="-122"/>
                        </a:rPr>
                        <m:t>𝑥</m:t>
                      </m:r>
                      <m:r>
                        <a:rPr lang="en-US" altLang="zh-CN" i="1" dirty="0" smtClean="0">
                          <a:latin typeface="Cambria Math" panose="02040503050406030204" pitchFamily="18" charset="0"/>
                          <a:sym typeface="宋体" panose="02010600030101010101" pitchFamily="2" charset="-122"/>
                        </a:rPr>
                        <m:t>≡</m:t>
                      </m:r>
                      <m:nary>
                        <m:naryPr>
                          <m:chr m:val="∑"/>
                          <m:ctrlPr>
                            <a:rPr lang="en-US" altLang="zh-CN" i="1" dirty="0" smtClean="0">
                              <a:latin typeface="Cambria Math" panose="02040503050406030204" pitchFamily="18" charset="0"/>
                              <a:sym typeface="宋体" panose="02010600030101010101" pitchFamily="2" charset="-122"/>
                            </a:rPr>
                          </m:ctrlPr>
                        </m:naryPr>
                        <m:sub>
                          <m:r>
                            <m:rPr>
                              <m:brk m:alnAt="23"/>
                            </m:rPr>
                            <a:rPr lang="en-US" altLang="zh-CN" b="0" i="1" dirty="0" smtClean="0">
                              <a:latin typeface="Cambria Math" panose="02040503050406030204" pitchFamily="18" charset="0"/>
                              <a:sym typeface="宋体" panose="02010600030101010101" pitchFamily="2" charset="-122"/>
                            </a:rPr>
                            <m:t>𝑖</m:t>
                          </m:r>
                          <m:r>
                            <a:rPr lang="en-US" altLang="zh-CN" b="0" i="1" dirty="0" smtClean="0">
                              <a:latin typeface="Cambria Math" panose="02040503050406030204" pitchFamily="18" charset="0"/>
                              <a:sym typeface="宋体" panose="02010600030101010101" pitchFamily="2" charset="-122"/>
                            </a:rPr>
                            <m:t>=1</m:t>
                          </m:r>
                        </m:sub>
                        <m:sup>
                          <m:r>
                            <a:rPr lang="en-US" altLang="zh-CN" b="0" i="1" dirty="0" smtClean="0">
                              <a:latin typeface="Cambria Math" panose="02040503050406030204" pitchFamily="18" charset="0"/>
                              <a:sym typeface="宋体" panose="02010600030101010101" pitchFamily="2" charset="-122"/>
                            </a:rPr>
                            <m:t>𝑛</m:t>
                          </m:r>
                        </m:sup>
                        <m:e>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𝑎</m:t>
                              </m:r>
                            </m:e>
                            <m:sub>
                              <m:r>
                                <a:rPr lang="en-US" altLang="zh-CN" b="0" i="1" dirty="0" smtClean="0">
                                  <a:latin typeface="Cambria Math" panose="02040503050406030204" pitchFamily="18" charset="0"/>
                                  <a:sym typeface="宋体" panose="02010600030101010101" pitchFamily="2" charset="-122"/>
                                </a:rPr>
                                <m:t>𝑖</m:t>
                              </m:r>
                            </m:sub>
                          </m:sSub>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𝑀</m:t>
                              </m:r>
                            </m:e>
                            <m:sub>
                              <m:r>
                                <a:rPr lang="en-US" altLang="zh-CN" b="0" i="1" dirty="0" smtClean="0">
                                  <a:latin typeface="Cambria Math" panose="02040503050406030204" pitchFamily="18" charset="0"/>
                                  <a:sym typeface="宋体" panose="02010600030101010101" pitchFamily="2" charset="-122"/>
                                </a:rPr>
                                <m:t>𝑖</m:t>
                              </m:r>
                            </m:sub>
                          </m:sSub>
                          <m:sSub>
                            <m:sSubPr>
                              <m:ctrlPr>
                                <a:rPr lang="en-US" altLang="zh-CN" i="1" dirty="0" smtClean="0">
                                  <a:latin typeface="Cambria Math" panose="02040503050406030204" pitchFamily="18" charset="0"/>
                                  <a:sym typeface="宋体" panose="02010600030101010101" pitchFamily="2" charset="-122"/>
                                </a:rPr>
                              </m:ctrlPr>
                            </m:sSubPr>
                            <m:e>
                              <m:r>
                                <a:rPr lang="en-US" altLang="zh-CN" b="0" i="1" dirty="0" smtClean="0">
                                  <a:latin typeface="Cambria Math" panose="02040503050406030204" pitchFamily="18" charset="0"/>
                                  <a:sym typeface="宋体" panose="02010600030101010101" pitchFamily="2" charset="-122"/>
                                </a:rPr>
                                <m:t>𝑡</m:t>
                              </m:r>
                            </m:e>
                            <m:sub>
                              <m:r>
                                <a:rPr lang="en-US" altLang="zh-CN" b="0" i="1" dirty="0" smtClean="0">
                                  <a:latin typeface="Cambria Math" panose="02040503050406030204" pitchFamily="18" charset="0"/>
                                  <a:sym typeface="宋体" panose="02010600030101010101" pitchFamily="2" charset="-122"/>
                                </a:rPr>
                                <m:t>𝑖</m:t>
                              </m:r>
                            </m:sub>
                          </m:sSub>
                        </m:e>
                      </m:nary>
                      <m:r>
                        <a:rPr lang="en-US" altLang="zh-CN" i="1" dirty="0" smtClean="0">
                          <a:latin typeface="Cambria Math" panose="02040503050406030204" pitchFamily="18" charset="0"/>
                          <a:sym typeface="宋体" panose="02010600030101010101" pitchFamily="2" charset="-122"/>
                        </a:rPr>
                        <m:t> (</m:t>
                      </m:r>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m:t>
                      </m:r>
                      <m:r>
                        <a:rPr lang="en-US" altLang="zh-CN" i="1" dirty="0" smtClean="0">
                          <a:latin typeface="Cambria Math" panose="02040503050406030204" pitchFamily="18" charset="0"/>
                          <a:sym typeface="宋体" panose="02010600030101010101" pitchFamily="2" charset="-122"/>
                        </a:rPr>
                        <m:t>𝑀</m:t>
                      </m:r>
                      <m:r>
                        <a:rPr lang="en-US" altLang="zh-CN" i="1" dirty="0" smtClean="0">
                          <a:latin typeface="Cambria Math" panose="02040503050406030204" pitchFamily="18" charset="0"/>
                          <a:sym typeface="宋体" panose="02010600030101010101" pitchFamily="2" charset="-122"/>
                        </a:rPr>
                        <m:t>)</m:t>
                      </m:r>
                    </m:oMath>
                  </m:oMathPara>
                </a14:m>
                <a:endParaRPr lang="en-US" altLang="zh-CN"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3382" y="1506415"/>
                <a:ext cx="9982200" cy="5175739"/>
              </a:xfrm>
              <a:blipFill>
                <a:blip r:embed="rId2"/>
                <a:stretch>
                  <a:fillRect l="-1398" t="-490" b="-18873"/>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0C4FB4A7-01BE-074B-A93D-DD89767FB791}"/>
              </a:ext>
            </a:extLst>
          </p:cNvPr>
          <p:cNvSpPr>
            <a:spLocks noGrp="1"/>
          </p:cNvSpPr>
          <p:nvPr>
            <p:ph type="sldNum" sz="quarter" idx="12"/>
          </p:nvPr>
        </p:nvSpPr>
        <p:spPr/>
        <p:txBody>
          <a:bodyPr/>
          <a:lstStyle/>
          <a:p>
            <a:fld id="{0FF54DE5-C571-48E8-A5BC-B369434E2F44}" type="slidenum">
              <a:rPr lang="en-US" altLang="zh-CN" smtClean="0"/>
              <a:pPr/>
              <a:t>97</a:t>
            </a:fld>
            <a:endParaRPr lang="zh-CN" altLang="en-US" dirty="0"/>
          </a:p>
        </p:txBody>
      </p:sp>
    </p:spTree>
    <p:extLst>
      <p:ext uri="{BB962C8B-B14F-4D97-AF65-F5344CB8AC3E}">
        <p14:creationId xmlns:p14="http://schemas.microsoft.com/office/powerpoint/2010/main" val="190226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p:nvPr>
        </p:nvSpPr>
        <p:spPr/>
        <p:txBody>
          <a:bodyPr/>
          <a:lstStyle/>
          <a:p>
            <a:pPr eaLnBrk="1" hangingPunct="1"/>
            <a:r>
              <a:rPr lang="zh-CN" altLang="en-US" dirty="0">
                <a:sym typeface="宋体" panose="02010600030101010101" pitchFamily="2" charset="-122"/>
              </a:rPr>
              <a:t>中国剩余定理</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4900" y="1725429"/>
                <a:ext cx="9980682" cy="4945002"/>
              </a:xfrm>
            </p:spPr>
            <p:txBody>
              <a:bodyPr>
                <a:normAutofit/>
              </a:bodyPr>
              <a:lstStyle/>
              <a:p>
                <a:pPr>
                  <a:lnSpc>
                    <a:spcPct val="110000"/>
                  </a:lnSpc>
                  <a:spcBef>
                    <a:spcPts val="1200"/>
                  </a:spcBef>
                </a:pPr>
                <a:r>
                  <a:rPr lang="zh-CN" altLang="en-US" dirty="0">
                    <a:latin typeface="Consolas" panose="020B0609020204030204" pitchFamily="49" charset="0"/>
                  </a:rPr>
                  <a:t>今有物不知其数，三三数之剩二，五五数之剩三，七七数之剩二，问物几何？</a:t>
                </a:r>
                <a:endParaRPr lang="en-US" altLang="zh-CN" dirty="0">
                  <a:latin typeface="Consolas" panose="020B0609020204030204" pitchFamily="49" charset="0"/>
                </a:endParaRPr>
              </a:p>
              <a:p>
                <a:pPr marL="0" indent="0">
                  <a:lnSpc>
                    <a:spcPct val="110000"/>
                  </a:lnSpc>
                  <a:spcBef>
                    <a:spcPts val="1200"/>
                  </a:spcBef>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≡2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3) …… (1)</m:t>
                              </m:r>
                              <m:r>
                                <m:rPr>
                                  <m:nor/>
                                </m:rPr>
                                <a:rPr lang="en-US" altLang="zh-CN" dirty="0">
                                  <a:latin typeface="Consolas" panose="020B0609020204030204" pitchFamily="49" charset="0"/>
                                  <a:sym typeface="宋体" panose="02010600030101010101" pitchFamily="2" charset="-122"/>
                                </a:rPr>
                                <m:t> </m:t>
                              </m:r>
                            </m:e>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≡3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5) …… (2)</m:t>
                              </m:r>
                              <m:r>
                                <m:rPr>
                                  <m:nor/>
                                </m:rPr>
                                <a:rPr lang="en-US" altLang="zh-CN" dirty="0">
                                  <a:latin typeface="Consolas" panose="020B0609020204030204" pitchFamily="49" charset="0"/>
                                  <a:sym typeface="宋体" panose="02010600030101010101" pitchFamily="2" charset="-122"/>
                                </a:rPr>
                                <m:t> </m:t>
                              </m:r>
                            </m:e>
                            <m:e>
                              <m:r>
                                <a:rPr lang="en-US" altLang="zh-CN" i="1" dirty="0">
                                  <a:latin typeface="Cambria Math" panose="02040503050406030204" pitchFamily="18" charset="0"/>
                                </a:rPr>
                                <m:t>𝑥</m:t>
                              </m:r>
                              <m:r>
                                <a:rPr lang="en-US" altLang="zh-CN" i="1" dirty="0">
                                  <a:latin typeface="Cambria Math" panose="02040503050406030204" pitchFamily="18" charset="0"/>
                                  <a:sym typeface="宋体" panose="02010600030101010101" pitchFamily="2" charset="-122"/>
                                </a:rPr>
                                <m:t>≡2 (</m:t>
                              </m:r>
                              <m:r>
                                <m:rPr>
                                  <m:sty m:val="p"/>
                                </m:rPr>
                                <a:rPr lang="en-US" altLang="zh-CN" dirty="0">
                                  <a:latin typeface="Cambria Math" panose="02040503050406030204" pitchFamily="18" charset="0"/>
                                  <a:sym typeface="宋体" panose="02010600030101010101" pitchFamily="2" charset="-122"/>
                                </a:rPr>
                                <m:t>mod</m:t>
                              </m:r>
                              <m:r>
                                <a:rPr lang="en-US" altLang="zh-CN" i="1" dirty="0">
                                  <a:latin typeface="Cambria Math" panose="02040503050406030204" pitchFamily="18" charset="0"/>
                                  <a:sym typeface="宋体" panose="02010600030101010101" pitchFamily="2" charset="-122"/>
                                </a:rPr>
                                <m:t> 7) …… (3)</m:t>
                              </m:r>
                              <m:r>
                                <m:rPr>
                                  <m:nor/>
                                </m:rPr>
                                <a:rPr lang="en-US" altLang="zh-CN" dirty="0">
                                  <a:latin typeface="Consolas" panose="020B0609020204030204" pitchFamily="49" charset="0"/>
                                </a:rPr>
                                <m:t> </m:t>
                              </m:r>
                            </m:e>
                          </m:eqArr>
                        </m:e>
                      </m:d>
                    </m:oMath>
                  </m:oMathPara>
                </a14:m>
                <a:endParaRPr lang="en-US" altLang="zh-CN" i="1" dirty="0">
                  <a:latin typeface="Cambria Math" panose="02040503050406030204" pitchFamily="18" charset="0"/>
                </a:endParaRPr>
              </a:p>
              <a:p>
                <a:pPr>
                  <a:lnSpc>
                    <a:spcPct val="110000"/>
                  </a:lnSpc>
                  <a:spcBef>
                    <a:spcPts val="1200"/>
                  </a:spcBef>
                </a:pPr>
                <a14:m>
                  <m:oMath xmlns:m="http://schemas.openxmlformats.org/officeDocument/2006/math">
                    <m:r>
                      <a:rPr lang="en-US" altLang="zh-CN" i="1" dirty="0" smtClean="0">
                        <a:latin typeface="Cambria Math" panose="02040503050406030204" pitchFamily="18" charset="0"/>
                      </a:rPr>
                      <m:t>𝑎</m:t>
                    </m:r>
                    <m:r>
                      <a:rPr lang="en-US" altLang="zh-CN" i="1" baseline="-25000" dirty="0" err="1" smtClean="0">
                        <a:latin typeface="Cambria Math" panose="02040503050406030204" pitchFamily="18" charset="0"/>
                      </a:rPr>
                      <m:t>𝑖</m:t>
                    </m:r>
                    <m:r>
                      <a:rPr lang="en-US" altLang="zh-CN" i="1" baseline="-25000" dirty="0" smtClean="0">
                        <a:latin typeface="Cambria Math" panose="02040503050406030204" pitchFamily="18" charset="0"/>
                      </a:rPr>
                      <m:t> </m:t>
                    </m:r>
                    <m:r>
                      <a:rPr lang="en-US" altLang="zh-CN" i="1" dirty="0" smtClean="0">
                        <a:latin typeface="Cambria Math" panose="02040503050406030204" pitchFamily="18" charset="0"/>
                      </a:rPr>
                      <m:t>= {2, 3, 2}, </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𝑚</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i="1" dirty="0" smtClean="0">
                        <a:latin typeface="Cambria Math" panose="02040503050406030204" pitchFamily="18" charset="0"/>
                      </a:rPr>
                      <m:t>3</m:t>
                    </m:r>
                    <m:r>
                      <a:rPr lang="en-US" altLang="zh-CN" i="1" dirty="0">
                        <a:latin typeface="Cambria Math" panose="02040503050406030204" pitchFamily="18" charset="0"/>
                      </a:rPr>
                      <m:t>, </m:t>
                    </m:r>
                    <m:r>
                      <a:rPr lang="en-US" altLang="zh-CN" i="1" dirty="0" smtClean="0">
                        <a:latin typeface="Cambria Math" panose="02040503050406030204" pitchFamily="18" charset="0"/>
                      </a:rPr>
                      <m:t>5</m:t>
                    </m:r>
                    <m:r>
                      <a:rPr lang="en-US" altLang="zh-CN" i="1" dirty="0">
                        <a:latin typeface="Cambria Math" panose="02040503050406030204" pitchFamily="18" charset="0"/>
                      </a:rPr>
                      <m:t>, </m:t>
                    </m:r>
                    <m:r>
                      <a:rPr lang="en-US" altLang="zh-CN" i="1" dirty="0" smtClean="0">
                        <a:latin typeface="Cambria Math" panose="02040503050406030204" pitchFamily="18" charset="0"/>
                      </a:rPr>
                      <m:t>7</m:t>
                    </m:r>
                    <m:r>
                      <a:rPr lang="en-US" altLang="zh-CN" i="1" dirty="0">
                        <a:latin typeface="Cambria Math" panose="02040503050406030204" pitchFamily="18" charset="0"/>
                      </a:rPr>
                      <m:t>}</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𝑀</m:t>
                    </m:r>
                    <m:r>
                      <a:rPr lang="en-US" altLang="zh-CN" i="1" dirty="0" smtClean="0">
                        <a:latin typeface="Cambria Math" panose="02040503050406030204" pitchFamily="18" charset="0"/>
                      </a:rPr>
                      <m:t> = 3×5×7 = 105</m:t>
                    </m:r>
                  </m:oMath>
                </a14:m>
                <a:endParaRPr lang="en-US" altLang="zh-CN" dirty="0"/>
              </a:p>
              <a:p>
                <a:pPr eaLnBrk="1" hangingPunct="1">
                  <a:lnSpc>
                    <a:spcPct val="110000"/>
                  </a:lnSpc>
                  <a:spcBef>
                    <a:spcPts val="1200"/>
                  </a:spcBef>
                </a:pPr>
                <a14:m>
                  <m:oMath xmlns:m="http://schemas.openxmlformats.org/officeDocument/2006/math">
                    <m:r>
                      <a:rPr lang="en-US" altLang="zh-CN" i="1" dirty="0" smtClean="0">
                        <a:latin typeface="Cambria Math" panose="02040503050406030204" pitchFamily="18" charset="0"/>
                      </a:rPr>
                      <m:t>𝑀</m:t>
                    </m:r>
                    <m:r>
                      <a:rPr lang="en-US" altLang="zh-CN" i="1" baseline="-25000" dirty="0" err="1" smtClean="0">
                        <a:latin typeface="Cambria Math" panose="02040503050406030204" pitchFamily="18" charset="0"/>
                      </a:rPr>
                      <m:t>𝑖</m:t>
                    </m:r>
                    <m:r>
                      <a:rPr lang="en-US" altLang="zh-CN" i="1" baseline="-25000" dirty="0" smtClean="0">
                        <a:latin typeface="Cambria Math" panose="02040503050406030204" pitchFamily="18" charset="0"/>
                      </a:rPr>
                      <m:t> </m:t>
                    </m:r>
                    <m:r>
                      <a:rPr lang="en-US" altLang="zh-CN" i="1" dirty="0" smtClean="0">
                        <a:latin typeface="Cambria Math" panose="02040503050406030204" pitchFamily="18" charset="0"/>
                      </a:rPr>
                      <m:t>= {</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105</m:t>
                        </m:r>
                      </m:num>
                      <m:den>
                        <m:r>
                          <a:rPr lang="en-US" altLang="zh-CN" i="1" dirty="0" smtClean="0">
                            <a:latin typeface="Cambria Math" panose="02040503050406030204" pitchFamily="18" charset="0"/>
                          </a:rPr>
                          <m:t>3</m:t>
                        </m:r>
                      </m:den>
                    </m:f>
                    <m:r>
                      <a:rPr lang="en-US" altLang="zh-CN" i="1" dirty="0" smtClean="0">
                        <a:latin typeface="Cambria Math" panose="02040503050406030204" pitchFamily="18" charset="0"/>
                      </a:rPr>
                      <m:t>, </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105</m:t>
                        </m:r>
                      </m:num>
                      <m:den>
                        <m:r>
                          <a:rPr lang="en-US" altLang="zh-CN" i="1" dirty="0" smtClean="0">
                            <a:latin typeface="Cambria Math" panose="02040503050406030204" pitchFamily="18" charset="0"/>
                          </a:rPr>
                          <m:t>5</m:t>
                        </m:r>
                      </m:den>
                    </m:f>
                    <m:r>
                      <a:rPr lang="en-US" altLang="zh-CN" i="1" dirty="0" smtClean="0">
                        <a:latin typeface="Cambria Math" panose="02040503050406030204" pitchFamily="18" charset="0"/>
                      </a:rPr>
                      <m:t>,</m:t>
                    </m:r>
                    <m:f>
                      <m:fPr>
                        <m:ctrlPr>
                          <a:rPr lang="en-US" altLang="zh-CN" i="1" dirty="0" smtClean="0">
                            <a:latin typeface="Cambria Math" panose="02040503050406030204" pitchFamily="18" charset="0"/>
                          </a:rPr>
                        </m:ctrlPr>
                      </m:fPr>
                      <m:num>
                        <m:r>
                          <a:rPr lang="en-US" altLang="zh-CN" i="1" dirty="0" smtClean="0">
                            <a:latin typeface="Cambria Math" panose="02040503050406030204" pitchFamily="18" charset="0"/>
                          </a:rPr>
                          <m:t>105</m:t>
                        </m:r>
                      </m:num>
                      <m:den>
                        <m:r>
                          <a:rPr lang="en-US" altLang="zh-CN" i="1" dirty="0" smtClean="0">
                            <a:latin typeface="Cambria Math" panose="02040503050406030204" pitchFamily="18" charset="0"/>
                          </a:rPr>
                          <m:t>7</m:t>
                        </m:r>
                      </m:den>
                    </m:f>
                    <m:r>
                      <a:rPr lang="en-US" altLang="zh-CN" i="1" dirty="0" smtClean="0">
                        <a:latin typeface="Cambria Math" panose="02040503050406030204" pitchFamily="18" charset="0"/>
                      </a:rPr>
                      <m:t>} = {35, 21, 15}</m:t>
                    </m:r>
                  </m:oMath>
                </a14:m>
                <a:endParaRPr lang="en-US" altLang="zh-CN" dirty="0"/>
              </a:p>
              <a:p>
                <a:pPr>
                  <a:lnSpc>
                    <a:spcPct val="110000"/>
                  </a:lnSpc>
                  <a:spcBef>
                    <a:spcPts val="1200"/>
                  </a:spcBef>
                </a:pPr>
                <a14:m>
                  <m:oMath xmlns:m="http://schemas.openxmlformats.org/officeDocument/2006/math">
                    <m:r>
                      <a:rPr lang="en-US" altLang="zh-CN" i="1" dirty="0" smtClean="0">
                        <a:latin typeface="Cambria Math" panose="02040503050406030204" pitchFamily="18" charset="0"/>
                      </a:rPr>
                      <m:t>𝑡</m:t>
                    </m:r>
                    <m:r>
                      <a:rPr lang="en-US" altLang="zh-CN" i="1" baseline="-25000" dirty="0" err="1" smtClean="0">
                        <a:latin typeface="Cambria Math" panose="02040503050406030204" pitchFamily="18" charset="0"/>
                      </a:rPr>
                      <m:t>𝑖</m:t>
                    </m:r>
                    <m:r>
                      <a:rPr lang="en-US" altLang="zh-CN" i="1" dirty="0" smtClean="0">
                        <a:latin typeface="Cambria Math" panose="02040503050406030204" pitchFamily="18" charset="0"/>
                      </a:rPr>
                      <m:t> = {</m:t>
                    </m:r>
                    <m:r>
                      <m:rPr>
                        <m:sty m:val="p"/>
                      </m:rPr>
                      <a:rPr lang="en-US" altLang="zh-CN" b="0" i="0" dirty="0" smtClean="0">
                        <a:latin typeface="Cambria Math" panose="02040503050406030204" pitchFamily="18" charset="0"/>
                      </a:rPr>
                      <m:t>inverse</m:t>
                    </m:r>
                    <m:r>
                      <a:rPr lang="en-US" altLang="zh-CN" i="1" dirty="0" smtClean="0">
                        <a:latin typeface="Cambria Math" panose="02040503050406030204" pitchFamily="18" charset="0"/>
                      </a:rPr>
                      <m:t>(35, 3),</m:t>
                    </m:r>
                    <m:r>
                      <m:rPr>
                        <m:sty m:val="p"/>
                      </m:rPr>
                      <a:rPr lang="en-US" altLang="zh-CN" dirty="0">
                        <a:latin typeface="Cambria Math" panose="02040503050406030204" pitchFamily="18" charset="0"/>
                      </a:rPr>
                      <m:t>inverse</m:t>
                    </m:r>
                    <m:r>
                      <a:rPr lang="en-US" altLang="zh-CN" i="1" dirty="0" smtClean="0">
                        <a:latin typeface="Cambria Math" panose="02040503050406030204" pitchFamily="18" charset="0"/>
                      </a:rPr>
                      <m:t>(21, 5),</m:t>
                    </m:r>
                    <m:r>
                      <m:rPr>
                        <m:sty m:val="p"/>
                      </m:rPr>
                      <a:rPr lang="en-US" altLang="zh-CN" dirty="0">
                        <a:latin typeface="Cambria Math" panose="02040503050406030204" pitchFamily="18" charset="0"/>
                      </a:rPr>
                      <m:t>inverse</m:t>
                    </m:r>
                    <m:r>
                      <a:rPr lang="en-US" altLang="zh-CN" i="1" dirty="0" smtClean="0">
                        <a:latin typeface="Cambria Math" panose="02040503050406030204" pitchFamily="18" charset="0"/>
                      </a:rPr>
                      <m:t>(15, 7)} = {2, 1, 1}</m:t>
                    </m:r>
                  </m:oMath>
                </a14:m>
                <a:endParaRPr lang="en-US" altLang="zh-CN" dirty="0"/>
              </a:p>
              <a:p>
                <a:pPr eaLnBrk="1" hangingPunct="1">
                  <a:lnSpc>
                    <a:spcPct val="110000"/>
                  </a:lnSpc>
                  <a:spcBef>
                    <a:spcPts val="1200"/>
                  </a:spcBef>
                </a:pP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 ≡ 2×(35×2) + 3×(21×1) + 2×(15×1)</m:t>
                    </m:r>
                  </m:oMath>
                </a14:m>
                <a:endParaRPr lang="en-US" altLang="zh-CN" dirty="0"/>
              </a:p>
              <a:p>
                <a:pPr eaLnBrk="1" hangingPunct="1">
                  <a:lnSpc>
                    <a:spcPct val="110000"/>
                  </a:lnSpc>
                  <a:spcBef>
                    <a:spcPts val="1200"/>
                  </a:spcBef>
                </a:pP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 ≡ 233 ≡ 23 </m:t>
                    </m:r>
                    <m:d>
                      <m:dPr>
                        <m:ctrlPr>
                          <a:rPr lang="en-US" altLang="zh-CN" i="1" dirty="0" smtClean="0">
                            <a:latin typeface="Cambria Math" panose="02040503050406030204" pitchFamily="18" charset="0"/>
                          </a:rPr>
                        </m:ctrlPr>
                      </m:dPr>
                      <m:e>
                        <m:r>
                          <m:rPr>
                            <m:sty m:val="p"/>
                          </m:rPr>
                          <a:rPr lang="en-US" altLang="zh-CN" i="0" dirty="0" smtClean="0">
                            <a:latin typeface="Cambria Math" panose="02040503050406030204" pitchFamily="18" charset="0"/>
                            <a:sym typeface="宋体" panose="02010600030101010101" pitchFamily="2" charset="-122"/>
                          </a:rPr>
                          <m:t>mod</m:t>
                        </m:r>
                        <m:r>
                          <a:rPr lang="en-US" altLang="zh-CN" i="1" dirty="0" smtClean="0">
                            <a:latin typeface="Cambria Math" panose="02040503050406030204" pitchFamily="18" charset="0"/>
                            <a:sym typeface="宋体" panose="02010600030101010101" pitchFamily="2" charset="-122"/>
                          </a:rPr>
                          <m:t> 105</m:t>
                        </m:r>
                      </m:e>
                    </m:d>
                  </m:oMath>
                </a14:m>
                <a:endParaRPr lang="en-US" altLang="zh-CN" dirty="0">
                  <a:sym typeface="宋体" panose="02010600030101010101" pitchFamily="2" charset="-122"/>
                </a:endParaRPr>
              </a:p>
              <a:p>
                <a:pPr>
                  <a:lnSpc>
                    <a:spcPct val="110000"/>
                  </a:lnSpc>
                  <a:spcBef>
                    <a:spcPts val="1200"/>
                  </a:spcBef>
                </a:pPr>
                <a:r>
                  <a:rPr lang="zh-Hans" altLang="en-US" dirty="0">
                    <a:sym typeface="宋体" panose="02010600030101010101" pitchFamily="2" charset="-122"/>
                  </a:rPr>
                  <a:t>通解 </a:t>
                </a:r>
                <a14:m>
                  <m:oMath xmlns:m="http://schemas.openxmlformats.org/officeDocument/2006/math">
                    <m:r>
                      <a:rPr lang="en-US" altLang="zh-CN" i="1" dirty="0">
                        <a:latin typeface="Cambria Math" panose="02040503050406030204" pitchFamily="18" charset="0"/>
                      </a:rPr>
                      <m:t>𝑥</m:t>
                    </m:r>
                    <m:r>
                      <a:rPr lang="en-US" altLang="zh-Hans" b="0" i="1" dirty="0" smtClean="0">
                        <a:latin typeface="Cambria Math" panose="02040503050406030204" pitchFamily="18" charset="0"/>
                      </a:rPr>
                      <m:t>=</m:t>
                    </m:r>
                    <m:r>
                      <a:rPr lang="en-US" altLang="zh-CN" i="1" dirty="0">
                        <a:latin typeface="Cambria Math" panose="02040503050406030204" pitchFamily="18" charset="0"/>
                      </a:rPr>
                      <m:t>23</m:t>
                    </m:r>
                    <m:r>
                      <a:rPr lang="en-US" altLang="zh-Hans" b="0" i="1" dirty="0" smtClean="0">
                        <a:latin typeface="Cambria Math" panose="02040503050406030204" pitchFamily="18" charset="0"/>
                      </a:rPr>
                      <m:t>+</m:t>
                    </m:r>
                    <m:r>
                      <a:rPr lang="en-US" altLang="zh-CN" i="1" dirty="0">
                        <a:latin typeface="Cambria Math" panose="02040503050406030204" pitchFamily="18" charset="0"/>
                        <a:sym typeface="宋体" panose="02010600030101010101" pitchFamily="2" charset="-122"/>
                      </a:rPr>
                      <m:t>105</m:t>
                    </m:r>
                    <m:r>
                      <a:rPr lang="en-US" altLang="zh-Hans" i="1" dirty="0">
                        <a:latin typeface="Cambria Math" panose="02040503050406030204" pitchFamily="18" charset="0"/>
                      </a:rPr>
                      <m:t>𝑘</m:t>
                    </m:r>
                    <m:r>
                      <a:rPr lang="en-US" altLang="zh-Hans" b="0" i="1" dirty="0" smtClean="0">
                        <a:latin typeface="Cambria Math" panose="02040503050406030204" pitchFamily="18" charset="0"/>
                      </a:rPr>
                      <m:t>(</m:t>
                    </m:r>
                    <m:r>
                      <a:rPr lang="en-US" altLang="zh-Hans" b="0" i="1" dirty="0" smtClean="0">
                        <a:latin typeface="Cambria Math" panose="02040503050406030204" pitchFamily="18" charset="0"/>
                      </a:rPr>
                      <m:t>𝑘</m:t>
                    </m:r>
                    <m:r>
                      <a:rPr lang="en-US" altLang="zh-Hans" b="0" i="1" dirty="0" smtClean="0">
                        <a:latin typeface="Cambria Math" panose="02040503050406030204" pitchFamily="18" charset="0"/>
                        <a:ea typeface="Cambria Math" panose="02040503050406030204" pitchFamily="18" charset="0"/>
                      </a:rPr>
                      <m:t>∈</m:t>
                    </m:r>
                    <m:r>
                      <a:rPr lang="en-US" altLang="zh-Hans" b="0" i="1" dirty="0" smtClean="0">
                        <a:latin typeface="Cambria Math" panose="02040503050406030204" pitchFamily="18" charset="0"/>
                        <a:ea typeface="Cambria Math" panose="02040503050406030204" pitchFamily="18" charset="0"/>
                      </a:rPr>
                      <m:t>𝑍</m:t>
                    </m:r>
                    <m:r>
                      <a:rPr lang="en-US" altLang="zh-Hans" b="0" i="1" dirty="0" smtClean="0">
                        <a:latin typeface="Cambria Math" panose="02040503050406030204" pitchFamily="18" charset="0"/>
                      </a:rPr>
                      <m:t>)</m:t>
                    </m:r>
                  </m:oMath>
                </a14:m>
                <a:endParaRPr lang="en-US" altLang="zh-CN" dirty="0">
                  <a:sym typeface="宋体" panose="02010600030101010101" pitchFamily="2" charset="-122"/>
                </a:endParaRPr>
              </a:p>
              <a:p>
                <a:pPr eaLnBrk="1" hangingPunct="1">
                  <a:lnSpc>
                    <a:spcPct val="110000"/>
                  </a:lnSpc>
                  <a:spcBef>
                    <a:spcPts val="1200"/>
                  </a:spcBef>
                </a:pPr>
                <a:endParaRPr lang="en-US" altLang="zh-CN"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725429"/>
                <a:ext cx="9980682" cy="4945002"/>
              </a:xfrm>
              <a:blipFill>
                <a:blip r:embed="rId2"/>
                <a:stretch>
                  <a:fillRect l="-1398" t="-44103" b="-10000"/>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EAC525BC-9A3E-3E4B-A8C0-E188E882B2F9}"/>
              </a:ext>
            </a:extLst>
          </p:cNvPr>
          <p:cNvSpPr>
            <a:spLocks noGrp="1"/>
          </p:cNvSpPr>
          <p:nvPr>
            <p:ph type="sldNum" sz="quarter" idx="12"/>
          </p:nvPr>
        </p:nvSpPr>
        <p:spPr/>
        <p:txBody>
          <a:bodyPr/>
          <a:lstStyle/>
          <a:p>
            <a:fld id="{0FF54DE5-C571-48E8-A5BC-B369434E2F44}" type="slidenum">
              <a:rPr lang="en-US" altLang="zh-CN" smtClean="0"/>
              <a:pPr/>
              <a:t>98</a:t>
            </a:fld>
            <a:endParaRPr lang="zh-CN" altLang="en-US" dirty="0"/>
          </a:p>
        </p:txBody>
      </p:sp>
    </p:spTree>
    <p:extLst>
      <p:ext uri="{BB962C8B-B14F-4D97-AF65-F5344CB8AC3E}">
        <p14:creationId xmlns:p14="http://schemas.microsoft.com/office/powerpoint/2010/main" val="333807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p:nvPr>
        </p:nvSpPr>
        <p:spPr/>
        <p:txBody>
          <a:bodyPr/>
          <a:lstStyle/>
          <a:p>
            <a:r>
              <a:rPr lang="zh-CN" altLang="en-US">
                <a:sym typeface="宋体" panose="02010600030101010101" pitchFamily="2" charset="-122"/>
              </a:rPr>
              <a:t>中国剩余定理</a:t>
            </a:r>
            <a:endParaRPr lang="zh-CN" altLang="en-US"/>
          </a:p>
        </p:txBody>
      </p:sp>
      <p:sp>
        <p:nvSpPr>
          <p:cNvPr id="4" name="矩形 3"/>
          <p:cNvSpPr/>
          <p:nvPr/>
        </p:nvSpPr>
        <p:spPr>
          <a:xfrm>
            <a:off x="1104900" y="1555863"/>
            <a:ext cx="9980682" cy="3170099"/>
          </a:xfrm>
          <a:prstGeom prst="rect">
            <a:avLst/>
          </a:prstGeom>
        </p:spPr>
        <p:txBody>
          <a:bodyPr wrap="square">
            <a:spAutoFit/>
          </a:bodyPr>
          <a:lstStyle/>
          <a:p>
            <a:r>
              <a:rPr lang="en-US" altLang="zh-CN" sz="2000" dirty="0">
                <a:solidFill>
                  <a:srgbClr val="008000"/>
                </a:solidFill>
                <a:highlight>
                  <a:srgbClr val="FFFFF3"/>
                </a:highlight>
                <a:latin typeface="Courier New" panose="02070309020205020404" pitchFamily="49" charset="0"/>
                <a:cs typeface="Courier New" panose="02070309020205020404" pitchFamily="49" charset="0"/>
              </a:rPr>
              <a:t>// Chinese Remainder Theorem</a:t>
            </a: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CRT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const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const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cs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da-DK" altLang="zh-CN" sz="2000" dirty="0">
                <a:solidFill>
                  <a:srgbClr val="FF8000"/>
                </a:solidFill>
                <a:highlight>
                  <a:srgbClr val="FFFFF3"/>
                </a:highlight>
                <a:latin typeface="Courier New" panose="02070309020205020404" pitchFamily="49" charset="0"/>
                <a:cs typeface="Courier New" panose="02070309020205020404" pitchFamily="49" charset="0"/>
              </a:rPr>
              <a:t>2</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dirty="0">
                <a:solidFill>
                  <a:srgbClr val="8000FF"/>
                </a:solidFill>
                <a:highlight>
                  <a:srgbClr val="FFFFF3"/>
                </a:highlight>
                <a:latin typeface="Courier New" panose="02070309020205020404" pitchFamily="49" charset="0"/>
                <a:cs typeface="Courier New" panose="02070309020205020404" pitchFamily="49" charset="0"/>
              </a:rPr>
              <a:t>int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M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ret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dirty="0">
                <a:solidFill>
                  <a:srgbClr val="FF8000"/>
                </a:solidFill>
                <a:highlight>
                  <a:srgbClr val="FFFFF3"/>
                </a:highlight>
                <a:latin typeface="Courier New" panose="02070309020205020404" pitchFamily="49" charset="0"/>
                <a:cs typeface="Courier New" panose="02070309020205020404" pitchFamily="49" charset="0"/>
              </a:rPr>
              <a:t>0</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da-DK"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3</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8000FF"/>
                </a:solidFill>
                <a:highlight>
                  <a:srgbClr val="FFFFF3"/>
                </a:highlight>
                <a:latin typeface="Courier New" panose="02070309020205020404" pitchFamily="49" charset="0"/>
                <a:cs typeface="Courier New" panose="02070309020205020404" pitchFamily="49" charset="0"/>
              </a:rPr>
              <a:t>int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M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4</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FF"/>
                </a:solidFill>
                <a:highlight>
                  <a:srgbClr val="FFFFF3"/>
                </a:highlight>
                <a:latin typeface="Courier New" panose="02070309020205020404" pitchFamily="49" charset="0"/>
                <a:cs typeface="Courier New" panose="02070309020205020404" pitchFamily="49" charset="0"/>
              </a:rPr>
              <a:t>for</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8000FF"/>
                </a:solidFill>
                <a:highlight>
                  <a:srgbClr val="FFFFF3"/>
                </a:highlight>
                <a:latin typeface="Courier New" panose="02070309020205020404" pitchFamily="49" charset="0"/>
                <a:cs typeface="Courier New" panose="02070309020205020404" pitchFamily="49" charset="0"/>
              </a:rPr>
              <a:t>int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dirty="0">
                <a:solidFill>
                  <a:srgbClr val="FF8000"/>
                </a:solidFill>
                <a:highlight>
                  <a:srgbClr val="FFFFF3"/>
                </a:highlight>
                <a:latin typeface="Courier New" panose="02070309020205020404" pitchFamily="49" charset="0"/>
                <a:cs typeface="Courier New" panose="02070309020205020404" pitchFamily="49" charset="0"/>
              </a:rPr>
              <a:t>1</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i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&lt;=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n</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nn-NO"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nn-NO"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nn-NO"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it-IT" altLang="zh-CN" sz="2000" dirty="0">
                <a:solidFill>
                  <a:srgbClr val="FF8000"/>
                </a:solidFill>
                <a:highlight>
                  <a:srgbClr val="FFFFF3"/>
                </a:highlight>
                <a:latin typeface="Courier New" panose="02070309020205020404" pitchFamily="49" charset="0"/>
                <a:cs typeface="Courier New" panose="02070309020205020404" pitchFamily="49" charset="0"/>
              </a:rPr>
              <a:t>5</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it-IT" altLang="zh-CN" sz="2000" dirty="0">
                <a:solidFill>
                  <a:srgbClr val="8000FF"/>
                </a:solidFill>
                <a:highlight>
                  <a:srgbClr val="FFFFF3"/>
                </a:highlight>
                <a:latin typeface="Courier New" panose="02070309020205020404" pitchFamily="49" charset="0"/>
                <a:cs typeface="Courier New" panose="02070309020205020404" pitchFamily="49" charset="0"/>
              </a:rPr>
              <a:t>int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Mi </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M </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ti </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inv</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Mi</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it-IT"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it-IT"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it-IT"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da-DK" altLang="zh-CN" sz="2000" dirty="0">
                <a:solidFill>
                  <a:srgbClr val="FF8000"/>
                </a:solidFill>
                <a:highlight>
                  <a:srgbClr val="FFFFF3"/>
                </a:highlight>
                <a:latin typeface="Courier New" panose="02070309020205020404" pitchFamily="49" charset="0"/>
                <a:cs typeface="Courier New" panose="02070309020205020404" pitchFamily="49" charset="0"/>
              </a:rPr>
              <a:t>6</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ret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ret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i</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Mi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ti</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r>
              <a:rPr lang="da-DK" altLang="zh-CN" sz="2000" dirty="0">
                <a:solidFill>
                  <a:srgbClr val="000000"/>
                </a:solidFill>
                <a:highlight>
                  <a:srgbClr val="FFFFF3"/>
                </a:highlight>
                <a:latin typeface="Courier New" panose="02070309020205020404" pitchFamily="49" charset="0"/>
                <a:cs typeface="Courier New" panose="02070309020205020404" pitchFamily="49" charset="0"/>
              </a:rPr>
              <a:t> M</a:t>
            </a:r>
            <a:r>
              <a:rPr lang="da-DK"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da-DK"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7</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8</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cs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cs typeface="Courier New" panose="02070309020205020404" pitchFamily="49" charset="0"/>
              </a:rPr>
              <a:t> ret</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cs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cs typeface="Courier New" panose="02070309020205020404" pitchFamily="49" charset="0"/>
              </a:rPr>
              <a:t>10</a:t>
            </a:r>
            <a:r>
              <a:rPr lang="zh-CN" altLang="en-US" sz="2000" dirty="0">
                <a:solidFill>
                  <a:srgbClr val="000000"/>
                </a:solidFill>
                <a:highlight>
                  <a:srgbClr val="FFFFF3"/>
                </a:highlight>
                <a:latin typeface="Courier New" panose="02070309020205020404" pitchFamily="49" charset="0"/>
                <a:cs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cs typeface="Courier New" panose="02070309020205020404" pitchFamily="49" charset="0"/>
              </a:rPr>
              <a:t>}</a:t>
            </a:r>
            <a:endParaRPr lang="zh-CN" altLang="en-US" sz="2000" dirty="0">
              <a:latin typeface="Courier New" panose="02070309020205020404" pitchFamily="49" charset="0"/>
              <a:cs typeface="Courier New" panose="02070309020205020404" pitchFamily="49" charset="0"/>
            </a:endParaRPr>
          </a:p>
        </p:txBody>
      </p:sp>
      <p:sp>
        <p:nvSpPr>
          <p:cNvPr id="6" name="矩形 5"/>
          <p:cNvSpPr/>
          <p:nvPr/>
        </p:nvSpPr>
        <p:spPr>
          <a:xfrm>
            <a:off x="1104900" y="4813644"/>
            <a:ext cx="9980682" cy="1938992"/>
          </a:xfrm>
          <a:prstGeom prst="rect">
            <a:avLst/>
          </a:prstGeom>
        </p:spPr>
        <p:txBody>
          <a:bodyPr wrap="square">
            <a:spAutoFit/>
          </a:bodyPr>
          <a:lstStyle/>
          <a:p>
            <a:r>
              <a:rPr lang="en-US" altLang="zh-CN" sz="2000" dirty="0">
                <a:solidFill>
                  <a:srgbClr val="008000"/>
                </a:solidFill>
                <a:highlight>
                  <a:srgbClr val="FFFFF3"/>
                </a:highlight>
                <a:latin typeface="Courier New" panose="02070309020205020404" pitchFamily="49" charset="0"/>
              </a:rPr>
              <a:t>// </a:t>
            </a:r>
            <a:r>
              <a:rPr lang="zh-CN" altLang="en-US" sz="2000" dirty="0">
                <a:solidFill>
                  <a:srgbClr val="008000"/>
                </a:solidFill>
                <a:highlight>
                  <a:srgbClr val="FFFFF3"/>
                </a:highlight>
                <a:latin typeface="Courier New" panose="02070309020205020404" pitchFamily="49" charset="0"/>
              </a:rPr>
              <a:t>利用</a:t>
            </a:r>
            <a:r>
              <a:rPr lang="en-US" altLang="zh-CN" sz="2000" dirty="0" err="1">
                <a:solidFill>
                  <a:srgbClr val="008000"/>
                </a:solidFill>
                <a:highlight>
                  <a:srgbClr val="FFFFF3"/>
                </a:highlight>
                <a:latin typeface="Courier New" panose="02070309020205020404" pitchFamily="49" charset="0"/>
              </a:rPr>
              <a:t>ex</a:t>
            </a:r>
            <a:r>
              <a:rPr lang="en-US" altLang="zh-Hans" sz="2000" dirty="0" err="1">
                <a:solidFill>
                  <a:srgbClr val="008000"/>
                </a:solidFill>
                <a:highlight>
                  <a:srgbClr val="FFFFF3"/>
                </a:highlight>
                <a:latin typeface="Courier New" panose="02070309020205020404" pitchFamily="49" charset="0"/>
              </a:rPr>
              <a:t>tend_</a:t>
            </a:r>
            <a:r>
              <a:rPr lang="en-US" altLang="zh-CN" sz="2000" dirty="0" err="1">
                <a:solidFill>
                  <a:srgbClr val="008000"/>
                </a:solidFill>
                <a:highlight>
                  <a:srgbClr val="FFFFF3"/>
                </a:highlight>
                <a:latin typeface="Courier New" panose="02070309020205020404" pitchFamily="49" charset="0"/>
              </a:rPr>
              <a:t>gcd</a:t>
            </a:r>
            <a:r>
              <a:rPr lang="zh-CN" altLang="en-US" sz="2000" dirty="0">
                <a:solidFill>
                  <a:srgbClr val="008000"/>
                </a:solidFill>
                <a:highlight>
                  <a:srgbClr val="FFFFF3"/>
                </a:highlight>
                <a:latin typeface="Courier New" panose="02070309020205020404" pitchFamily="49" charset="0"/>
              </a:rPr>
              <a:t>求逆元</a:t>
            </a:r>
          </a:p>
          <a:p>
            <a:r>
              <a:rPr lang="en-US" altLang="zh-CN" sz="2000" dirty="0">
                <a:solidFill>
                  <a:srgbClr val="FF8000"/>
                </a:solidFill>
                <a:highlight>
                  <a:srgbClr val="FFFFF3"/>
                </a:highlight>
                <a:latin typeface="Courier New" panose="02070309020205020404" pitchFamily="49" charset="0"/>
              </a:rPr>
              <a:t>1</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inverse</a:t>
            </a:r>
            <a:r>
              <a:rPr lang="en-US" altLang="zh-CN" sz="2000" b="1" dirty="0">
                <a:solidFill>
                  <a:srgbClr val="000080"/>
                </a:solidFill>
                <a:highlight>
                  <a:srgbClr val="FFFFF3"/>
                </a:highlight>
                <a:latin typeface="Courier New" panose="02070309020205020404" pitchFamily="49" charset="0"/>
              </a:rPr>
              <a:t>(</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a</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b</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2</a:t>
            </a:r>
            <a:r>
              <a:rPr lang="en-US" altLang="zh-CN" sz="2000" dirty="0">
                <a:solidFill>
                  <a:srgbClr val="000000"/>
                </a:solidFill>
                <a:highlight>
                  <a:srgbClr val="FFFFF3"/>
                </a:highlight>
                <a:latin typeface="Courier New" panose="02070309020205020404" pitchFamily="49" charset="0"/>
              </a:rPr>
              <a:t>		</a:t>
            </a:r>
            <a:r>
              <a:rPr lang="en-US" altLang="zh-CN" sz="2000" dirty="0" err="1">
                <a:solidFill>
                  <a:srgbClr val="8000FF"/>
                </a:solidFill>
                <a:highlight>
                  <a:srgbClr val="FFFFF3"/>
                </a:highlight>
                <a:latin typeface="Courier New" panose="02070309020205020404" pitchFamily="49" charset="0"/>
              </a:rPr>
              <a:t>int</a:t>
            </a:r>
            <a:r>
              <a:rPr lang="en-US" altLang="zh-CN" sz="2000" dirty="0">
                <a:solidFill>
                  <a:srgbClr val="000000"/>
                </a:solidFill>
                <a:highlight>
                  <a:srgbClr val="FFFFF3"/>
                </a:highlight>
                <a:latin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rPr>
              <a:t>,</a:t>
            </a:r>
            <a:r>
              <a:rPr lang="en-US" altLang="zh-CN" sz="2000" dirty="0">
                <a:solidFill>
                  <a:srgbClr val="000000"/>
                </a:solidFill>
                <a:highlight>
                  <a:srgbClr val="FFFFF3"/>
                </a:highlight>
                <a:latin typeface="Courier New" panose="02070309020205020404" pitchFamily="49" charset="0"/>
              </a:rPr>
              <a:t> y</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s-ES" altLang="zh-CN" sz="2000" dirty="0">
                <a:solidFill>
                  <a:srgbClr val="FF8000"/>
                </a:solidFill>
                <a:highlight>
                  <a:srgbClr val="FFFFF3"/>
                </a:highlight>
                <a:latin typeface="Courier New" panose="02070309020205020404" pitchFamily="49" charset="0"/>
              </a:rPr>
              <a:t>3</a:t>
            </a:r>
            <a:r>
              <a:rPr lang="es-ES" altLang="zh-CN" sz="2000" dirty="0">
                <a:solidFill>
                  <a:srgbClr val="000000"/>
                </a:solidFill>
                <a:highlight>
                  <a:srgbClr val="FFFFF3"/>
                </a:highlight>
                <a:latin typeface="Courier New" panose="02070309020205020404" pitchFamily="49" charset="0"/>
              </a:rPr>
              <a:t>		ex</a:t>
            </a:r>
            <a:r>
              <a:rPr lang="en-US" altLang="zh-Hans" sz="2000" dirty="0">
                <a:solidFill>
                  <a:srgbClr val="000000"/>
                </a:solidFill>
                <a:highlight>
                  <a:srgbClr val="FFFFF3"/>
                </a:highlight>
                <a:latin typeface="Courier New" panose="02070309020205020404" pitchFamily="49" charset="0"/>
              </a:rPr>
              <a:t>tend_</a:t>
            </a:r>
            <a:r>
              <a:rPr lang="es-ES" altLang="zh-CN" sz="2000" dirty="0" err="1">
                <a:solidFill>
                  <a:srgbClr val="000000"/>
                </a:solidFill>
                <a:highlight>
                  <a:srgbClr val="FFFFF3"/>
                </a:highlight>
                <a:latin typeface="Courier New" panose="02070309020205020404" pitchFamily="49" charset="0"/>
              </a:rPr>
              <a:t>gcd</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a</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b</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x</a:t>
            </a:r>
            <a:r>
              <a:rPr lang="es-ES" altLang="zh-CN" sz="2000" b="1" dirty="0">
                <a:solidFill>
                  <a:srgbClr val="000080"/>
                </a:solidFill>
                <a:highlight>
                  <a:srgbClr val="FFFFF3"/>
                </a:highlight>
                <a:latin typeface="Courier New" panose="02070309020205020404" pitchFamily="49" charset="0"/>
              </a:rPr>
              <a:t>,</a:t>
            </a:r>
            <a:r>
              <a:rPr lang="es-ES" altLang="zh-CN" sz="2000" dirty="0">
                <a:solidFill>
                  <a:srgbClr val="000000"/>
                </a:solidFill>
                <a:highlight>
                  <a:srgbClr val="FFFFF3"/>
                </a:highlight>
                <a:latin typeface="Courier New" panose="02070309020205020404" pitchFamily="49" charset="0"/>
              </a:rPr>
              <a:t> y</a:t>
            </a:r>
            <a:r>
              <a:rPr lang="es-ES" altLang="zh-CN" sz="2000" b="1" dirty="0">
                <a:solidFill>
                  <a:srgbClr val="000080"/>
                </a:solidFill>
                <a:highlight>
                  <a:srgbClr val="FFFFF3"/>
                </a:highlight>
                <a:latin typeface="Courier New" panose="02070309020205020404" pitchFamily="49" charset="0"/>
              </a:rPr>
              <a:t>);</a:t>
            </a:r>
            <a:endParaRPr lang="es-E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4</a:t>
            </a:r>
            <a:r>
              <a:rPr lang="en-US" altLang="zh-CN" sz="2000" dirty="0">
                <a:solidFill>
                  <a:srgbClr val="000000"/>
                </a:solidFill>
                <a:highlight>
                  <a:srgbClr val="FFFFF3"/>
                </a:highlight>
                <a:latin typeface="Courier New" panose="02070309020205020404" pitchFamily="49" charset="0"/>
              </a:rPr>
              <a:t>		</a:t>
            </a:r>
            <a:r>
              <a:rPr lang="en-US" altLang="zh-CN" sz="2000" b="1" dirty="0">
                <a:solidFill>
                  <a:srgbClr val="0000FF"/>
                </a:solidFill>
                <a:highlight>
                  <a:srgbClr val="FFFFF3"/>
                </a:highlight>
                <a:latin typeface="Courier New" panose="02070309020205020404" pitchFamily="49" charset="0"/>
              </a:rPr>
              <a:t>return</a:t>
            </a:r>
            <a:r>
              <a:rPr lang="en-US" altLang="zh-CN" sz="2000" dirty="0">
                <a:solidFill>
                  <a:srgbClr val="000000"/>
                </a:solidFill>
                <a:highlight>
                  <a:srgbClr val="FFFFF3"/>
                </a:highlight>
                <a:latin typeface="Courier New" panose="02070309020205020404" pitchFamily="49" charset="0"/>
              </a:rPr>
              <a:t> x</a:t>
            </a:r>
            <a:r>
              <a:rPr lang="en-US" altLang="zh-CN" sz="2000" b="1" dirty="0">
                <a:solidFill>
                  <a:srgbClr val="000080"/>
                </a:solidFill>
                <a:highlight>
                  <a:srgbClr val="FFFFF3"/>
                </a:highlight>
                <a:latin typeface="Courier New" panose="02070309020205020404" pitchFamily="49" charset="0"/>
              </a:rPr>
              <a:t>;</a:t>
            </a:r>
            <a:endParaRPr lang="en-US" altLang="zh-CN" sz="2000" dirty="0">
              <a:solidFill>
                <a:srgbClr val="000000"/>
              </a:solidFill>
              <a:highlight>
                <a:srgbClr val="FFFFF3"/>
              </a:highlight>
              <a:latin typeface="Courier New" panose="02070309020205020404" pitchFamily="49" charset="0"/>
            </a:endParaRPr>
          </a:p>
          <a:p>
            <a:r>
              <a:rPr lang="en-US" altLang="zh-CN" sz="2000" dirty="0">
                <a:solidFill>
                  <a:srgbClr val="FF8000"/>
                </a:solidFill>
                <a:highlight>
                  <a:srgbClr val="FFFFF3"/>
                </a:highlight>
                <a:latin typeface="Courier New" panose="02070309020205020404" pitchFamily="49" charset="0"/>
              </a:rPr>
              <a:t>5</a:t>
            </a:r>
            <a:r>
              <a:rPr lang="zh-CN" altLang="en-US" sz="2000" dirty="0">
                <a:solidFill>
                  <a:srgbClr val="000000"/>
                </a:solidFill>
                <a:highlight>
                  <a:srgbClr val="FFFFF3"/>
                </a:highlight>
                <a:latin typeface="Courier New" panose="02070309020205020404" pitchFamily="49" charset="0"/>
              </a:rPr>
              <a:t>	</a:t>
            </a:r>
            <a:r>
              <a:rPr lang="en-US" altLang="zh-CN" sz="2000" b="1" dirty="0">
                <a:solidFill>
                  <a:srgbClr val="000080"/>
                </a:solidFill>
                <a:highlight>
                  <a:srgbClr val="FFFFF3"/>
                </a:highlight>
                <a:latin typeface="Courier New" panose="02070309020205020404" pitchFamily="49" charset="0"/>
              </a:rPr>
              <a:t>}</a:t>
            </a:r>
            <a:endParaRPr lang="zh-CN" altLang="en-US" sz="2000" dirty="0"/>
          </a:p>
        </p:txBody>
      </p:sp>
      <p:sp>
        <p:nvSpPr>
          <p:cNvPr id="2" name="幻灯片编号占位符 1">
            <a:extLst>
              <a:ext uri="{FF2B5EF4-FFF2-40B4-BE49-F238E27FC236}">
                <a16:creationId xmlns:a16="http://schemas.microsoft.com/office/drawing/2014/main" id="{4EFC3891-57AC-B64F-A0B4-3B9797E8E488}"/>
              </a:ext>
            </a:extLst>
          </p:cNvPr>
          <p:cNvSpPr>
            <a:spLocks noGrp="1"/>
          </p:cNvSpPr>
          <p:nvPr>
            <p:ph type="sldNum" sz="quarter" idx="12"/>
          </p:nvPr>
        </p:nvSpPr>
        <p:spPr/>
        <p:txBody>
          <a:bodyPr/>
          <a:lstStyle/>
          <a:p>
            <a:fld id="{0FF54DE5-C571-48E8-A5BC-B369434E2F44}" type="slidenum">
              <a:rPr lang="en-US" altLang="zh-CN" smtClean="0"/>
              <a:pPr/>
              <a:t>99</a:t>
            </a:fld>
            <a:endParaRPr lang="zh-CN" altLang="en-US" dirty="0"/>
          </a:p>
        </p:txBody>
      </p:sp>
    </p:spTree>
    <p:extLst>
      <p:ext uri="{BB962C8B-B14F-4D97-AF65-F5344CB8AC3E}">
        <p14:creationId xmlns:p14="http://schemas.microsoft.com/office/powerpoint/2010/main" val="407969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p:txBody>
          <a:bodyPr/>
          <a:lstStyle/>
          <a:p>
            <a:pPr eaLnBrk="1" hangingPunct="1"/>
            <a:r>
              <a:rPr lang="zh-Hans" altLang="en-US" dirty="0"/>
              <a:t>线性同余方程组（模不互素）</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3382" y="1506415"/>
                <a:ext cx="9982200" cy="5175739"/>
              </a:xfrm>
            </p:spPr>
            <p:txBody>
              <a:bodyPr>
                <a:noAutofit/>
              </a:bodyPr>
              <a:lstStyle/>
              <a:p>
                <a:pPr marL="0" indent="0">
                  <a:lnSpc>
                    <a:spcPct val="10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en-US" altLang="zh-CN" i="1" smtClean="0">
                              <a:latin typeface="Cambria Math" panose="02040503050406030204" pitchFamily="18" charset="0"/>
                              <a:cs typeface="+mj-cs"/>
                            </a:rPr>
                          </m:ctrlPr>
                        </m:dPr>
                        <m:e>
                          <m:eqArr>
                            <m:eqArrPr>
                              <m:ctrlPr>
                                <a:rPr lang="en-US" altLang="zh-CN" i="1">
                                  <a:latin typeface="Cambria Math" panose="02040503050406030204" pitchFamily="18" charset="0"/>
                                  <a:cs typeface="+mj-cs"/>
                                </a:rPr>
                              </m:ctrlPr>
                            </m:eqArrPr>
                            <m:e>
                              <m:r>
                                <a:rPr lang="en-US" altLang="zh-CN">
                                  <a:latin typeface="Cambria Math" panose="02040503050406030204" pitchFamily="18" charset="0"/>
                                  <a:cs typeface="+mj-cs"/>
                                </a:rPr>
                                <m:t>𝑥</m:t>
                              </m:r>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m:rPr>
                                      <m:sty m:val="p"/>
                                    </m:rPr>
                                    <a:rPr lang="en-US" altLang="zh-CN">
                                      <a:latin typeface="Cambria Math" panose="02040503050406030204" pitchFamily="18" charset="0"/>
                                      <a:cs typeface="+mj-cs"/>
                                    </a:rPr>
                                    <m:t>c</m:t>
                                  </m:r>
                                </m:e>
                                <m:sub>
                                  <m:r>
                                    <a:rPr lang="en-US" altLang="zh-CN">
                                      <a:latin typeface="Cambria Math" panose="02040503050406030204" pitchFamily="18" charset="0"/>
                                      <a:cs typeface="+mj-cs"/>
                                    </a:rPr>
                                    <m:t>1</m:t>
                                  </m:r>
                                </m:sub>
                              </m:sSub>
                              <m:d>
                                <m:dPr>
                                  <m:ctrlPr>
                                    <a:rPr lang="en-US" altLang="zh-CN" i="1">
                                      <a:latin typeface="Cambria Math" panose="02040503050406030204" pitchFamily="18" charset="0"/>
                                      <a:cs typeface="+mj-cs"/>
                                    </a:rPr>
                                  </m:ctrlPr>
                                </m:dPr>
                                <m:e>
                                  <m:r>
                                    <m:rPr>
                                      <m:sty m:val="p"/>
                                    </m:rPr>
                                    <a:rPr lang="en-US" altLang="zh-CN">
                                      <a:latin typeface="Cambria Math" panose="02040503050406030204" pitchFamily="18" charset="0"/>
                                      <a:cs typeface="+mj-cs"/>
                                    </a:rPr>
                                    <m:t>mod</m:t>
                                  </m:r>
                                  <m:r>
                                    <a:rPr lang="en-US" altLang="zh-CN">
                                      <a:latin typeface="Cambria Math" panose="02040503050406030204" pitchFamily="18" charset="0"/>
                                      <a:cs typeface="+mj-cs"/>
                                    </a:rPr>
                                    <m:t> </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1</m:t>
                                      </m:r>
                                    </m:sub>
                                  </m:sSub>
                                </m:e>
                              </m:d>
                            </m:e>
                            <m:e>
                              <m:r>
                                <a:rPr lang="en-US" altLang="zh-CN">
                                  <a:latin typeface="Cambria Math" panose="02040503050406030204" pitchFamily="18" charset="0"/>
                                  <a:cs typeface="+mj-cs"/>
                                </a:rPr>
                                <m:t>𝑥</m:t>
                              </m:r>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𝑐</m:t>
                                  </m:r>
                                </m:e>
                                <m:sub>
                                  <m:r>
                                    <a:rPr lang="en-US" altLang="zh-CN">
                                      <a:latin typeface="Cambria Math" panose="02040503050406030204" pitchFamily="18" charset="0"/>
                                      <a:cs typeface="+mj-cs"/>
                                    </a:rPr>
                                    <m:t>2</m:t>
                                  </m:r>
                                </m:sub>
                              </m:sSub>
                              <m:d>
                                <m:dPr>
                                  <m:ctrlPr>
                                    <a:rPr lang="en-US" altLang="zh-CN" i="1">
                                      <a:latin typeface="Cambria Math" panose="02040503050406030204" pitchFamily="18" charset="0"/>
                                      <a:cs typeface="+mj-cs"/>
                                    </a:rPr>
                                  </m:ctrlPr>
                                </m:dPr>
                                <m:e>
                                  <m:r>
                                    <m:rPr>
                                      <m:sty m:val="p"/>
                                    </m:rPr>
                                    <a:rPr lang="en-US" altLang="zh-CN">
                                      <a:latin typeface="Cambria Math" panose="02040503050406030204" pitchFamily="18" charset="0"/>
                                      <a:cs typeface="+mj-cs"/>
                                    </a:rPr>
                                    <m:t>mod</m:t>
                                  </m:r>
                                  <m:r>
                                    <a:rPr lang="en-US" altLang="zh-CN">
                                      <a:latin typeface="Cambria Math" panose="02040503050406030204" pitchFamily="18" charset="0"/>
                                      <a:cs typeface="+mj-cs"/>
                                    </a:rPr>
                                    <m:t> </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2</m:t>
                                      </m:r>
                                    </m:sub>
                                  </m:sSub>
                                </m:e>
                              </m:d>
                            </m:e>
                            <m:e>
                              <m:r>
                                <a:rPr lang="en-US" altLang="zh-CN">
                                  <a:latin typeface="Cambria Math" panose="02040503050406030204" pitchFamily="18" charset="0"/>
                                  <a:cs typeface="+mj-cs"/>
                                </a:rPr>
                                <m:t>…</m:t>
                              </m:r>
                            </m:e>
                            <m:e>
                              <m:r>
                                <a:rPr lang="en-US" altLang="zh-CN">
                                  <a:latin typeface="Cambria Math" panose="02040503050406030204" pitchFamily="18" charset="0"/>
                                  <a:cs typeface="+mj-cs"/>
                                </a:rPr>
                                <m:t>𝑥</m:t>
                              </m:r>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𝑐</m:t>
                                  </m:r>
                                </m:e>
                                <m:sub>
                                  <m:r>
                                    <a:rPr lang="en-US" altLang="zh-CN">
                                      <a:latin typeface="Cambria Math" panose="02040503050406030204" pitchFamily="18" charset="0"/>
                                      <a:cs typeface="+mj-cs"/>
                                    </a:rPr>
                                    <m:t>𝑛</m:t>
                                  </m:r>
                                </m:sub>
                              </m:sSub>
                              <m:d>
                                <m:dPr>
                                  <m:ctrlPr>
                                    <a:rPr lang="en-US" altLang="zh-CN" i="1">
                                      <a:latin typeface="Cambria Math" panose="02040503050406030204" pitchFamily="18" charset="0"/>
                                      <a:cs typeface="+mj-cs"/>
                                    </a:rPr>
                                  </m:ctrlPr>
                                </m:dPr>
                                <m:e>
                                  <m:r>
                                    <m:rPr>
                                      <m:sty m:val="p"/>
                                    </m:rPr>
                                    <a:rPr lang="en-US" altLang="zh-CN">
                                      <a:latin typeface="Cambria Math" panose="02040503050406030204" pitchFamily="18" charset="0"/>
                                      <a:cs typeface="+mj-cs"/>
                                    </a:rPr>
                                    <m:t>mod</m:t>
                                  </m:r>
                                  <m:r>
                                    <a:rPr lang="en-US" altLang="zh-CN">
                                      <a:latin typeface="Cambria Math" panose="02040503050406030204" pitchFamily="18" charset="0"/>
                                      <a:cs typeface="+mj-cs"/>
                                    </a:rPr>
                                    <m:t> </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𝑛</m:t>
                                      </m:r>
                                    </m:sub>
                                  </m:sSub>
                                </m:e>
                              </m:d>
                            </m:e>
                          </m:eqArr>
                        </m:e>
                      </m:d>
                      <m:r>
                        <a:rPr lang="zh-Hans" altLang="en-US" b="0" i="0" smtClean="0">
                          <a:latin typeface="Cambria Math" panose="02040503050406030204" pitchFamily="18" charset="0"/>
                          <a:cs typeface="+mj-cs"/>
                        </a:rPr>
                        <m:t>  </m:t>
                      </m:r>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1</m:t>
                          </m:r>
                        </m:sub>
                      </m:sSub>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2</m:t>
                          </m:r>
                        </m:sub>
                      </m:sSub>
                      <m:r>
                        <a:rPr lang="en-US" altLang="zh-CN">
                          <a:latin typeface="Cambria Math" panose="02040503050406030204" pitchFamily="18" charset="0"/>
                          <a:cs typeface="+mj-cs"/>
                        </a:rPr>
                        <m:t>,…,</m:t>
                      </m:r>
                      <m:sSub>
                        <m:sSubPr>
                          <m:ctrlPr>
                            <a:rPr lang="en-US" altLang="zh-CN" i="1">
                              <a:latin typeface="Cambria Math" panose="02040503050406030204" pitchFamily="18" charset="0"/>
                              <a:cs typeface="+mj-cs"/>
                            </a:rPr>
                          </m:ctrlPr>
                        </m:sSubPr>
                        <m:e>
                          <m:r>
                            <a:rPr lang="en-US" altLang="zh-CN">
                              <a:latin typeface="Cambria Math" panose="02040503050406030204" pitchFamily="18" charset="0"/>
                              <a:cs typeface="+mj-cs"/>
                            </a:rPr>
                            <m:t>𝑚</m:t>
                          </m:r>
                        </m:e>
                        <m:sub>
                          <m:r>
                            <a:rPr lang="en-US" altLang="zh-CN">
                              <a:latin typeface="Cambria Math" panose="02040503050406030204" pitchFamily="18" charset="0"/>
                              <a:cs typeface="+mj-cs"/>
                            </a:rPr>
                            <m:t>𝑛</m:t>
                          </m:r>
                        </m:sub>
                      </m:sSub>
                      <m:r>
                        <a:rPr lang="zh-Hans" altLang="en-US">
                          <a:latin typeface="Cambria Math" panose="02040503050406030204" pitchFamily="18" charset="0"/>
                          <a:cs typeface="+mj-cs"/>
                        </a:rPr>
                        <m:t>不互素</m:t>
                      </m:r>
                      <m:r>
                        <a:rPr lang="en-US" altLang="zh-CN">
                          <a:latin typeface="Cambria Math" panose="02040503050406030204" pitchFamily="18" charset="0"/>
                          <a:cs typeface="+mj-cs"/>
                        </a:rPr>
                        <m:t>)</m:t>
                      </m:r>
                    </m:oMath>
                  </m:oMathPara>
                </a14:m>
                <a:endParaRPr lang="en-US" altLang="zh-CN" sz="2800" dirty="0">
                  <a:cs typeface="+mj-cs"/>
                  <a:sym typeface="宋体" panose="02010600030101010101" pitchFamily="2" charset="-122"/>
                </a:endParaRPr>
              </a:p>
              <a:p>
                <a:pPr>
                  <a:lnSpc>
                    <a:spcPct val="150000"/>
                  </a:lnSpc>
                  <a:spcBef>
                    <a:spcPts val="0"/>
                  </a:spcBef>
                </a:pPr>
                <a:r>
                  <a:rPr lang="zh-CN" altLang="en-US" dirty="0"/>
                  <a:t>仅考虑方程数量为</a:t>
                </a:r>
                <a:r>
                  <a:rPr lang="zh-Hans" altLang="en-US" dirty="0"/>
                  <a:t> </a:t>
                </a:r>
                <a14:m>
                  <m:oMath xmlns:m="http://schemas.openxmlformats.org/officeDocument/2006/math">
                    <m:r>
                      <a:rPr lang="en-US" altLang="zh-CN" i="1" dirty="0" smtClean="0">
                        <a:latin typeface="Cambria Math" panose="02040503050406030204" pitchFamily="18" charset="0"/>
                      </a:rPr>
                      <m:t>2</m:t>
                    </m:r>
                  </m:oMath>
                </a14:m>
                <a:r>
                  <a:rPr lang="zh-Hans" altLang="en-US" dirty="0"/>
                  <a:t> </a:t>
                </a:r>
                <a:r>
                  <a:rPr lang="zh-CN" altLang="en-US" dirty="0"/>
                  <a:t>的情况（方程数量</a:t>
                </a:r>
                <a14:m>
                  <m:oMath xmlns:m="http://schemas.openxmlformats.org/officeDocument/2006/math">
                    <m:r>
                      <a:rPr lang="en-US" altLang="zh-CN" i="1" dirty="0" smtClean="0">
                        <a:latin typeface="Cambria Math" panose="02040503050406030204" pitchFamily="18" charset="0"/>
                      </a:rPr>
                      <m:t>&gt;2</m:t>
                    </m:r>
                  </m:oMath>
                </a14:m>
                <a:r>
                  <a:rPr lang="zh-CN" altLang="en-US" dirty="0"/>
                  <a:t>时可以迭代求解）</a:t>
                </a:r>
                <a:endParaRPr lang="en-US" altLang="zh-CN" dirty="0"/>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a:rPr lang="en-US" altLang="zh-CN" i="1">
                                    <a:latin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c</m:t>
                                    </m:r>
                                  </m:e>
                                  <m:sub>
                                    <m:r>
                                      <a:rPr lang="en-US" altLang="zh-CN" i="1">
                                        <a:latin typeface="Cambria Math" panose="02040503050406030204" pitchFamily="18" charset="0"/>
                                        <a:ea typeface="Cambria Math" panose="02040503050406030204" pitchFamily="18" charset="0"/>
                                      </a:rPr>
                                      <m:t>1</m:t>
                                    </m:r>
                                  </m:sub>
                                </m:sSub>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Sub>
                                  </m:e>
                                </m:d>
                              </m:e>
                            </m:mr>
                            <m:mr>
                              <m:e>
                                <m:r>
                                  <a:rPr lang="en-US" altLang="zh-CN" i="1">
                                    <a:latin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𝑐</m:t>
                                    </m:r>
                                  </m:e>
                                  <m:sub>
                                    <m:r>
                                      <a:rPr lang="en-US" altLang="zh-CN" i="1">
                                        <a:latin typeface="Cambria Math" panose="02040503050406030204" pitchFamily="18" charset="0"/>
                                        <a:ea typeface="Cambria Math" panose="02040503050406030204" pitchFamily="18" charset="0"/>
                                      </a:rPr>
                                      <m:t>2</m:t>
                                    </m:r>
                                  </m:sub>
                                </m:sSub>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Sub>
                                  </m:e>
                                </m:d>
                              </m:e>
                            </m:mr>
                          </m:m>
                        </m:e>
                      </m:d>
                    </m:oMath>
                  </m:oMathPara>
                </a14:m>
                <a:endParaRPr lang="en-US" altLang="zh-CN" dirty="0"/>
              </a:p>
              <a:p>
                <a:pPr>
                  <a:lnSpc>
                    <a:spcPct val="150000"/>
                  </a:lnSpc>
                  <a:spcBef>
                    <a:spcPts val="0"/>
                  </a:spcBef>
                </a:pPr>
                <a:r>
                  <a:rPr lang="zh-CN" altLang="en-US" dirty="0"/>
                  <a:t>设</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c</m:t>
                        </m:r>
                      </m:e>
                      <m:sub>
                        <m:r>
                          <a:rPr lang="en-US" altLang="zh-CN" i="1">
                            <a:latin typeface="Cambria Math" panose="02040503050406030204" pitchFamily="18" charset="0"/>
                            <a:ea typeface="Cambria Math" panose="02040503050406030204" pitchFamily="18" charset="0"/>
                          </a:rPr>
                          <m:t>1</m:t>
                        </m:r>
                      </m:sub>
                    </m:sSub>
                    <m:r>
                      <a:rPr lang="zh-CN" altLang="en-US" i="1">
                        <a:latin typeface="Cambria Math" panose="02040503050406030204" pitchFamily="18" charset="0"/>
                        <a:ea typeface="Cambria Math" panose="02040503050406030204" pitchFamily="18" charset="0"/>
                      </a:rPr>
                      <m:t>，</m:t>
                    </m:r>
                  </m:oMath>
                </a14:m>
                <a:r>
                  <a:rPr lang="zh-CN" altLang="en-US" dirty="0"/>
                  <a:t>则</a:t>
                </a:r>
                <a:endParaRPr lang="en-US" altLang="zh-CN" dirty="0"/>
              </a:p>
              <a:p>
                <a:pPr marL="0" indent="0">
                  <a:lnSpc>
                    <a:spcPct val="150000"/>
                  </a:lnSpc>
                  <a:spcBef>
                    <a:spcPts val="0"/>
                  </a:spcBef>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r>
                                  <m:rPr>
                                    <m:brk m:alnAt="7"/>
                                  </m:rPr>
                                  <a:rPr lang="en-US" altLang="zh-CN" i="1">
                                    <a:latin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≡0</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Sub>
                                  </m:e>
                                </m:d>
                              </m:e>
                            </m:mr>
                            <m:mr>
                              <m:e>
                                <m:r>
                                  <a:rPr lang="en-US" altLang="zh-CN" i="1">
                                    <a:latin typeface="Cambria Math" panose="02040503050406030204" pitchFamily="18" charset="0"/>
                                    <a:ea typeface="Cambria Math" panose="02040503050406030204" pitchFamily="18" charset="0"/>
                                  </a:rPr>
                                  <m:t>𝑦</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𝑐</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𝑐</m:t>
                                    </m:r>
                                  </m:e>
                                  <m:sub>
                                    <m:r>
                                      <a:rPr lang="en-US" altLang="zh-Hans" i="1">
                                        <a:latin typeface="Cambria Math" panose="02040503050406030204" pitchFamily="18" charset="0"/>
                                        <a:ea typeface="Cambria Math" panose="02040503050406030204" pitchFamily="18" charset="0"/>
                                      </a:rPr>
                                      <m:t>1</m:t>
                                    </m:r>
                                  </m:sub>
                                </m:sSub>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Sub>
                                  </m:e>
                                </m:d>
                              </m:e>
                            </m:mr>
                          </m:m>
                        </m:e>
                      </m:d>
                    </m:oMath>
                  </m:oMathPara>
                </a14:m>
                <a:endParaRPr lang="en-US" altLang="zh-CN" dirty="0"/>
              </a:p>
              <a:p>
                <a:pPr>
                  <a:lnSpc>
                    <a:spcPct val="150000"/>
                  </a:lnSpc>
                  <a:spcBef>
                    <a:spcPts val="0"/>
                  </a:spcBef>
                </a:pPr>
                <a:r>
                  <a:rPr lang="zh-CN" altLang="en-US" dirty="0"/>
                  <a:t>设</a:t>
                </a:r>
                <a:r>
                  <a:rPr lang="zh-Hans" altLang="en-US" dirty="0"/>
                  <a:t> </a:t>
                </a:r>
                <a14:m>
                  <m:oMath xmlns:m="http://schemas.openxmlformats.org/officeDocument/2006/math">
                    <m:r>
                      <a:rPr lang="en-US" altLang="zh-CN" i="1" dirty="0">
                        <a:latin typeface="Cambria Math" panose="02040503050406030204" pitchFamily="18" charset="0"/>
                      </a:rPr>
                      <m:t>𝑑</m:t>
                    </m:r>
                    <m:r>
                      <a:rPr lang="en-US" altLang="zh-CN" i="1" dirty="0">
                        <a:latin typeface="Cambria Math" panose="02040503050406030204" pitchFamily="18" charset="0"/>
                      </a:rPr>
                      <m:t>=</m:t>
                    </m:r>
                    <m:r>
                      <m:rPr>
                        <m:sty m:val="p"/>
                      </m:rPr>
                      <a:rPr lang="en-US" altLang="zh-CN" i="1" dirty="0" err="1">
                        <a:latin typeface="Cambria Math" panose="02040503050406030204" pitchFamily="18" charset="0"/>
                      </a:rPr>
                      <m:t>gcd</m:t>
                    </m:r>
                    <m:r>
                      <a:rPr lang="en-US" altLang="zh-CN" i="1" dirty="0">
                        <a:latin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Sub>
                    <m:r>
                      <a:rPr lang="en-US" altLang="zh-CN" i="1" dirty="0">
                        <a:latin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Sub>
                    <m:r>
                      <a:rPr lang="en-US" altLang="zh-CN" i="1" dirty="0">
                        <a:latin typeface="Cambria Math" panose="02040503050406030204" pitchFamily="18" charset="0"/>
                      </a:rPr>
                      <m:t>)</m:t>
                    </m:r>
                    <m:r>
                      <a:rPr lang="zh-CN" altLang="en-US" i="1" dirty="0">
                        <a:latin typeface="Cambria Math" panose="02040503050406030204" pitchFamily="18" charset="0"/>
                      </a:rPr>
                      <m:t>，</m:t>
                    </m:r>
                  </m:oMath>
                </a14:m>
                <a:r>
                  <a:rPr lang="en-US" altLang="zh-CN" dirty="0"/>
                  <a:t> </a:t>
                </a:r>
                <a:r>
                  <a:rPr lang="zh-CN" altLang="en-US" dirty="0"/>
                  <a:t>若</a:t>
                </a:r>
                <a:r>
                  <a:rPr lang="en-US" altLang="zh-CN" dirty="0"/>
                  <a:t> </a:t>
                </a:r>
                <a14:m>
                  <m:oMath xmlns:m="http://schemas.openxmlformats.org/officeDocument/2006/math">
                    <m:r>
                      <a:rPr lang="en-US" altLang="zh-CN" i="1">
                        <a:latin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1)</m:t>
                    </m:r>
                  </m:oMath>
                </a14:m>
                <a:r>
                  <a:rPr lang="zh-CN" altLang="en-US" dirty="0"/>
                  <a:t>则方程组无解</a:t>
                </a:r>
                <a:r>
                  <a:rPr lang="zh-Hans" altLang="en-US" dirty="0"/>
                  <a:t>。</a:t>
                </a:r>
                <a:endParaRPr lang="en-US" altLang="zh-CN"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3382" y="1506415"/>
                <a:ext cx="9982200" cy="5175739"/>
              </a:xfrm>
              <a:blipFill>
                <a:blip r:embed="rId2"/>
                <a:stretch>
                  <a:fillRect l="-1398" b="-26961"/>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3126B998-54E6-8F42-9FB6-E65B20BB7118}"/>
              </a:ext>
            </a:extLst>
          </p:cNvPr>
          <p:cNvSpPr>
            <a:spLocks noGrp="1"/>
          </p:cNvSpPr>
          <p:nvPr>
            <p:ph type="sldNum" sz="quarter" idx="12"/>
          </p:nvPr>
        </p:nvSpPr>
        <p:spPr/>
        <p:txBody>
          <a:bodyPr/>
          <a:lstStyle/>
          <a:p>
            <a:fld id="{0FF54DE5-C571-48E8-A5BC-B369434E2F44}" type="slidenum">
              <a:rPr lang="en-US" altLang="zh-CN" smtClean="0"/>
              <a:pPr/>
              <a:t>100</a:t>
            </a:fld>
            <a:endParaRPr lang="zh-CN" altLang="en-US" dirty="0"/>
          </a:p>
        </p:txBody>
      </p:sp>
    </p:spTree>
    <p:extLst>
      <p:ext uri="{BB962C8B-B14F-4D97-AF65-F5344CB8AC3E}">
        <p14:creationId xmlns:p14="http://schemas.microsoft.com/office/powerpoint/2010/main" val="1905294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p:nvPr>
        </p:nvSpPr>
        <p:spPr/>
        <p:txBody>
          <a:bodyPr/>
          <a:lstStyle/>
          <a:p>
            <a:pPr eaLnBrk="1" hangingPunct="1"/>
            <a:r>
              <a:rPr lang="zh-Hans" altLang="en-US" dirty="0"/>
              <a:t>线性同余方程组（模不互素）</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noChangeArrowheads="1"/>
              </p:cNvSpPr>
              <p:nvPr>
                <p:ph idx="1"/>
              </p:nvPr>
            </p:nvSpPr>
            <p:spPr>
              <a:xfrm>
                <a:off x="1103382" y="1506415"/>
                <a:ext cx="9982200" cy="5175739"/>
              </a:xfrm>
            </p:spPr>
            <p:txBody>
              <a:bodyPr>
                <a:noAutofit/>
              </a:bodyPr>
              <a:lstStyle/>
              <a:p>
                <a:r>
                  <a:rPr lang="zh-Hans" altLang="en-US" dirty="0"/>
                  <a:t>否则：</a:t>
                </a:r>
                <a:endParaRPr lang="en-US" altLang="zh-CN"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m>
                            <m:mPr>
                              <m:mcs>
                                <m:mc>
                                  <m:mcPr>
                                    <m:count m:val="1"/>
                                    <m:mcJc m:val="center"/>
                                  </m:mcPr>
                                </m:mc>
                              </m:mcs>
                              <m:ctrlPr>
                                <a:rPr lang="en-US" altLang="zh-CN" i="1">
                                  <a:latin typeface="Cambria Math" panose="02040503050406030204" pitchFamily="18" charset="0"/>
                                </a:rPr>
                              </m:ctrlPr>
                            </m:mPr>
                            <m:mr>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≡0</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b="0" i="1" smtClean="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b="0" i="1" smtClean="0">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e>
                                </m:d>
                              </m:e>
                            </m:mr>
                            <m:mr>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b="0" i="1" smtClean="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e>
                                </m:d>
                              </m:e>
                            </m:mr>
                          </m:m>
                        </m:e>
                      </m:d>
                    </m:oMath>
                  </m:oMathPara>
                </a14:m>
                <a:endParaRPr lang="en-US" altLang="zh-CN" dirty="0"/>
              </a:p>
              <a:p>
                <a:r>
                  <a:rPr lang="zh-CN" altLang="en-US" dirty="0"/>
                  <a:t>其中</a:t>
                </a:r>
                <a:r>
                  <a:rPr lang="zh-Hans" altLang="en-US" dirty="0"/>
                  <a:t> </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𝑦</m:t>
                        </m:r>
                      </m:num>
                      <m:den>
                        <m:r>
                          <a:rPr lang="en-US" altLang="zh-CN" b="0" i="1" smtClean="0">
                            <a:latin typeface="Cambria Math" panose="02040503050406030204" pitchFamily="18" charset="0"/>
                            <a:ea typeface="Cambria Math" panose="02040503050406030204" pitchFamily="18" charset="0"/>
                          </a:rPr>
                          <m:t>𝑑</m:t>
                        </m:r>
                      </m:den>
                    </m:f>
                    <m:r>
                      <a:rPr lang="en-US" altLang="zh-CN">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𝑐</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2−</m:t>
                        </m:r>
                        <m:r>
                          <a:rPr lang="en-US" altLang="zh-CN" i="1">
                            <a:latin typeface="Cambria Math" panose="02040503050406030204" pitchFamily="18" charset="0"/>
                            <a:ea typeface="Cambria Math" panose="02040503050406030204" pitchFamily="18" charset="0"/>
                          </a:rPr>
                          <m:t>𝑐</m:t>
                        </m:r>
                        <m:r>
                          <a:rPr lang="en-US" altLang="zh-CN" i="1">
                            <a:latin typeface="Cambria Math" panose="02040503050406030204" pitchFamily="18" charset="0"/>
                            <a:ea typeface="Cambria Math" panose="02040503050406030204" pitchFamily="18" charset="0"/>
                          </a:rPr>
                          <m:t>1</m:t>
                        </m:r>
                      </m:num>
                      <m:den>
                        <m:r>
                          <a:rPr lang="en-US" altLang="zh-CN" b="0" i="1" smtClean="0">
                            <a:latin typeface="Cambria Math" panose="02040503050406030204" pitchFamily="18" charset="0"/>
                            <a:ea typeface="Cambria Math" panose="02040503050406030204" pitchFamily="18" charset="0"/>
                          </a:rPr>
                          <m:t>𝑑</m:t>
                        </m:r>
                      </m:den>
                    </m:f>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Sub>
                      </m:num>
                      <m:den>
                        <m:r>
                          <a:rPr lang="en-US" altLang="zh-CN" b="0" i="1" smtClean="0">
                            <a:latin typeface="Cambria Math" panose="02040503050406030204" pitchFamily="18" charset="0"/>
                            <a:ea typeface="Cambria Math" panose="02040503050406030204" pitchFamily="18" charset="0"/>
                          </a:rPr>
                          <m:t>𝑑</m:t>
                        </m:r>
                      </m:den>
                    </m:f>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Sub>
                      </m:num>
                      <m:den>
                        <m:r>
                          <a:rPr lang="en-US" altLang="zh-CN" b="0" i="1" smtClean="0">
                            <a:latin typeface="Cambria Math" panose="02040503050406030204" pitchFamily="18" charset="0"/>
                            <a:ea typeface="Cambria Math" panose="02040503050406030204" pitchFamily="18" charset="0"/>
                          </a:rPr>
                          <m:t>𝑑</m:t>
                        </m:r>
                      </m:den>
                    </m:f>
                  </m:oMath>
                </a14:m>
                <a:r>
                  <a:rPr lang="en-US" altLang="zh-CN" dirty="0"/>
                  <a:t> </a:t>
                </a:r>
                <a:r>
                  <a:rPr lang="zh-CN" altLang="en-US" dirty="0"/>
                  <a:t>且</a:t>
                </a:r>
                <a14:m>
                  <m:oMath xmlns:m="http://schemas.openxmlformats.org/officeDocument/2006/math">
                    <m:r>
                      <a:rPr lang="en-US" altLang="zh-CN" b="0" i="0" dirty="0" smtClean="0">
                        <a:latin typeface="Cambria Math" panose="02040503050406030204" pitchFamily="18" charset="0"/>
                      </a:rPr>
                      <m:t> </m:t>
                    </m:r>
                    <m:func>
                      <m:funcPr>
                        <m:ctrlPr>
                          <a:rPr lang="en-US" altLang="zh-CN" i="1" dirty="0">
                            <a:latin typeface="Cambria Math" panose="02040503050406030204" pitchFamily="18" charset="0"/>
                          </a:rPr>
                        </m:ctrlPr>
                      </m:funcPr>
                      <m:fName>
                        <m:r>
                          <m:rPr>
                            <m:sty m:val="p"/>
                          </m:rPr>
                          <a:rPr lang="en-US" altLang="zh-CN" dirty="0">
                            <a:latin typeface="Cambria Math" panose="02040503050406030204" pitchFamily="18" charset="0"/>
                          </a:rPr>
                          <m:t>gcd</m:t>
                        </m:r>
                      </m:fName>
                      <m:e>
                        <m:d>
                          <m:dPr>
                            <m:ctrlPr>
                              <a:rPr lang="en-US" altLang="zh-CN" i="1" dirty="0">
                                <a:latin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e>
                        </m:d>
                      </m:e>
                    </m:func>
                    <m:r>
                      <a:rPr lang="en-US" altLang="zh-CN" i="1" dirty="0">
                        <a:latin typeface="Cambria Math" panose="02040503050406030204" pitchFamily="18" charset="0"/>
                      </a:rPr>
                      <m:t>=1</m:t>
                    </m:r>
                  </m:oMath>
                </a14:m>
                <a:r>
                  <a:rPr lang="zh-CN" altLang="en-US" dirty="0"/>
                  <a:t>。</a:t>
                </a:r>
                <a:endParaRPr lang="en-US" altLang="zh-CN" dirty="0"/>
              </a:p>
              <a:p>
                <a:r>
                  <a:rPr lang="zh-Hans" altLang="en-US" dirty="0"/>
                  <a:t>可</a:t>
                </a:r>
                <a:r>
                  <a:rPr lang="zh-CN" altLang="en-US" dirty="0"/>
                  <a:t>得</a:t>
                </a:r>
                <a:endParaRPr lang="en-US" altLang="zh-CN" b="0" i="0"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𝑘</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𝑐</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mod</m:t>
                      </m:r>
                      <m:r>
                        <a:rPr lang="en-US" altLang="zh-CN" b="0" i="1" smtClean="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oMath>
                  </m:oMathPara>
                </a14:m>
                <a:endParaRPr lang="en-US" altLang="zh-CN" dirty="0"/>
              </a:p>
              <a:p>
                <a:r>
                  <a:rPr lang="zh-CN" altLang="en-US" dirty="0"/>
                  <a:t>用欧拉定理解得</a:t>
                </a:r>
              </a:p>
              <a:p>
                <a:pPr marL="0" indent="0">
                  <a:buNone/>
                </a:pPr>
                <a:endParaRPr lang="en-US" altLang="zh-CN" dirty="0"/>
              </a:p>
              <a:p>
                <a:r>
                  <a:rPr lang="zh-CN" altLang="en-US" dirty="0"/>
                  <a:t>所以</a:t>
                </a:r>
                <a:r>
                  <a:rPr lang="en-US" altLang="zh-CN" dirty="0"/>
                  <a:t> </a:t>
                </a:r>
                <a14:m>
                  <m:oMath xmlns:m="http://schemas.openxmlformats.org/officeDocument/2006/math">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𝑦</m:t>
                        </m:r>
                      </m:e>
                      <m:sup>
                        <m:r>
                          <a:rPr lang="en-US" altLang="zh-CN" i="1">
                            <a:latin typeface="Cambria Math" panose="02040503050406030204" pitchFamily="18" charset="0"/>
                            <a:ea typeface="Cambria Math" panose="02040503050406030204" pitchFamily="18" charset="0"/>
                          </a:rPr>
                          <m:t>′</m:t>
                        </m:r>
                      </m:sup>
                    </m:s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𝑐</m:t>
                        </m:r>
                      </m:e>
                      <m:sup>
                        <m:r>
                          <a:rPr lang="en-US" altLang="zh-CN" i="1">
                            <a:latin typeface="Cambria Math" panose="02040503050406030204" pitchFamily="18" charset="0"/>
                            <a:ea typeface="Cambria Math" panose="02040503050406030204" pitchFamily="18" charset="0"/>
                          </a:rPr>
                          <m:t>′</m:t>
                        </m:r>
                      </m:sup>
                    </m:sSup>
                    <m:sSup>
                      <m:sSupPr>
                        <m:ctrlPr>
                          <a:rPr lang="en-US" altLang="zh-CN" i="1">
                            <a:latin typeface="Cambria Math" panose="02040503050406030204" pitchFamily="18" charset="0"/>
                            <a:ea typeface="Cambria Math" panose="02040503050406030204" pitchFamily="18" charset="0"/>
                          </a:rPr>
                        </m:ctrlPr>
                      </m:sSup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e>
                      <m:sup>
                        <m:r>
                          <a:rPr lang="zh-CN" altLang="en-US" i="1">
                            <a:latin typeface="Cambria Math" panose="02040503050406030204" pitchFamily="18" charset="0"/>
                            <a:ea typeface="Cambria Math" panose="02040503050406030204" pitchFamily="18" charset="0"/>
                          </a:rPr>
                          <m:t>𝜑</m:t>
                        </m:r>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e>
                        </m:d>
                      </m:sup>
                    </m:sSup>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mod</m:t>
                    </m:r>
                    <m:sSubSup>
                      <m:sSubSupPr>
                        <m:ctrlPr>
                          <a:rPr lang="en-US" altLang="zh-CN" i="1">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oMath>
                </a14:m>
                <a:endParaRPr lang="en-US" altLang="zh-CN" dirty="0"/>
              </a:p>
              <a:p>
                <a:r>
                  <a:rPr lang="zh-CN" altLang="en-US" dirty="0"/>
                  <a:t>代入得</a:t>
                </a:r>
                <a:r>
                  <a:rPr lang="en-US" altLang="zh-CN" dirty="0"/>
                  <a:t> </a:t>
                </a:r>
                <a14:m>
                  <m:oMath xmlns:m="http://schemas.openxmlformats.org/officeDocument/2006/math">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𝑐</m:t>
                        </m:r>
                      </m:e>
                      <m:sup>
                        <m:r>
                          <a:rPr lang="en-US" altLang="zh-CN" i="1">
                            <a:latin typeface="Cambria Math" panose="02040503050406030204" pitchFamily="18" charset="0"/>
                            <a:ea typeface="Cambria Math" panose="02040503050406030204" pitchFamily="18" charset="0"/>
                          </a:rPr>
                          <m:t>′</m:t>
                        </m:r>
                      </m:sup>
                    </m:sSup>
                    <m:sSup>
                      <m:sSupPr>
                        <m:ctrlPr>
                          <a:rPr lang="en-US" altLang="zh-CN" i="1">
                            <a:latin typeface="Cambria Math" panose="02040503050406030204" pitchFamily="18" charset="0"/>
                            <a:ea typeface="Cambria Math" panose="02040503050406030204" pitchFamily="18" charset="0"/>
                          </a:rPr>
                        </m:ctrlPr>
                      </m:sSup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e>
                      <m:sup>
                        <m:r>
                          <a:rPr lang="zh-CN" altLang="en-US" i="1">
                            <a:latin typeface="Cambria Math" panose="02040503050406030204" pitchFamily="18" charset="0"/>
                            <a:ea typeface="Cambria Math" panose="02040503050406030204" pitchFamily="18" charset="0"/>
                          </a:rPr>
                          <m:t>𝜑</m:t>
                        </m:r>
                        <m:d>
                          <m:dPr>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e>
                        </m:d>
                      </m:sup>
                    </m:sSup>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𝑐</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m:rPr>
                        <m:sty m:val="p"/>
                      </m:rPr>
                      <a:rPr lang="en-US" altLang="zh-CN" i="0">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𝑑</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m:t>
                        </m:r>
                      </m:sup>
                    </m:sSubSup>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2</m:t>
                        </m:r>
                      </m:sub>
                      <m:sup>
                        <m:r>
                          <a:rPr lang="en-US" altLang="zh-CN" i="1">
                            <a:latin typeface="Cambria Math" panose="02040503050406030204" pitchFamily="18" charset="0"/>
                            <a:ea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m:t>
                    </m:r>
                  </m:oMath>
                </a14:m>
                <a:endParaRPr lang="en-US" altLang="zh-CN" dirty="0"/>
              </a:p>
              <a:p>
                <a:r>
                  <a:rPr lang="zh-CN" altLang="en-US" dirty="0"/>
                  <a:t>至此，两个同余方程合并成了一个同余方程。迭代若干次可得到原方程组的解。</a:t>
                </a:r>
              </a:p>
              <a:p>
                <a:pPr marL="0" indent="0">
                  <a:lnSpc>
                    <a:spcPct val="100000"/>
                  </a:lnSpc>
                  <a:spcBef>
                    <a:spcPts val="0"/>
                  </a:spcBef>
                  <a:buNone/>
                </a:pPr>
                <a:endParaRPr lang="en-US" altLang="zh-CN" dirty="0">
                  <a:sym typeface="宋体"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3382" y="1506415"/>
                <a:ext cx="9982200" cy="5175739"/>
              </a:xfrm>
              <a:blipFill>
                <a:blip r:embed="rId2"/>
                <a:stretch>
                  <a:fillRect l="-1398" t="-25245"/>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3420684B-DD49-2A4E-B17A-C696AFF039BC}"/>
              </a:ext>
            </a:extLst>
          </p:cNvPr>
          <p:cNvSpPr>
            <a:spLocks noGrp="1"/>
          </p:cNvSpPr>
          <p:nvPr>
            <p:ph type="sldNum" sz="quarter" idx="12"/>
          </p:nvPr>
        </p:nvSpPr>
        <p:spPr/>
        <p:txBody>
          <a:bodyPr/>
          <a:lstStyle/>
          <a:p>
            <a:fld id="{0FF54DE5-C571-48E8-A5BC-B369434E2F44}" type="slidenum">
              <a:rPr lang="en-US" altLang="zh-CN" smtClean="0"/>
              <a:pPr/>
              <a:t>101</a:t>
            </a:fld>
            <a:endParaRPr lang="zh-CN" altLang="en-US" dirty="0"/>
          </a:p>
        </p:txBody>
      </p:sp>
    </p:spTree>
    <p:extLst>
      <p:ext uri="{BB962C8B-B14F-4D97-AF65-F5344CB8AC3E}">
        <p14:creationId xmlns:p14="http://schemas.microsoft.com/office/powerpoint/2010/main" val="185840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a:lnSpc>
                <a:spcPct val="120000"/>
              </a:lnSpc>
            </a:pPr>
            <a:r>
              <a:rPr lang="zh-CN" altLang="en-US" dirty="0"/>
              <a:t>例题：</a:t>
            </a:r>
            <a:r>
              <a:rPr lang="en-US" altLang="zh-CN" dirty="0"/>
              <a:t>[POJ 2891] Strange Way to Express Integers</a:t>
            </a:r>
          </a:p>
        </p:txBody>
      </p:sp>
      <mc:AlternateContent xmlns:mc="http://schemas.openxmlformats.org/markup-compatibility/2006">
        <mc:Choice xmlns:a14="http://schemas.microsoft.com/office/drawing/2010/main" Requires="a14">
          <p:sp>
            <p:nvSpPr>
              <p:cNvPr id="7" name="内容占位符 2"/>
              <p:cNvSpPr>
                <a:spLocks noGrp="1" noChangeArrowheads="1"/>
              </p:cNvSpPr>
              <p:nvPr>
                <p:ph idx="1"/>
              </p:nvPr>
            </p:nvSpPr>
            <p:spPr>
              <a:xfrm>
                <a:off x="1104900" y="1502408"/>
                <a:ext cx="9982200" cy="5355592"/>
              </a:xfrm>
            </p:spPr>
            <p:txBody>
              <a:bodyPr>
                <a:normAutofit/>
              </a:bodyPr>
              <a:lstStyle/>
              <a:p>
                <a:pPr>
                  <a:lnSpc>
                    <a:spcPct val="150000"/>
                  </a:lnSpc>
                  <a:spcBef>
                    <a:spcPts val="600"/>
                  </a:spcBef>
                </a:pPr>
                <a:r>
                  <a:rPr lang="zh-CN" altLang="en-US" noProof="1"/>
                  <a:t>给定 </a:t>
                </a:r>
                <a14:m>
                  <m:oMath xmlns:m="http://schemas.openxmlformats.org/officeDocument/2006/math">
                    <m:r>
                      <a:rPr lang="en-US" altLang="zh-CN" i="1" noProof="1" smtClean="0">
                        <a:latin typeface="Cambria Math" panose="02040503050406030204" pitchFamily="18" charset="0"/>
                      </a:rPr>
                      <m:t>2</m:t>
                    </m:r>
                    <m:r>
                      <a:rPr lang="en-US" altLang="zh-CN" i="1" noProof="1" smtClean="0">
                        <a:latin typeface="Cambria Math" panose="02040503050406030204" pitchFamily="18" charset="0"/>
                      </a:rPr>
                      <m:t>𝑛</m:t>
                    </m:r>
                  </m:oMath>
                </a14:m>
                <a:r>
                  <a:rPr lang="en-US" altLang="zh-CN" noProof="1"/>
                  <a:t> </a:t>
                </a:r>
                <a:r>
                  <a:rPr lang="zh-CN" altLang="en-US" noProof="1"/>
                  <a:t>个正整数 </a:t>
                </a:r>
                <a14:m>
                  <m:oMath xmlns:m="http://schemas.openxmlformats.org/officeDocument/2006/math">
                    <m:sSub>
                      <m:sSubPr>
                        <m:ctrlPr>
                          <a:rPr lang="en-US" altLang="zh-CN" i="1" noProof="1" smtClean="0">
                            <a:latin typeface="Cambria Math" panose="02040503050406030204" pitchFamily="18" charset="0"/>
                          </a:rPr>
                        </m:ctrlPr>
                      </m:sSubPr>
                      <m:e>
                        <m:r>
                          <a:rPr lang="en-US" altLang="zh-CN" b="0" i="1" noProof="1" smtClean="0">
                            <a:latin typeface="Cambria Math" panose="02040503050406030204" pitchFamily="18" charset="0"/>
                          </a:rPr>
                          <m:t>𝑎</m:t>
                        </m:r>
                      </m:e>
                      <m:sub>
                        <m:r>
                          <a:rPr lang="en-US" altLang="zh-Hans" b="0" i="1" noProof="1" smtClean="0">
                            <a:latin typeface="Cambria Math" panose="02040503050406030204" pitchFamily="18" charset="0"/>
                          </a:rPr>
                          <m:t>1</m:t>
                        </m:r>
                      </m:sub>
                    </m:sSub>
                    <m:r>
                      <a:rPr lang="en-US" altLang="zh-CN" b="0" i="1" noProof="1" smtClean="0">
                        <a:latin typeface="Cambria Math" panose="02040503050406030204" pitchFamily="18" charset="0"/>
                      </a:rPr>
                      <m:t>,</m:t>
                    </m:r>
                    <m:sSub>
                      <m:sSubPr>
                        <m:ctrlPr>
                          <a:rPr lang="en-US" altLang="zh-CN" b="0" i="1" noProof="1" smtClean="0">
                            <a:latin typeface="Cambria Math" panose="02040503050406030204" pitchFamily="18" charset="0"/>
                          </a:rPr>
                        </m:ctrlPr>
                      </m:sSubPr>
                      <m:e>
                        <m:r>
                          <a:rPr lang="en-US" altLang="zh-CN" b="0" i="1" noProof="1" smtClean="0">
                            <a:latin typeface="Cambria Math" panose="02040503050406030204" pitchFamily="18" charset="0"/>
                          </a:rPr>
                          <m:t>𝑎</m:t>
                        </m:r>
                      </m:e>
                      <m:sub>
                        <m:r>
                          <a:rPr lang="en-US" altLang="zh-CN" b="0" i="1" noProof="1" smtClean="0">
                            <a:latin typeface="Cambria Math" panose="02040503050406030204" pitchFamily="18" charset="0"/>
                          </a:rPr>
                          <m:t>2</m:t>
                        </m:r>
                      </m:sub>
                    </m:sSub>
                    <m:r>
                      <a:rPr lang="en-US" altLang="zh-CN" b="0" i="1" noProof="1" smtClean="0">
                        <a:latin typeface="Cambria Math" panose="02040503050406030204" pitchFamily="18" charset="0"/>
                      </a:rPr>
                      <m:t>,…,</m:t>
                    </m:r>
                    <m:sSub>
                      <m:sSubPr>
                        <m:ctrlPr>
                          <a:rPr lang="en-US" altLang="zh-CN" b="0" i="1" noProof="1" smtClean="0">
                            <a:latin typeface="Cambria Math" panose="02040503050406030204" pitchFamily="18" charset="0"/>
                          </a:rPr>
                        </m:ctrlPr>
                      </m:sSubPr>
                      <m:e>
                        <m:r>
                          <a:rPr lang="en-US" altLang="zh-CN" b="0" i="1" noProof="1" smtClean="0">
                            <a:latin typeface="Cambria Math" panose="02040503050406030204" pitchFamily="18" charset="0"/>
                          </a:rPr>
                          <m:t>𝑎</m:t>
                        </m:r>
                      </m:e>
                      <m:sub>
                        <m:r>
                          <a:rPr lang="en-US" altLang="zh-CN" b="0" i="1" noProof="1" smtClean="0">
                            <a:latin typeface="Cambria Math" panose="02040503050406030204" pitchFamily="18" charset="0"/>
                          </a:rPr>
                          <m:t>𝑛</m:t>
                        </m:r>
                      </m:sub>
                    </m:sSub>
                  </m:oMath>
                </a14:m>
                <a:r>
                  <a:rPr lang="en-US" altLang="zh-CN" noProof="1"/>
                  <a:t> </a:t>
                </a:r>
                <a:r>
                  <a:rPr lang="zh-CN" altLang="en-US" noProof="1"/>
                  <a:t>和 </a:t>
                </a:r>
                <a14:m>
                  <m:oMath xmlns:m="http://schemas.openxmlformats.org/officeDocument/2006/math">
                    <m:sSub>
                      <m:sSubPr>
                        <m:ctrlPr>
                          <a:rPr lang="en-US" altLang="zh-CN" i="1" noProof="1">
                            <a:latin typeface="Cambria Math" panose="02040503050406030204" pitchFamily="18" charset="0"/>
                          </a:rPr>
                        </m:ctrlPr>
                      </m:sSubPr>
                      <m:e>
                        <m:r>
                          <a:rPr lang="en-US" altLang="zh-CN" b="0" i="1" noProof="1" smtClean="0">
                            <a:latin typeface="Cambria Math" panose="02040503050406030204" pitchFamily="18" charset="0"/>
                          </a:rPr>
                          <m:t>𝑚</m:t>
                        </m:r>
                      </m:e>
                      <m:sub>
                        <m:r>
                          <a:rPr lang="en-US" altLang="zh-Hans" i="1" noProof="1">
                            <a:latin typeface="Cambria Math" panose="02040503050406030204" pitchFamily="18" charset="0"/>
                          </a:rPr>
                          <m:t>1</m:t>
                        </m:r>
                      </m:sub>
                    </m:sSub>
                    <m:r>
                      <a:rPr lang="en-US" altLang="zh-CN" i="1" noProof="1">
                        <a:latin typeface="Cambria Math" panose="02040503050406030204" pitchFamily="18" charset="0"/>
                      </a:rPr>
                      <m:t>,</m:t>
                    </m:r>
                    <m:sSub>
                      <m:sSubPr>
                        <m:ctrlPr>
                          <a:rPr lang="en-US" altLang="zh-CN" i="1" noProof="1">
                            <a:latin typeface="Cambria Math" panose="02040503050406030204" pitchFamily="18" charset="0"/>
                          </a:rPr>
                        </m:ctrlPr>
                      </m:sSubPr>
                      <m:e>
                        <m:r>
                          <a:rPr lang="en-US" altLang="zh-CN" b="0" i="1" noProof="1" smtClean="0">
                            <a:latin typeface="Cambria Math" panose="02040503050406030204" pitchFamily="18" charset="0"/>
                          </a:rPr>
                          <m:t>𝑚</m:t>
                        </m:r>
                      </m:e>
                      <m:sub>
                        <m:r>
                          <a:rPr lang="en-US" altLang="zh-CN" i="1" noProof="1">
                            <a:latin typeface="Cambria Math" panose="02040503050406030204" pitchFamily="18" charset="0"/>
                          </a:rPr>
                          <m:t>2</m:t>
                        </m:r>
                      </m:sub>
                    </m:sSub>
                    <m:r>
                      <a:rPr lang="en-US" altLang="zh-CN" i="1" noProof="1">
                        <a:latin typeface="Cambria Math" panose="02040503050406030204" pitchFamily="18" charset="0"/>
                      </a:rPr>
                      <m:t>,…,</m:t>
                    </m:r>
                    <m:sSub>
                      <m:sSubPr>
                        <m:ctrlPr>
                          <a:rPr lang="en-US" altLang="zh-CN" i="1" noProof="1">
                            <a:latin typeface="Cambria Math" panose="02040503050406030204" pitchFamily="18" charset="0"/>
                          </a:rPr>
                        </m:ctrlPr>
                      </m:sSubPr>
                      <m:e>
                        <m:r>
                          <a:rPr lang="en-US" altLang="zh-CN" b="0" i="1" noProof="1" smtClean="0">
                            <a:latin typeface="Cambria Math" panose="02040503050406030204" pitchFamily="18" charset="0"/>
                          </a:rPr>
                          <m:t>𝑚</m:t>
                        </m:r>
                      </m:e>
                      <m:sub>
                        <m:r>
                          <a:rPr lang="en-US" altLang="zh-CN" i="1" noProof="1">
                            <a:latin typeface="Cambria Math" panose="02040503050406030204" pitchFamily="18" charset="0"/>
                          </a:rPr>
                          <m:t>𝑛</m:t>
                        </m:r>
                      </m:sub>
                    </m:sSub>
                  </m:oMath>
                </a14:m>
                <a:r>
                  <a:rPr lang="en-US" altLang="zh-CN" noProof="1"/>
                  <a:t> </a:t>
                </a:r>
                <a:r>
                  <a:rPr lang="zh-CN" altLang="en-US" noProof="1"/>
                  <a:t>，求出一个最小的正整数 </a:t>
                </a:r>
                <a14:m>
                  <m:oMath xmlns:m="http://schemas.openxmlformats.org/officeDocument/2006/math">
                    <m:r>
                      <a:rPr lang="en-US" altLang="zh-CN" i="1" noProof="1" smtClean="0">
                        <a:latin typeface="Cambria Math" panose="02040503050406030204" pitchFamily="18" charset="0"/>
                      </a:rPr>
                      <m:t>𝑥</m:t>
                    </m:r>
                  </m:oMath>
                </a14:m>
                <a:r>
                  <a:rPr lang="zh-CN" altLang="en-US" noProof="1"/>
                  <a:t>，求满足</a:t>
                </a:r>
                <a:r>
                  <a:rPr lang="en-US" altLang="zh-CN" noProof="1"/>
                  <a:t> </a:t>
                </a:r>
                <a14:m>
                  <m:oMath xmlns:m="http://schemas.openxmlformats.org/officeDocument/2006/math">
                    <m:r>
                      <a:rPr lang="en-US" altLang="zh-CN" b="0" i="1" noProof="1" smtClean="0">
                        <a:latin typeface="Cambria Math" panose="02040503050406030204" pitchFamily="18" charset="0"/>
                      </a:rPr>
                      <m:t>𝑥</m:t>
                    </m:r>
                    <m:r>
                      <a:rPr lang="en-US" altLang="zh-CN" b="0" i="1" noProof="1" smtClean="0">
                        <a:latin typeface="Cambria Math" panose="02040503050406030204" pitchFamily="18" charset="0"/>
                        <a:ea typeface="Cambria Math" panose="02040503050406030204" pitchFamily="18" charset="0"/>
                      </a:rPr>
                      <m:t>≡</m:t>
                    </m:r>
                    <m:sSub>
                      <m:sSubPr>
                        <m:ctrlPr>
                          <a:rPr lang="en-US" altLang="zh-CN" b="0" i="1" noProof="1" smtClean="0">
                            <a:latin typeface="Cambria Math" panose="02040503050406030204" pitchFamily="18" charset="0"/>
                            <a:ea typeface="Cambria Math" panose="02040503050406030204" pitchFamily="18" charset="0"/>
                          </a:rPr>
                        </m:ctrlPr>
                      </m:sSubPr>
                      <m:e>
                        <m:r>
                          <a:rPr lang="en-US" altLang="zh-CN" b="0" i="1" noProof="1" smtClean="0">
                            <a:latin typeface="Cambria Math" panose="02040503050406030204" pitchFamily="18" charset="0"/>
                            <a:ea typeface="Cambria Math" panose="02040503050406030204" pitchFamily="18" charset="0"/>
                          </a:rPr>
                          <m:t>𝑎</m:t>
                        </m:r>
                      </m:e>
                      <m:sub>
                        <m:r>
                          <a:rPr lang="en-US" altLang="zh-CN" b="0" i="1" noProof="1" smtClean="0">
                            <a:latin typeface="Cambria Math" panose="02040503050406030204" pitchFamily="18" charset="0"/>
                            <a:ea typeface="Cambria Math" panose="02040503050406030204" pitchFamily="18" charset="0"/>
                          </a:rPr>
                          <m:t>𝑖</m:t>
                        </m:r>
                      </m:sub>
                    </m:sSub>
                    <m:d>
                      <m:dPr>
                        <m:ctrlPr>
                          <a:rPr lang="en-US" altLang="zh-CN" b="0" i="1" noProof="1" smtClean="0">
                            <a:latin typeface="Cambria Math" panose="02040503050406030204" pitchFamily="18" charset="0"/>
                            <a:ea typeface="Cambria Math" panose="02040503050406030204" pitchFamily="18" charset="0"/>
                          </a:rPr>
                        </m:ctrlPr>
                      </m:dPr>
                      <m:e>
                        <m:r>
                          <m:rPr>
                            <m:sty m:val="p"/>
                          </m:rPr>
                          <a:rPr lang="en-US" altLang="zh-CN" b="0" i="0" noProof="1" smtClean="0">
                            <a:latin typeface="Cambria Math" panose="02040503050406030204" pitchFamily="18" charset="0"/>
                            <a:ea typeface="Cambria Math" panose="02040503050406030204" pitchFamily="18" charset="0"/>
                          </a:rPr>
                          <m:t>mod</m:t>
                        </m:r>
                        <m:r>
                          <a:rPr lang="en-US" altLang="zh-CN" b="0" i="1" noProof="1" smtClean="0">
                            <a:latin typeface="Cambria Math" panose="02040503050406030204" pitchFamily="18" charset="0"/>
                            <a:ea typeface="Cambria Math" panose="02040503050406030204" pitchFamily="18" charset="0"/>
                          </a:rPr>
                          <m:t> </m:t>
                        </m:r>
                        <m:sSub>
                          <m:sSubPr>
                            <m:ctrlPr>
                              <a:rPr lang="en-US" altLang="zh-CN" b="0" i="1" noProof="1" smtClean="0">
                                <a:latin typeface="Cambria Math" panose="02040503050406030204" pitchFamily="18" charset="0"/>
                                <a:ea typeface="Cambria Math" panose="02040503050406030204" pitchFamily="18" charset="0"/>
                              </a:rPr>
                            </m:ctrlPr>
                          </m:sSubPr>
                          <m:e>
                            <m:r>
                              <a:rPr lang="en-US" altLang="zh-CN" b="0" i="1" noProof="1" smtClean="0">
                                <a:latin typeface="Cambria Math" panose="02040503050406030204" pitchFamily="18" charset="0"/>
                                <a:ea typeface="Cambria Math" panose="02040503050406030204" pitchFamily="18" charset="0"/>
                              </a:rPr>
                              <m:t>𝑚</m:t>
                            </m:r>
                          </m:e>
                          <m:sub>
                            <m:r>
                              <a:rPr lang="en-US" altLang="zh-CN" b="0" i="1" noProof="1" smtClean="0">
                                <a:latin typeface="Cambria Math" panose="02040503050406030204" pitchFamily="18" charset="0"/>
                                <a:ea typeface="Cambria Math" panose="02040503050406030204" pitchFamily="18" charset="0"/>
                              </a:rPr>
                              <m:t>𝑖</m:t>
                            </m:r>
                          </m:sub>
                        </m:sSub>
                      </m:e>
                    </m:d>
                    <m:r>
                      <a:rPr lang="en-US" altLang="zh-CN" b="0" i="1" noProof="1" smtClean="0">
                        <a:latin typeface="Cambria Math" panose="02040503050406030204" pitchFamily="18" charset="0"/>
                        <a:ea typeface="Cambria Math" panose="02040503050406030204" pitchFamily="18" charset="0"/>
                      </a:rPr>
                      <m:t>, </m:t>
                    </m:r>
                    <m:r>
                      <a:rPr lang="en-US" altLang="zh-CN" b="0" i="1" noProof="1" smtClean="0">
                        <a:latin typeface="Cambria Math" panose="02040503050406030204" pitchFamily="18" charset="0"/>
                        <a:ea typeface="Cambria Math" panose="02040503050406030204" pitchFamily="18" charset="0"/>
                      </a:rPr>
                      <m:t>𝑖</m:t>
                    </m:r>
                    <m:r>
                      <a:rPr lang="en-US" altLang="zh-CN" b="0" i="1" noProof="1" smtClean="0">
                        <a:latin typeface="Cambria Math" panose="02040503050406030204" pitchFamily="18" charset="0"/>
                        <a:ea typeface="Cambria Math" panose="02040503050406030204" pitchFamily="18" charset="0"/>
                      </a:rPr>
                      <m:t>∈</m:t>
                    </m:r>
                    <m:d>
                      <m:dPr>
                        <m:begChr m:val="["/>
                        <m:endChr m:val="]"/>
                        <m:ctrlPr>
                          <a:rPr lang="en-US" altLang="zh-CN" b="0" i="1" noProof="1" smtClean="0">
                            <a:latin typeface="Cambria Math" panose="02040503050406030204" pitchFamily="18" charset="0"/>
                            <a:ea typeface="Cambria Math" panose="02040503050406030204" pitchFamily="18" charset="0"/>
                          </a:rPr>
                        </m:ctrlPr>
                      </m:dPr>
                      <m:e>
                        <m:r>
                          <a:rPr lang="en-US" altLang="zh-CN" b="0" i="1" noProof="1" smtClean="0">
                            <a:latin typeface="Cambria Math" panose="02040503050406030204" pitchFamily="18" charset="0"/>
                            <a:ea typeface="Cambria Math" panose="02040503050406030204" pitchFamily="18" charset="0"/>
                          </a:rPr>
                          <m:t>1,</m:t>
                        </m:r>
                        <m:r>
                          <a:rPr lang="en-US" altLang="zh-CN" b="0" i="1" noProof="1" smtClean="0">
                            <a:latin typeface="Cambria Math" panose="02040503050406030204" pitchFamily="18" charset="0"/>
                            <a:ea typeface="Cambria Math" panose="02040503050406030204" pitchFamily="18" charset="0"/>
                          </a:rPr>
                          <m:t>𝑛</m:t>
                        </m:r>
                      </m:e>
                    </m:d>
                  </m:oMath>
                </a14:m>
                <a:r>
                  <a:rPr lang="zh-CN" altLang="en-US" noProof="1"/>
                  <a:t>，或者给出无解。</a:t>
                </a:r>
                <a:endParaRPr lang="en-US" altLang="zh-CN" noProof="1"/>
              </a:p>
              <a:p>
                <a:pPr>
                  <a:lnSpc>
                    <a:spcPct val="150000"/>
                  </a:lnSpc>
                  <a:spcBef>
                    <a:spcPts val="600"/>
                  </a:spcBef>
                </a:pPr>
                <a:r>
                  <a:rPr lang="zh-CN" altLang="en-US" noProof="1"/>
                  <a:t>题中</a:t>
                </a:r>
                <a:r>
                  <a:rPr lang="en-US" altLang="zh-CN" noProof="1"/>
                  <a:t> </a:t>
                </a:r>
                <a14:m>
                  <m:oMath xmlns:m="http://schemas.openxmlformats.org/officeDocument/2006/math">
                    <m:sSub>
                      <m:sSubPr>
                        <m:ctrlPr>
                          <a:rPr lang="en-US" altLang="zh-CN" i="1" noProof="1">
                            <a:latin typeface="Cambria Math" panose="02040503050406030204" pitchFamily="18" charset="0"/>
                            <a:ea typeface="Cambria Math" panose="02040503050406030204" pitchFamily="18" charset="0"/>
                          </a:rPr>
                        </m:ctrlPr>
                      </m:sSubPr>
                      <m:e>
                        <m:r>
                          <a:rPr lang="en-US" altLang="zh-CN" i="1" noProof="1">
                            <a:latin typeface="Cambria Math" panose="02040503050406030204" pitchFamily="18" charset="0"/>
                            <a:ea typeface="Cambria Math" panose="02040503050406030204" pitchFamily="18" charset="0"/>
                          </a:rPr>
                          <m:t>𝑚</m:t>
                        </m:r>
                      </m:e>
                      <m:sub>
                        <m:r>
                          <a:rPr lang="en-US" altLang="zh-CN" i="1" noProof="1">
                            <a:latin typeface="Cambria Math" panose="02040503050406030204" pitchFamily="18" charset="0"/>
                            <a:ea typeface="Cambria Math" panose="02040503050406030204" pitchFamily="18" charset="0"/>
                          </a:rPr>
                          <m:t>𝑖</m:t>
                        </m:r>
                      </m:sub>
                    </m:sSub>
                  </m:oMath>
                </a14:m>
                <a:r>
                  <a:rPr lang="en-US" altLang="zh-CN" noProof="1"/>
                  <a:t> </a:t>
                </a:r>
                <a:r>
                  <a:rPr lang="zh-CN" altLang="en-US" noProof="1"/>
                  <a:t>不一定两两互素，中国剩余定理不再适用。</a:t>
                </a:r>
                <a:endParaRPr lang="en-US" altLang="zh-CN" noProof="1"/>
              </a:p>
              <a:p>
                <a:pPr>
                  <a:lnSpc>
                    <a:spcPct val="150000"/>
                  </a:lnSpc>
                  <a:spcBef>
                    <a:spcPts val="600"/>
                  </a:spcBef>
                </a:pPr>
                <a:r>
                  <a:rPr lang="zh-CN" altLang="en-US" noProof="1"/>
                  <a:t>假设已经求出了前 </a:t>
                </a:r>
                <a14:m>
                  <m:oMath xmlns:m="http://schemas.openxmlformats.org/officeDocument/2006/math">
                    <m:r>
                      <a:rPr lang="en-US" altLang="zh-CN" i="1" noProof="1" smtClean="0">
                        <a:latin typeface="Cambria Math" panose="02040503050406030204" pitchFamily="18" charset="0"/>
                      </a:rPr>
                      <m:t>𝑘</m:t>
                    </m:r>
                    <m:r>
                      <a:rPr lang="en-US" altLang="zh-CN" i="1" noProof="1" smtClean="0">
                        <a:latin typeface="Cambria Math" panose="02040503050406030204" pitchFamily="18" charset="0"/>
                      </a:rPr>
                      <m:t>−1</m:t>
                    </m:r>
                  </m:oMath>
                </a14:m>
                <a:r>
                  <a:rPr lang="en-US" altLang="zh-CN" noProof="1"/>
                  <a:t> </a:t>
                </a:r>
                <a:r>
                  <a:rPr lang="zh-CN" altLang="en-US" noProof="1"/>
                  <a:t>个方程构成的方程组的一个解 </a:t>
                </a:r>
                <a14:m>
                  <m:oMath xmlns:m="http://schemas.openxmlformats.org/officeDocument/2006/math">
                    <m:r>
                      <a:rPr lang="en-US" altLang="zh-CN" i="1" noProof="1" smtClean="0">
                        <a:latin typeface="Cambria Math" panose="02040503050406030204" pitchFamily="18" charset="0"/>
                      </a:rPr>
                      <m:t>𝑥</m:t>
                    </m:r>
                  </m:oMath>
                </a14:m>
                <a:r>
                  <a:rPr lang="zh-CN" altLang="en-US" noProof="1"/>
                  <a:t>。记</a:t>
                </a:r>
                <a:r>
                  <a:rPr lang="en-US" altLang="zh-CN" noProof="1"/>
                  <a:t> </a:t>
                </a:r>
                <a14:m>
                  <m:oMath xmlns:m="http://schemas.openxmlformats.org/officeDocument/2006/math">
                    <m:r>
                      <a:rPr lang="en-US" altLang="zh-CN" b="0" i="1" noProof="1" smtClean="0">
                        <a:latin typeface="Cambria Math" panose="02040503050406030204" pitchFamily="18" charset="0"/>
                      </a:rPr>
                      <m:t>𝑚</m:t>
                    </m:r>
                    <m:r>
                      <a:rPr lang="en-US" altLang="zh-CN" b="0" i="1" noProof="1" smtClean="0">
                        <a:latin typeface="Cambria Math" panose="02040503050406030204" pitchFamily="18" charset="0"/>
                      </a:rPr>
                      <m:t>=</m:t>
                    </m:r>
                    <m:nary>
                      <m:naryPr>
                        <m:chr m:val="∏"/>
                        <m:ctrlPr>
                          <a:rPr lang="en-US" altLang="zh-CN" b="0" i="1" noProof="1" smtClean="0">
                            <a:latin typeface="Cambria Math" panose="02040503050406030204" pitchFamily="18" charset="0"/>
                          </a:rPr>
                        </m:ctrlPr>
                      </m:naryPr>
                      <m:sub>
                        <m:r>
                          <m:rPr>
                            <m:brk m:alnAt="23"/>
                          </m:rPr>
                          <a:rPr lang="en-US" altLang="zh-CN" b="0" i="1" noProof="1" smtClean="0">
                            <a:latin typeface="Cambria Math" panose="02040503050406030204" pitchFamily="18" charset="0"/>
                          </a:rPr>
                          <m:t>𝑖</m:t>
                        </m:r>
                        <m:r>
                          <a:rPr lang="en-US" altLang="zh-CN" b="0" i="1" noProof="1" smtClean="0">
                            <a:latin typeface="Cambria Math" panose="02040503050406030204" pitchFamily="18" charset="0"/>
                          </a:rPr>
                          <m:t>=1</m:t>
                        </m:r>
                      </m:sub>
                      <m:sup>
                        <m:r>
                          <a:rPr lang="en-US" altLang="zh-CN" b="0" i="1" noProof="1" smtClean="0">
                            <a:latin typeface="Cambria Math" panose="02040503050406030204" pitchFamily="18" charset="0"/>
                          </a:rPr>
                          <m:t>𝑘</m:t>
                        </m:r>
                        <m:r>
                          <a:rPr lang="en-US" altLang="zh-CN" b="0" i="1" noProof="1" smtClean="0">
                            <a:latin typeface="Cambria Math" panose="02040503050406030204" pitchFamily="18" charset="0"/>
                          </a:rPr>
                          <m:t>−1</m:t>
                        </m:r>
                      </m:sup>
                      <m:e>
                        <m:sSub>
                          <m:sSubPr>
                            <m:ctrlPr>
                              <a:rPr lang="en-US" altLang="zh-CN" b="0" i="1" noProof="1" smtClean="0">
                                <a:latin typeface="Cambria Math" panose="02040503050406030204" pitchFamily="18" charset="0"/>
                              </a:rPr>
                            </m:ctrlPr>
                          </m:sSubPr>
                          <m:e>
                            <m:r>
                              <a:rPr lang="en-US" altLang="zh-CN" b="0" i="1" noProof="1" smtClean="0">
                                <a:latin typeface="Cambria Math" panose="02040503050406030204" pitchFamily="18" charset="0"/>
                              </a:rPr>
                              <m:t>𝑚</m:t>
                            </m:r>
                          </m:e>
                          <m:sub>
                            <m:r>
                              <a:rPr lang="en-US" altLang="zh-CN" b="0" i="1" noProof="1" smtClean="0">
                                <a:latin typeface="Cambria Math" panose="02040503050406030204" pitchFamily="18" charset="0"/>
                              </a:rPr>
                              <m:t>𝑖</m:t>
                            </m:r>
                          </m:sub>
                        </m:sSub>
                      </m:e>
                    </m:nary>
                  </m:oMath>
                </a14:m>
                <a:r>
                  <a:rPr lang="zh-CN" altLang="en-US" noProof="1"/>
                  <a:t> ，则 </a:t>
                </a:r>
                <a14:m>
                  <m:oMath xmlns:m="http://schemas.openxmlformats.org/officeDocument/2006/math">
                    <m:r>
                      <a:rPr lang="en-US" altLang="zh-CN" i="1" noProof="1" smtClean="0">
                        <a:latin typeface="Cambria Math" panose="02040503050406030204" pitchFamily="18" charset="0"/>
                      </a:rPr>
                      <m:t>𝑥</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𝑖</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𝑚</m:t>
                    </m:r>
                  </m:oMath>
                </a14:m>
                <a:r>
                  <a:rPr lang="en-US" altLang="zh-CN" noProof="1"/>
                  <a:t> </a:t>
                </a:r>
                <a:r>
                  <a:rPr lang="zh-CN" altLang="en-US" noProof="1"/>
                  <a:t>是前 </a:t>
                </a:r>
                <a14:m>
                  <m:oMath xmlns:m="http://schemas.openxmlformats.org/officeDocument/2006/math">
                    <m:r>
                      <a:rPr lang="en-US" altLang="zh-CN" i="1" noProof="1" smtClean="0">
                        <a:latin typeface="Cambria Math" panose="02040503050406030204" pitchFamily="18" charset="0"/>
                      </a:rPr>
                      <m:t>𝑘</m:t>
                    </m:r>
                    <m:r>
                      <a:rPr lang="en-US" altLang="zh-CN" i="1" noProof="1" smtClean="0">
                        <a:latin typeface="Cambria Math" panose="02040503050406030204" pitchFamily="18" charset="0"/>
                      </a:rPr>
                      <m:t>−1</m:t>
                    </m:r>
                  </m:oMath>
                </a14:m>
                <a:r>
                  <a:rPr lang="en-US" altLang="zh-CN" noProof="1"/>
                  <a:t> </a:t>
                </a:r>
                <a:r>
                  <a:rPr lang="zh-CN" altLang="en-US" noProof="1"/>
                  <a:t>个方程的通解。</a:t>
                </a:r>
                <a:endParaRPr lang="en-US" altLang="zh-CN" noProof="1"/>
              </a:p>
              <a:p>
                <a:pPr>
                  <a:lnSpc>
                    <a:spcPct val="150000"/>
                  </a:lnSpc>
                  <a:spcBef>
                    <a:spcPts val="600"/>
                  </a:spcBef>
                </a:pPr>
                <a:r>
                  <a:rPr lang="zh-CN" altLang="en-US" noProof="1"/>
                  <a:t>考虑第 </a:t>
                </a:r>
                <a14:m>
                  <m:oMath xmlns:m="http://schemas.openxmlformats.org/officeDocument/2006/math">
                    <m:r>
                      <a:rPr lang="en-US" altLang="zh-CN" i="1" noProof="1" smtClean="0">
                        <a:latin typeface="Cambria Math" panose="02040503050406030204" pitchFamily="18" charset="0"/>
                      </a:rPr>
                      <m:t>𝑘</m:t>
                    </m:r>
                  </m:oMath>
                </a14:m>
                <a:r>
                  <a:rPr lang="en-US" altLang="zh-CN" noProof="1"/>
                  <a:t> </a:t>
                </a:r>
                <a:r>
                  <a:rPr lang="zh-CN" altLang="en-US" noProof="1"/>
                  <a:t>个方程，求出一个整数 </a:t>
                </a:r>
                <a14:m>
                  <m:oMath xmlns:m="http://schemas.openxmlformats.org/officeDocument/2006/math">
                    <m:r>
                      <a:rPr lang="en-US" altLang="zh-CN" i="1" noProof="1" smtClean="0">
                        <a:latin typeface="Cambria Math" panose="02040503050406030204" pitchFamily="18" charset="0"/>
                      </a:rPr>
                      <m:t>𝑡</m:t>
                    </m:r>
                  </m:oMath>
                </a14:m>
                <a:r>
                  <a:rPr lang="zh-CN" altLang="en-US" noProof="1"/>
                  <a:t>，使得 </a:t>
                </a:r>
                <a14:m>
                  <m:oMath xmlns:m="http://schemas.openxmlformats.org/officeDocument/2006/math">
                    <m:r>
                      <a:rPr lang="en-US" altLang="zh-CN" i="1" noProof="1" smtClean="0">
                        <a:latin typeface="Cambria Math" panose="02040503050406030204" pitchFamily="18" charset="0"/>
                      </a:rPr>
                      <m:t>𝑥</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𝑡</m:t>
                    </m:r>
                    <m:r>
                      <a:rPr lang="en-US" altLang="zh-CN" i="1" noProof="1" smtClean="0">
                        <a:latin typeface="Cambria Math" panose="02040503050406030204" pitchFamily="18" charset="0"/>
                      </a:rPr>
                      <m:t>∗</m:t>
                    </m:r>
                    <m:r>
                      <a:rPr lang="en-US" altLang="zh-CN" i="1" noProof="1" smtClean="0">
                        <a:latin typeface="Cambria Math" panose="02040503050406030204" pitchFamily="18" charset="0"/>
                      </a:rPr>
                      <m:t>𝑚</m:t>
                    </m:r>
                    <m:r>
                      <a:rPr lang="en-US" altLang="zh-CN" i="1" noProof="1" smtClean="0">
                        <a:latin typeface="Cambria Math" panose="02040503050406030204" pitchFamily="18" charset="0"/>
                        <a:ea typeface="Cambria Math" panose="02040503050406030204" pitchFamily="18" charset="0"/>
                      </a:rPr>
                      <m:t>≡</m:t>
                    </m:r>
                    <m:sSub>
                      <m:sSubPr>
                        <m:ctrlPr>
                          <a:rPr lang="en-US" altLang="zh-CN" i="1" noProof="1" smtClean="0">
                            <a:latin typeface="Cambria Math" panose="02040503050406030204" pitchFamily="18" charset="0"/>
                            <a:ea typeface="Cambria Math" panose="02040503050406030204" pitchFamily="18" charset="0"/>
                          </a:rPr>
                        </m:ctrlPr>
                      </m:sSubPr>
                      <m:e>
                        <m:r>
                          <a:rPr lang="en-US" altLang="zh-CN" b="0" i="1" noProof="1" smtClean="0">
                            <a:latin typeface="Cambria Math" panose="02040503050406030204" pitchFamily="18" charset="0"/>
                            <a:ea typeface="Cambria Math" panose="02040503050406030204" pitchFamily="18" charset="0"/>
                          </a:rPr>
                          <m:t>𝑎</m:t>
                        </m:r>
                      </m:e>
                      <m:sub>
                        <m:r>
                          <a:rPr lang="en-US" altLang="zh-CN" b="0" i="1" noProof="1" smtClean="0">
                            <a:latin typeface="Cambria Math" panose="02040503050406030204" pitchFamily="18" charset="0"/>
                            <a:ea typeface="Cambria Math" panose="02040503050406030204" pitchFamily="18" charset="0"/>
                          </a:rPr>
                          <m:t>𝑘</m:t>
                        </m:r>
                      </m:sub>
                    </m:sSub>
                    <m:d>
                      <m:dPr>
                        <m:ctrlPr>
                          <a:rPr lang="en-US" altLang="zh-CN" i="1" noProof="1" smtClean="0">
                            <a:latin typeface="Cambria Math" panose="02040503050406030204" pitchFamily="18" charset="0"/>
                            <a:ea typeface="Cambria Math" panose="02040503050406030204" pitchFamily="18" charset="0"/>
                          </a:rPr>
                        </m:ctrlPr>
                      </m:dPr>
                      <m:e>
                        <m:r>
                          <m:rPr>
                            <m:sty m:val="p"/>
                          </m:rPr>
                          <a:rPr lang="en-US" altLang="zh-CN" b="0" i="0" noProof="1" smtClean="0">
                            <a:latin typeface="Cambria Math" panose="02040503050406030204" pitchFamily="18" charset="0"/>
                            <a:ea typeface="Cambria Math" panose="02040503050406030204" pitchFamily="18" charset="0"/>
                          </a:rPr>
                          <m:t>mod</m:t>
                        </m:r>
                        <m:r>
                          <a:rPr lang="en-US" altLang="zh-CN" b="0" i="1" noProof="1" smtClean="0">
                            <a:latin typeface="Cambria Math" panose="02040503050406030204" pitchFamily="18" charset="0"/>
                            <a:ea typeface="Cambria Math" panose="02040503050406030204" pitchFamily="18" charset="0"/>
                          </a:rPr>
                          <m:t> </m:t>
                        </m:r>
                        <m:sSub>
                          <m:sSubPr>
                            <m:ctrlPr>
                              <a:rPr lang="en-US" altLang="zh-CN" b="0" i="1" noProof="1" smtClean="0">
                                <a:latin typeface="Cambria Math" panose="02040503050406030204" pitchFamily="18" charset="0"/>
                                <a:ea typeface="Cambria Math" panose="02040503050406030204" pitchFamily="18" charset="0"/>
                              </a:rPr>
                            </m:ctrlPr>
                          </m:sSubPr>
                          <m:e>
                            <m:r>
                              <a:rPr lang="en-US" altLang="zh-CN" b="0" i="1" noProof="1" smtClean="0">
                                <a:latin typeface="Cambria Math" panose="02040503050406030204" pitchFamily="18" charset="0"/>
                                <a:ea typeface="Cambria Math" panose="02040503050406030204" pitchFamily="18" charset="0"/>
                              </a:rPr>
                              <m:t>𝑚</m:t>
                            </m:r>
                          </m:e>
                          <m:sub>
                            <m:r>
                              <a:rPr lang="en-US" altLang="zh-CN" b="0" i="1" noProof="1" smtClean="0">
                                <a:latin typeface="Cambria Math" panose="02040503050406030204" pitchFamily="18" charset="0"/>
                                <a:ea typeface="Cambria Math" panose="02040503050406030204" pitchFamily="18" charset="0"/>
                              </a:rPr>
                              <m:t>𝑘</m:t>
                            </m:r>
                          </m:sub>
                        </m:sSub>
                      </m:e>
                    </m:d>
                  </m:oMath>
                </a14:m>
                <a:r>
                  <a:rPr lang="en-US" altLang="zh-CN" noProof="1"/>
                  <a:t> </a:t>
                </a:r>
                <a:r>
                  <a:rPr lang="zh-CN" altLang="en-US" noProof="1"/>
                  <a:t>。该方程等价于 </a:t>
                </a:r>
                <a14:m>
                  <m:oMath xmlns:m="http://schemas.openxmlformats.org/officeDocument/2006/math">
                    <m:r>
                      <a:rPr lang="en-US" altLang="zh-CN" i="1" noProof="1">
                        <a:latin typeface="Cambria Math" panose="02040503050406030204" pitchFamily="18" charset="0"/>
                      </a:rPr>
                      <m:t>𝑥</m:t>
                    </m:r>
                    <m:r>
                      <a:rPr lang="en-US" altLang="zh-CN" i="1" noProof="1">
                        <a:latin typeface="Cambria Math" panose="02040503050406030204" pitchFamily="18" charset="0"/>
                      </a:rPr>
                      <m:t>+</m:t>
                    </m:r>
                    <m:r>
                      <a:rPr lang="en-US" altLang="zh-CN" i="1" noProof="1">
                        <a:latin typeface="Cambria Math" panose="02040503050406030204" pitchFamily="18" charset="0"/>
                      </a:rPr>
                      <m:t>𝑡</m:t>
                    </m:r>
                    <m:r>
                      <a:rPr lang="en-US" altLang="zh-CN" i="1" noProof="1">
                        <a:latin typeface="Cambria Math" panose="02040503050406030204" pitchFamily="18" charset="0"/>
                      </a:rPr>
                      <m:t>∗</m:t>
                    </m:r>
                    <m:r>
                      <a:rPr lang="en-US" altLang="zh-CN" i="1" noProof="1">
                        <a:latin typeface="Cambria Math" panose="02040503050406030204" pitchFamily="18" charset="0"/>
                      </a:rPr>
                      <m:t>𝑚</m:t>
                    </m:r>
                    <m:r>
                      <a:rPr lang="en-US" altLang="zh-CN" i="1" noProof="1">
                        <a:latin typeface="Cambria Math" panose="02040503050406030204" pitchFamily="18" charset="0"/>
                        <a:ea typeface="Cambria Math" panose="02040503050406030204" pitchFamily="18" charset="0"/>
                      </a:rPr>
                      <m:t>≡</m:t>
                    </m:r>
                    <m:sSub>
                      <m:sSubPr>
                        <m:ctrlPr>
                          <a:rPr lang="en-US" altLang="zh-CN" i="1" noProof="1">
                            <a:latin typeface="Cambria Math" panose="02040503050406030204" pitchFamily="18" charset="0"/>
                            <a:ea typeface="Cambria Math" panose="02040503050406030204" pitchFamily="18" charset="0"/>
                          </a:rPr>
                        </m:ctrlPr>
                      </m:sSubPr>
                      <m:e>
                        <m:r>
                          <a:rPr lang="en-US" altLang="zh-CN" i="1" noProof="1">
                            <a:latin typeface="Cambria Math" panose="02040503050406030204" pitchFamily="18" charset="0"/>
                            <a:ea typeface="Cambria Math" panose="02040503050406030204" pitchFamily="18" charset="0"/>
                          </a:rPr>
                          <m:t>𝑎</m:t>
                        </m:r>
                      </m:e>
                      <m:sub>
                        <m:r>
                          <a:rPr lang="en-US" altLang="zh-CN" i="1" noProof="1">
                            <a:latin typeface="Cambria Math" panose="02040503050406030204" pitchFamily="18" charset="0"/>
                            <a:ea typeface="Cambria Math" panose="02040503050406030204" pitchFamily="18" charset="0"/>
                          </a:rPr>
                          <m:t>𝑘</m:t>
                        </m:r>
                      </m:sub>
                    </m:sSub>
                    <m:r>
                      <a:rPr lang="en-US" altLang="zh-CN" b="0" i="1" noProof="1" smtClean="0">
                        <a:latin typeface="Cambria Math" panose="02040503050406030204" pitchFamily="18" charset="0"/>
                        <a:ea typeface="Cambria Math" panose="02040503050406030204" pitchFamily="18" charset="0"/>
                      </a:rPr>
                      <m:t>−</m:t>
                    </m:r>
                    <m:r>
                      <a:rPr lang="en-US" altLang="zh-CN" b="0" i="1" noProof="1" smtClean="0">
                        <a:latin typeface="Cambria Math" panose="02040503050406030204" pitchFamily="18" charset="0"/>
                        <a:ea typeface="Cambria Math" panose="02040503050406030204" pitchFamily="18" charset="0"/>
                      </a:rPr>
                      <m:t>𝑥</m:t>
                    </m:r>
                    <m:d>
                      <m:dPr>
                        <m:ctrlPr>
                          <a:rPr lang="en-US" altLang="zh-CN" i="1" noProof="1">
                            <a:latin typeface="Cambria Math" panose="02040503050406030204" pitchFamily="18" charset="0"/>
                            <a:ea typeface="Cambria Math" panose="02040503050406030204" pitchFamily="18" charset="0"/>
                          </a:rPr>
                        </m:ctrlPr>
                      </m:dPr>
                      <m:e>
                        <m:r>
                          <m:rPr>
                            <m:sty m:val="p"/>
                          </m:rPr>
                          <a:rPr lang="en-US" altLang="zh-CN" noProof="1">
                            <a:latin typeface="Cambria Math" panose="02040503050406030204" pitchFamily="18" charset="0"/>
                            <a:ea typeface="Cambria Math" panose="02040503050406030204" pitchFamily="18" charset="0"/>
                          </a:rPr>
                          <m:t>mod</m:t>
                        </m:r>
                        <m:r>
                          <a:rPr lang="en-US" altLang="zh-CN" i="1" noProof="1">
                            <a:latin typeface="Cambria Math" panose="02040503050406030204" pitchFamily="18" charset="0"/>
                            <a:ea typeface="Cambria Math" panose="02040503050406030204" pitchFamily="18" charset="0"/>
                          </a:rPr>
                          <m:t> </m:t>
                        </m:r>
                        <m:sSub>
                          <m:sSubPr>
                            <m:ctrlPr>
                              <a:rPr lang="en-US" altLang="zh-CN" i="1" noProof="1">
                                <a:latin typeface="Cambria Math" panose="02040503050406030204" pitchFamily="18" charset="0"/>
                                <a:ea typeface="Cambria Math" panose="02040503050406030204" pitchFamily="18" charset="0"/>
                              </a:rPr>
                            </m:ctrlPr>
                          </m:sSubPr>
                          <m:e>
                            <m:r>
                              <a:rPr lang="en-US" altLang="zh-CN" i="1" noProof="1">
                                <a:latin typeface="Cambria Math" panose="02040503050406030204" pitchFamily="18" charset="0"/>
                                <a:ea typeface="Cambria Math" panose="02040503050406030204" pitchFamily="18" charset="0"/>
                              </a:rPr>
                              <m:t>𝑚</m:t>
                            </m:r>
                          </m:e>
                          <m:sub>
                            <m:r>
                              <a:rPr lang="en-US" altLang="zh-CN" i="1" noProof="1">
                                <a:latin typeface="Cambria Math" panose="02040503050406030204" pitchFamily="18" charset="0"/>
                                <a:ea typeface="Cambria Math" panose="02040503050406030204" pitchFamily="18" charset="0"/>
                              </a:rPr>
                              <m:t>𝑘</m:t>
                            </m:r>
                          </m:sub>
                        </m:sSub>
                      </m:e>
                    </m:d>
                    <m:r>
                      <a:rPr lang="en-US" altLang="zh-CN" i="1" noProof="1">
                        <a:latin typeface="Cambria Math" panose="02040503050406030204" pitchFamily="18" charset="0"/>
                        <a:ea typeface="Cambria Math" panose="02040503050406030204" pitchFamily="18" charset="0"/>
                      </a:rPr>
                      <m:t> </m:t>
                    </m:r>
                  </m:oMath>
                </a14:m>
                <a:r>
                  <a:rPr lang="zh-CN" altLang="en-US" noProof="1"/>
                  <a:t>，其中 </a:t>
                </a:r>
                <a14:m>
                  <m:oMath xmlns:m="http://schemas.openxmlformats.org/officeDocument/2006/math">
                    <m:r>
                      <a:rPr lang="en-US" altLang="zh-CN" i="1" noProof="1" smtClean="0">
                        <a:latin typeface="Cambria Math" panose="02040503050406030204" pitchFamily="18" charset="0"/>
                      </a:rPr>
                      <m:t>𝑡</m:t>
                    </m:r>
                  </m:oMath>
                </a14:m>
                <a:r>
                  <a:rPr lang="en-US" altLang="zh-CN" noProof="1"/>
                  <a:t> </a:t>
                </a:r>
                <a:r>
                  <a:rPr lang="zh-CN" altLang="en-US" noProof="1"/>
                  <a:t>是未知量。</a:t>
                </a:r>
                <a:endParaRPr lang="en-US" altLang="zh-CN" noProof="1"/>
              </a:p>
              <a:p>
                <a:pPr>
                  <a:lnSpc>
                    <a:spcPct val="150000"/>
                  </a:lnSpc>
                  <a:spcBef>
                    <a:spcPts val="600"/>
                  </a:spcBef>
                </a:pPr>
                <a:r>
                  <a:rPr lang="zh-CN" altLang="en-US" noProof="1"/>
                  <a:t>这就是一个线性同余方程，可以用扩展欧几里得算法判断是否有解，并求出它的解。如有解，则  就是前 </a:t>
                </a:r>
                <a14:m>
                  <m:oMath xmlns:m="http://schemas.openxmlformats.org/officeDocument/2006/math">
                    <m:r>
                      <a:rPr lang="en-US" altLang="zh-CN" i="1" noProof="1" smtClean="0">
                        <a:latin typeface="Cambria Math" panose="02040503050406030204" pitchFamily="18" charset="0"/>
                      </a:rPr>
                      <m:t>𝑘</m:t>
                    </m:r>
                  </m:oMath>
                </a14:m>
                <a:r>
                  <a:rPr lang="en-US" altLang="zh-CN" noProof="1"/>
                  <a:t> </a:t>
                </a:r>
                <a:r>
                  <a:rPr lang="zh-CN" altLang="en-US" noProof="1"/>
                  <a:t>个方程构成的方程组的一个解。</a:t>
                </a:r>
                <a:endParaRPr lang="en-US" altLang="zh-CN" noProof="1"/>
              </a:p>
              <a:p>
                <a:pPr>
                  <a:lnSpc>
                    <a:spcPct val="150000"/>
                  </a:lnSpc>
                  <a:spcBef>
                    <a:spcPts val="600"/>
                  </a:spcBef>
                </a:pPr>
                <a:r>
                  <a:rPr lang="zh-CN" altLang="en-US" noProof="1"/>
                  <a:t>综上所述，使用 </a:t>
                </a:r>
                <a14:m>
                  <m:oMath xmlns:m="http://schemas.openxmlformats.org/officeDocument/2006/math">
                    <m:r>
                      <a:rPr lang="en-US" altLang="zh-CN" i="1" noProof="1" smtClean="0">
                        <a:latin typeface="Cambria Math" panose="02040503050406030204" pitchFamily="18" charset="0"/>
                      </a:rPr>
                      <m:t>𝑛</m:t>
                    </m:r>
                  </m:oMath>
                </a14:m>
                <a:r>
                  <a:rPr lang="en-US" altLang="zh-CN" noProof="1"/>
                  <a:t> </a:t>
                </a:r>
                <a:r>
                  <a:rPr lang="zh-CN" altLang="en-US" noProof="1"/>
                  <a:t>次扩展欧几里得算法，就可求出方程组的解。</a:t>
                </a:r>
                <a:endParaRPr lang="en-US" altLang="zh-CN" noProof="1"/>
              </a:p>
            </p:txBody>
          </p:sp>
        </mc:Choice>
        <mc:Fallback>
          <p:sp>
            <p:nvSpPr>
              <p:cNvPr id="7" name="内容占位符 2"/>
              <p:cNvSpPr>
                <a:spLocks noGrp="1" noRot="1" noChangeAspect="1" noMove="1" noResize="1" noEditPoints="1" noAdjustHandles="1" noChangeArrowheads="1" noChangeShapeType="1" noTextEdit="1"/>
              </p:cNvSpPr>
              <p:nvPr>
                <p:ph idx="1"/>
              </p:nvPr>
            </p:nvSpPr>
            <p:spPr>
              <a:xfrm>
                <a:off x="1104900" y="1502408"/>
                <a:ext cx="9982200" cy="5355592"/>
              </a:xfrm>
              <a:blipFill>
                <a:blip r:embed="rId2"/>
                <a:stretch>
                  <a:fillRect l="-1398" r="-508"/>
                </a:stretch>
              </a:blipFill>
            </p:spPr>
            <p:txBody>
              <a:bodyPr/>
              <a:lstStyle/>
              <a:p>
                <a:r>
                  <a:rPr lang="zh-CN" altLang="en-US">
                    <a:noFill/>
                  </a:rPr>
                  <a:t> </a:t>
                </a:r>
              </a:p>
            </p:txBody>
          </p:sp>
        </mc:Fallback>
      </mc:AlternateContent>
      <p:sp>
        <p:nvSpPr>
          <p:cNvPr id="2" name="幻灯片编号占位符 1">
            <a:extLst>
              <a:ext uri="{FF2B5EF4-FFF2-40B4-BE49-F238E27FC236}">
                <a16:creationId xmlns:a16="http://schemas.microsoft.com/office/drawing/2014/main" id="{D1EE7D64-B886-6B47-AECF-7586D624B569}"/>
              </a:ext>
            </a:extLst>
          </p:cNvPr>
          <p:cNvSpPr>
            <a:spLocks noGrp="1"/>
          </p:cNvSpPr>
          <p:nvPr>
            <p:ph type="sldNum" sz="quarter" idx="12"/>
          </p:nvPr>
        </p:nvSpPr>
        <p:spPr/>
        <p:txBody>
          <a:bodyPr/>
          <a:lstStyle/>
          <a:p>
            <a:fld id="{0FF54DE5-C571-48E8-A5BC-B369434E2F44}" type="slidenum">
              <a:rPr lang="en-US" altLang="zh-CN" smtClean="0"/>
              <a:pPr/>
              <a:t>102</a:t>
            </a:fld>
            <a:endParaRPr lang="zh-CN" altLang="en-US" dirty="0"/>
          </a:p>
        </p:txBody>
      </p:sp>
    </p:spTree>
    <p:extLst>
      <p:ext uri="{BB962C8B-B14F-4D97-AF65-F5344CB8AC3E}">
        <p14:creationId xmlns:p14="http://schemas.microsoft.com/office/powerpoint/2010/main" val="139207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Hans" altLang="en-US" dirty="0"/>
              <a:t>高次</a:t>
            </a:r>
            <a:r>
              <a:rPr lang="zh-CN" altLang="en-US" dirty="0"/>
              <a:t>同余方程</a:t>
            </a:r>
            <a:endParaRPr lang="en-US" dirty="0"/>
          </a:p>
        </p:txBody>
      </p:sp>
      <p:sp>
        <p:nvSpPr>
          <p:cNvPr id="3" name="幻灯片编号占位符 2">
            <a:extLst>
              <a:ext uri="{FF2B5EF4-FFF2-40B4-BE49-F238E27FC236}">
                <a16:creationId xmlns:a16="http://schemas.microsoft.com/office/drawing/2014/main" id="{96C4A423-1A95-3A41-A92D-54C329205F2A}"/>
              </a:ext>
            </a:extLst>
          </p:cNvPr>
          <p:cNvSpPr>
            <a:spLocks noGrp="1"/>
          </p:cNvSpPr>
          <p:nvPr>
            <p:ph type="sldNum" sz="quarter" idx="12"/>
          </p:nvPr>
        </p:nvSpPr>
        <p:spPr/>
        <p:txBody>
          <a:bodyPr/>
          <a:lstStyle/>
          <a:p>
            <a:fld id="{0FF54DE5-C571-48E8-A5BC-B369434E2F44}" type="slidenum">
              <a:rPr lang="en-US" altLang="zh-CN" smtClean="0"/>
              <a:pPr/>
              <a:t>103</a:t>
            </a:fld>
            <a:endParaRPr lang="zh-CN" altLang="en-US" dirty="0"/>
          </a:p>
        </p:txBody>
      </p:sp>
    </p:spTree>
    <p:extLst>
      <p:ext uri="{BB962C8B-B14F-4D97-AF65-F5344CB8AC3E}">
        <p14:creationId xmlns:p14="http://schemas.microsoft.com/office/powerpoint/2010/main" val="363022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Hans" altLang="en-US" dirty="0"/>
              <a:t>第一类高次同余方程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5738"/>
              </a:xfrm>
            </p:spPr>
            <p:txBody>
              <a:bodyPr>
                <a:normAutofit/>
              </a:bodyPr>
              <a:lstStyle/>
              <a:p>
                <a:pPr>
                  <a:lnSpc>
                    <a:spcPct val="150000"/>
                  </a:lnSpc>
                  <a:spcBef>
                    <a:spcPts val="600"/>
                  </a:spcBef>
                </a:pPr>
                <a:r>
                  <a:rPr lang="zh-Hans" altLang="en-US" dirty="0"/>
                  <a:t>已知</a:t>
                </a:r>
                <a14:m>
                  <m:oMath xmlns:m="http://schemas.openxmlformats.org/officeDocument/2006/math">
                    <m:r>
                      <a:rPr lang="zh-Hans" altLang="en-US" b="0" i="0" dirty="0" smtClean="0">
                        <a:latin typeface="Cambria Math" panose="02040503050406030204" pitchFamily="18" charset="0"/>
                      </a:rPr>
                      <m:t> </m:t>
                    </m:r>
                    <m:r>
                      <a:rPr lang="en-US" altLang="zh-Hans" i="1" dirty="0" smtClean="0">
                        <a:latin typeface="Cambria Math" panose="02040503050406030204" pitchFamily="18" charset="0"/>
                      </a:rPr>
                      <m:t>𝑎</m:t>
                    </m:r>
                    <m:r>
                      <a:rPr lang="en-US" altLang="zh-Hans" b="0" i="1" dirty="0" smtClean="0">
                        <a:latin typeface="Cambria Math" panose="02040503050406030204" pitchFamily="18" charset="0"/>
                      </a:rPr>
                      <m:t>,</m:t>
                    </m:r>
                    <m:r>
                      <a:rPr lang="en-US" altLang="zh-Hans" i="1" dirty="0" smtClean="0">
                        <a:latin typeface="Cambria Math" panose="02040503050406030204" pitchFamily="18" charset="0"/>
                      </a:rPr>
                      <m:t>𝑝</m:t>
                    </m:r>
                  </m:oMath>
                </a14:m>
                <a:r>
                  <a:rPr lang="zh-Hans" altLang="en-US" dirty="0"/>
                  <a:t> 互素，求解</a:t>
                </a:r>
                <a:r>
                  <a:rPr lang="zh-CN" altLang="en-US" dirty="0"/>
                  <a:t>同余方程：</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𝑥</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oMath>
                  </m:oMathPara>
                </a14:m>
                <a:endParaRPr lang="en-US" altLang="zh-CN" dirty="0"/>
              </a:p>
              <a:p>
                <a:pPr>
                  <a:lnSpc>
                    <a:spcPct val="150000"/>
                  </a:lnSpc>
                  <a:spcBef>
                    <a:spcPts val="600"/>
                  </a:spcBef>
                </a:pPr>
                <a:r>
                  <a:rPr lang="zh-Hans" altLang="en-US" dirty="0"/>
                  <a:t>因为 </a:t>
                </a:r>
                <a14:m>
                  <m:oMath xmlns:m="http://schemas.openxmlformats.org/officeDocument/2006/math">
                    <m:r>
                      <a:rPr lang="en-US" altLang="zh-Hans" i="1" dirty="0">
                        <a:latin typeface="Cambria Math" panose="02040503050406030204" pitchFamily="18" charset="0"/>
                      </a:rPr>
                      <m:t>𝑎</m:t>
                    </m:r>
                    <m:r>
                      <a:rPr lang="en-US" altLang="zh-Hans" i="1" dirty="0">
                        <a:latin typeface="Cambria Math" panose="02040503050406030204" pitchFamily="18" charset="0"/>
                      </a:rPr>
                      <m:t>,</m:t>
                    </m:r>
                    <m:r>
                      <a:rPr lang="en-US" altLang="zh-Hans" i="1" dirty="0">
                        <a:latin typeface="Cambria Math" panose="02040503050406030204" pitchFamily="18" charset="0"/>
                      </a:rPr>
                      <m:t>𝑝</m:t>
                    </m:r>
                  </m:oMath>
                </a14:m>
                <a:r>
                  <a:rPr lang="zh-Hans" altLang="en-US" dirty="0"/>
                  <a:t> 互素，所以可以在模 </a:t>
                </a:r>
                <a14:m>
                  <m:oMath xmlns:m="http://schemas.openxmlformats.org/officeDocument/2006/math">
                    <m:r>
                      <a:rPr lang="en-US" altLang="zh-Hans" i="1" dirty="0" smtClean="0">
                        <a:latin typeface="Cambria Math" panose="02040503050406030204" pitchFamily="18" charset="0"/>
                      </a:rPr>
                      <m:t>𝑝</m:t>
                    </m:r>
                  </m:oMath>
                </a14:m>
                <a:r>
                  <a:rPr lang="zh-Hans" altLang="en-US" dirty="0"/>
                  <a:t> 意义下执行关于 </a:t>
                </a:r>
                <a14:m>
                  <m:oMath xmlns:m="http://schemas.openxmlformats.org/officeDocument/2006/math">
                    <m:r>
                      <a:rPr lang="en-US" altLang="zh-Hans" i="1" dirty="0" smtClean="0">
                        <a:latin typeface="Cambria Math" panose="02040503050406030204" pitchFamily="18" charset="0"/>
                      </a:rPr>
                      <m:t>𝑎</m:t>
                    </m:r>
                  </m:oMath>
                </a14:m>
                <a:r>
                  <a:rPr lang="zh-Hans" altLang="en-US" dirty="0"/>
                  <a:t> 的乘法、除法运算。</a:t>
                </a:r>
                <a:endParaRPr lang="en-US" altLang="zh-CN" dirty="0"/>
              </a:p>
              <a:p>
                <a:pPr>
                  <a:lnSpc>
                    <a:spcPct val="150000"/>
                  </a:lnSpc>
                  <a:spcBef>
                    <a:spcPts val="600"/>
                  </a:spcBef>
                </a:pPr>
                <a:r>
                  <a:rPr lang="zh-CN" altLang="en-US" dirty="0"/>
                  <a:t>令</a:t>
                </a:r>
                <a:r>
                  <a:rPr lang="zh-Hans" altLang="en-US"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𝑘𝑡</m:t>
                    </m:r>
                    <m:r>
                      <a:rPr lang="en-US" altLang="zh-CN" i="1">
                        <a:latin typeface="Cambria Math" panose="02040503050406030204" pitchFamily="18" charset="0"/>
                      </a:rPr>
                      <m:t>−</m:t>
                    </m:r>
                    <m:r>
                      <a:rPr lang="en-US" altLang="zh-CN" i="1">
                        <a:latin typeface="Cambria Math" panose="02040503050406030204" pitchFamily="18" charset="0"/>
                      </a:rPr>
                      <m:t>𝑚</m:t>
                    </m:r>
                  </m:oMath>
                </a14:m>
                <a:r>
                  <a:rPr lang="zh-CN" altLang="en-US" dirty="0"/>
                  <a:t>，其中</a:t>
                </a:r>
                <a:r>
                  <a:rPr lang="zh-Hans" altLang="en-US" dirty="0"/>
                  <a:t> </a:t>
                </a:r>
                <a14:m>
                  <m:oMath xmlns:m="http://schemas.openxmlformats.org/officeDocument/2006/math">
                    <m:r>
                      <a:rPr lang="en-US" altLang="zh-CN" i="1">
                        <a:latin typeface="Cambria Math" panose="02040503050406030204" pitchFamily="18" charset="0"/>
                      </a:rPr>
                      <m:t>𝑡</m:t>
                    </m:r>
                    <m:r>
                      <a:rPr lang="en-US" altLang="zh-CN" i="1">
                        <a:latin typeface="Cambria Math" panose="02040503050406030204" pitchFamily="18" charset="0"/>
                      </a:rPr>
                      <m:t>=</m:t>
                    </m:r>
                    <m:d>
                      <m:dPr>
                        <m:begChr m:val="⌈"/>
                        <m:endChr m:val="⌉"/>
                        <m:ctrlPr>
                          <a:rPr lang="en-US" altLang="zh-CN" i="1" smtClean="0">
                            <a:latin typeface="Cambria Math" panose="02040503050406030204" pitchFamily="18" charset="0"/>
                          </a:rPr>
                        </m:ctrlPr>
                      </m:dPr>
                      <m:e>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𝑝</m:t>
                            </m:r>
                          </m:e>
                        </m:rad>
                      </m:e>
                    </m:d>
                    <m:r>
                      <a:rPr lang="en-US" altLang="zh-CN" b="0" i="0" smtClean="0">
                        <a:latin typeface="Cambria Math" panose="02040503050406030204" pitchFamily="18" charset="0"/>
                      </a:rPr>
                      <m:t> ,</m:t>
                    </m:r>
                    <m:r>
                      <a:rPr lang="en-US" altLang="zh-CN" b="0" i="1" smtClean="0">
                        <a:latin typeface="Cambria Math" panose="02040503050406030204" pitchFamily="18" charset="0"/>
                      </a:rPr>
                      <m:t>0</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𝑘</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r>
                      <a:rPr lang="en-US" altLang="zh-CN" i="1">
                        <a:latin typeface="Cambria Math" panose="02040503050406030204" pitchFamily="18" charset="0"/>
                        <a:ea typeface="Cambria Math" panose="02040503050406030204" pitchFamily="18" charset="0"/>
                      </a:rPr>
                      <m:t> </m:t>
                    </m:r>
                  </m:oMath>
                </a14:m>
                <a:r>
                  <a:rPr lang="zh-CN" altLang="en-US" dirty="0"/>
                  <a:t>，</a:t>
                </a:r>
                <a:r>
                  <a:rPr lang="en-US" altLang="zh-CN" dirty="0"/>
                  <a:t> </a:t>
                </a:r>
                <a:r>
                  <a:rPr lang="zh-CN" altLang="en-US" dirty="0"/>
                  <a:t>则有</a:t>
                </a:r>
                <a:r>
                  <a:rPr lang="en-US" altLang="zh-CN" dirty="0"/>
                  <a:t> </a:t>
                </a:r>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𝑘𝑡</m:t>
                        </m:r>
                        <m:r>
                          <a:rPr lang="en-US" altLang="zh-CN" i="1">
                            <a:latin typeface="Cambria Math" panose="02040503050406030204" pitchFamily="18" charset="0"/>
                          </a:rPr>
                          <m:t>−</m:t>
                        </m:r>
                        <m:r>
                          <a:rPr lang="en-US" altLang="zh-CN" i="1">
                            <a:latin typeface="Cambria Math" panose="02040503050406030204" pitchFamily="18" charset="0"/>
                          </a:rPr>
                          <m:t>𝑚</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𝑏</m:t>
                    </m:r>
                    <m:d>
                      <m:dPr>
                        <m:ctrlPr>
                          <a:rPr lang="en-US" altLang="zh-CN" i="1">
                            <a:latin typeface="Cambria Math" panose="02040503050406030204" pitchFamily="18" charset="0"/>
                          </a:rPr>
                        </m:ctrlPr>
                      </m:dPr>
                      <m:e>
                        <m:r>
                          <m:rPr>
                            <m:sty m:val="p"/>
                          </m:rPr>
                          <a:rPr lang="en-US" altLang="zh-CN" i="1">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𝑝</m:t>
                        </m:r>
                      </m:e>
                    </m:d>
                  </m:oMath>
                </a14:m>
                <a:r>
                  <a:rPr lang="en-US" altLang="zh-CN" dirty="0"/>
                  <a:t>, </a:t>
                </a:r>
                <a:r>
                  <a:rPr lang="zh-CN" altLang="en-US" dirty="0"/>
                  <a:t>即</a:t>
                </a:r>
                <a:r>
                  <a:rPr lang="zh-Hans" altLang="en-US"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b="0" i="1" smtClean="0">
                            <a:latin typeface="Cambria Math" panose="02040503050406030204" pitchFamily="18" charset="0"/>
                          </a:rPr>
                          <m:t>𝑘𝑡</m:t>
                        </m:r>
                      </m:sup>
                    </m:s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𝑚</m:t>
                        </m:r>
                      </m:sup>
                    </m:sSup>
                    <m:r>
                      <a:rPr lang="en-US" altLang="zh-CN" b="0" i="1" smtClean="0">
                        <a:latin typeface="Cambria Math" panose="02040503050406030204" pitchFamily="18" charset="0"/>
                      </a:rPr>
                      <m:t>𝑏</m:t>
                    </m:r>
                    <m:d>
                      <m:dPr>
                        <m:ctrlPr>
                          <a:rPr lang="en-US" altLang="zh-CN" i="1">
                            <a:latin typeface="Cambria Math" panose="02040503050406030204" pitchFamily="18" charset="0"/>
                          </a:rPr>
                        </m:ctrlPr>
                      </m:dPr>
                      <m:e>
                        <m:r>
                          <m:rPr>
                            <m:sty m:val="p"/>
                          </m:rPr>
                          <a:rPr lang="en-US" altLang="zh-CN" i="1">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𝑝</m:t>
                        </m:r>
                      </m:e>
                    </m:d>
                    <m:r>
                      <a:rPr lang="zh-Hans" altLang="en-US" b="0" i="0" smtClean="0">
                        <a:latin typeface="Cambria Math" panose="02040503050406030204" pitchFamily="18" charset="0"/>
                      </a:rPr>
                      <m:t>。</m:t>
                    </m:r>
                  </m:oMath>
                </a14:m>
                <a:endParaRPr lang="en-US" altLang="zh-Hans" b="0" dirty="0"/>
              </a:p>
              <a:p>
                <a:pPr>
                  <a:lnSpc>
                    <a:spcPct val="150000"/>
                  </a:lnSpc>
                  <a:spcBef>
                    <a:spcPts val="600"/>
                  </a:spcBef>
                </a:pPr>
                <a:r>
                  <a:rPr lang="zh-Hans" altLang="en-US" dirty="0"/>
                  <a:t>对于所有的 </a:t>
                </a:r>
                <a14:m>
                  <m:oMath xmlns:m="http://schemas.openxmlformats.org/officeDocument/2006/math">
                    <m:r>
                      <a:rPr lang="en-US" altLang="zh-Hans" b="0" i="1" smtClean="0">
                        <a:latin typeface="Cambria Math" panose="02040503050406030204" pitchFamily="18" charset="0"/>
                      </a:rPr>
                      <m:t>𝑚</m:t>
                    </m:r>
                    <m:r>
                      <a:rPr lang="en-US" altLang="zh-Hans" b="0" i="1" smtClean="0">
                        <a:latin typeface="Cambria Math" panose="02040503050406030204" pitchFamily="18" charset="0"/>
                        <a:ea typeface="Cambria Math" panose="02040503050406030204" pitchFamily="18" charset="0"/>
                      </a:rPr>
                      <m:t>∈</m:t>
                    </m:r>
                    <m:d>
                      <m:dPr>
                        <m:begChr m:val="["/>
                        <m:endChr m:val="]"/>
                        <m:ctrlPr>
                          <a:rPr lang="en-US" altLang="zh-Hans" b="0" i="1" smtClean="0">
                            <a:latin typeface="Cambria Math" panose="02040503050406030204" pitchFamily="18" charset="0"/>
                            <a:ea typeface="Cambria Math" panose="02040503050406030204" pitchFamily="18" charset="0"/>
                          </a:rPr>
                        </m:ctrlPr>
                      </m:dPr>
                      <m:e>
                        <m:r>
                          <a:rPr lang="en-US" altLang="zh-Hans" b="0" i="1" smtClean="0">
                            <a:latin typeface="Cambria Math" panose="02040503050406030204" pitchFamily="18" charset="0"/>
                            <a:ea typeface="Cambria Math" panose="02040503050406030204" pitchFamily="18" charset="0"/>
                          </a:rPr>
                          <m:t>0,</m:t>
                        </m:r>
                        <m:r>
                          <a:rPr lang="en-US" altLang="zh-Hans" b="0" i="1" smtClean="0">
                            <a:latin typeface="Cambria Math" panose="02040503050406030204" pitchFamily="18" charset="0"/>
                            <a:ea typeface="Cambria Math" panose="02040503050406030204" pitchFamily="18" charset="0"/>
                          </a:rPr>
                          <m:t>𝑡</m:t>
                        </m:r>
                        <m:r>
                          <a:rPr lang="en-US" altLang="zh-Hans" b="0" i="1" smtClean="0">
                            <a:latin typeface="Cambria Math" panose="02040503050406030204" pitchFamily="18" charset="0"/>
                            <a:ea typeface="Cambria Math" panose="02040503050406030204" pitchFamily="18" charset="0"/>
                          </a:rPr>
                          <m:t>−1</m:t>
                        </m:r>
                      </m:e>
                    </m:d>
                  </m:oMath>
                </a14:m>
                <a:r>
                  <a:rPr lang="zh-Hans" altLang="en-US" dirty="0"/>
                  <a:t>，把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𝑚</m:t>
                        </m:r>
                      </m:sup>
                    </m:sSup>
                    <m:r>
                      <a:rPr lang="en-US" altLang="zh-CN" b="0" i="1" smtClean="0">
                        <a:latin typeface="Cambria Math" panose="02040503050406030204" pitchFamily="18" charset="0"/>
                      </a:rPr>
                      <m:t>𝑏</m:t>
                    </m:r>
                    <m:d>
                      <m:dPr>
                        <m:ctrlPr>
                          <a:rPr lang="en-US" altLang="zh-CN" i="1">
                            <a:latin typeface="Cambria Math" panose="02040503050406030204" pitchFamily="18" charset="0"/>
                          </a:rPr>
                        </m:ctrlPr>
                      </m:dPr>
                      <m:e>
                        <m:r>
                          <m:rPr>
                            <m:sty m:val="p"/>
                          </m:rPr>
                          <a:rPr lang="en-US" altLang="zh-CN" i="1">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𝑝</m:t>
                        </m:r>
                      </m:e>
                    </m:d>
                  </m:oMath>
                </a14:m>
                <a:r>
                  <a:rPr lang="en-US" altLang="zh-CN" dirty="0"/>
                  <a:t> </a:t>
                </a:r>
                <a:r>
                  <a:rPr lang="zh-Hans" altLang="en-US" dirty="0"/>
                  <a:t>的结果存入</a:t>
                </a:r>
                <a:r>
                  <a:rPr lang="en-US" altLang="zh-Hans" dirty="0"/>
                  <a:t>Hash</a:t>
                </a:r>
                <a:r>
                  <a:rPr lang="zh-Hans" altLang="en-US" dirty="0"/>
                  <a:t>表。</a:t>
                </a:r>
                <a:endParaRPr lang="en-US" altLang="zh-Hans" dirty="0"/>
              </a:p>
              <a:p>
                <a:pPr>
                  <a:lnSpc>
                    <a:spcPct val="150000"/>
                  </a:lnSpc>
                  <a:spcBef>
                    <a:spcPts val="600"/>
                  </a:spcBef>
                </a:pPr>
                <a:r>
                  <a:rPr lang="zh-Hans" altLang="en-US" dirty="0"/>
                  <a:t>接着枚举 </a:t>
                </a:r>
                <a14:m>
                  <m:oMath xmlns:m="http://schemas.openxmlformats.org/officeDocument/2006/math">
                    <m:r>
                      <a:rPr lang="en-US" altLang="zh-Hans" b="0" i="1" smtClean="0">
                        <a:latin typeface="Cambria Math" panose="02040503050406030204" pitchFamily="18" charset="0"/>
                      </a:rPr>
                      <m:t>𝑘</m:t>
                    </m:r>
                    <m:r>
                      <a:rPr lang="en-US" altLang="zh-Hans" i="1">
                        <a:latin typeface="Cambria Math" panose="02040503050406030204" pitchFamily="18" charset="0"/>
                        <a:ea typeface="Cambria Math" panose="02040503050406030204" pitchFamily="18" charset="0"/>
                      </a:rPr>
                      <m:t>∈</m:t>
                    </m:r>
                    <m:d>
                      <m:dPr>
                        <m:begChr m:val="["/>
                        <m:endChr m:val="]"/>
                        <m:ctrlPr>
                          <a:rPr lang="en-US" altLang="zh-Hans" i="1">
                            <a:latin typeface="Cambria Math" panose="02040503050406030204" pitchFamily="18" charset="0"/>
                            <a:ea typeface="Cambria Math" panose="02040503050406030204" pitchFamily="18" charset="0"/>
                          </a:rPr>
                        </m:ctrlPr>
                      </m:dPr>
                      <m:e>
                        <m:r>
                          <a:rPr lang="en-US" altLang="zh-Hans" i="1">
                            <a:latin typeface="Cambria Math" panose="02040503050406030204" pitchFamily="18" charset="0"/>
                            <a:ea typeface="Cambria Math" panose="02040503050406030204" pitchFamily="18" charset="0"/>
                          </a:rPr>
                          <m:t>0,</m:t>
                        </m:r>
                        <m:r>
                          <a:rPr lang="en-US" altLang="zh-Hans" i="1">
                            <a:latin typeface="Cambria Math" panose="02040503050406030204" pitchFamily="18" charset="0"/>
                            <a:ea typeface="Cambria Math" panose="02040503050406030204" pitchFamily="18" charset="0"/>
                          </a:rPr>
                          <m:t>𝑡</m:t>
                        </m:r>
                      </m:e>
                    </m:d>
                    <m:r>
                      <a:rPr lang="en-US" altLang="zh-Hans" i="1">
                        <a:latin typeface="Cambria Math" panose="02040503050406030204" pitchFamily="18" charset="0"/>
                        <a:ea typeface="Cambria Math" panose="02040503050406030204" pitchFamily="18" charset="0"/>
                      </a:rPr>
                      <m:t> </m:t>
                    </m:r>
                  </m:oMath>
                </a14:m>
                <a:r>
                  <a:rPr lang="zh-CN" altLang="en-US" dirty="0"/>
                  <a:t>，计算</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𝑘𝑡</m:t>
                        </m:r>
                      </m:sup>
                    </m:sSup>
                    <m:d>
                      <m:dPr>
                        <m:ctrlPr>
                          <a:rPr lang="en-US" altLang="zh-CN" i="1">
                            <a:latin typeface="Cambria Math" panose="02040503050406030204" pitchFamily="18" charset="0"/>
                          </a:rPr>
                        </m:ctrlPr>
                      </m:dPr>
                      <m:e>
                        <m:r>
                          <m:rPr>
                            <m:sty m:val="p"/>
                          </m:rPr>
                          <a:rPr lang="en-US" altLang="zh-CN" i="1">
                            <a:latin typeface="Cambria Math" panose="02040503050406030204" pitchFamily="18" charset="0"/>
                          </a:rPr>
                          <m:t>mod</m:t>
                        </m:r>
                        <m:r>
                          <a:rPr lang="en-US" altLang="zh-CN" i="1">
                            <a:latin typeface="Cambria Math" panose="02040503050406030204" pitchFamily="18" charset="0"/>
                          </a:rPr>
                          <m:t> </m:t>
                        </m:r>
                        <m:r>
                          <a:rPr lang="en-US" altLang="zh-CN" i="1">
                            <a:latin typeface="Cambria Math" panose="02040503050406030204" pitchFamily="18" charset="0"/>
                          </a:rPr>
                          <m:t>𝑝</m:t>
                        </m:r>
                      </m:e>
                    </m:d>
                  </m:oMath>
                </a14:m>
                <a:r>
                  <a:rPr lang="zh-Hans" altLang="en-US" dirty="0"/>
                  <a:t>，并在</a:t>
                </a:r>
                <a:r>
                  <a:rPr lang="en-US" altLang="zh-Hans" dirty="0"/>
                  <a:t>Hash</a:t>
                </a:r>
                <a:r>
                  <a:rPr lang="zh-Hans" altLang="en-US" dirty="0"/>
                  <a:t>表中查找是否有对应的 </a:t>
                </a:r>
                <a14:m>
                  <m:oMath xmlns:m="http://schemas.openxmlformats.org/officeDocument/2006/math">
                    <m:r>
                      <a:rPr lang="en-US" altLang="zh-Hans" i="1" dirty="0" smtClean="0">
                        <a:latin typeface="Cambria Math" panose="02040503050406030204" pitchFamily="18" charset="0"/>
                      </a:rPr>
                      <m:t>𝑚</m:t>
                    </m:r>
                  </m:oMath>
                </a14:m>
                <a:r>
                  <a:rPr lang="zh-Hans" altLang="en-US" dirty="0"/>
                  <a:t> 值。</a:t>
                </a:r>
                <a:r>
                  <a:rPr lang="zh-CN" altLang="en-US" dirty="0"/>
                  <a:t>若有，即找到了满足条件的</a:t>
                </a:r>
                <a:r>
                  <a:rPr lang="zh-Hans" altLang="en-US" dirty="0"/>
                  <a:t> </a:t>
                </a:r>
                <a14:m>
                  <m:oMath xmlns:m="http://schemas.openxmlformats.org/officeDocument/2006/math">
                    <m:r>
                      <a:rPr lang="en-US" altLang="zh-CN" i="1" dirty="0" smtClean="0">
                        <a:latin typeface="Cambria Math" panose="02040503050406030204" pitchFamily="18" charset="0"/>
                      </a:rPr>
                      <m:t>𝑘</m:t>
                    </m:r>
                  </m:oMath>
                </a14:m>
                <a:r>
                  <a:rPr lang="zh-Hans" altLang="en-US" dirty="0"/>
                  <a:t> </a:t>
                </a:r>
                <a:r>
                  <a:rPr lang="zh-CN" altLang="en-US" dirty="0"/>
                  <a:t>和</a:t>
                </a:r>
                <a:r>
                  <a:rPr lang="zh-Hans" altLang="en-US" dirty="0"/>
                  <a:t> </a:t>
                </a:r>
                <a14:m>
                  <m:oMath xmlns:m="http://schemas.openxmlformats.org/officeDocument/2006/math">
                    <m:r>
                      <a:rPr lang="en-US" altLang="zh-CN" i="1" dirty="0" smtClean="0">
                        <a:latin typeface="Cambria Math" panose="02040503050406030204" pitchFamily="18" charset="0"/>
                      </a:rPr>
                      <m:t>𝑚</m:t>
                    </m:r>
                  </m:oMath>
                </a14:m>
                <a:r>
                  <a:rPr lang="zh-CN" altLang="en-US" dirty="0"/>
                  <a:t>。</a:t>
                </a:r>
                <a:endParaRPr lang="en-US" altLang="zh-CN" dirty="0"/>
              </a:p>
              <a:p>
                <a:pPr>
                  <a:lnSpc>
                    <a:spcPct val="150000"/>
                  </a:lnSpc>
                  <a:spcBef>
                    <a:spcPts val="600"/>
                  </a:spcBef>
                </a:pPr>
                <a:r>
                  <a:rPr lang="zh-CN" altLang="en-US" dirty="0"/>
                  <a:t>时间复杂度</a:t>
                </a:r>
                <a14:m>
                  <m:oMath xmlns:m="http://schemas.openxmlformats.org/officeDocument/2006/math">
                    <m:r>
                      <a:rPr lang="en-US" altLang="zh-CN" i="1">
                        <a:latin typeface="Cambria Math" panose="02040503050406030204" pitchFamily="18" charset="0"/>
                      </a:rPr>
                      <m:t>𝑂</m:t>
                    </m:r>
                    <m:d>
                      <m:dPr>
                        <m:ctrlPr>
                          <a:rPr lang="en-US" altLang="zh-CN" i="1">
                            <a:latin typeface="Cambria Math" panose="02040503050406030204" pitchFamily="18" charset="0"/>
                          </a:rPr>
                        </m:ctrlPr>
                      </m:dPr>
                      <m:e>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𝑝</m:t>
                            </m:r>
                          </m:e>
                        </m:rad>
                      </m:e>
                    </m:d>
                  </m:oMath>
                </a14:m>
                <a:r>
                  <a:rPr lang="zh-Hans" altLang="en-US" dirty="0"/>
                  <a:t>，这种算法</a:t>
                </a:r>
                <a:r>
                  <a:rPr lang="zh-CN" altLang="en-US" dirty="0"/>
                  <a:t>称为</a:t>
                </a:r>
                <a:r>
                  <a:rPr lang="en-US" altLang="zh-CN" dirty="0"/>
                  <a:t>Baby Step Giant Step</a:t>
                </a:r>
                <a:r>
                  <a:rPr lang="zh-CN" altLang="en-US"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5738"/>
              </a:xfrm>
              <a:blipFill>
                <a:blip r:embed="rId2"/>
                <a:stretch>
                  <a:fillRect l="-1398" r="-762"/>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96957FFC-DF65-034B-9129-CFC43D4C83AC}"/>
              </a:ext>
            </a:extLst>
          </p:cNvPr>
          <p:cNvSpPr>
            <a:spLocks noGrp="1"/>
          </p:cNvSpPr>
          <p:nvPr>
            <p:ph type="sldNum" sz="quarter" idx="12"/>
          </p:nvPr>
        </p:nvSpPr>
        <p:spPr/>
        <p:txBody>
          <a:bodyPr/>
          <a:lstStyle/>
          <a:p>
            <a:fld id="{0FF54DE5-C571-48E8-A5BC-B369434E2F44}" type="slidenum">
              <a:rPr lang="en-US" altLang="zh-CN" smtClean="0"/>
              <a:pPr/>
              <a:t>104</a:t>
            </a:fld>
            <a:endParaRPr lang="zh-CN" altLang="en-US" dirty="0"/>
          </a:p>
        </p:txBody>
      </p:sp>
    </p:spTree>
    <p:extLst>
      <p:ext uri="{BB962C8B-B14F-4D97-AF65-F5344CB8AC3E}">
        <p14:creationId xmlns:p14="http://schemas.microsoft.com/office/powerpoint/2010/main" val="2679663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Baby Step Giant Step</a:t>
            </a:r>
            <a:endParaRPr lang="zh-CN" altLang="en-US" dirty="0"/>
          </a:p>
        </p:txBody>
      </p:sp>
      <p:sp>
        <p:nvSpPr>
          <p:cNvPr id="3" name="内容占位符 2"/>
          <p:cNvSpPr>
            <a:spLocks noGrp="1"/>
          </p:cNvSpPr>
          <p:nvPr>
            <p:ph idx="1"/>
          </p:nvPr>
        </p:nvSpPr>
        <p:spPr>
          <a:xfrm>
            <a:off x="1103382" y="1470824"/>
            <a:ext cx="9982200" cy="5161470"/>
          </a:xfrm>
        </p:spPr>
        <p:txBody>
          <a:bodyPr>
            <a:noAutofit/>
          </a:bodyPr>
          <a:lstStyle/>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baby_step_giant_step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b</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2</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map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&lt;</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hash</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3</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hash</a:t>
            </a:r>
            <a:r>
              <a:rPr lang="en-US" altLang="zh-CN" sz="1800" b="1" kern="0" dirty="0" err="1">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clear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4</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b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5</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sqrt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6</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for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&lt;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j</a:t>
            </a:r>
            <a:r>
              <a:rPr lang="en-US" altLang="zh-CN" sz="1800" b="1" kern="0" dirty="0" err="1">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7</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val</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long</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long</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b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power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//b*</a:t>
            </a:r>
            <a:r>
              <a:rPr lang="en-US" altLang="zh-CN" sz="1800" kern="0" dirty="0" err="1">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a^j</a:t>
            </a:r>
            <a:r>
              <a:rPr lang="en-US" altLang="zh-CN" sz="1800" kern="0" dirty="0">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8</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hash</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val</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9</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10</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power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11</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b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12</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for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&lt;=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13</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val</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power</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p</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a:t>
            </a:r>
            <a:r>
              <a:rPr lang="en-US" altLang="zh-CN" sz="1800" kern="0" dirty="0">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14</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8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int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hash</a:t>
            </a:r>
            <a:r>
              <a:rPr lang="en-US" altLang="zh-CN" sz="1800" b="1" kern="0" dirty="0" err="1">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find</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val</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hash</a:t>
            </a:r>
            <a:r>
              <a:rPr lang="en-US" altLang="zh-CN" sz="1800" b="1" kern="0" dirty="0" err="1">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end</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hash</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val</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15</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if</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j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&amp;&amp;</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&gt;=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0</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dirty="0" err="1">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j</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16</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17</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FF"/>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return</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a:p>
            <a:pPr marL="0" indent="0">
              <a:lnSpc>
                <a:spcPct val="100000"/>
              </a:lnSpc>
              <a:spcBef>
                <a:spcPts val="0"/>
              </a:spcBef>
              <a:buNone/>
            </a:pPr>
            <a:r>
              <a:rPr lang="en-US" altLang="zh-CN" sz="1800" kern="0" dirty="0">
                <a:solidFill>
                  <a:srgbClr val="FF8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18</a:t>
            </a:r>
            <a:r>
              <a:rPr lang="en-US" altLang="zh-CN" sz="1800" kern="0" dirty="0">
                <a:solidFill>
                  <a:srgbClr val="00000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0" dirty="0">
                <a:solidFill>
                  <a:srgbClr val="000080"/>
                </a:solidFill>
                <a:highlight>
                  <a:srgbClr val="FFFFFF"/>
                </a:highlight>
                <a:latin typeface="Courier New" panose="02070309020205020404" pitchFamily="49" charset="0"/>
                <a:ea typeface="宋体" panose="02010600030101010101" pitchFamily="2" charset="-122"/>
                <a:cs typeface="Times New Roman" panose="02020603050405020304" pitchFamily="18" charset="0"/>
              </a:rPr>
              <a:t>}</a:t>
            </a:r>
            <a:endParaRPr lang="zh-CN" altLang="zh-CN" sz="1800" kern="100" dirty="0">
              <a:latin typeface="Calibri" panose="020F0502020204030204" pitchFamily="34" charset="0"/>
              <a:ea typeface="宋体" panose="02010600030101010101" pitchFamily="2" charset="-122"/>
              <a:cs typeface="Times New Roman" panose="02020603050405020304" pitchFamily="18" charset="0"/>
            </a:endParaRPr>
          </a:p>
        </p:txBody>
      </p:sp>
      <p:sp>
        <p:nvSpPr>
          <p:cNvPr id="4" name="幻灯片编号占位符 3">
            <a:extLst>
              <a:ext uri="{FF2B5EF4-FFF2-40B4-BE49-F238E27FC236}">
                <a16:creationId xmlns:a16="http://schemas.microsoft.com/office/drawing/2014/main" id="{E3C29561-979A-6840-98FA-8B85E523E7BC}"/>
              </a:ext>
            </a:extLst>
          </p:cNvPr>
          <p:cNvSpPr>
            <a:spLocks noGrp="1"/>
          </p:cNvSpPr>
          <p:nvPr>
            <p:ph type="sldNum" sz="quarter" idx="12"/>
          </p:nvPr>
        </p:nvSpPr>
        <p:spPr/>
        <p:txBody>
          <a:bodyPr/>
          <a:lstStyle/>
          <a:p>
            <a:fld id="{0FF54DE5-C571-48E8-A5BC-B369434E2F44}" type="slidenum">
              <a:rPr lang="en-US" altLang="zh-CN" smtClean="0"/>
              <a:pPr/>
              <a:t>105</a:t>
            </a:fld>
            <a:endParaRPr lang="zh-CN" altLang="en-US" dirty="0"/>
          </a:p>
        </p:txBody>
      </p:sp>
    </p:spTree>
    <p:extLst>
      <p:ext uri="{BB962C8B-B14F-4D97-AF65-F5344CB8AC3E}">
        <p14:creationId xmlns:p14="http://schemas.microsoft.com/office/powerpoint/2010/main" val="180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5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Hans" altLang="en-US" dirty="0"/>
              <a:t>第二类高次同余方程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5738"/>
              </a:xfrm>
            </p:spPr>
            <p:txBody>
              <a:bodyPr>
                <a:normAutofit/>
              </a:bodyPr>
              <a:lstStyle/>
              <a:p>
                <a:pPr>
                  <a:lnSpc>
                    <a:spcPct val="150000"/>
                  </a:lnSpc>
                  <a:spcBef>
                    <a:spcPts val="600"/>
                  </a:spcBef>
                </a:pPr>
                <a:r>
                  <a:rPr lang="zh-Hans" altLang="en-US" dirty="0"/>
                  <a:t>求解</a:t>
                </a:r>
                <a:r>
                  <a:rPr lang="zh-CN" altLang="en-US" dirty="0"/>
                  <a:t>同余方程：</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𝑘</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oMath>
                  </m:oMathPara>
                </a14:m>
                <a:endParaRPr lang="en-US" altLang="zh-CN" dirty="0"/>
              </a:p>
              <a:p>
                <a:pPr>
                  <a:lnSpc>
                    <a:spcPct val="150000"/>
                  </a:lnSpc>
                  <a:spcBef>
                    <a:spcPts val="600"/>
                  </a:spcBef>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5738"/>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6A5F5EE8-60D3-764A-A1C7-D6370D45D5FE}"/>
              </a:ext>
            </a:extLst>
          </p:cNvPr>
          <p:cNvSpPr>
            <a:spLocks noGrp="1"/>
          </p:cNvSpPr>
          <p:nvPr>
            <p:ph type="sldNum" sz="quarter" idx="12"/>
          </p:nvPr>
        </p:nvSpPr>
        <p:spPr/>
        <p:txBody>
          <a:bodyPr/>
          <a:lstStyle/>
          <a:p>
            <a:fld id="{0FF54DE5-C571-48E8-A5BC-B369434E2F44}" type="slidenum">
              <a:rPr lang="en-US" altLang="zh-CN" smtClean="0"/>
              <a:pPr/>
              <a:t>106</a:t>
            </a:fld>
            <a:endParaRPr lang="zh-CN" altLang="en-US" dirty="0"/>
          </a:p>
        </p:txBody>
      </p:sp>
    </p:spTree>
    <p:extLst>
      <p:ext uri="{BB962C8B-B14F-4D97-AF65-F5344CB8AC3E}">
        <p14:creationId xmlns:p14="http://schemas.microsoft.com/office/powerpoint/2010/main" val="3749847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Hans" altLang="en-US" dirty="0"/>
              <a:t>原根</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104900" y="1600200"/>
                <a:ext cx="9982200" cy="5175738"/>
              </a:xfrm>
            </p:spPr>
            <p:txBody>
              <a:bodyPr>
                <a:noAutofit/>
              </a:bodyPr>
              <a:lstStyle/>
              <a:p>
                <a:pPr>
                  <a:lnSpc>
                    <a:spcPct val="160000"/>
                  </a:lnSpc>
                  <a:spcBef>
                    <a:spcPts val="600"/>
                  </a:spcBef>
                </a:pPr>
                <a:r>
                  <a:rPr lang="zh-CN" altLang="en-US" dirty="0"/>
                  <a:t>设</a:t>
                </a:r>
                <a:r>
                  <a:rPr lang="zh-Hans" altLang="en-US" dirty="0"/>
                  <a:t> </a:t>
                </a:r>
                <a14:m>
                  <m:oMath xmlns:m="http://schemas.openxmlformats.org/officeDocument/2006/math">
                    <m:r>
                      <a:rPr lang="en-US" altLang="zh-CN" i="1">
                        <a:latin typeface="Cambria Math" panose="02040503050406030204" pitchFamily="18" charset="0"/>
                      </a:rPr>
                      <m:t>𝑝</m:t>
                    </m:r>
                  </m:oMath>
                </a14:m>
                <a:r>
                  <a:rPr lang="zh-Hans" altLang="en-US" dirty="0"/>
                  <a:t> </a:t>
                </a:r>
                <a:r>
                  <a:rPr lang="zh-CN" altLang="en-US" dirty="0"/>
                  <a:t>是质数，若</a:t>
                </a:r>
                <a:r>
                  <a:rPr lang="zh-Hans" altLang="en-US"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0</m:t>
                        </m:r>
                      </m:sup>
                    </m:sSup>
                    <m:r>
                      <a:rPr lang="en-US" altLang="zh-CN"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1</m:t>
                        </m:r>
                      </m:sup>
                    </m:sSup>
                    <m:r>
                      <a:rPr lang="en-US" altLang="zh-CN"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2</m:t>
                        </m:r>
                      </m:sup>
                    </m:sSup>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𝑎</m:t>
                        </m:r>
                      </m:e>
                      <m:sup>
                        <m:r>
                          <a:rPr lang="en-US" altLang="zh-CN" i="1" dirty="0">
                            <a:latin typeface="Cambria Math" panose="02040503050406030204" pitchFamily="18" charset="0"/>
                          </a:rPr>
                          <m:t>𝑝</m:t>
                        </m:r>
                        <m:r>
                          <a:rPr lang="en-US" altLang="zh-CN" i="1" dirty="0">
                            <a:latin typeface="Cambria Math" panose="02040503050406030204" pitchFamily="18" charset="0"/>
                          </a:rPr>
                          <m:t>−2</m:t>
                        </m:r>
                      </m:sup>
                    </m:sSup>
                  </m:oMath>
                </a14:m>
                <a:r>
                  <a:rPr lang="en-US" altLang="zh-CN" dirty="0"/>
                  <a:t> </a:t>
                </a:r>
                <a:r>
                  <a:rPr lang="zh-CN" altLang="en-US" dirty="0"/>
                  <a:t>互不相等（</a:t>
                </a:r>
                <a14:m>
                  <m:oMath xmlns:m="http://schemas.openxmlformats.org/officeDocument/2006/math">
                    <m:r>
                      <a:rPr lang="en-US" altLang="zh-CN" i="1" dirty="0" smtClean="0">
                        <a:latin typeface="Cambria Math" panose="02040503050406030204" pitchFamily="18" charset="0"/>
                      </a:rPr>
                      <m:t>𝑎</m:t>
                    </m:r>
                  </m:oMath>
                </a14:m>
                <a:r>
                  <a:rPr lang="en-US" altLang="zh-CN" dirty="0"/>
                  <a:t> </a:t>
                </a:r>
                <a:r>
                  <a:rPr lang="zh-CN" altLang="en-US" dirty="0"/>
                  <a:t>取遍</a:t>
                </a:r>
                <a:r>
                  <a:rPr lang="en-US" altLang="zh-CN" dirty="0"/>
                  <a:t> </a:t>
                </a:r>
                <a14:m>
                  <m:oMath xmlns:m="http://schemas.openxmlformats.org/officeDocument/2006/math">
                    <m:r>
                      <a:rPr lang="en-US" altLang="zh-CN" i="1" dirty="0" smtClean="0">
                        <a:latin typeface="Cambria Math" panose="02040503050406030204" pitchFamily="18" charset="0"/>
                      </a:rPr>
                      <m:t>1,2,3</m:t>
                    </m:r>
                    <m:r>
                      <a:rPr lang="en-US" altLang="zh-CN" i="1" dirty="0">
                        <a:latin typeface="Cambria Math" panose="02040503050406030204" pitchFamily="18" charset="0"/>
                      </a:rPr>
                      <m:t>,…, </m:t>
                    </m:r>
                    <m:r>
                      <a:rPr lang="en-US" altLang="zh-CN" i="1" dirty="0">
                        <a:latin typeface="Cambria Math" panose="02040503050406030204" pitchFamily="18" charset="0"/>
                      </a:rPr>
                      <m:t>𝑝</m:t>
                    </m:r>
                    <m:r>
                      <a:rPr lang="en-US" altLang="zh-CN" i="1" dirty="0">
                        <a:latin typeface="Cambria Math" panose="02040503050406030204" pitchFamily="18" charset="0"/>
                      </a:rPr>
                      <m:t>−1</m:t>
                    </m:r>
                  </m:oMath>
                </a14:m>
                <a:r>
                  <a:rPr lang="zh-CN" altLang="en-US" dirty="0"/>
                  <a:t>）</a:t>
                </a:r>
                <a:r>
                  <a:rPr lang="en-US" altLang="zh-CN" dirty="0"/>
                  <a:t>,</a:t>
                </a:r>
                <a:r>
                  <a:rPr lang="zh-CN" altLang="en-US" dirty="0"/>
                  <a:t>则称</a:t>
                </a:r>
                <a:r>
                  <a:rPr lang="en-US" altLang="zh-CN" dirty="0"/>
                  <a:t> </a:t>
                </a:r>
                <a14:m>
                  <m:oMath xmlns:m="http://schemas.openxmlformats.org/officeDocument/2006/math">
                    <m:r>
                      <a:rPr lang="en-US" altLang="zh-CN" i="1" dirty="0">
                        <a:latin typeface="Cambria Math" panose="02040503050406030204" pitchFamily="18" charset="0"/>
                      </a:rPr>
                      <m:t>𝑎</m:t>
                    </m:r>
                  </m:oMath>
                </a14:m>
                <a:r>
                  <a:rPr lang="en-US" altLang="zh-CN" dirty="0"/>
                  <a:t> </a:t>
                </a:r>
                <a:r>
                  <a:rPr lang="zh-CN" altLang="en-US" dirty="0"/>
                  <a:t>是</a:t>
                </a:r>
                <a:r>
                  <a:rPr lang="en-US" altLang="zh-CN" dirty="0"/>
                  <a:t> </a:t>
                </a:r>
                <a14:m>
                  <m:oMath xmlns:m="http://schemas.openxmlformats.org/officeDocument/2006/math">
                    <m:r>
                      <a:rPr lang="en-US" altLang="zh-CN" i="1">
                        <a:latin typeface="Cambria Math" panose="02040503050406030204" pitchFamily="18" charset="0"/>
                      </a:rPr>
                      <m:t>𝑝</m:t>
                    </m:r>
                  </m:oMath>
                </a14:m>
                <a:r>
                  <a:rPr lang="en-US" altLang="zh-CN" dirty="0"/>
                  <a:t> </a:t>
                </a:r>
                <a:r>
                  <a:rPr lang="zh-CN" altLang="en-US" dirty="0"/>
                  <a:t>是一个原根。</a:t>
                </a:r>
                <a:endParaRPr lang="en-US" altLang="zh-CN" dirty="0"/>
              </a:p>
              <a:p>
                <a:pPr>
                  <a:lnSpc>
                    <a:spcPct val="160000"/>
                  </a:lnSpc>
                  <a:spcBef>
                    <a:spcPts val="600"/>
                  </a:spcBef>
                </a:pPr>
                <a:r>
                  <a:rPr lang="zh-CN" altLang="en-US" dirty="0"/>
                  <a:t>如何快速判断</a:t>
                </a:r>
                <a:r>
                  <a:rPr lang="zh-Hans" altLang="en-US" dirty="0"/>
                  <a:t> </a:t>
                </a:r>
                <a14:m>
                  <m:oMath xmlns:m="http://schemas.openxmlformats.org/officeDocument/2006/math">
                    <m:r>
                      <a:rPr lang="en-US" altLang="zh-CN" i="1" dirty="0">
                        <a:latin typeface="Cambria Math" panose="02040503050406030204" pitchFamily="18" charset="0"/>
                      </a:rPr>
                      <m:t>𝑎</m:t>
                    </m:r>
                  </m:oMath>
                </a14:m>
                <a:r>
                  <a:rPr lang="zh-Hans" altLang="en-US" dirty="0"/>
                  <a:t> </a:t>
                </a:r>
                <a:r>
                  <a:rPr lang="zh-CN" altLang="en-US" dirty="0"/>
                  <a:t>是否</a:t>
                </a:r>
                <a:r>
                  <a:rPr lang="zh-Hans" altLang="en-US" dirty="0"/>
                  <a:t> </a:t>
                </a:r>
                <a14:m>
                  <m:oMath xmlns:m="http://schemas.openxmlformats.org/officeDocument/2006/math">
                    <m:r>
                      <a:rPr lang="en-US" altLang="zh-CN" i="1">
                        <a:latin typeface="Cambria Math" panose="02040503050406030204" pitchFamily="18" charset="0"/>
                      </a:rPr>
                      <m:t>𝑝</m:t>
                    </m:r>
                  </m:oMath>
                </a14:m>
                <a:r>
                  <a:rPr lang="zh-Hans" altLang="en-US" dirty="0"/>
                  <a:t> </a:t>
                </a:r>
                <a:r>
                  <a:rPr lang="zh-CN" altLang="en-US" dirty="0"/>
                  <a:t>的原根？由于费马小定理成立，因此方程</a:t>
                </a:r>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𝑥</m:t>
                        </m:r>
                      </m:sup>
                    </m:sSup>
                    <m:r>
                      <a:rPr lang="en-US" altLang="zh-CN" i="1">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mod</m:t>
                    </m:r>
                    <m:r>
                      <a:rPr lang="en-US" altLang="zh-CN" b="0" i="1" smtClean="0">
                        <a:latin typeface="Cambria Math" panose="02040503050406030204" pitchFamily="18" charset="0"/>
                        <a:ea typeface="Cambria Math" panose="02040503050406030204" pitchFamily="18" charset="0"/>
                      </a:rPr>
                      <m:t> </m:t>
                    </m:r>
                    <m:r>
                      <a:rPr lang="en-US" altLang="zh-CN" b="0" i="1" smtClean="0">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oMath>
                </a14:m>
                <a:r>
                  <a:rPr lang="en-US" altLang="zh-CN" dirty="0"/>
                  <a:t> </a:t>
                </a:r>
                <a:r>
                  <a:rPr lang="zh-CN" altLang="en-US" dirty="0"/>
                  <a:t>的一个解是</a:t>
                </a:r>
                <a:r>
                  <a:rPr lang="en-US" altLang="zh-CN"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oMath>
                </a14:m>
                <a:r>
                  <a:rPr lang="zh-CN" altLang="en-US" dirty="0"/>
                  <a:t>，所以它的最小整数解</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m:rPr>
                            <m:sty m:val="p"/>
                          </m:rPr>
                          <a:rPr lang="en-US" altLang="zh-CN" i="0">
                            <a:latin typeface="Cambria Math" panose="02040503050406030204" pitchFamily="18" charset="0"/>
                          </a:rPr>
                          <m:t>min</m:t>
                        </m:r>
                      </m:sub>
                    </m:sSub>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oMath>
                </a14:m>
                <a:r>
                  <a:rPr lang="zh-CN" altLang="en-US" dirty="0"/>
                  <a:t>。</a:t>
                </a:r>
                <a:endParaRPr lang="en-US" altLang="zh-CN" dirty="0"/>
              </a:p>
              <a:p>
                <a:pPr>
                  <a:lnSpc>
                    <a:spcPct val="160000"/>
                  </a:lnSpc>
                  <a:spcBef>
                    <a:spcPts val="600"/>
                  </a:spcBef>
                </a:pPr>
                <a:r>
                  <a:rPr lang="zh-CN" altLang="en-US" dirty="0"/>
                  <a:t>若</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m:rPr>
                            <m:sty m:val="p"/>
                          </m:rPr>
                          <a:rPr lang="en-US" altLang="zh-CN" i="0">
                            <a:latin typeface="Cambria Math" panose="02040503050406030204" pitchFamily="18" charset="0"/>
                          </a:rPr>
                          <m:t>min</m:t>
                        </m:r>
                      </m:sub>
                    </m:sSub>
                    <m:r>
                      <a:rPr lang="en-US" altLang="zh-CN" i="1">
                        <a:latin typeface="Cambria Math" panose="02040503050406030204" pitchFamily="18" charset="0"/>
                      </a:rPr>
                      <m:t>=(</m:t>
                    </m:r>
                    <m:r>
                      <a:rPr lang="en-US" altLang="zh-CN" i="1">
                        <a:latin typeface="Cambria Math" panose="02040503050406030204" pitchFamily="18" charset="0"/>
                      </a:rPr>
                      <m:t>𝑝</m:t>
                    </m:r>
                    <m:r>
                      <a:rPr lang="en-US" altLang="zh-CN" i="1">
                        <a:latin typeface="Cambria Math" panose="02040503050406030204" pitchFamily="18" charset="0"/>
                      </a:rPr>
                      <m:t>−1)</m:t>
                    </m:r>
                  </m:oMath>
                </a14:m>
                <a:r>
                  <a:rPr lang="zh-CN" altLang="en-US" dirty="0"/>
                  <a:t>则</a:t>
                </a:r>
                <a:r>
                  <a:rPr lang="en-US" altLang="zh-CN" dirty="0"/>
                  <a:t> </a:t>
                </a:r>
                <a14:m>
                  <m:oMath xmlns:m="http://schemas.openxmlformats.org/officeDocument/2006/math">
                    <m:r>
                      <a:rPr lang="en-US" altLang="zh-CN" i="1">
                        <a:latin typeface="Cambria Math" panose="02040503050406030204" pitchFamily="18" charset="0"/>
                      </a:rPr>
                      <m:t>𝑎</m:t>
                    </m:r>
                  </m:oMath>
                </a14:m>
                <a:r>
                  <a:rPr lang="en-US" altLang="zh-CN" dirty="0"/>
                  <a:t> </a:t>
                </a:r>
                <a:r>
                  <a:rPr lang="zh-CN" altLang="en-US" dirty="0"/>
                  <a:t>是</a:t>
                </a:r>
                <a:r>
                  <a:rPr lang="en-US" altLang="zh-CN" dirty="0"/>
                  <a:t> </a:t>
                </a:r>
                <a14:m>
                  <m:oMath xmlns:m="http://schemas.openxmlformats.org/officeDocument/2006/math">
                    <m:r>
                      <a:rPr lang="en-US" altLang="zh-CN" i="1">
                        <a:latin typeface="Cambria Math" panose="02040503050406030204" pitchFamily="18" charset="0"/>
                      </a:rPr>
                      <m:t>𝑝</m:t>
                    </m:r>
                  </m:oMath>
                </a14:m>
                <a:r>
                  <a:rPr lang="en-US" altLang="zh-CN" dirty="0"/>
                  <a:t> </a:t>
                </a:r>
                <a:r>
                  <a:rPr lang="zh-CN" altLang="en-US" dirty="0"/>
                  <a:t>的原根。因此逐个尝试</a:t>
                </a:r>
                <a:r>
                  <a:rPr lang="en-US" altLang="zh-CN" dirty="0"/>
                  <a:t>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−1</m:t>
                    </m:r>
                  </m:oMath>
                </a14:m>
                <a:r>
                  <a:rPr lang="zh-CN" altLang="en-US" dirty="0"/>
                  <a:t>的约数即可</a:t>
                </a:r>
                <a:r>
                  <a:rPr lang="zh-Hans" altLang="en-US" dirty="0"/>
                  <a:t>。</a:t>
                </a:r>
                <a:endParaRPr lang="en-US" altLang="zh-CN" dirty="0"/>
              </a:p>
              <a:p>
                <a:pPr marL="0" indent="0">
                  <a:lnSpc>
                    <a:spcPct val="160000"/>
                  </a:lnSpc>
                  <a:spcBef>
                    <a:spcPts val="600"/>
                  </a:spcBef>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5738"/>
              </a:xfrm>
              <a:blipFill>
                <a:blip r:embed="rId2"/>
                <a:stretch>
                  <a:fillRect l="-1398" r="-762"/>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2E3FD5BE-1B4C-034F-9851-41D661A1FF59}"/>
              </a:ext>
            </a:extLst>
          </p:cNvPr>
          <p:cNvSpPr>
            <a:spLocks noGrp="1"/>
          </p:cNvSpPr>
          <p:nvPr>
            <p:ph type="sldNum" sz="quarter" idx="12"/>
          </p:nvPr>
        </p:nvSpPr>
        <p:spPr/>
        <p:txBody>
          <a:bodyPr/>
          <a:lstStyle/>
          <a:p>
            <a:fld id="{0FF54DE5-C571-48E8-A5BC-B369434E2F44}" type="slidenum">
              <a:rPr lang="en-US" altLang="zh-CN" smtClean="0"/>
              <a:pPr/>
              <a:t>107</a:t>
            </a:fld>
            <a:endParaRPr lang="zh-CN" altLang="en-US" dirty="0"/>
          </a:p>
        </p:txBody>
      </p:sp>
    </p:spTree>
    <p:extLst>
      <p:ext uri="{BB962C8B-B14F-4D97-AF65-F5344CB8AC3E}">
        <p14:creationId xmlns:p14="http://schemas.microsoft.com/office/powerpoint/2010/main" val="174303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Hans" altLang="en-US" dirty="0"/>
              <a:t>第二类高次同余方程</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104900" y="1600200"/>
                <a:ext cx="9982200" cy="5175738"/>
              </a:xfrm>
            </p:spPr>
            <p:txBody>
              <a:bodyPr>
                <a:normAutofit/>
              </a:bodyPr>
              <a:lstStyle/>
              <a:p>
                <a:pPr>
                  <a:lnSpc>
                    <a:spcPct val="150000"/>
                  </a:lnSpc>
                  <a:spcBef>
                    <a:spcPts val="600"/>
                  </a:spcBef>
                </a:pPr>
                <a:r>
                  <a:rPr lang="zh-Hans" altLang="en-US" dirty="0"/>
                  <a:t>求解</a:t>
                </a:r>
                <a:r>
                  <a:rPr lang="zh-CN" altLang="en-US" dirty="0"/>
                  <a:t>同余方程：</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𝑘</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oMath>
                  </m:oMathPara>
                </a14:m>
                <a:endParaRPr lang="en-US" altLang="zh-CN" dirty="0"/>
              </a:p>
              <a:p>
                <a:pPr>
                  <a:lnSpc>
                    <a:spcPct val="150000"/>
                  </a:lnSpc>
                  <a:spcBef>
                    <a:spcPts val="600"/>
                  </a:spcBef>
                </a:pPr>
                <a:r>
                  <a:rPr lang="zh-CN" altLang="en-US" dirty="0"/>
                  <a:t>假设</a:t>
                </a:r>
                <a:r>
                  <a:rPr lang="zh-Hans" altLang="en-US" dirty="0"/>
                  <a:t> </a:t>
                </a:r>
                <a14:m>
                  <m:oMath xmlns:m="http://schemas.openxmlformats.org/officeDocument/2006/math">
                    <m:r>
                      <a:rPr lang="en-US" altLang="zh-CN" i="1">
                        <a:latin typeface="Cambria Math" panose="02040503050406030204" pitchFamily="18" charset="0"/>
                      </a:rPr>
                      <m:t>𝑎</m:t>
                    </m:r>
                  </m:oMath>
                </a14:m>
                <a:r>
                  <a:rPr lang="zh-Hans" altLang="en-US" dirty="0"/>
                  <a:t> </a:t>
                </a:r>
                <a:r>
                  <a:rPr lang="zh-CN" altLang="en-US" dirty="0"/>
                  <a:t>是</a:t>
                </a:r>
                <a:r>
                  <a:rPr lang="zh-Hans" altLang="en-US" dirty="0"/>
                  <a:t> </a:t>
                </a:r>
                <a14:m>
                  <m:oMath xmlns:m="http://schemas.openxmlformats.org/officeDocument/2006/math">
                    <m:r>
                      <a:rPr lang="en-US" altLang="zh-CN" i="1" dirty="0">
                        <a:latin typeface="Cambria Math" panose="02040503050406030204" pitchFamily="18" charset="0"/>
                      </a:rPr>
                      <m:t>𝑝</m:t>
                    </m:r>
                  </m:oMath>
                </a14:m>
                <a:r>
                  <a:rPr lang="zh-Hans" altLang="en-US" dirty="0"/>
                  <a:t> </a:t>
                </a:r>
                <a:r>
                  <a:rPr lang="zh-CN" altLang="en-US" dirty="0"/>
                  <a:t>的一个原根，通过第一类</a:t>
                </a:r>
                <a:r>
                  <a:rPr lang="zh-Hans" altLang="en-US" dirty="0"/>
                  <a:t>高次</a:t>
                </a:r>
                <a:r>
                  <a:rPr lang="zh-CN" altLang="en-US" dirty="0"/>
                  <a:t>同余方程的解法求得</a:t>
                </a:r>
                <a:r>
                  <a:rPr lang="zh-Hans" altLang="en-US" dirty="0"/>
                  <a:t> </a:t>
                </a:r>
                <a14:m>
                  <m:oMath xmlns:m="http://schemas.openxmlformats.org/officeDocument/2006/math">
                    <m:r>
                      <a:rPr lang="en-US" altLang="zh-CN" i="1">
                        <a:latin typeface="Cambria Math" panose="02040503050406030204" pitchFamily="18" charset="0"/>
                        <a:ea typeface="Cambria Math" panose="02040503050406030204" pitchFamily="18" charset="0"/>
                      </a:rPr>
                      <m:t>𝑏</m:t>
                    </m:r>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𝑎</m:t>
                        </m:r>
                      </m:e>
                      <m:sup>
                        <m:r>
                          <a:rPr lang="en-US" altLang="zh-CN" i="1">
                            <a:latin typeface="Cambria Math" panose="02040503050406030204" pitchFamily="18" charset="0"/>
                            <a:ea typeface="Cambria Math" panose="02040503050406030204" pitchFamily="18" charset="0"/>
                          </a:rPr>
                          <m:t>𝑚</m:t>
                        </m:r>
                      </m:sup>
                    </m:sSup>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oMath>
                </a14:m>
                <a:r>
                  <a:rPr lang="zh-CN" altLang="en-US" dirty="0"/>
                  <a:t>。</a:t>
                </a:r>
                <a:endParaRPr lang="en-US" altLang="zh-CN" dirty="0"/>
              </a:p>
              <a:p>
                <a:pPr>
                  <a:lnSpc>
                    <a:spcPct val="150000"/>
                  </a:lnSpc>
                  <a:spcBef>
                    <a:spcPts val="600"/>
                  </a:spcBef>
                </a:pPr>
                <a:r>
                  <a:rPr lang="zh-CN" altLang="en-US" dirty="0"/>
                  <a:t>又假设</a:t>
                </a:r>
                <a:r>
                  <a:rPr lang="zh-Hans" altLang="en-US" dirty="0"/>
                  <a:t> </a:t>
                </a:r>
                <a14:m>
                  <m:oMath xmlns:m="http://schemas.openxmlformats.org/officeDocument/2006/math">
                    <m:r>
                      <a:rPr lang="en-US" altLang="zh-CN" i="1">
                        <a:latin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𝑎</m:t>
                        </m:r>
                      </m:e>
                      <m:sup>
                        <m:r>
                          <a:rPr lang="en-US" altLang="zh-CN" b="0" i="1" smtClean="0">
                            <a:latin typeface="Cambria Math" panose="02040503050406030204" pitchFamily="18" charset="0"/>
                            <a:ea typeface="Cambria Math" panose="02040503050406030204" pitchFamily="18" charset="0"/>
                          </a:rPr>
                          <m:t>𝑦</m:t>
                        </m:r>
                      </m:sup>
                    </m:sSup>
                  </m:oMath>
                </a14:m>
                <a:r>
                  <a:rPr lang="en-US" altLang="zh-CN" dirty="0">
                    <a:ea typeface="Cambria Math" panose="02040503050406030204" pitchFamily="18" charset="0"/>
                  </a:rPr>
                  <a:t> </a:t>
                </a:r>
                <a14:m>
                  <m:oMath xmlns:m="http://schemas.openxmlformats.org/officeDocument/2006/math">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r>
                      <a:rPr lang="en-US" altLang="zh-CN" i="1">
                        <a:latin typeface="Cambria Math" panose="02040503050406030204" pitchFamily="18" charset="0"/>
                        <a:ea typeface="Cambria Math" panose="02040503050406030204" pitchFamily="18" charset="0"/>
                      </a:rPr>
                      <m:t> </m:t>
                    </m:r>
                  </m:oMath>
                </a14:m>
                <a:r>
                  <a:rPr lang="zh-CN" altLang="en-US" dirty="0"/>
                  <a:t>，则</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𝑘𝑦</m:t>
                          </m:r>
                        </m:sup>
                      </m:sSup>
                      <m:r>
                        <a:rPr lang="en-US" altLang="zh-CN" i="1">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𝑎</m:t>
                          </m:r>
                        </m:e>
                        <m:sup>
                          <m:r>
                            <a:rPr lang="en-US" altLang="zh-CN" i="1">
                              <a:latin typeface="Cambria Math" panose="02040503050406030204" pitchFamily="18" charset="0"/>
                            </a:rPr>
                            <m:t>𝑚</m:t>
                          </m:r>
                        </m:sup>
                      </m:sSup>
                      <m:d>
                        <m:dPr>
                          <m:ctrlPr>
                            <a:rPr lang="en-US" altLang="zh-CN" i="1">
                              <a:latin typeface="Cambria Math" panose="02040503050406030204" pitchFamily="18" charset="0"/>
                              <a:ea typeface="Cambria Math" panose="02040503050406030204" pitchFamily="18" charset="0"/>
                            </a:rPr>
                          </m:ctrlPr>
                        </m:dPr>
                        <m:e>
                          <m:r>
                            <m:rPr>
                              <m:sty m:val="p"/>
                            </m:rPr>
                            <a:rPr lang="en-US" altLang="zh-CN" i="1">
                              <a:latin typeface="Cambria Math" panose="02040503050406030204" pitchFamily="18" charset="0"/>
                              <a:ea typeface="Cambria Math" panose="02040503050406030204" pitchFamily="18" charset="0"/>
                            </a:rPr>
                            <m:t>mod</m:t>
                          </m:r>
                          <m:r>
                            <a:rPr lang="en-US" altLang="zh-CN"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𝑝</m:t>
                          </m:r>
                        </m:e>
                      </m:d>
                    </m:oMath>
                  </m:oMathPara>
                </a14:m>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𝑎</m:t>
                          </m:r>
                        </m:e>
                        <m:sup>
                          <m:r>
                            <a:rPr lang="en-US" altLang="zh-CN" b="0" i="1" smtClean="0">
                              <a:latin typeface="Cambria Math" panose="02040503050406030204" pitchFamily="18" charset="0"/>
                            </a:rPr>
                            <m:t>𝑘𝑦</m:t>
                          </m:r>
                          <m:r>
                            <a:rPr lang="en-US" altLang="zh-CN" b="0" i="1" smtClean="0">
                              <a:latin typeface="Cambria Math" panose="02040503050406030204" pitchFamily="18" charset="0"/>
                            </a:rPr>
                            <m:t>−</m:t>
                          </m:r>
                          <m:r>
                            <a:rPr lang="en-US" altLang="zh-CN">
                              <a:latin typeface="Cambria Math" panose="02040503050406030204" pitchFamily="18" charset="0"/>
                            </a:rPr>
                            <m:t>𝑚</m:t>
                          </m:r>
                        </m:sup>
                      </m:sSup>
                      <m:r>
                        <a:rPr lang="en-US" altLang="zh-CN">
                          <a:latin typeface="Cambria Math" panose="02040503050406030204" pitchFamily="18" charset="0"/>
                        </a:rPr>
                        <m:t>≡1</m:t>
                      </m:r>
                      <m:d>
                        <m:dPr>
                          <m:ctrlPr>
                            <a:rPr lang="en-US" altLang="zh-CN" i="1">
                              <a:latin typeface="Cambria Math" panose="02040503050406030204" pitchFamily="18" charset="0"/>
                            </a:rPr>
                          </m:ctrlPr>
                        </m:dPr>
                        <m:e>
                          <m:r>
                            <m:rPr>
                              <m:sty m:val="p"/>
                            </m:rPr>
                            <a:rPr lang="en-US" altLang="zh-CN">
                              <a:latin typeface="Cambria Math" panose="02040503050406030204" pitchFamily="18" charset="0"/>
                            </a:rPr>
                            <m:t>mod</m:t>
                          </m:r>
                          <m:r>
                            <a:rPr lang="en-US" altLang="zh-CN">
                              <a:latin typeface="Cambria Math" panose="02040503050406030204" pitchFamily="18" charset="0"/>
                            </a:rPr>
                            <m:t> </m:t>
                          </m:r>
                          <m:r>
                            <a:rPr lang="en-US" altLang="zh-CN">
                              <a:latin typeface="Cambria Math" panose="02040503050406030204" pitchFamily="18" charset="0"/>
                            </a:rPr>
                            <m:t>𝑝</m:t>
                          </m:r>
                        </m:e>
                      </m:d>
                    </m:oMath>
                  </m:oMathPara>
                </a14:m>
                <a:endParaRPr lang="en-US" altLang="zh-CN" dirty="0"/>
              </a:p>
              <a:p>
                <a:pPr>
                  <a:lnSpc>
                    <a:spcPct val="150000"/>
                  </a:lnSpc>
                  <a:spcBef>
                    <a:spcPts val="600"/>
                  </a:spcBef>
                </a:pPr>
                <a:r>
                  <a:rPr lang="zh-CN" altLang="en-US" dirty="0"/>
                  <a:t>根据原根的性质有</a:t>
                </a:r>
                <a:endParaRPr lang="en-US" altLang="zh-CN" dirty="0"/>
              </a:p>
              <a:p>
                <a:pPr marL="0" indent="0">
                  <a:lnSpc>
                    <a:spcPct val="150000"/>
                  </a:lnSpc>
                  <a:spcBef>
                    <a:spcPts val="600"/>
                  </a:spcBef>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𝑘𝑦</m:t>
                      </m:r>
                      <m:r>
                        <a:rPr lang="en-US" altLang="zh-CN">
                          <a:latin typeface="Cambria Math" panose="02040503050406030204" pitchFamily="18" charset="0"/>
                        </a:rPr>
                        <m:t>−</m:t>
                      </m:r>
                      <m:r>
                        <a:rPr lang="en-US" altLang="zh-CN">
                          <a:latin typeface="Cambria Math" panose="02040503050406030204" pitchFamily="18" charset="0"/>
                        </a:rPr>
                        <m:t>𝑚</m:t>
                      </m:r>
                      <m:r>
                        <a:rPr lang="en-US" altLang="zh-CN">
                          <a:latin typeface="Cambria Math" panose="02040503050406030204" pitchFamily="18" charset="0"/>
                        </a:rPr>
                        <m:t>≡0 (</m:t>
                      </m:r>
                      <m:r>
                        <m:rPr>
                          <m:sty m:val="p"/>
                        </m:rPr>
                        <a:rPr lang="en-US" altLang="zh-CN">
                          <a:latin typeface="Cambria Math" panose="02040503050406030204" pitchFamily="18" charset="0"/>
                        </a:rPr>
                        <m:t>mod</m:t>
                      </m:r>
                      <m:r>
                        <a:rPr lang="en-US" altLang="zh-CN">
                          <a:latin typeface="Cambria Math" panose="02040503050406030204" pitchFamily="18" charset="0"/>
                        </a:rPr>
                        <m:t> (</m:t>
                      </m:r>
                      <m:r>
                        <a:rPr lang="en-US" altLang="zh-CN">
                          <a:latin typeface="Cambria Math" panose="02040503050406030204" pitchFamily="18" charset="0"/>
                        </a:rPr>
                        <m:t>𝑝</m:t>
                      </m:r>
                      <m:r>
                        <a:rPr lang="en-US" altLang="zh-CN">
                          <a:latin typeface="Cambria Math" panose="02040503050406030204" pitchFamily="18" charset="0"/>
                        </a:rPr>
                        <m:t>−1))</m:t>
                      </m:r>
                    </m:oMath>
                  </m:oMathPara>
                </a14:m>
                <a:endParaRPr lang="en-US" altLang="zh-CN" dirty="0"/>
              </a:p>
              <a:p>
                <a:pPr>
                  <a:lnSpc>
                    <a:spcPct val="150000"/>
                  </a:lnSpc>
                  <a:spcBef>
                    <a:spcPts val="600"/>
                  </a:spcBef>
                </a:pPr>
                <a:r>
                  <a:rPr lang="zh-CN" altLang="en-US" dirty="0"/>
                  <a:t>若</a:t>
                </a:r>
                <a:r>
                  <a:rPr lang="en-US" altLang="zh-CN" dirty="0"/>
                  <a:t> </a:t>
                </a:r>
                <a14:m>
                  <m:oMath xmlns:m="http://schemas.openxmlformats.org/officeDocument/2006/math">
                    <m:r>
                      <a:rPr lang="en-US" altLang="zh-CN" i="1">
                        <a:latin typeface="Cambria Math" panose="02040503050406030204" pitchFamily="18" charset="0"/>
                      </a:rPr>
                      <m:t>𝑘</m:t>
                    </m:r>
                  </m:oMath>
                </a14:m>
                <a:r>
                  <a:rPr lang="en-US" altLang="zh-CN" dirty="0"/>
                  <a:t> </a:t>
                </a:r>
                <a:r>
                  <a:rPr lang="zh-CN" altLang="en-US" dirty="0"/>
                  <a:t>与</a:t>
                </a:r>
                <a:r>
                  <a:rPr lang="en-US" altLang="zh-CN" dirty="0"/>
                  <a:t> </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−1</m:t>
                    </m:r>
                  </m:oMath>
                </a14:m>
                <a:r>
                  <a:rPr lang="en-US" altLang="zh-CN" dirty="0"/>
                  <a:t> </a:t>
                </a:r>
                <a:r>
                  <a:rPr lang="zh-CN" altLang="en-US" dirty="0"/>
                  <a:t>不互质，则有可能有多解或者无解。</a:t>
                </a:r>
                <a:endParaRPr lang="en-US" altLang="zh-CN" dirty="0"/>
              </a:p>
              <a:p>
                <a:pPr>
                  <a:lnSpc>
                    <a:spcPct val="150000"/>
                  </a:lnSpc>
                  <a:spcBef>
                    <a:spcPts val="600"/>
                  </a:spcBef>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104900" y="1600200"/>
                <a:ext cx="9982200" cy="5175738"/>
              </a:xfrm>
              <a:blipFill>
                <a:blip r:embed="rId2"/>
                <a:stretch>
                  <a:fillRect l="-1398"/>
                </a:stretch>
              </a:blipFill>
            </p:spPr>
            <p:txBody>
              <a:bodyPr/>
              <a:lstStyle/>
              <a:p>
                <a:r>
                  <a:rPr lang="zh-CN" altLang="en-US">
                    <a:noFill/>
                  </a:rPr>
                  <a:t> </a:t>
                </a:r>
              </a:p>
            </p:txBody>
          </p:sp>
        </mc:Fallback>
      </mc:AlternateContent>
      <p:sp>
        <p:nvSpPr>
          <p:cNvPr id="4" name="幻灯片编号占位符 3">
            <a:extLst>
              <a:ext uri="{FF2B5EF4-FFF2-40B4-BE49-F238E27FC236}">
                <a16:creationId xmlns:a16="http://schemas.microsoft.com/office/drawing/2014/main" id="{29453565-36E1-1C41-8D46-B1F4E8F64C75}"/>
              </a:ext>
            </a:extLst>
          </p:cNvPr>
          <p:cNvSpPr>
            <a:spLocks noGrp="1"/>
          </p:cNvSpPr>
          <p:nvPr>
            <p:ph type="sldNum" sz="quarter" idx="12"/>
          </p:nvPr>
        </p:nvSpPr>
        <p:spPr/>
        <p:txBody>
          <a:bodyPr/>
          <a:lstStyle/>
          <a:p>
            <a:fld id="{0FF54DE5-C571-48E8-A5BC-B369434E2F44}" type="slidenum">
              <a:rPr lang="en-US" altLang="zh-CN" smtClean="0"/>
              <a:pPr/>
              <a:t>108</a:t>
            </a:fld>
            <a:endParaRPr lang="zh-CN" altLang="en-US" dirty="0"/>
          </a:p>
        </p:txBody>
      </p:sp>
    </p:spTree>
    <p:extLst>
      <p:ext uri="{BB962C8B-B14F-4D97-AF65-F5344CB8AC3E}">
        <p14:creationId xmlns:p14="http://schemas.microsoft.com/office/powerpoint/2010/main" val="13301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Hans" altLang="en-US" dirty="0"/>
              <a:t>同余方程求解小结</a:t>
            </a:r>
            <a:endParaRPr lang="zh-CN" altLang="en-US" dirty="0"/>
          </a:p>
        </p:txBody>
      </p:sp>
      <p:sp>
        <p:nvSpPr>
          <p:cNvPr id="3" name="内容占位符 2"/>
          <p:cNvSpPr>
            <a:spLocks noGrp="1"/>
          </p:cNvSpPr>
          <p:nvPr>
            <p:ph idx="1"/>
          </p:nvPr>
        </p:nvSpPr>
        <p:spPr/>
        <p:txBody>
          <a:bodyPr/>
          <a:lstStyle/>
          <a:p>
            <a:r>
              <a:rPr lang="zh-CN" altLang="en-US" dirty="0"/>
              <a:t>线性同余方程</a:t>
            </a:r>
            <a:r>
              <a:rPr lang="zh-Hans" altLang="en-US" dirty="0"/>
              <a:t>：</a:t>
            </a:r>
            <a:endParaRPr lang="en-US" altLang="zh-Hans" dirty="0"/>
          </a:p>
          <a:p>
            <a:pPr marL="0" indent="0">
              <a:buNone/>
            </a:pPr>
            <a:r>
              <a:rPr lang="en-US" altLang="zh-CN" dirty="0"/>
              <a:t>	</a:t>
            </a:r>
            <a:r>
              <a:rPr lang="zh-CN" altLang="en-US" dirty="0"/>
              <a:t>先处理不互质的情况，然后通过欧拉定理求解</a:t>
            </a:r>
            <a:r>
              <a:rPr lang="zh-Hans" altLang="en-US" dirty="0"/>
              <a:t>。</a:t>
            </a:r>
            <a:endParaRPr lang="en-US" altLang="zh-CN" dirty="0"/>
          </a:p>
          <a:p>
            <a:r>
              <a:rPr lang="zh-CN" altLang="en-US" dirty="0"/>
              <a:t>线性同余方程组</a:t>
            </a:r>
            <a:r>
              <a:rPr lang="zh-Hans" altLang="en-US" dirty="0"/>
              <a:t>：</a:t>
            </a:r>
            <a:endParaRPr lang="en-US" altLang="zh-Hans" dirty="0"/>
          </a:p>
          <a:p>
            <a:pPr marL="0" indent="0">
              <a:buNone/>
            </a:pPr>
            <a:r>
              <a:rPr lang="en-US" altLang="zh-CN" dirty="0"/>
              <a:t>	</a:t>
            </a:r>
            <a:r>
              <a:rPr lang="zh-CN" altLang="en-US" dirty="0"/>
              <a:t>先分别解每个线性同余方程，然后每次合并两个方程求解。</a:t>
            </a:r>
            <a:endParaRPr lang="en-US" altLang="zh-CN" dirty="0"/>
          </a:p>
          <a:p>
            <a:r>
              <a:rPr lang="zh-CN" altLang="en-US" dirty="0"/>
              <a:t>第一类</a:t>
            </a:r>
            <a:r>
              <a:rPr lang="zh-Hans" altLang="en-US" dirty="0"/>
              <a:t>高次</a:t>
            </a:r>
            <a:r>
              <a:rPr lang="zh-CN" altLang="en-US" dirty="0"/>
              <a:t>同余方程（取对数）</a:t>
            </a:r>
            <a:r>
              <a:rPr lang="zh-Hans" altLang="en-US" dirty="0"/>
              <a:t>：</a:t>
            </a:r>
            <a:endParaRPr lang="en-US" altLang="zh-Hans" dirty="0"/>
          </a:p>
          <a:p>
            <a:pPr marL="0" indent="0">
              <a:buNone/>
            </a:pPr>
            <a:r>
              <a:rPr lang="en-US" altLang="zh-CN" dirty="0"/>
              <a:t>	BSGS</a:t>
            </a:r>
          </a:p>
          <a:p>
            <a:r>
              <a:rPr lang="zh-CN" altLang="en-US" dirty="0"/>
              <a:t>第二类</a:t>
            </a:r>
            <a:r>
              <a:rPr lang="zh-Hans" altLang="en-US" dirty="0"/>
              <a:t>高次</a:t>
            </a:r>
            <a:r>
              <a:rPr lang="zh-CN" altLang="en-US" dirty="0"/>
              <a:t>同余方程（开根号）：</a:t>
            </a:r>
            <a:endParaRPr lang="en-US" altLang="zh-CN" dirty="0"/>
          </a:p>
          <a:p>
            <a:pPr marL="0" indent="0">
              <a:buNone/>
            </a:pPr>
            <a:r>
              <a:rPr lang="en-US" altLang="zh-CN" dirty="0"/>
              <a:t>	</a:t>
            </a:r>
            <a:r>
              <a:rPr lang="zh-CN" altLang="en-US" dirty="0"/>
              <a:t>表示成原根的若干次幂的形式后解线性方程。</a:t>
            </a:r>
            <a:endParaRPr lang="en-US" altLang="zh-CN" dirty="0"/>
          </a:p>
          <a:p>
            <a:endParaRPr lang="en-US" altLang="zh-CN" dirty="0"/>
          </a:p>
        </p:txBody>
      </p:sp>
      <p:sp>
        <p:nvSpPr>
          <p:cNvPr id="4" name="幻灯片编号占位符 3">
            <a:extLst>
              <a:ext uri="{FF2B5EF4-FFF2-40B4-BE49-F238E27FC236}">
                <a16:creationId xmlns:a16="http://schemas.microsoft.com/office/drawing/2014/main" id="{CB6C2D3A-A332-E249-A228-BFDBD47440D0}"/>
              </a:ext>
            </a:extLst>
          </p:cNvPr>
          <p:cNvSpPr>
            <a:spLocks noGrp="1"/>
          </p:cNvSpPr>
          <p:nvPr>
            <p:ph type="sldNum" sz="quarter" idx="12"/>
          </p:nvPr>
        </p:nvSpPr>
        <p:spPr/>
        <p:txBody>
          <a:bodyPr/>
          <a:lstStyle/>
          <a:p>
            <a:fld id="{0FF54DE5-C571-48E8-A5BC-B369434E2F44}" type="slidenum">
              <a:rPr lang="en-US" altLang="zh-CN" smtClean="0"/>
              <a:pPr/>
              <a:t>109</a:t>
            </a:fld>
            <a:endParaRPr lang="zh-CN" altLang="en-US" dirty="0"/>
          </a:p>
        </p:txBody>
      </p:sp>
    </p:spTree>
    <p:extLst>
      <p:ext uri="{BB962C8B-B14F-4D97-AF65-F5344CB8AC3E}">
        <p14:creationId xmlns:p14="http://schemas.microsoft.com/office/powerpoint/2010/main" val="3740168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t>数学类问题</a:t>
            </a:r>
            <a:endParaRPr lang="en-US" dirty="0">
              <a:latin typeface="微软雅黑" panose="020B0503020204020204" pitchFamily="34" charset="-122"/>
              <a:ea typeface="微软雅黑" panose="020B0503020204020204" pitchFamily="34" charset="-122"/>
            </a:endParaRPr>
          </a:p>
        </p:txBody>
      </p:sp>
      <p:sp>
        <p:nvSpPr>
          <p:cNvPr id="14" name="内容占位符 13"/>
          <p:cNvSpPr>
            <a:spLocks noGrp="1"/>
          </p:cNvSpPr>
          <p:nvPr>
            <p:ph idx="1"/>
          </p:nvPr>
        </p:nvSpPr>
        <p:spPr>
          <a:xfrm>
            <a:off x="1104900" y="1600199"/>
            <a:ext cx="9982200" cy="4898571"/>
          </a:xfrm>
        </p:spPr>
        <p:txBody>
          <a:bodyPr rtlCol="0">
            <a:normAutofit/>
          </a:bodyPr>
          <a:lstStyle/>
          <a:p>
            <a:pPr>
              <a:lnSpc>
                <a:spcPct val="150000"/>
              </a:lnSpc>
              <a:spcBef>
                <a:spcPts val="1200"/>
              </a:spcBef>
            </a:pPr>
            <a:r>
              <a:rPr lang="zh-CN" altLang="en-US" dirty="0"/>
              <a:t>解决数学类问题的思维过程</a:t>
            </a:r>
            <a:r>
              <a:rPr lang="en-US" altLang="zh-CN" dirty="0"/>
              <a:t>:</a:t>
            </a:r>
          </a:p>
          <a:p>
            <a:pPr lvl="1">
              <a:lnSpc>
                <a:spcPct val="150000"/>
              </a:lnSpc>
              <a:spcBef>
                <a:spcPts val="1200"/>
              </a:spcBef>
            </a:pPr>
            <a:r>
              <a:rPr lang="en-US" altLang="zh-CN" sz="2000" dirty="0"/>
              <a:t>1</a:t>
            </a:r>
            <a:r>
              <a:rPr lang="zh-CN" altLang="en-US" sz="2000" dirty="0"/>
              <a:t>、相关公式、定理、原理的应用</a:t>
            </a:r>
            <a:endParaRPr lang="en-US" altLang="zh-CN" sz="2000" dirty="0"/>
          </a:p>
          <a:p>
            <a:pPr lvl="1">
              <a:lnSpc>
                <a:spcPct val="150000"/>
              </a:lnSpc>
              <a:spcBef>
                <a:spcPts val="1200"/>
              </a:spcBef>
            </a:pPr>
            <a:r>
              <a:rPr lang="en-US" altLang="zh-CN" sz="2000" dirty="0"/>
              <a:t>2</a:t>
            </a:r>
            <a:r>
              <a:rPr lang="zh-CN" altLang="en-US" sz="2000" dirty="0"/>
              <a:t>、寻找规律、归纳整理递归与递推关系式</a:t>
            </a:r>
            <a:endParaRPr lang="en-US" altLang="zh-CN" sz="2000" dirty="0"/>
          </a:p>
          <a:p>
            <a:pPr lvl="1">
              <a:lnSpc>
                <a:spcPct val="150000"/>
              </a:lnSpc>
              <a:spcBef>
                <a:spcPts val="1200"/>
              </a:spcBef>
            </a:pPr>
            <a:r>
              <a:rPr lang="en-US" altLang="zh-CN" sz="2000" dirty="0"/>
              <a:t>3</a:t>
            </a:r>
            <a:r>
              <a:rPr lang="zh-CN" altLang="en-US" sz="2000" dirty="0"/>
              <a:t>、按照数学方法构造、二进制转化等技巧性处理</a:t>
            </a:r>
            <a:endParaRPr lang="en-US" altLang="zh-CN" sz="2000" dirty="0"/>
          </a:p>
          <a:p>
            <a:pPr>
              <a:lnSpc>
                <a:spcPct val="150000"/>
              </a:lnSpc>
              <a:spcBef>
                <a:spcPts val="1200"/>
              </a:spcBef>
            </a:pPr>
            <a:r>
              <a:rPr lang="zh-CN" altLang="en-US" dirty="0"/>
              <a:t>解决数学类问题的注意事项</a:t>
            </a:r>
            <a:endParaRPr lang="en-US" altLang="zh-CN" dirty="0"/>
          </a:p>
          <a:p>
            <a:pPr lvl="1">
              <a:lnSpc>
                <a:spcPct val="150000"/>
              </a:lnSpc>
              <a:spcBef>
                <a:spcPts val="1200"/>
              </a:spcBef>
            </a:pPr>
            <a:r>
              <a:rPr lang="en-US" altLang="zh-CN" sz="2000" dirty="0"/>
              <a:t>1</a:t>
            </a:r>
            <a:r>
              <a:rPr lang="zh-CN" altLang="en-US" sz="2000" dirty="0"/>
              <a:t>、规律准确（小数据手工推算、搜索程序验证）</a:t>
            </a:r>
            <a:endParaRPr lang="en-US" altLang="zh-CN" sz="2000" dirty="0"/>
          </a:p>
          <a:p>
            <a:pPr lvl="1">
              <a:lnSpc>
                <a:spcPct val="150000"/>
              </a:lnSpc>
              <a:spcBef>
                <a:spcPts val="1200"/>
              </a:spcBef>
            </a:pPr>
            <a:r>
              <a:rPr lang="en-US" altLang="zh-CN" sz="2000" dirty="0"/>
              <a:t>2</a:t>
            </a:r>
            <a:r>
              <a:rPr lang="zh-CN" altLang="en-US" sz="2000" dirty="0"/>
              <a:t>、数据类型是否合理、数据范围是否超界（大数据处理）</a:t>
            </a:r>
            <a:endParaRPr lang="en-US" altLang="zh-CN" sz="2000" dirty="0"/>
          </a:p>
        </p:txBody>
      </p:sp>
      <p:sp>
        <p:nvSpPr>
          <p:cNvPr id="2" name="幻灯片编号占位符 1">
            <a:extLst>
              <a:ext uri="{FF2B5EF4-FFF2-40B4-BE49-F238E27FC236}">
                <a16:creationId xmlns:a16="http://schemas.microsoft.com/office/drawing/2014/main" id="{D6A61655-676C-B645-B884-CB6B5853A1C8}"/>
              </a:ext>
            </a:extLst>
          </p:cNvPr>
          <p:cNvSpPr>
            <a:spLocks noGrp="1"/>
          </p:cNvSpPr>
          <p:nvPr>
            <p:ph type="sldNum" sz="quarter" idx="12"/>
          </p:nvPr>
        </p:nvSpPr>
        <p:spPr/>
        <p:txBody>
          <a:bodyPr/>
          <a:lstStyle/>
          <a:p>
            <a:fld id="{0FF54DE5-C571-48E8-A5BC-B369434E2F44}" type="slidenum">
              <a:rPr lang="en-US" altLang="zh-CN" smtClean="0"/>
              <a:pPr/>
              <a:t>110</a:t>
            </a:fld>
            <a:endParaRPr lang="zh-CN" altLang="en-US" dirty="0"/>
          </a:p>
        </p:txBody>
      </p:sp>
    </p:spTree>
    <p:extLst>
      <p:ext uri="{BB962C8B-B14F-4D97-AF65-F5344CB8AC3E}">
        <p14:creationId xmlns:p14="http://schemas.microsoft.com/office/powerpoint/2010/main" val="362721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内容参考</a:t>
            </a:r>
          </a:p>
        </p:txBody>
      </p:sp>
      <p:sp>
        <p:nvSpPr>
          <p:cNvPr id="3" name="内容占位符 2"/>
          <p:cNvSpPr>
            <a:spLocks noGrp="1"/>
          </p:cNvSpPr>
          <p:nvPr>
            <p:ph idx="1"/>
          </p:nvPr>
        </p:nvSpPr>
        <p:spPr/>
        <p:txBody>
          <a:bodyPr/>
          <a:lstStyle/>
          <a:p>
            <a:r>
              <a:rPr lang="zh-CN" altLang="en-US" dirty="0"/>
              <a:t>数论选讲</a:t>
            </a:r>
            <a:r>
              <a:rPr lang="en-US" altLang="zh-CN" dirty="0"/>
              <a:t>-</a:t>
            </a:r>
            <a:r>
              <a:rPr lang="zh-CN" altLang="en-US" dirty="0"/>
              <a:t>曹文</a:t>
            </a:r>
          </a:p>
          <a:p>
            <a:r>
              <a:rPr lang="zh-CN" altLang="en-US" dirty="0"/>
              <a:t>简单数论及其应用</a:t>
            </a:r>
            <a:r>
              <a:rPr lang="en-US" altLang="zh-CN" dirty="0"/>
              <a:t>-</a:t>
            </a:r>
            <a:r>
              <a:rPr lang="zh-CN" altLang="en-US" dirty="0"/>
              <a:t>宋新波</a:t>
            </a:r>
            <a:endParaRPr lang="en-US" altLang="zh-CN" dirty="0"/>
          </a:p>
          <a:p>
            <a:r>
              <a:rPr lang="zh-Hans" altLang="en-US" dirty="0"/>
              <a:t>算法竞赛进阶指南</a:t>
            </a:r>
            <a:r>
              <a:rPr lang="en-US" altLang="zh-Hans" dirty="0"/>
              <a:t>-</a:t>
            </a:r>
            <a:r>
              <a:rPr lang="zh-Hans" altLang="en-US" dirty="0"/>
              <a:t>李煜东</a:t>
            </a:r>
            <a:endParaRPr lang="zh-CN" altLang="en-US" dirty="0"/>
          </a:p>
          <a:p>
            <a:r>
              <a:rPr lang="zh-Hans" altLang="en-US" dirty="0"/>
              <a:t>数论</a:t>
            </a:r>
            <a:r>
              <a:rPr lang="en-US" altLang="zh-Hans" dirty="0"/>
              <a:t>-</a:t>
            </a:r>
            <a:r>
              <a:rPr lang="zh-Hans" altLang="en-US" dirty="0"/>
              <a:t>茹逸中</a:t>
            </a:r>
            <a:endParaRPr lang="en-US" altLang="zh-CN" dirty="0"/>
          </a:p>
          <a:p>
            <a:r>
              <a:rPr lang="zh-CN" altLang="en-US" dirty="0"/>
              <a:t>数论入门</a:t>
            </a:r>
            <a:r>
              <a:rPr lang="en-US" altLang="zh-CN" dirty="0"/>
              <a:t>-VFK</a:t>
            </a:r>
          </a:p>
          <a:p>
            <a:r>
              <a:rPr lang="zh-CN" altLang="en-US" dirty="0"/>
              <a:t>简单数论及算法选讲</a:t>
            </a:r>
            <a:r>
              <a:rPr lang="en-US" altLang="zh-CN" dirty="0"/>
              <a:t>-</a:t>
            </a:r>
            <a:r>
              <a:rPr lang="zh-CN" altLang="en-US" dirty="0"/>
              <a:t>邵俊儒</a:t>
            </a:r>
          </a:p>
          <a:p>
            <a:r>
              <a:rPr lang="zh-CN" altLang="en-US" dirty="0"/>
              <a:t>特别的数学技巧</a:t>
            </a:r>
            <a:r>
              <a:rPr lang="en-US" altLang="zh-CN" dirty="0"/>
              <a:t>-</a:t>
            </a:r>
            <a:r>
              <a:rPr lang="zh-CN" altLang="en-US" dirty="0"/>
              <a:t>毕克</a:t>
            </a:r>
          </a:p>
        </p:txBody>
      </p:sp>
      <p:sp>
        <p:nvSpPr>
          <p:cNvPr id="4" name="幻灯片编号占位符 3">
            <a:extLst>
              <a:ext uri="{FF2B5EF4-FFF2-40B4-BE49-F238E27FC236}">
                <a16:creationId xmlns:a16="http://schemas.microsoft.com/office/drawing/2014/main" id="{38478B0F-0B8E-3449-8CA0-20E12041312D}"/>
              </a:ext>
            </a:extLst>
          </p:cNvPr>
          <p:cNvSpPr>
            <a:spLocks noGrp="1"/>
          </p:cNvSpPr>
          <p:nvPr>
            <p:ph type="sldNum" sz="quarter" idx="12"/>
          </p:nvPr>
        </p:nvSpPr>
        <p:spPr/>
        <p:txBody>
          <a:bodyPr/>
          <a:lstStyle/>
          <a:p>
            <a:fld id="{0FF54DE5-C571-48E8-A5BC-B369434E2F44}" type="slidenum">
              <a:rPr lang="en-US" altLang="zh-CN" smtClean="0"/>
              <a:pPr/>
              <a:t>111</a:t>
            </a:fld>
            <a:endParaRPr lang="zh-CN" altLang="en-US" dirty="0"/>
          </a:p>
        </p:txBody>
      </p:sp>
    </p:spTree>
    <p:extLst>
      <p:ext uri="{BB962C8B-B14F-4D97-AF65-F5344CB8AC3E}">
        <p14:creationId xmlns:p14="http://schemas.microsoft.com/office/powerpoint/2010/main" val="4017914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3409" r="13409"/>
          <a:stretch>
            <a:fillRect/>
          </a:stretch>
        </p:blipFill>
        <p:spPr/>
      </p:pic>
    </p:spTree>
    <p:extLst>
      <p:ext uri="{BB962C8B-B14F-4D97-AF65-F5344CB8AC3E}">
        <p14:creationId xmlns:p14="http://schemas.microsoft.com/office/powerpoint/2010/main" val="351263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8CDDBB83-77C1-4099-A0AA-289882E745E2}">
  <ds:schemaRefs>
    <ds:schemaRef ds:uri="http://purl.org/dc/dcmitype/"/>
    <ds:schemaRef ds:uri="http://schemas.microsoft.com/office/2006/documentManagement/types"/>
    <ds:schemaRef ds:uri="http://schemas.microsoft.com/office/infopath/2007/PartnerControls"/>
    <ds:schemaRef ds:uri="http://purl.org/dc/terms/"/>
    <ds:schemaRef ds:uri="http://purl.org/dc/elements/1.1/"/>
    <ds:schemaRef ds:uri="http://schemas.openxmlformats.org/package/2006/metadata/core-properties"/>
    <ds:schemaRef ds:uri="http://schemas.microsoft.com/office/2006/metadata/properties"/>
    <ds:schemaRef ds:uri="http://www.w3.org/XML/1998/namespace"/>
    <ds:schemaRef ds:uri="4873beb7-5857-4685-be1f-d57550cc96cc"/>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学术演示文稿、细条纹和丝带设计（宽屏）</Template>
  <TotalTime>0</TotalTime>
  <Words>8162</Words>
  <Application>Microsoft Macintosh PowerPoint</Application>
  <PresentationFormat>宽屏</PresentationFormat>
  <Paragraphs>953</Paragraphs>
  <Slides>112</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112</vt:i4>
      </vt:variant>
    </vt:vector>
  </HeadingPairs>
  <TitlesOfParts>
    <vt:vector size="128" baseType="lpstr">
      <vt:lpstr>宋体</vt:lpstr>
      <vt:lpstr>微软雅黑</vt:lpstr>
      <vt:lpstr>新宋体</vt:lpstr>
      <vt:lpstr>Heiti SC Medium</vt:lpstr>
      <vt:lpstr>MS Mincho</vt:lpstr>
      <vt:lpstr>Arial</vt:lpstr>
      <vt:lpstr>Calibri</vt:lpstr>
      <vt:lpstr>Cambria Math</vt:lpstr>
      <vt:lpstr>Consolas</vt:lpstr>
      <vt:lpstr>Courier New</vt:lpstr>
      <vt:lpstr>Euphemia</vt:lpstr>
      <vt:lpstr>Plantagenet Cherokee</vt:lpstr>
      <vt:lpstr>Symbol</vt:lpstr>
      <vt:lpstr>Times New Roman</vt:lpstr>
      <vt:lpstr>Wingdings</vt:lpstr>
      <vt:lpstr>学术文献 16x9</vt:lpstr>
      <vt:lpstr>信息学竞赛中的数学</vt:lpstr>
      <vt:lpstr>目录</vt:lpstr>
      <vt:lpstr>数论</vt:lpstr>
      <vt:lpstr>素数</vt:lpstr>
      <vt:lpstr>基本概念</vt:lpstr>
      <vt:lpstr>素数与合数</vt:lpstr>
      <vt:lpstr>素数判定</vt:lpstr>
      <vt:lpstr>素因数分解</vt:lpstr>
      <vt:lpstr>例题：[NOIP 2012] 素因数分解</vt:lpstr>
      <vt:lpstr>整数惟一分解定理</vt:lpstr>
      <vt:lpstr>素数筛法</vt:lpstr>
      <vt:lpstr>Eratosthenes筛法</vt:lpstr>
      <vt:lpstr>埃氏筛法思想</vt:lpstr>
      <vt:lpstr>埃氏筛法</vt:lpstr>
      <vt:lpstr>例题：[POJ 2689]Prime Distance</vt:lpstr>
      <vt:lpstr>筛法优化素因数分解-1</vt:lpstr>
      <vt:lpstr>筛法优化素因数分解-2</vt:lpstr>
      <vt:lpstr>筛法优化素因数分解-3</vt:lpstr>
      <vt:lpstr>例题：阶乘分解</vt:lpstr>
      <vt:lpstr>欧拉筛法（线性筛）</vt:lpstr>
      <vt:lpstr>欧拉筛法（线性筛）n=50的筛选过程图示</vt:lpstr>
      <vt:lpstr>欧拉筛法（线性筛）</vt:lpstr>
      <vt:lpstr>欧拉筛法（线性筛）</vt:lpstr>
      <vt:lpstr>约数</vt:lpstr>
      <vt:lpstr>整数惟一分解定理的推论</vt:lpstr>
      <vt:lpstr>例题： [BZOJ 1053] 反素数</vt:lpstr>
      <vt:lpstr>最大公约数</vt:lpstr>
      <vt:lpstr>计算gcd⁡(a,b)：枚举法</vt:lpstr>
      <vt:lpstr>计算gcd⁡(a,b)：分解素因数</vt:lpstr>
      <vt:lpstr>计算gcd⁡(a,b)：欧几里得算法</vt:lpstr>
      <vt:lpstr>计算gcd⁡(a,b)：欧几里得算法-复杂度分析</vt:lpstr>
      <vt:lpstr>例题：[BZOJ 1876] Super GCD</vt:lpstr>
      <vt:lpstr>计算gcd⁡(a,b)：适用于高精度数的二进制法</vt:lpstr>
      <vt:lpstr>计算gcd⁡(a,b)：适用于高精度数的二进制法</vt:lpstr>
      <vt:lpstr>例题： [NOIP 2009] Hankson的趣味题</vt:lpstr>
      <vt:lpstr>最小公倍数</vt:lpstr>
      <vt:lpstr>计算n个整数a_1,a_2,…,a_n的最小公倍数</vt:lpstr>
      <vt:lpstr>容斥原理</vt:lpstr>
      <vt:lpstr>各集合的交集</vt:lpstr>
      <vt:lpstr>容斥原理</vt:lpstr>
      <vt:lpstr>容斥原理</vt:lpstr>
      <vt:lpstr>容斥原理</vt:lpstr>
      <vt:lpstr>错排问题</vt:lpstr>
      <vt:lpstr>错排问题</vt:lpstr>
      <vt:lpstr>欧拉函数</vt:lpstr>
      <vt:lpstr>欧拉函数</vt:lpstr>
      <vt:lpstr>容斥原理求欧拉函数</vt:lpstr>
      <vt:lpstr>容斥原理求欧拉函数</vt:lpstr>
      <vt:lpstr>基于素因数分解求欧拉函数的算法</vt:lpstr>
      <vt:lpstr>利用埃氏筛法，实现欧拉函数值的预处理</vt:lpstr>
      <vt:lpstr>欧拉函数的性质</vt:lpstr>
      <vt:lpstr>例题：[POJ 3090] Visible Lattice Points</vt:lpstr>
      <vt:lpstr>例题：[POJ 3090] Visible Lattice Points</vt:lpstr>
      <vt:lpstr>例题：[BZOJ 2705] Longge的问题</vt:lpstr>
      <vt:lpstr>同余</vt:lpstr>
      <vt:lpstr>基本概念</vt:lpstr>
      <vt:lpstr>剩余系</vt:lpstr>
      <vt:lpstr>模运算</vt:lpstr>
      <vt:lpstr>模运算</vt:lpstr>
      <vt:lpstr>幂取模</vt:lpstr>
      <vt:lpstr>快速幂</vt:lpstr>
      <vt:lpstr>例题： [NOIP2013 D1T1] 转圈游戏</vt:lpstr>
      <vt:lpstr>例题： [NOIP2013 D1T1] 转圈游戏</vt:lpstr>
      <vt:lpstr>例题： 越狱</vt:lpstr>
      <vt:lpstr>例题： 越狱</vt:lpstr>
      <vt:lpstr>费马小定理</vt:lpstr>
      <vt:lpstr>费马小定理</vt:lpstr>
      <vt:lpstr>使用费马小定理来判定素数</vt:lpstr>
      <vt:lpstr>欧拉定理</vt:lpstr>
      <vt:lpstr>欧拉定理的推论</vt:lpstr>
      <vt:lpstr>例题：[POJ 3696] The Luckiest Number</vt:lpstr>
      <vt:lpstr>例题：[POJ 3696] The Luckiest Number</vt:lpstr>
      <vt:lpstr>扩展欧几里得算法</vt:lpstr>
      <vt:lpstr>裴蜀定理（Bézout 定理）</vt:lpstr>
      <vt:lpstr>例题：[BZOJ 1441]</vt:lpstr>
      <vt:lpstr>扩展欧几里得算法</vt:lpstr>
      <vt:lpstr>扩展欧几里得算法</vt:lpstr>
      <vt:lpstr>扩展欧几里得算法</vt:lpstr>
      <vt:lpstr>扩展欧几里得算法</vt:lpstr>
      <vt:lpstr>扩展欧几里得算法</vt:lpstr>
      <vt:lpstr>逆元</vt:lpstr>
      <vt:lpstr>模 𝑛 意义下乘法的逆</vt:lpstr>
      <vt:lpstr>逆元</vt:lpstr>
      <vt:lpstr>求解逆元</vt:lpstr>
      <vt:lpstr>使用欧拉定理求逆元</vt:lpstr>
      <vt:lpstr>线性求逆元：递推法</vt:lpstr>
      <vt:lpstr>线性求逆元：倒推法</vt:lpstr>
      <vt:lpstr>例题：[POJ 1845] Sumdiv</vt:lpstr>
      <vt:lpstr>线性同余方程</vt:lpstr>
      <vt:lpstr>线性同余方程</vt:lpstr>
      <vt:lpstr>线性同余方程</vt:lpstr>
      <vt:lpstr>线性同余方程</vt:lpstr>
      <vt:lpstr>例题：线性组合</vt:lpstr>
      <vt:lpstr>例题：线性组合</vt:lpstr>
      <vt:lpstr>例题：线性组合</vt:lpstr>
      <vt:lpstr>线性同余方程组（模互素）</vt:lpstr>
      <vt:lpstr>中国剩余定理</vt:lpstr>
      <vt:lpstr>中国剩余定理</vt:lpstr>
      <vt:lpstr>中国剩余定理</vt:lpstr>
      <vt:lpstr>线性同余方程组（模不互素）</vt:lpstr>
      <vt:lpstr>线性同余方程组（模不互素）</vt:lpstr>
      <vt:lpstr>例题：[POJ 2891] Strange Way to Express Integers</vt:lpstr>
      <vt:lpstr>高次同余方程</vt:lpstr>
      <vt:lpstr>第一类高次同余方程</vt:lpstr>
      <vt:lpstr>Baby Step Giant Step</vt:lpstr>
      <vt:lpstr>第二类高次同余方程</vt:lpstr>
      <vt:lpstr>原根</vt:lpstr>
      <vt:lpstr>第二类高次同余方程</vt:lpstr>
      <vt:lpstr>同余方程求解小结</vt:lpstr>
      <vt:lpstr>数学类问题</vt:lpstr>
      <vt:lpstr>内容参考</vt:lpstr>
      <vt:lpstr>谢谢！</vt:lpstr>
    </vt:vector>
  </TitlesOfParts>
  <Manager/>
  <Company/>
  <LinksUpToDate>false</LinksUpToDate>
  <SharedDoc>false</SharedDoc>
  <HyperlinkBase/>
  <HyperlinksChanged>false</HyperlinksChanged>
  <AppVersion>16.0010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2017-11-04T04:56:49Z</dcterms:created>
  <dcterms:modified xsi:type="dcterms:W3CDTF">2018-04-12T11:23:13Z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